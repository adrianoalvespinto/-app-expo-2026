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19"/>
  </p:notesMasterIdLst>
  <p:sldIdLst>
    <p:sldId id="256" r:id="rId5"/>
    <p:sldId id="257" r:id="rId6"/>
    <p:sldId id="259" r:id="rId7"/>
    <p:sldId id="278" r:id="rId8"/>
    <p:sldId id="284" r:id="rId9"/>
    <p:sldId id="258" r:id="rId10"/>
    <p:sldId id="285" r:id="rId11"/>
    <p:sldId id="275" r:id="rId12"/>
    <p:sldId id="279" r:id="rId13"/>
    <p:sldId id="271" r:id="rId14"/>
    <p:sldId id="280" r:id="rId15"/>
    <p:sldId id="281" r:id="rId16"/>
    <p:sldId id="282" r:id="rId17"/>
    <p:sldId id="283" r:id="rId18"/>
  </p:sldIdLst>
  <p:sldSz cx="18288000" cy="10287000"/>
  <p:notesSz cx="6858000" cy="9144000"/>
  <p:embeddedFontLst>
    <p:embeddedFont>
      <p:font typeface="Garet" panose="020B0604020202020204" charset="0"/>
      <p:regular r:id="rId20"/>
    </p:embeddedFont>
    <p:embeddedFont>
      <p:font typeface="Garet Bold"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ia Eduarda Schone Gil Ferreira" initials="MESGF" lastIdx="1" clrIdx="0">
    <p:extLst>
      <p:ext uri="{19B8F6BF-5375-455C-9EA6-DF929625EA0E}">
        <p15:presenceInfo xmlns:p15="http://schemas.microsoft.com/office/powerpoint/2012/main" userId="S-1-5-21-4098549333-3601383541-1884693277-5035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1B4"/>
    <a:srgbClr val="FFABF8"/>
    <a:srgbClr val="FED0D4"/>
    <a:srgbClr val="FFB1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C47917-EF83-4903-AD44-270D74685F47}" v="5" dt="2026-04-28T17:49:55.9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874" y="43"/>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olina Barbosa de Melo" userId="faed3217-556f-4326-a110-3be8cd89edd9" providerId="ADAL" clId="{EE13A5FF-5000-4168-93D9-56C83F664890}"/>
    <pc:docChg chg="modSld">
      <pc:chgData name="Carolina Barbosa de Melo" userId="faed3217-556f-4326-a110-3be8cd89edd9" providerId="ADAL" clId="{EE13A5FF-5000-4168-93D9-56C83F664890}" dt="2026-04-28T17:49:55.929" v="4" actId="403"/>
      <pc:docMkLst>
        <pc:docMk/>
      </pc:docMkLst>
      <pc:sldChg chg="modSp mod">
        <pc:chgData name="Carolina Barbosa de Melo" userId="faed3217-556f-4326-a110-3be8cd89edd9" providerId="ADAL" clId="{EE13A5FF-5000-4168-93D9-56C83F664890}" dt="2026-04-28T17:49:55.929" v="4" actId="403"/>
        <pc:sldMkLst>
          <pc:docMk/>
          <pc:sldMk cId="2947855288" sldId="285"/>
        </pc:sldMkLst>
        <pc:graphicFrameChg chg="mod">
          <ac:chgData name="Carolina Barbosa de Melo" userId="faed3217-556f-4326-a110-3be8cd89edd9" providerId="ADAL" clId="{EE13A5FF-5000-4168-93D9-56C83F664890}" dt="2026-04-28T17:49:55.929" v="4" actId="403"/>
          <ac:graphicFrameMkLst>
            <pc:docMk/>
            <pc:sldMk cId="2947855288" sldId="285"/>
            <ac:graphicFrameMk id="12" creationId="{E18A90B0-A0DA-109C-FD4F-84DCD0FAE7F9}"/>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pt-BR"/>
        </a:p>
      </c:txPr>
    </c:title>
    <c:autoTitleDeleted val="0"/>
    <c:plotArea>
      <c:layout/>
      <c:barChart>
        <c:barDir val="col"/>
        <c:grouping val="clustered"/>
        <c:varyColors val="0"/>
        <c:ser>
          <c:idx val="0"/>
          <c:order val="0"/>
          <c:tx>
            <c:strRef>
              <c:f>Planilha1!$B$1</c:f>
              <c:strCache>
                <c:ptCount val="1"/>
                <c:pt idx="0">
                  <c:v>Público Mensal</c:v>
                </c:pt>
              </c:strCache>
            </c:strRef>
          </c:tx>
          <c:spPr>
            <a:solidFill>
              <a:schemeClr val="accent1"/>
            </a:solidFill>
            <a:ln>
              <a:noFill/>
            </a:ln>
            <a:effectLst/>
          </c:spPr>
          <c:invertIfNegative val="0"/>
          <c:cat>
            <c:strRef>
              <c:f>Planilha1!$A$2:$A$8</c:f>
              <c:strCache>
                <c:ptCount val="7"/>
                <c:pt idx="0">
                  <c:v>Fevereiro</c:v>
                </c:pt>
                <c:pt idx="1">
                  <c:v>Março</c:v>
                </c:pt>
                <c:pt idx="2">
                  <c:v>Abril</c:v>
                </c:pt>
                <c:pt idx="3">
                  <c:v>Maio</c:v>
                </c:pt>
                <c:pt idx="4">
                  <c:v>Junho</c:v>
                </c:pt>
                <c:pt idx="5">
                  <c:v>Julho</c:v>
                </c:pt>
                <c:pt idx="6">
                  <c:v>Agosto</c:v>
                </c:pt>
              </c:strCache>
            </c:strRef>
          </c:cat>
          <c:val>
            <c:numRef>
              <c:f>Planilha1!$B$2:$B$8</c:f>
              <c:numCache>
                <c:formatCode>General</c:formatCode>
                <c:ptCount val="7"/>
                <c:pt idx="0">
                  <c:v>266</c:v>
                </c:pt>
                <c:pt idx="1">
                  <c:v>1059</c:v>
                </c:pt>
                <c:pt idx="2">
                  <c:v>1329</c:v>
                </c:pt>
                <c:pt idx="3">
                  <c:v>1410</c:v>
                </c:pt>
                <c:pt idx="4">
                  <c:v>1229</c:v>
                </c:pt>
                <c:pt idx="5">
                  <c:v>1763</c:v>
                </c:pt>
                <c:pt idx="6">
                  <c:v>108</c:v>
                </c:pt>
              </c:numCache>
            </c:numRef>
          </c:val>
          <c:extLst>
            <c:ext xmlns:c16="http://schemas.microsoft.com/office/drawing/2014/chart" uri="{C3380CC4-5D6E-409C-BE32-E72D297353CC}">
              <c16:uniqueId val="{00000000-FCE7-4651-BB00-F7C39D85E0A8}"/>
            </c:ext>
          </c:extLst>
        </c:ser>
        <c:dLbls>
          <c:showLegendKey val="0"/>
          <c:showVal val="0"/>
          <c:showCatName val="0"/>
          <c:showSerName val="0"/>
          <c:showPercent val="0"/>
          <c:showBubbleSize val="0"/>
        </c:dLbls>
        <c:gapWidth val="219"/>
        <c:overlap val="-27"/>
        <c:axId val="1878286592"/>
        <c:axId val="1878287072"/>
      </c:barChart>
      <c:catAx>
        <c:axId val="1878286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pt-BR"/>
          </a:p>
        </c:txPr>
        <c:crossAx val="1878287072"/>
        <c:crosses val="autoZero"/>
        <c:auto val="1"/>
        <c:lblAlgn val="ctr"/>
        <c:lblOffset val="100"/>
        <c:noMultiLvlLbl val="0"/>
      </c:catAx>
      <c:valAx>
        <c:axId val="18782870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pt-BR"/>
          </a:p>
        </c:txPr>
        <c:crossAx val="18782865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pt-BR"/>
        </a:p>
      </c:txPr>
    </c:title>
    <c:autoTitleDeleted val="0"/>
    <c:plotArea>
      <c:layout/>
      <c:lineChart>
        <c:grouping val="standard"/>
        <c:varyColors val="0"/>
        <c:ser>
          <c:idx val="0"/>
          <c:order val="0"/>
          <c:tx>
            <c:strRef>
              <c:f>Planilha1!$B$1</c:f>
              <c:strCache>
                <c:ptCount val="1"/>
                <c:pt idx="0">
                  <c:v>Quantidade de ações</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lumMod val="75000"/>
                        <a:lumOff val="25000"/>
                      </a:schemeClr>
                    </a:solidFill>
                    <a:latin typeface="+mn-lt"/>
                    <a:ea typeface="+mn-ea"/>
                    <a:cs typeface="+mn-cs"/>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Planilha1!$A$2:$A$8</c:f>
              <c:strCache>
                <c:ptCount val="7"/>
                <c:pt idx="0">
                  <c:v>Fevereiro</c:v>
                </c:pt>
                <c:pt idx="1">
                  <c:v>Março</c:v>
                </c:pt>
                <c:pt idx="2">
                  <c:v>Abril</c:v>
                </c:pt>
                <c:pt idx="3">
                  <c:v>Maio</c:v>
                </c:pt>
                <c:pt idx="4">
                  <c:v>Junho</c:v>
                </c:pt>
                <c:pt idx="5">
                  <c:v>Julho</c:v>
                </c:pt>
                <c:pt idx="6">
                  <c:v>Agosto</c:v>
                </c:pt>
              </c:strCache>
            </c:strRef>
          </c:cat>
          <c:val>
            <c:numRef>
              <c:f>Planilha1!$B$2:$B$8</c:f>
              <c:numCache>
                <c:formatCode>General</c:formatCode>
                <c:ptCount val="7"/>
                <c:pt idx="0">
                  <c:v>1</c:v>
                </c:pt>
                <c:pt idx="1">
                  <c:v>1</c:v>
                </c:pt>
                <c:pt idx="2">
                  <c:v>0</c:v>
                </c:pt>
                <c:pt idx="3">
                  <c:v>4</c:v>
                </c:pt>
                <c:pt idx="4">
                  <c:v>0</c:v>
                </c:pt>
                <c:pt idx="5">
                  <c:v>7</c:v>
                </c:pt>
                <c:pt idx="6">
                  <c:v>0</c:v>
                </c:pt>
              </c:numCache>
            </c:numRef>
          </c:val>
          <c:smooth val="0"/>
          <c:extLst>
            <c:ext xmlns:c16="http://schemas.microsoft.com/office/drawing/2014/chart" uri="{C3380CC4-5D6E-409C-BE32-E72D297353CC}">
              <c16:uniqueId val="{00000000-FCE7-4651-BB00-F7C39D85E0A8}"/>
            </c:ext>
          </c:extLst>
        </c:ser>
        <c:dLbls>
          <c:showLegendKey val="0"/>
          <c:showVal val="0"/>
          <c:showCatName val="0"/>
          <c:showSerName val="0"/>
          <c:showPercent val="0"/>
          <c:showBubbleSize val="0"/>
        </c:dLbls>
        <c:smooth val="0"/>
        <c:axId val="1878286592"/>
        <c:axId val="1878287072"/>
      </c:lineChart>
      <c:catAx>
        <c:axId val="1878286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pt-BR"/>
          </a:p>
        </c:txPr>
        <c:crossAx val="1878287072"/>
        <c:crosses val="autoZero"/>
        <c:auto val="1"/>
        <c:lblAlgn val="ctr"/>
        <c:lblOffset val="100"/>
        <c:noMultiLvlLbl val="0"/>
      </c:catAx>
      <c:valAx>
        <c:axId val="18782870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pt-BR"/>
          </a:p>
        </c:txPr>
        <c:crossAx val="18782865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0.08696</cdr:x>
      <cdr:y>0.73745</cdr:y>
    </cdr:from>
    <cdr:to>
      <cdr:x>0.13335</cdr:x>
      <cdr:y>0.79973</cdr:y>
    </cdr:to>
    <cdr:sp macro="" textlink="">
      <cdr:nvSpPr>
        <cdr:cNvPr id="2" name="CaixaDeTexto 1">
          <a:extLst xmlns:a="http://schemas.openxmlformats.org/drawingml/2006/main">
            <a:ext uri="{FF2B5EF4-FFF2-40B4-BE49-F238E27FC236}">
              <a16:creationId xmlns:a16="http://schemas.microsoft.com/office/drawing/2014/main" id="{0E44A277-1305-DC69-567E-3AC76895F1DB}"/>
            </a:ext>
          </a:extLst>
        </cdr:cNvPr>
        <cdr:cNvSpPr txBox="1"/>
      </cdr:nvSpPr>
      <cdr:spPr>
        <a:xfrm xmlns:a="http://schemas.openxmlformats.org/drawingml/2006/main">
          <a:off x="1371600" y="5413322"/>
          <a:ext cx="731756" cy="4572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pt-BR" sz="1800" kern="1200" dirty="0"/>
            <a:t>266</a:t>
          </a:r>
        </a:p>
      </cdr:txBody>
    </cdr:sp>
  </cdr:relSizeAnchor>
  <cdr:relSizeAnchor xmlns:cdr="http://schemas.openxmlformats.org/drawingml/2006/chartDrawing">
    <cdr:from>
      <cdr:x>0.21739</cdr:x>
      <cdr:y>0.41565</cdr:y>
    </cdr:from>
    <cdr:to>
      <cdr:x>0.26378</cdr:x>
      <cdr:y>0.47793</cdr:y>
    </cdr:to>
    <cdr:sp macro="" textlink="">
      <cdr:nvSpPr>
        <cdr:cNvPr id="3" name="CaixaDeTexto 1">
          <a:extLst xmlns:a="http://schemas.openxmlformats.org/drawingml/2006/main">
            <a:ext uri="{FF2B5EF4-FFF2-40B4-BE49-F238E27FC236}">
              <a16:creationId xmlns:a16="http://schemas.microsoft.com/office/drawing/2014/main" id="{2EF4A871-B272-A1E1-EA8B-10A0BAEDBCEA}"/>
            </a:ext>
          </a:extLst>
        </cdr:cNvPr>
        <cdr:cNvSpPr txBox="1"/>
      </cdr:nvSpPr>
      <cdr:spPr>
        <a:xfrm xmlns:a="http://schemas.openxmlformats.org/drawingml/2006/main">
          <a:off x="3429000" y="3051122"/>
          <a:ext cx="731756" cy="457200"/>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pt-BR" sz="1800" kern="1200" dirty="0"/>
            <a:t>1.059</a:t>
          </a:r>
        </a:p>
      </cdr:txBody>
    </cdr:sp>
  </cdr:relSizeAnchor>
  <cdr:relSizeAnchor xmlns:cdr="http://schemas.openxmlformats.org/drawingml/2006/chartDrawing">
    <cdr:from>
      <cdr:x>0.35266</cdr:x>
      <cdr:y>0.30146</cdr:y>
    </cdr:from>
    <cdr:to>
      <cdr:x>0.39905</cdr:x>
      <cdr:y>0.36375</cdr:y>
    </cdr:to>
    <cdr:sp macro="" textlink="">
      <cdr:nvSpPr>
        <cdr:cNvPr id="4" name="CaixaDeTexto 1">
          <a:extLst xmlns:a="http://schemas.openxmlformats.org/drawingml/2006/main">
            <a:ext uri="{FF2B5EF4-FFF2-40B4-BE49-F238E27FC236}">
              <a16:creationId xmlns:a16="http://schemas.microsoft.com/office/drawing/2014/main" id="{2EF4A871-B272-A1E1-EA8B-10A0BAEDBCEA}"/>
            </a:ext>
          </a:extLst>
        </cdr:cNvPr>
        <cdr:cNvSpPr txBox="1"/>
      </cdr:nvSpPr>
      <cdr:spPr>
        <a:xfrm xmlns:a="http://schemas.openxmlformats.org/drawingml/2006/main">
          <a:off x="5562600" y="2212922"/>
          <a:ext cx="731755" cy="457200"/>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pt-BR" sz="2000" kern="1200" dirty="0"/>
            <a:t>1.329</a:t>
          </a:r>
        </a:p>
      </cdr:txBody>
    </cdr:sp>
  </cdr:relSizeAnchor>
  <cdr:relSizeAnchor xmlns:cdr="http://schemas.openxmlformats.org/drawingml/2006/chartDrawing">
    <cdr:from>
      <cdr:x>0.48792</cdr:x>
      <cdr:y>0.25994</cdr:y>
    </cdr:from>
    <cdr:to>
      <cdr:x>0.53431</cdr:x>
      <cdr:y>0.32222</cdr:y>
    </cdr:to>
    <cdr:sp macro="" textlink="">
      <cdr:nvSpPr>
        <cdr:cNvPr id="5" name="CaixaDeTexto 1">
          <a:extLst xmlns:a="http://schemas.openxmlformats.org/drawingml/2006/main">
            <a:ext uri="{FF2B5EF4-FFF2-40B4-BE49-F238E27FC236}">
              <a16:creationId xmlns:a16="http://schemas.microsoft.com/office/drawing/2014/main" id="{F313CFE6-C465-144D-535D-86A596791A88}"/>
            </a:ext>
          </a:extLst>
        </cdr:cNvPr>
        <cdr:cNvSpPr txBox="1"/>
      </cdr:nvSpPr>
      <cdr:spPr>
        <a:xfrm xmlns:a="http://schemas.openxmlformats.org/drawingml/2006/main">
          <a:off x="7696200" y="1908122"/>
          <a:ext cx="731756" cy="457200"/>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pt-BR" sz="2000" kern="1200" dirty="0"/>
            <a:t>1.410</a:t>
          </a:r>
        </a:p>
      </cdr:txBody>
    </cdr:sp>
  </cdr:relSizeAnchor>
  <cdr:relSizeAnchor xmlns:cdr="http://schemas.openxmlformats.org/drawingml/2006/chartDrawing">
    <cdr:from>
      <cdr:x>0.62319</cdr:x>
      <cdr:y>0.33261</cdr:y>
    </cdr:from>
    <cdr:to>
      <cdr:x>0.66958</cdr:x>
      <cdr:y>0.39489</cdr:y>
    </cdr:to>
    <cdr:sp macro="" textlink="">
      <cdr:nvSpPr>
        <cdr:cNvPr id="6" name="CaixaDeTexto 1">
          <a:extLst xmlns:a="http://schemas.openxmlformats.org/drawingml/2006/main">
            <a:ext uri="{FF2B5EF4-FFF2-40B4-BE49-F238E27FC236}">
              <a16:creationId xmlns:a16="http://schemas.microsoft.com/office/drawing/2014/main" id="{1E199EB1-0904-87F9-3EFE-D06246C2BB2B}"/>
            </a:ext>
          </a:extLst>
        </cdr:cNvPr>
        <cdr:cNvSpPr txBox="1"/>
      </cdr:nvSpPr>
      <cdr:spPr>
        <a:xfrm xmlns:a="http://schemas.openxmlformats.org/drawingml/2006/main">
          <a:off x="9829800" y="2441522"/>
          <a:ext cx="731755" cy="457200"/>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pt-BR" sz="2000" kern="1200" dirty="0"/>
            <a:t>1.229</a:t>
          </a:r>
        </a:p>
      </cdr:txBody>
    </cdr:sp>
  </cdr:relSizeAnchor>
  <cdr:relSizeAnchor xmlns:cdr="http://schemas.openxmlformats.org/drawingml/2006/chartDrawing">
    <cdr:from>
      <cdr:x>0.75845</cdr:x>
      <cdr:y>0.11461</cdr:y>
    </cdr:from>
    <cdr:to>
      <cdr:x>0.80485</cdr:x>
      <cdr:y>0.1769</cdr:y>
    </cdr:to>
    <cdr:sp macro="" textlink="">
      <cdr:nvSpPr>
        <cdr:cNvPr id="7" name="CaixaDeTexto 1">
          <a:extLst xmlns:a="http://schemas.openxmlformats.org/drawingml/2006/main">
            <a:ext uri="{FF2B5EF4-FFF2-40B4-BE49-F238E27FC236}">
              <a16:creationId xmlns:a16="http://schemas.microsoft.com/office/drawing/2014/main" id="{1E199EB1-0904-87F9-3EFE-D06246C2BB2B}"/>
            </a:ext>
          </a:extLst>
        </cdr:cNvPr>
        <cdr:cNvSpPr txBox="1"/>
      </cdr:nvSpPr>
      <cdr:spPr>
        <a:xfrm xmlns:a="http://schemas.openxmlformats.org/drawingml/2006/main">
          <a:off x="11963400" y="841322"/>
          <a:ext cx="731756" cy="457200"/>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pt-BR" sz="2000" kern="1200" dirty="0"/>
            <a:t>1.763</a:t>
          </a:r>
        </a:p>
      </cdr:txBody>
    </cdr:sp>
  </cdr:relSizeAnchor>
  <cdr:relSizeAnchor xmlns:cdr="http://schemas.openxmlformats.org/drawingml/2006/chartDrawing">
    <cdr:from>
      <cdr:x>0.90338</cdr:x>
      <cdr:y>0.80016</cdr:y>
    </cdr:from>
    <cdr:to>
      <cdr:x>0.94977</cdr:x>
      <cdr:y>0.86244</cdr:y>
    </cdr:to>
    <cdr:sp macro="" textlink="">
      <cdr:nvSpPr>
        <cdr:cNvPr id="8" name="CaixaDeTexto 1">
          <a:extLst xmlns:a="http://schemas.openxmlformats.org/drawingml/2006/main">
            <a:ext uri="{FF2B5EF4-FFF2-40B4-BE49-F238E27FC236}">
              <a16:creationId xmlns:a16="http://schemas.microsoft.com/office/drawing/2014/main" id="{1E199EB1-0904-87F9-3EFE-D06246C2BB2B}"/>
            </a:ext>
          </a:extLst>
        </cdr:cNvPr>
        <cdr:cNvSpPr txBox="1"/>
      </cdr:nvSpPr>
      <cdr:spPr>
        <a:xfrm xmlns:a="http://schemas.openxmlformats.org/drawingml/2006/main">
          <a:off x="14249400" y="5873644"/>
          <a:ext cx="731756" cy="457200"/>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pt-BR" sz="2000" kern="1200" dirty="0"/>
            <a:t>108</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9462A7-D93D-4585-8DF1-631315E49F5D}" type="datetimeFigureOut">
              <a:rPr lang="pt-BR" smtClean="0"/>
              <a:t>28/04/2026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158A87-E2C5-468E-BCE3-38A907ED00E2}" type="slidenum">
              <a:rPr lang="pt-BR" smtClean="0"/>
              <a:t>‹nº›</a:t>
            </a:fld>
            <a:endParaRPr lang="pt-BR"/>
          </a:p>
        </p:txBody>
      </p:sp>
    </p:spTree>
    <p:extLst>
      <p:ext uri="{BB962C8B-B14F-4D97-AF65-F5344CB8AC3E}">
        <p14:creationId xmlns:p14="http://schemas.microsoft.com/office/powerpoint/2010/main" val="1723118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t="-3000" b="-3000"/>
          </a:stretch>
        </a:blipFill>
        <a:effectLst/>
      </p:bgPr>
    </p:bg>
    <p:spTree>
      <p:nvGrpSpPr>
        <p:cNvPr id="1" name=""/>
        <p:cNvGrpSpPr/>
        <p:nvPr/>
      </p:nvGrpSpPr>
      <p:grpSpPr>
        <a:xfrm>
          <a:off x="0" y="0"/>
          <a:ext cx="0" cy="0"/>
          <a:chOff x="0" y="0"/>
          <a:chExt cx="0" cy="0"/>
        </a:xfrm>
      </p:grpSpPr>
      <p:sp>
        <p:nvSpPr>
          <p:cNvPr id="3" name="Freeform 3"/>
          <p:cNvSpPr/>
          <p:nvPr/>
        </p:nvSpPr>
        <p:spPr>
          <a:xfrm>
            <a:off x="1028700" y="190500"/>
            <a:ext cx="2646799" cy="2960595"/>
          </a:xfrm>
          <a:custGeom>
            <a:avLst/>
            <a:gdLst/>
            <a:ahLst/>
            <a:cxnLst/>
            <a:rect l="l" t="t" r="r" b="b"/>
            <a:pathLst>
              <a:path w="2646799" h="2960595">
                <a:moveTo>
                  <a:pt x="0" y="0"/>
                </a:moveTo>
                <a:lnTo>
                  <a:pt x="2646799" y="0"/>
                </a:lnTo>
                <a:lnTo>
                  <a:pt x="2646799" y="2960595"/>
                </a:lnTo>
                <a:lnTo>
                  <a:pt x="0" y="2960595"/>
                </a:lnTo>
                <a:lnTo>
                  <a:pt x="0" y="0"/>
                </a:lnTo>
                <a:close/>
              </a:path>
            </a:pathLst>
          </a:custGeom>
          <a:blipFill>
            <a:blip r:embed="rId3"/>
            <a:stretch>
              <a:fillRect/>
            </a:stretch>
          </a:blipFill>
        </p:spPr>
        <p:txBody>
          <a:bodyPr/>
          <a:lstStyle/>
          <a:p>
            <a:endParaRPr lang="pt-BR"/>
          </a:p>
        </p:txBody>
      </p:sp>
      <p:sp>
        <p:nvSpPr>
          <p:cNvPr id="4" name="TextBox 4"/>
          <p:cNvSpPr txBox="1"/>
          <p:nvPr/>
        </p:nvSpPr>
        <p:spPr>
          <a:xfrm>
            <a:off x="7885470" y="6655800"/>
            <a:ext cx="9373830" cy="346249"/>
          </a:xfrm>
          <a:prstGeom prst="rect">
            <a:avLst/>
          </a:prstGeom>
        </p:spPr>
        <p:txBody>
          <a:bodyPr lIns="0" tIns="0" rIns="0" bIns="0" rtlCol="0" anchor="t">
            <a:spAutoFit/>
          </a:bodyPr>
          <a:lstStyle/>
          <a:p>
            <a:pPr marL="0" lvl="0" indent="0" algn="r">
              <a:lnSpc>
                <a:spcPts val="2748"/>
              </a:lnSpc>
              <a:spcBef>
                <a:spcPct val="0"/>
              </a:spcBef>
            </a:pPr>
            <a:r>
              <a:rPr lang="en-US" sz="2748" spc="-217" dirty="0" err="1">
                <a:solidFill>
                  <a:schemeClr val="bg1"/>
                </a:solidFill>
                <a:latin typeface="Garet" panose="020B0604020202020204" charset="0"/>
                <a:ea typeface="Archivo Black"/>
                <a:cs typeface="Archivo Black"/>
                <a:sym typeface="Archivo Black"/>
              </a:rPr>
              <a:t>Exposição</a:t>
            </a:r>
            <a:r>
              <a:rPr lang="en-US" sz="2748" spc="-217" dirty="0">
                <a:solidFill>
                  <a:schemeClr val="bg1"/>
                </a:solidFill>
                <a:latin typeface="Garet" panose="020B0604020202020204" charset="0"/>
                <a:ea typeface="Archivo Black"/>
                <a:cs typeface="Archivo Black"/>
                <a:sym typeface="Archivo Black"/>
              </a:rPr>
              <a:t> | </a:t>
            </a:r>
            <a:r>
              <a:rPr lang="en-US" sz="2748" spc="-217" dirty="0" err="1">
                <a:solidFill>
                  <a:schemeClr val="bg1"/>
                </a:solidFill>
                <a:latin typeface="Garet" panose="020B0604020202020204" charset="0"/>
                <a:ea typeface="Archivo Black"/>
                <a:cs typeface="Archivo Black"/>
                <a:sym typeface="Archivo Black"/>
              </a:rPr>
              <a:t>Sesc</a:t>
            </a:r>
            <a:r>
              <a:rPr lang="en-US" sz="2748" spc="-217" dirty="0">
                <a:solidFill>
                  <a:schemeClr val="bg1"/>
                </a:solidFill>
                <a:latin typeface="Garet" panose="020B0604020202020204" charset="0"/>
                <a:ea typeface="Archivo Black"/>
                <a:cs typeface="Archivo Black"/>
                <a:sym typeface="Archivo Black"/>
              </a:rPr>
              <a:t> Av. </a:t>
            </a:r>
            <a:r>
              <a:rPr lang="en-US" sz="2748" spc="-217" dirty="0" err="1">
                <a:solidFill>
                  <a:schemeClr val="bg1"/>
                </a:solidFill>
                <a:latin typeface="Garet" panose="020B0604020202020204" charset="0"/>
                <a:ea typeface="Archivo Black"/>
                <a:cs typeface="Archivo Black"/>
                <a:sym typeface="Archivo Black"/>
              </a:rPr>
              <a:t>Paulista</a:t>
            </a:r>
            <a:endParaRPr lang="en-US" sz="2748" spc="-217" dirty="0">
              <a:solidFill>
                <a:schemeClr val="bg1"/>
              </a:solidFill>
              <a:latin typeface="Garet" panose="020B0604020202020204" charset="0"/>
              <a:ea typeface="Archivo Black"/>
              <a:cs typeface="Archivo Black"/>
              <a:sym typeface="Archivo Black"/>
            </a:endParaRPr>
          </a:p>
        </p:txBody>
      </p:sp>
      <p:sp>
        <p:nvSpPr>
          <p:cNvPr id="5" name="TextBox 5"/>
          <p:cNvSpPr txBox="1"/>
          <p:nvPr/>
        </p:nvSpPr>
        <p:spPr>
          <a:xfrm>
            <a:off x="14542175" y="8191500"/>
            <a:ext cx="3251504" cy="754694"/>
          </a:xfrm>
          <a:prstGeom prst="rect">
            <a:avLst/>
          </a:prstGeom>
        </p:spPr>
        <p:txBody>
          <a:bodyPr wrap="square" lIns="0" tIns="0" rIns="0" bIns="0" rtlCol="0" anchor="t">
            <a:spAutoFit/>
          </a:bodyPr>
          <a:lstStyle/>
          <a:p>
            <a:pPr algn="l">
              <a:lnSpc>
                <a:spcPts val="1915"/>
              </a:lnSpc>
            </a:pPr>
            <a:r>
              <a:rPr lang="en-US" sz="2200" b="1" dirty="0">
                <a:solidFill>
                  <a:srgbClr val="2B2B2B"/>
                </a:solidFill>
                <a:latin typeface="Garet Bold"/>
                <a:ea typeface="Garet Bold"/>
                <a:cs typeface="Garet Bold"/>
                <a:sym typeface="Garet Bold"/>
              </a:rPr>
              <a:t>19 DE FEVEREIRO A </a:t>
            </a:r>
            <a:endParaRPr lang="pt-BR" sz="2200" dirty="0">
              <a:solidFill>
                <a:srgbClr val="2B2B2B"/>
              </a:solidFill>
            </a:endParaRPr>
          </a:p>
          <a:p>
            <a:pPr marL="0" lvl="0" indent="0" algn="l">
              <a:lnSpc>
                <a:spcPts val="1915"/>
              </a:lnSpc>
              <a:spcBef>
                <a:spcPct val="0"/>
              </a:spcBef>
            </a:pPr>
            <a:r>
              <a:rPr lang="en-US" sz="2200" b="1" dirty="0">
                <a:solidFill>
                  <a:srgbClr val="2B2B2B"/>
                </a:solidFill>
                <a:latin typeface="Garet Bold"/>
                <a:ea typeface="Garet Bold"/>
                <a:cs typeface="Garet Bold"/>
                <a:sym typeface="Garet Bold"/>
              </a:rPr>
              <a:t>03 DE AGOSTO DE 2025</a:t>
            </a:r>
            <a:endParaRPr lang="en-US" sz="2200" b="1" dirty="0">
              <a:solidFill>
                <a:srgbClr val="2B2B2B"/>
              </a:solidFill>
              <a:latin typeface="Garet Bold"/>
              <a:ea typeface="Garet Bold"/>
              <a:cs typeface="Garet Bold"/>
            </a:endParaRPr>
          </a:p>
        </p:txBody>
      </p:sp>
      <p:sp>
        <p:nvSpPr>
          <p:cNvPr id="10" name="TextBox 10"/>
          <p:cNvSpPr txBox="1"/>
          <p:nvPr/>
        </p:nvSpPr>
        <p:spPr>
          <a:xfrm>
            <a:off x="12088760" y="954405"/>
            <a:ext cx="5170540" cy="365760"/>
          </a:xfrm>
          <a:prstGeom prst="rect">
            <a:avLst/>
          </a:prstGeom>
        </p:spPr>
        <p:txBody>
          <a:bodyPr lIns="0" tIns="0" rIns="0" bIns="0" rtlCol="0" anchor="t">
            <a:spAutoFit/>
          </a:bodyPr>
          <a:lstStyle/>
          <a:p>
            <a:pPr algn="r">
              <a:lnSpc>
                <a:spcPts val="2939"/>
              </a:lnSpc>
              <a:spcBef>
                <a:spcPct val="0"/>
              </a:spcBef>
            </a:pPr>
            <a:r>
              <a:rPr lang="en-US" sz="2099" b="1" dirty="0" err="1">
                <a:solidFill>
                  <a:schemeClr val="bg1"/>
                </a:solidFill>
                <a:latin typeface="Garet"/>
                <a:ea typeface="Garet"/>
                <a:cs typeface="Garet"/>
                <a:sym typeface="Garet"/>
              </a:rPr>
              <a:t>Relatório</a:t>
            </a:r>
            <a:r>
              <a:rPr lang="en-US" sz="2099" b="1" dirty="0">
                <a:solidFill>
                  <a:schemeClr val="bg1"/>
                </a:solidFill>
                <a:latin typeface="Garet"/>
                <a:ea typeface="Garet"/>
                <a:cs typeface="Garet"/>
                <a:sym typeface="Garet"/>
              </a:rPr>
              <a:t> </a:t>
            </a:r>
            <a:r>
              <a:rPr lang="en-US" sz="2099" b="1" dirty="0" err="1">
                <a:solidFill>
                  <a:schemeClr val="bg1"/>
                </a:solidFill>
                <a:latin typeface="Garet"/>
                <a:ea typeface="Garet"/>
                <a:cs typeface="Garet"/>
                <a:sym typeface="Garet"/>
              </a:rPr>
              <a:t>geral</a:t>
            </a:r>
            <a:r>
              <a:rPr lang="en-US" sz="2099" b="1" dirty="0">
                <a:solidFill>
                  <a:schemeClr val="bg1"/>
                </a:solidFill>
                <a:latin typeface="Garet"/>
                <a:ea typeface="Garet"/>
                <a:cs typeface="Garet"/>
                <a:sym typeface="Garet"/>
              </a:rPr>
              <a:t> </a:t>
            </a:r>
          </a:p>
        </p:txBody>
      </p:sp>
      <p:sp>
        <p:nvSpPr>
          <p:cNvPr id="11" name="TextBox 11"/>
          <p:cNvSpPr txBox="1"/>
          <p:nvPr/>
        </p:nvSpPr>
        <p:spPr>
          <a:xfrm>
            <a:off x="6980972" y="2960595"/>
            <a:ext cx="10215576" cy="2893100"/>
          </a:xfrm>
          <a:prstGeom prst="rect">
            <a:avLst/>
          </a:prstGeom>
        </p:spPr>
        <p:txBody>
          <a:bodyPr wrap="square" lIns="0" tIns="0" rIns="0" bIns="0" rtlCol="0" anchor="t">
            <a:spAutoFit/>
          </a:bodyPr>
          <a:lstStyle/>
          <a:p>
            <a:pPr marL="0" lvl="0" indent="0" algn="r">
              <a:lnSpc>
                <a:spcPts val="7211"/>
              </a:lnSpc>
              <a:spcBef>
                <a:spcPct val="0"/>
              </a:spcBef>
            </a:pPr>
            <a:r>
              <a:rPr lang="en-US" sz="9200" spc="-730" dirty="0">
                <a:solidFill>
                  <a:schemeClr val="bg1"/>
                </a:solidFill>
                <a:latin typeface="Garet Bold"/>
                <a:ea typeface="Archivo Black"/>
                <a:cs typeface="Archivo Black"/>
                <a:sym typeface="Archivo Black"/>
              </a:rPr>
              <a:t>ESPELHO</a:t>
            </a:r>
            <a:endParaRPr lang="en-US" sz="9200" spc="-730" dirty="0">
              <a:solidFill>
                <a:schemeClr val="bg1"/>
              </a:solidFill>
              <a:latin typeface="Garet Bold"/>
              <a:ea typeface="Archivo Black"/>
              <a:cs typeface="Archivo Black"/>
            </a:endParaRPr>
          </a:p>
          <a:p>
            <a:pPr marL="0" lvl="0" indent="0" algn="r">
              <a:lnSpc>
                <a:spcPts val="7211"/>
              </a:lnSpc>
              <a:spcBef>
                <a:spcPct val="0"/>
              </a:spcBef>
            </a:pPr>
            <a:r>
              <a:rPr lang="en-US" sz="9200" spc="-730" dirty="0">
                <a:solidFill>
                  <a:schemeClr val="bg1"/>
                </a:solidFill>
                <a:latin typeface="Garet Bold"/>
                <a:ea typeface="Archivo Black"/>
                <a:cs typeface="Archivo Black"/>
                <a:sym typeface="Archivo Black"/>
              </a:rPr>
              <a:t>DO</a:t>
            </a:r>
            <a:endParaRPr lang="en-US" sz="9200" spc="-730" dirty="0">
              <a:solidFill>
                <a:schemeClr val="bg1"/>
              </a:solidFill>
              <a:latin typeface="Garet Bold"/>
              <a:ea typeface="Archivo Black"/>
              <a:cs typeface="Archivo Black"/>
            </a:endParaRPr>
          </a:p>
          <a:p>
            <a:pPr marL="0" lvl="0" indent="0" algn="r">
              <a:lnSpc>
                <a:spcPts val="7211"/>
              </a:lnSpc>
              <a:spcBef>
                <a:spcPct val="0"/>
              </a:spcBef>
            </a:pPr>
            <a:r>
              <a:rPr lang="en-US" sz="9200" spc="-730" dirty="0">
                <a:solidFill>
                  <a:schemeClr val="bg1"/>
                </a:solidFill>
                <a:latin typeface="Garet Bold"/>
                <a:ea typeface="Archivo Black"/>
                <a:cs typeface="Archivo Black"/>
                <a:sym typeface="Archivo Black"/>
              </a:rPr>
              <a:t>PODER</a:t>
            </a:r>
            <a:endParaRPr lang="en-US" sz="9200" spc="-730" dirty="0">
              <a:solidFill>
                <a:schemeClr val="bg1"/>
              </a:solidFill>
              <a:latin typeface="Garet Bold"/>
              <a:ea typeface="Archivo Black"/>
              <a:cs typeface="Archivo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fillRect t="-3000" b="-3000"/>
          </a:stretch>
        </a:blipFill>
        <a:effectLst/>
      </p:bgPr>
    </p:bg>
    <p:spTree>
      <p:nvGrpSpPr>
        <p:cNvPr id="1" name=""/>
        <p:cNvGrpSpPr/>
        <p:nvPr/>
      </p:nvGrpSpPr>
      <p:grpSpPr>
        <a:xfrm>
          <a:off x="0" y="0"/>
          <a:ext cx="0" cy="0"/>
          <a:chOff x="0" y="0"/>
          <a:chExt cx="0" cy="0"/>
        </a:xfrm>
      </p:grpSpPr>
      <p:sp>
        <p:nvSpPr>
          <p:cNvPr id="6" name="TextBox 6"/>
          <p:cNvSpPr txBox="1"/>
          <p:nvPr/>
        </p:nvSpPr>
        <p:spPr>
          <a:xfrm>
            <a:off x="1028700" y="1557564"/>
            <a:ext cx="7279037" cy="781240"/>
          </a:xfrm>
          <a:prstGeom prst="rect">
            <a:avLst/>
          </a:prstGeom>
        </p:spPr>
        <p:txBody>
          <a:bodyPr lIns="0" tIns="0" rIns="0" bIns="0" rtlCol="0" anchor="t">
            <a:spAutoFit/>
          </a:bodyPr>
          <a:lstStyle/>
          <a:p>
            <a:pPr marL="0" lvl="0" indent="0" algn="l">
              <a:lnSpc>
                <a:spcPts val="5808"/>
              </a:lnSpc>
              <a:spcBef>
                <a:spcPct val="0"/>
              </a:spcBef>
            </a:pPr>
            <a:r>
              <a:rPr lang="en-US" sz="5808" spc="-458" dirty="0" err="1">
                <a:solidFill>
                  <a:srgbClr val="000000"/>
                </a:solidFill>
                <a:latin typeface="Garet Bold" panose="020B0604020202020204" charset="0"/>
                <a:ea typeface="Archivo Black"/>
                <a:cs typeface="Archivo Black"/>
                <a:sym typeface="Archivo Black"/>
              </a:rPr>
              <a:t>Destaques</a:t>
            </a:r>
            <a:endParaRPr lang="en-US" sz="5808" spc="-458" dirty="0">
              <a:solidFill>
                <a:srgbClr val="000000"/>
              </a:solidFill>
              <a:latin typeface="Garet Bold" panose="020B0604020202020204" charset="0"/>
              <a:ea typeface="Archivo Black"/>
              <a:cs typeface="Archivo Black"/>
              <a:sym typeface="Archivo Black"/>
            </a:endParaRPr>
          </a:p>
        </p:txBody>
      </p:sp>
      <p:sp>
        <p:nvSpPr>
          <p:cNvPr id="7" name="TextBox 7"/>
          <p:cNvSpPr txBox="1"/>
          <p:nvPr/>
        </p:nvSpPr>
        <p:spPr>
          <a:xfrm>
            <a:off x="14382445" y="981075"/>
            <a:ext cx="2876855" cy="359714"/>
          </a:xfrm>
          <a:prstGeom prst="rect">
            <a:avLst/>
          </a:prstGeom>
        </p:spPr>
        <p:txBody>
          <a:bodyPr lIns="0" tIns="0" rIns="0" bIns="0" rtlCol="0" anchor="t">
            <a:spAutoFit/>
          </a:bodyPr>
          <a:lstStyle/>
          <a:p>
            <a:pPr algn="r">
              <a:lnSpc>
                <a:spcPts val="2939"/>
              </a:lnSpc>
            </a:pPr>
            <a:r>
              <a:rPr lang="en-US" sz="2050" b="1" dirty="0">
                <a:solidFill>
                  <a:srgbClr val="000000"/>
                </a:solidFill>
                <a:latin typeface="Garet Bold"/>
                <a:ea typeface="Garet Bold"/>
                <a:cs typeface="Garet Bold"/>
                <a:sym typeface="Garet Bold"/>
              </a:rPr>
              <a:t>02/14</a:t>
            </a:r>
            <a:endParaRPr lang="en-US" sz="2099" b="1" dirty="0">
              <a:solidFill>
                <a:srgbClr val="000000"/>
              </a:solidFill>
              <a:latin typeface="Garet Bold"/>
              <a:ea typeface="Garet Bold"/>
              <a:cs typeface="Garet Bold"/>
              <a:sym typeface="Garet Bold"/>
            </a:endParaRPr>
          </a:p>
        </p:txBody>
      </p:sp>
      <p:sp>
        <p:nvSpPr>
          <p:cNvPr id="11" name="TextBox 11"/>
          <p:cNvSpPr txBox="1"/>
          <p:nvPr/>
        </p:nvSpPr>
        <p:spPr>
          <a:xfrm>
            <a:off x="735868" y="4109936"/>
            <a:ext cx="5177335" cy="1634486"/>
          </a:xfrm>
          <a:prstGeom prst="rect">
            <a:avLst/>
          </a:prstGeom>
        </p:spPr>
        <p:txBody>
          <a:bodyPr lIns="0" tIns="0" rIns="0" bIns="0" rtlCol="0" anchor="t">
            <a:spAutoFit/>
          </a:bodyPr>
          <a:lstStyle/>
          <a:p>
            <a:pPr algn="ctr">
              <a:lnSpc>
                <a:spcPts val="4295"/>
              </a:lnSpc>
            </a:pPr>
            <a:r>
              <a:rPr lang="en-US" sz="4400" b="1" dirty="0">
                <a:solidFill>
                  <a:srgbClr val="000000"/>
                </a:solidFill>
                <a:latin typeface="Garet Bold"/>
                <a:ea typeface="Garet Bold"/>
                <a:cs typeface="Garet Bold"/>
                <a:sym typeface="Garet Bold"/>
              </a:rPr>
              <a:t>62.282</a:t>
            </a:r>
            <a:endParaRPr lang="en-US" sz="4400" dirty="0">
              <a:solidFill>
                <a:srgbClr val="000000"/>
              </a:solidFill>
              <a:latin typeface="Garet"/>
              <a:ea typeface="Garet"/>
              <a:cs typeface="Garet"/>
              <a:sym typeface="Garet"/>
            </a:endParaRPr>
          </a:p>
          <a:p>
            <a:pPr algn="ctr">
              <a:lnSpc>
                <a:spcPts val="4295"/>
              </a:lnSpc>
            </a:pPr>
            <a:r>
              <a:rPr lang="en-US" sz="3068" dirty="0" err="1">
                <a:solidFill>
                  <a:srgbClr val="000000"/>
                </a:solidFill>
                <a:latin typeface="Garet"/>
                <a:ea typeface="Garet"/>
                <a:cs typeface="Garet"/>
                <a:sym typeface="Garet"/>
              </a:rPr>
              <a:t>Atendimentos</a:t>
            </a:r>
            <a:r>
              <a:rPr lang="en-US" sz="3068" dirty="0">
                <a:solidFill>
                  <a:srgbClr val="000000"/>
                </a:solidFill>
                <a:latin typeface="Garet"/>
                <a:ea typeface="Garet"/>
                <a:cs typeface="Garet"/>
                <a:sym typeface="Garet"/>
              </a:rPr>
              <a:t> </a:t>
            </a:r>
            <a:r>
              <a:rPr lang="en-US" sz="3068" dirty="0" err="1">
                <a:solidFill>
                  <a:srgbClr val="000000"/>
                </a:solidFill>
                <a:latin typeface="Garet"/>
                <a:ea typeface="Garet"/>
                <a:cs typeface="Garet"/>
                <a:sym typeface="Garet"/>
              </a:rPr>
              <a:t>em</a:t>
            </a:r>
            <a:r>
              <a:rPr lang="en-US" sz="3068" dirty="0">
                <a:solidFill>
                  <a:srgbClr val="000000"/>
                </a:solidFill>
                <a:latin typeface="Garet"/>
                <a:ea typeface="Garet"/>
                <a:cs typeface="Garet"/>
                <a:sym typeface="Garet"/>
              </a:rPr>
              <a:t> </a:t>
            </a:r>
            <a:r>
              <a:rPr lang="en-US" sz="3068" dirty="0" err="1">
                <a:solidFill>
                  <a:srgbClr val="000000"/>
                </a:solidFill>
                <a:latin typeface="Garet"/>
                <a:ea typeface="Garet"/>
                <a:cs typeface="Garet"/>
                <a:sym typeface="Garet"/>
              </a:rPr>
              <a:t>todas</a:t>
            </a:r>
            <a:r>
              <a:rPr lang="en-US" sz="3068" dirty="0">
                <a:solidFill>
                  <a:srgbClr val="000000"/>
                </a:solidFill>
                <a:latin typeface="Garet"/>
                <a:ea typeface="Garet"/>
                <a:cs typeface="Garet"/>
                <a:sym typeface="Garet"/>
              </a:rPr>
              <a:t> as </a:t>
            </a:r>
            <a:r>
              <a:rPr lang="en-US" sz="3068" dirty="0" err="1">
                <a:solidFill>
                  <a:srgbClr val="000000"/>
                </a:solidFill>
                <a:latin typeface="Garet"/>
                <a:ea typeface="Garet"/>
                <a:cs typeface="Garet"/>
                <a:sym typeface="Garet"/>
              </a:rPr>
              <a:t>ações</a:t>
            </a:r>
            <a:r>
              <a:rPr lang="en-US" sz="3068" dirty="0">
                <a:solidFill>
                  <a:srgbClr val="000000"/>
                </a:solidFill>
                <a:latin typeface="Garet"/>
                <a:ea typeface="Garet"/>
                <a:cs typeface="Garet"/>
                <a:sym typeface="Garet"/>
              </a:rPr>
              <a:t> da </a:t>
            </a:r>
            <a:r>
              <a:rPr lang="en-US" sz="3068" dirty="0" err="1">
                <a:solidFill>
                  <a:srgbClr val="000000"/>
                </a:solidFill>
                <a:latin typeface="Garet"/>
                <a:ea typeface="Garet"/>
                <a:cs typeface="Garet"/>
                <a:sym typeface="Garet"/>
              </a:rPr>
              <a:t>exposição</a:t>
            </a:r>
            <a:endParaRPr lang="en-US" sz="3068" dirty="0">
              <a:solidFill>
                <a:srgbClr val="000000"/>
              </a:solidFill>
              <a:latin typeface="Garet"/>
              <a:ea typeface="Garet"/>
              <a:cs typeface="Garet"/>
              <a:sym typeface="Garet"/>
            </a:endParaRPr>
          </a:p>
        </p:txBody>
      </p:sp>
      <p:sp>
        <p:nvSpPr>
          <p:cNvPr id="12" name="TextBox 12"/>
          <p:cNvSpPr txBox="1"/>
          <p:nvPr/>
        </p:nvSpPr>
        <p:spPr>
          <a:xfrm>
            <a:off x="12060194" y="4109936"/>
            <a:ext cx="5177335" cy="1634486"/>
          </a:xfrm>
          <a:prstGeom prst="rect">
            <a:avLst/>
          </a:prstGeom>
        </p:spPr>
        <p:txBody>
          <a:bodyPr lIns="0" tIns="0" rIns="0" bIns="0" rtlCol="0" anchor="t">
            <a:spAutoFit/>
          </a:bodyPr>
          <a:lstStyle/>
          <a:p>
            <a:pPr algn="ctr">
              <a:lnSpc>
                <a:spcPts val="4295"/>
              </a:lnSpc>
            </a:pPr>
            <a:r>
              <a:rPr lang="en-US" sz="4400" b="1" dirty="0">
                <a:solidFill>
                  <a:srgbClr val="000000"/>
                </a:solidFill>
                <a:latin typeface="Garet Bold"/>
                <a:ea typeface="Garet Bold"/>
                <a:cs typeface="Garet Bold"/>
                <a:sym typeface="Garet Bold"/>
              </a:rPr>
              <a:t>231</a:t>
            </a:r>
            <a:endParaRPr lang="en-US" sz="4400" dirty="0">
              <a:solidFill>
                <a:srgbClr val="000000"/>
              </a:solidFill>
              <a:latin typeface="Garet"/>
              <a:ea typeface="Garet"/>
              <a:cs typeface="Garet"/>
              <a:sym typeface="Garet"/>
            </a:endParaRPr>
          </a:p>
          <a:p>
            <a:pPr algn="ctr">
              <a:lnSpc>
                <a:spcPts val="4295"/>
              </a:lnSpc>
            </a:pPr>
            <a:r>
              <a:rPr lang="en-US" sz="3068" dirty="0" err="1">
                <a:solidFill>
                  <a:srgbClr val="000000"/>
                </a:solidFill>
                <a:latin typeface="Garet"/>
                <a:ea typeface="Garet"/>
                <a:cs typeface="Garet"/>
                <a:sym typeface="Garet"/>
              </a:rPr>
              <a:t>Atendimentos</a:t>
            </a:r>
            <a:r>
              <a:rPr lang="en-US" sz="3068" dirty="0">
                <a:solidFill>
                  <a:srgbClr val="000000"/>
                </a:solidFill>
                <a:latin typeface="Garet"/>
                <a:ea typeface="Garet"/>
                <a:cs typeface="Garet"/>
                <a:sym typeface="Garet"/>
              </a:rPr>
              <a:t> da </a:t>
            </a:r>
            <a:r>
              <a:rPr lang="en-US" sz="3068" dirty="0" err="1">
                <a:solidFill>
                  <a:srgbClr val="000000"/>
                </a:solidFill>
                <a:latin typeface="Garet"/>
                <a:ea typeface="Garet"/>
                <a:cs typeface="Garet"/>
                <a:sym typeface="Garet"/>
              </a:rPr>
              <a:t>programação</a:t>
            </a:r>
            <a:r>
              <a:rPr lang="en-US" sz="3068" dirty="0">
                <a:solidFill>
                  <a:srgbClr val="000000"/>
                </a:solidFill>
                <a:latin typeface="Garet"/>
                <a:ea typeface="Garet"/>
                <a:cs typeface="Garet"/>
                <a:sym typeface="Garet"/>
              </a:rPr>
              <a:t> </a:t>
            </a:r>
            <a:r>
              <a:rPr lang="en-US" sz="3068" dirty="0" err="1">
                <a:solidFill>
                  <a:srgbClr val="000000"/>
                </a:solidFill>
                <a:latin typeface="Garet"/>
                <a:ea typeface="Garet"/>
                <a:cs typeface="Garet"/>
                <a:sym typeface="Garet"/>
              </a:rPr>
              <a:t>integrada</a:t>
            </a:r>
            <a:endParaRPr lang="en-US" sz="3068" dirty="0">
              <a:solidFill>
                <a:srgbClr val="000000"/>
              </a:solidFill>
              <a:latin typeface="Garet"/>
              <a:ea typeface="Garet"/>
              <a:cs typeface="Garet"/>
              <a:sym typeface="Garet"/>
            </a:endParaRPr>
          </a:p>
        </p:txBody>
      </p:sp>
      <p:sp>
        <p:nvSpPr>
          <p:cNvPr id="14" name="TextBox 14"/>
          <p:cNvSpPr txBox="1"/>
          <p:nvPr/>
        </p:nvSpPr>
        <p:spPr>
          <a:xfrm>
            <a:off x="6551432" y="4114353"/>
            <a:ext cx="4870533" cy="1633781"/>
          </a:xfrm>
          <a:prstGeom prst="rect">
            <a:avLst/>
          </a:prstGeom>
        </p:spPr>
        <p:txBody>
          <a:bodyPr wrap="square" lIns="0" tIns="0" rIns="0" bIns="0" rtlCol="0" anchor="t">
            <a:spAutoFit/>
          </a:bodyPr>
          <a:lstStyle/>
          <a:p>
            <a:pPr algn="ctr">
              <a:lnSpc>
                <a:spcPts val="4295"/>
              </a:lnSpc>
            </a:pPr>
            <a:r>
              <a:rPr lang="pt-BR" sz="4400" b="1" dirty="0">
                <a:solidFill>
                  <a:srgbClr val="000000"/>
                </a:solidFill>
                <a:latin typeface="Garet Bold" panose="020B0604020202020204" charset="0"/>
                <a:ea typeface="Garet"/>
                <a:cs typeface="Garet"/>
                <a:sym typeface="Garet"/>
              </a:rPr>
              <a:t>7.164</a:t>
            </a:r>
            <a:endParaRPr lang="en-US" sz="4400" dirty="0">
              <a:solidFill>
                <a:srgbClr val="000000"/>
              </a:solidFill>
              <a:latin typeface="Garet"/>
              <a:ea typeface="Garet"/>
              <a:cs typeface="Garet"/>
              <a:sym typeface="Garet"/>
            </a:endParaRPr>
          </a:p>
          <a:p>
            <a:pPr algn="ctr">
              <a:lnSpc>
                <a:spcPts val="4295"/>
              </a:lnSpc>
            </a:pPr>
            <a:r>
              <a:rPr lang="en-US" sz="3050" dirty="0" err="1">
                <a:solidFill>
                  <a:srgbClr val="000000"/>
                </a:solidFill>
                <a:latin typeface="Garet"/>
                <a:ea typeface="Garet"/>
                <a:cs typeface="Garet"/>
                <a:sym typeface="Garet"/>
              </a:rPr>
              <a:t>Atendimentos</a:t>
            </a:r>
            <a:r>
              <a:rPr lang="en-US" sz="3050" dirty="0">
                <a:solidFill>
                  <a:srgbClr val="000000"/>
                </a:solidFill>
                <a:latin typeface="Garet"/>
                <a:ea typeface="Garet"/>
                <a:cs typeface="Garet"/>
                <a:sym typeface="Garet"/>
              </a:rPr>
              <a:t> </a:t>
            </a:r>
            <a:r>
              <a:rPr lang="en-US" sz="3050" dirty="0" err="1">
                <a:solidFill>
                  <a:srgbClr val="000000"/>
                </a:solidFill>
                <a:latin typeface="Garet"/>
                <a:ea typeface="Garet"/>
                <a:cs typeface="Garet"/>
                <a:sym typeface="Garet"/>
              </a:rPr>
              <a:t>em</a:t>
            </a:r>
            <a:r>
              <a:rPr lang="en-US" sz="3050" dirty="0">
                <a:solidFill>
                  <a:srgbClr val="000000"/>
                </a:solidFill>
                <a:latin typeface="Garet"/>
                <a:ea typeface="Garet"/>
                <a:cs typeface="Garet"/>
                <a:sym typeface="Garet"/>
              </a:rPr>
              <a:t> </a:t>
            </a:r>
            <a:r>
              <a:rPr lang="en-US" sz="3050" dirty="0" err="1">
                <a:solidFill>
                  <a:srgbClr val="000000"/>
                </a:solidFill>
                <a:latin typeface="Garet"/>
                <a:ea typeface="Garet"/>
                <a:cs typeface="Garet"/>
                <a:sym typeface="Garet"/>
              </a:rPr>
              <a:t>visitas</a:t>
            </a:r>
            <a:r>
              <a:rPr lang="en-US" sz="3050" dirty="0">
                <a:solidFill>
                  <a:srgbClr val="000000"/>
                </a:solidFill>
                <a:latin typeface="Garet"/>
                <a:ea typeface="Garet"/>
                <a:cs typeface="Garet"/>
                <a:sym typeface="Garet"/>
              </a:rPr>
              <a:t> </a:t>
            </a:r>
            <a:r>
              <a:rPr lang="en-US" sz="3050" dirty="0" err="1">
                <a:solidFill>
                  <a:srgbClr val="000000"/>
                </a:solidFill>
                <a:latin typeface="Garet"/>
                <a:ea typeface="Garet"/>
                <a:cs typeface="Garet"/>
                <a:sym typeface="Garet"/>
              </a:rPr>
              <a:t>mediadas</a:t>
            </a:r>
            <a:endParaRPr lang="en-US" sz="3050" dirty="0">
              <a:solidFill>
                <a:srgbClr val="000000"/>
              </a:solidFill>
              <a:latin typeface="Garet"/>
              <a:ea typeface="Garet"/>
              <a:cs typeface="Garet"/>
              <a:sym typeface="Garet"/>
            </a:endParaRPr>
          </a:p>
        </p:txBody>
      </p:sp>
      <p:sp>
        <p:nvSpPr>
          <p:cNvPr id="23" name="Retângulo 22">
            <a:extLst>
              <a:ext uri="{FF2B5EF4-FFF2-40B4-BE49-F238E27FC236}">
                <a16:creationId xmlns:a16="http://schemas.microsoft.com/office/drawing/2014/main" id="{4BA5C380-D7D6-BE99-6CD9-EC079A2A567C}"/>
              </a:ext>
            </a:extLst>
          </p:cNvPr>
          <p:cNvSpPr/>
          <p:nvPr/>
        </p:nvSpPr>
        <p:spPr>
          <a:xfrm>
            <a:off x="8451350" y="9618030"/>
            <a:ext cx="5941230" cy="361971"/>
          </a:xfrm>
          <a:prstGeom prst="rect">
            <a:avLst/>
          </a:prstGeom>
          <a:solidFill>
            <a:srgbClr val="FED0D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5" name="Retângulo 24">
            <a:extLst>
              <a:ext uri="{FF2B5EF4-FFF2-40B4-BE49-F238E27FC236}">
                <a16:creationId xmlns:a16="http://schemas.microsoft.com/office/drawing/2014/main" id="{62A6781D-3F98-B694-88AB-D8717F01562C}"/>
              </a:ext>
            </a:extLst>
          </p:cNvPr>
          <p:cNvSpPr/>
          <p:nvPr/>
        </p:nvSpPr>
        <p:spPr>
          <a:xfrm>
            <a:off x="3824379" y="9245910"/>
            <a:ext cx="6203407" cy="381000"/>
          </a:xfrm>
          <a:prstGeom prst="rect">
            <a:avLst/>
          </a:prstGeom>
          <a:solidFill>
            <a:srgbClr val="FFF1B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Retângulo 26">
            <a:extLst>
              <a:ext uri="{FF2B5EF4-FFF2-40B4-BE49-F238E27FC236}">
                <a16:creationId xmlns:a16="http://schemas.microsoft.com/office/drawing/2014/main" id="{BD8C2CBE-6EBB-7E34-69E8-CD07B76A7FD5}"/>
              </a:ext>
            </a:extLst>
          </p:cNvPr>
          <p:cNvSpPr/>
          <p:nvPr/>
        </p:nvSpPr>
        <p:spPr>
          <a:xfrm>
            <a:off x="924803" y="8875482"/>
            <a:ext cx="5777159" cy="383537"/>
          </a:xfrm>
          <a:prstGeom prst="rect">
            <a:avLst/>
          </a:prstGeom>
          <a:solidFill>
            <a:srgbClr val="FFABF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t="-3000" b="-3000"/>
          </a:stretch>
        </a:blipFill>
        <a:effectLst/>
      </p:bgPr>
    </p:bg>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5B0E158F-E8D3-A931-E11C-BCCB839CEAA9}"/>
              </a:ext>
            </a:extLst>
          </p:cNvPr>
          <p:cNvSpPr/>
          <p:nvPr/>
        </p:nvSpPr>
        <p:spPr>
          <a:xfrm>
            <a:off x="6666019" y="9422287"/>
            <a:ext cx="5266341" cy="510396"/>
          </a:xfrm>
          <a:prstGeom prst="rect">
            <a:avLst/>
          </a:prstGeom>
          <a:solidFill>
            <a:srgbClr val="FFF1B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TextBox 11"/>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pt-BR" sz="2050" b="1" dirty="0">
                <a:solidFill>
                  <a:srgbClr val="000000"/>
                </a:solidFill>
                <a:latin typeface="Garet Bold"/>
                <a:ea typeface="Garet Bold"/>
                <a:cs typeface="Garet Bold"/>
                <a:sym typeface="Garet Bold"/>
              </a:rPr>
              <a:t>03/14</a:t>
            </a:r>
            <a:endParaRPr lang="pt-BR" sz="2099" b="1" noProof="0" dirty="0">
              <a:solidFill>
                <a:srgbClr val="000000"/>
              </a:solidFill>
              <a:latin typeface="Garet Bold"/>
              <a:ea typeface="Garet Bold"/>
              <a:cs typeface="Garet Bold"/>
              <a:sym typeface="Garet Bold"/>
            </a:endParaRPr>
          </a:p>
        </p:txBody>
      </p:sp>
      <p:sp>
        <p:nvSpPr>
          <p:cNvPr id="3" name="TextBox 13">
            <a:extLst>
              <a:ext uri="{FF2B5EF4-FFF2-40B4-BE49-F238E27FC236}">
                <a16:creationId xmlns:a16="http://schemas.microsoft.com/office/drawing/2014/main" id="{0F950054-21F1-2A9E-E636-B2A0D382AD3F}"/>
              </a:ext>
            </a:extLst>
          </p:cNvPr>
          <p:cNvSpPr txBox="1"/>
          <p:nvPr/>
        </p:nvSpPr>
        <p:spPr>
          <a:xfrm>
            <a:off x="1023913" y="3402278"/>
            <a:ext cx="4530613" cy="3046988"/>
          </a:xfrm>
          <a:prstGeom prst="rect">
            <a:avLst/>
          </a:prstGeom>
        </p:spPr>
        <p:txBody>
          <a:bodyPr wrap="square" lIns="0" tIns="0" rIns="0" bIns="0" rtlCol="0" anchor="t">
            <a:spAutoFit/>
          </a:bodyPr>
          <a:lstStyle/>
          <a:p>
            <a:pPr algn="ctr"/>
            <a:r>
              <a:rPr lang="pt-BR" sz="6600" b="1" noProof="0" dirty="0">
                <a:solidFill>
                  <a:srgbClr val="000000"/>
                </a:solidFill>
                <a:latin typeface="Garet Bold" panose="020B0604020202020204" charset="0"/>
                <a:ea typeface="Garet"/>
                <a:cs typeface="Garet"/>
                <a:sym typeface="Garet"/>
              </a:rPr>
              <a:t>54.902</a:t>
            </a:r>
          </a:p>
          <a:p>
            <a:pPr algn="ctr"/>
            <a:r>
              <a:rPr lang="pt-BR" sz="4400" noProof="0" dirty="0">
                <a:solidFill>
                  <a:srgbClr val="000000"/>
                </a:solidFill>
                <a:latin typeface="Garet"/>
                <a:ea typeface="Garet"/>
                <a:cs typeface="Garet"/>
                <a:sym typeface="Garet"/>
              </a:rPr>
              <a:t>Atendimentos espontâneos na exposição</a:t>
            </a:r>
            <a:endParaRPr lang="pt-BR" sz="4400" noProof="0" dirty="0">
              <a:solidFill>
                <a:srgbClr val="000000"/>
              </a:solidFill>
              <a:latin typeface="Garet" panose="020B0604020202020204" charset="0"/>
              <a:ea typeface="Garet"/>
              <a:cs typeface="Garet"/>
              <a:sym typeface="Garet"/>
            </a:endParaRPr>
          </a:p>
        </p:txBody>
      </p:sp>
      <p:sp>
        <p:nvSpPr>
          <p:cNvPr id="5" name="Retângulo 4">
            <a:extLst>
              <a:ext uri="{FF2B5EF4-FFF2-40B4-BE49-F238E27FC236}">
                <a16:creationId xmlns:a16="http://schemas.microsoft.com/office/drawing/2014/main" id="{65078EA0-8029-5073-7054-F00FB38C6D7F}"/>
              </a:ext>
            </a:extLst>
          </p:cNvPr>
          <p:cNvSpPr/>
          <p:nvPr/>
        </p:nvSpPr>
        <p:spPr>
          <a:xfrm>
            <a:off x="6510828" y="9182945"/>
            <a:ext cx="5283256" cy="509550"/>
          </a:xfrm>
          <a:prstGeom prst="rect">
            <a:avLst/>
          </a:prstGeom>
          <a:solidFill>
            <a:srgbClr val="FFABF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TextBox 12">
            <a:extLst>
              <a:ext uri="{FF2B5EF4-FFF2-40B4-BE49-F238E27FC236}">
                <a16:creationId xmlns:a16="http://schemas.microsoft.com/office/drawing/2014/main" id="{F07F23C8-A2E4-F6C1-89A8-0BA16761324B}"/>
              </a:ext>
            </a:extLst>
          </p:cNvPr>
          <p:cNvSpPr txBox="1"/>
          <p:nvPr/>
        </p:nvSpPr>
        <p:spPr>
          <a:xfrm>
            <a:off x="6510828" y="9199274"/>
            <a:ext cx="5266341" cy="510395"/>
          </a:xfrm>
          <a:prstGeom prst="rect">
            <a:avLst/>
          </a:prstGeom>
          <a:noFill/>
        </p:spPr>
        <p:txBody>
          <a:bodyPr wrap="square" lIns="0" tIns="0" rIns="0" bIns="0" rtlCol="0" anchor="t">
            <a:spAutoFit/>
          </a:bodyPr>
          <a:lstStyle/>
          <a:p>
            <a:pPr algn="ctr"/>
            <a:r>
              <a:rPr lang="pt-BR" sz="3200" dirty="0">
                <a:latin typeface="Garet Bold"/>
                <a:ea typeface="Garet Bold"/>
                <a:cs typeface="Garet Bold"/>
                <a:sym typeface="Garet Bold"/>
              </a:rPr>
              <a:t>165</a:t>
            </a:r>
            <a:r>
              <a:rPr lang="pt-BR" sz="3200" noProof="0" dirty="0">
                <a:latin typeface="Garet Bold"/>
                <a:ea typeface="Garet Bold"/>
                <a:cs typeface="Garet Bold"/>
                <a:sym typeface="Garet Bold"/>
              </a:rPr>
              <a:t> dias de visitação</a:t>
            </a:r>
          </a:p>
        </p:txBody>
      </p:sp>
      <p:sp>
        <p:nvSpPr>
          <p:cNvPr id="4" name="TextBox 29">
            <a:extLst>
              <a:ext uri="{FF2B5EF4-FFF2-40B4-BE49-F238E27FC236}">
                <a16:creationId xmlns:a16="http://schemas.microsoft.com/office/drawing/2014/main" id="{C511EDE2-9A5A-C628-030F-920FA69F9F3F}"/>
              </a:ext>
            </a:extLst>
          </p:cNvPr>
          <p:cNvSpPr txBox="1"/>
          <p:nvPr/>
        </p:nvSpPr>
        <p:spPr>
          <a:xfrm>
            <a:off x="6211019" y="2575129"/>
            <a:ext cx="5876551" cy="1110560"/>
          </a:xfrm>
          <a:prstGeom prst="rect">
            <a:avLst/>
          </a:prstGeom>
        </p:spPr>
        <p:txBody>
          <a:bodyPr wrap="square" lIns="0" tIns="0" rIns="0" bIns="0" rtlCol="0" anchor="t">
            <a:spAutoFit/>
          </a:bodyPr>
          <a:lstStyle/>
          <a:p>
            <a:pPr algn="ctr">
              <a:lnSpc>
                <a:spcPts val="2794"/>
              </a:lnSpc>
            </a:pPr>
            <a:endParaRPr lang="pt-BR" sz="3200" noProof="0" dirty="0">
              <a:solidFill>
                <a:srgbClr val="000000"/>
              </a:solidFill>
              <a:latin typeface="Garet"/>
              <a:ea typeface="Garet Bold"/>
              <a:cs typeface="Garet Bold"/>
              <a:sym typeface="Garet Bold"/>
            </a:endParaRPr>
          </a:p>
          <a:p>
            <a:pPr algn="ctr">
              <a:lnSpc>
                <a:spcPts val="2794"/>
              </a:lnSpc>
            </a:pPr>
            <a:endParaRPr lang="pt-BR" sz="3200" noProof="0" dirty="0">
              <a:solidFill>
                <a:srgbClr val="FF0000"/>
              </a:solidFill>
              <a:latin typeface="Garet"/>
              <a:ea typeface="Garet Bold"/>
              <a:cs typeface="Garet Bold"/>
              <a:sym typeface="Garet Bold"/>
            </a:endParaRPr>
          </a:p>
          <a:p>
            <a:pPr algn="ctr">
              <a:lnSpc>
                <a:spcPts val="2794"/>
              </a:lnSpc>
            </a:pPr>
            <a:endParaRPr lang="pt-BR" sz="3200" noProof="0" dirty="0">
              <a:solidFill>
                <a:srgbClr val="000000"/>
              </a:solidFill>
              <a:latin typeface="Garet Bold"/>
              <a:ea typeface="Garet Bold"/>
              <a:cs typeface="Garet Bold"/>
              <a:sym typeface="Garet Bold"/>
            </a:endParaRPr>
          </a:p>
        </p:txBody>
      </p:sp>
      <p:sp>
        <p:nvSpPr>
          <p:cNvPr id="2" name="TextBox 13">
            <a:extLst>
              <a:ext uri="{FF2B5EF4-FFF2-40B4-BE49-F238E27FC236}">
                <a16:creationId xmlns:a16="http://schemas.microsoft.com/office/drawing/2014/main" id="{2A389709-8497-0417-2BEB-2588B3A7E6E2}"/>
              </a:ext>
            </a:extLst>
          </p:cNvPr>
          <p:cNvSpPr txBox="1"/>
          <p:nvPr/>
        </p:nvSpPr>
        <p:spPr>
          <a:xfrm>
            <a:off x="6878693" y="3402278"/>
            <a:ext cx="4530613" cy="3724096"/>
          </a:xfrm>
          <a:prstGeom prst="rect">
            <a:avLst/>
          </a:prstGeom>
        </p:spPr>
        <p:txBody>
          <a:bodyPr wrap="square" lIns="0" tIns="0" rIns="0" bIns="0" rtlCol="0" anchor="t">
            <a:spAutoFit/>
          </a:bodyPr>
          <a:lstStyle/>
          <a:p>
            <a:pPr algn="ctr"/>
            <a:r>
              <a:rPr lang="pt-BR" sz="6600" b="1" noProof="0" dirty="0">
                <a:solidFill>
                  <a:srgbClr val="000000"/>
                </a:solidFill>
                <a:latin typeface="Garet Bold" panose="020B0604020202020204" charset="0"/>
                <a:ea typeface="Garet"/>
                <a:cs typeface="Garet"/>
                <a:sym typeface="Garet"/>
              </a:rPr>
              <a:t>1.909</a:t>
            </a:r>
          </a:p>
          <a:p>
            <a:pPr algn="ctr"/>
            <a:r>
              <a:rPr lang="pt-BR" sz="4400" noProof="0" dirty="0">
                <a:solidFill>
                  <a:srgbClr val="000000"/>
                </a:solidFill>
                <a:latin typeface="Garet"/>
                <a:ea typeface="Garet"/>
                <a:cs typeface="Garet"/>
                <a:sym typeface="Garet"/>
              </a:rPr>
              <a:t>Atendimentos realizados nas visitas agendadas</a:t>
            </a:r>
            <a:endParaRPr lang="pt-BR" sz="4400" noProof="0" dirty="0">
              <a:solidFill>
                <a:srgbClr val="000000"/>
              </a:solidFill>
              <a:latin typeface="Garet" panose="020B0604020202020204" charset="0"/>
              <a:ea typeface="Garet"/>
              <a:cs typeface="Garet"/>
              <a:sym typeface="Garet"/>
            </a:endParaRPr>
          </a:p>
        </p:txBody>
      </p:sp>
      <p:sp>
        <p:nvSpPr>
          <p:cNvPr id="9" name="TextBox 13">
            <a:extLst>
              <a:ext uri="{FF2B5EF4-FFF2-40B4-BE49-F238E27FC236}">
                <a16:creationId xmlns:a16="http://schemas.microsoft.com/office/drawing/2014/main" id="{D7C39DEB-B61E-8298-6AD6-B9530378A614}"/>
              </a:ext>
            </a:extLst>
          </p:cNvPr>
          <p:cNvSpPr txBox="1"/>
          <p:nvPr/>
        </p:nvSpPr>
        <p:spPr>
          <a:xfrm>
            <a:off x="12728687" y="3402278"/>
            <a:ext cx="4530613" cy="4524315"/>
          </a:xfrm>
          <a:prstGeom prst="rect">
            <a:avLst/>
          </a:prstGeom>
        </p:spPr>
        <p:txBody>
          <a:bodyPr wrap="square" lIns="0" tIns="0" rIns="0" bIns="0" rtlCol="0" anchor="t">
            <a:spAutoFit/>
          </a:bodyPr>
          <a:lstStyle/>
          <a:p>
            <a:pPr algn="ctr"/>
            <a:r>
              <a:rPr lang="pt-BR" sz="6600" b="1" noProof="0" dirty="0">
                <a:solidFill>
                  <a:srgbClr val="000000"/>
                </a:solidFill>
                <a:latin typeface="Garet Bold" panose="020B0604020202020204" charset="0"/>
                <a:ea typeface="Garet"/>
                <a:cs typeface="Garet"/>
                <a:sym typeface="Garet"/>
              </a:rPr>
              <a:t>1.258</a:t>
            </a:r>
          </a:p>
          <a:p>
            <a:pPr algn="ctr"/>
            <a:r>
              <a:rPr lang="pt-BR" sz="3800" noProof="0" dirty="0">
                <a:solidFill>
                  <a:srgbClr val="000000"/>
                </a:solidFill>
                <a:latin typeface="Garet"/>
                <a:ea typeface="Garet"/>
                <a:cs typeface="Garet"/>
                <a:sym typeface="Garet"/>
              </a:rPr>
              <a:t>Atendimentos realizados com instituições públicas de ensino e/ou assistência social</a:t>
            </a:r>
            <a:endParaRPr lang="pt-BR" sz="3800" noProof="0" dirty="0">
              <a:solidFill>
                <a:srgbClr val="000000"/>
              </a:solidFill>
              <a:latin typeface="Garet" panose="020B0604020202020204" charset="0"/>
              <a:ea typeface="Garet"/>
              <a:cs typeface="Garet"/>
              <a:sym typeface="Gare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t="-3000" b="-3000"/>
          </a:stretch>
        </a:blipFill>
        <a:effectLst/>
      </p:bgPr>
    </p:bg>
    <p:spTree>
      <p:nvGrpSpPr>
        <p:cNvPr id="1" name="">
          <a:extLst>
            <a:ext uri="{FF2B5EF4-FFF2-40B4-BE49-F238E27FC236}">
              <a16:creationId xmlns:a16="http://schemas.microsoft.com/office/drawing/2014/main" id="{B46BDC1E-7D4C-DCB8-9A56-77B68FFAD364}"/>
            </a:ext>
          </a:extLst>
        </p:cNvPr>
        <p:cNvGrpSpPr/>
        <p:nvPr/>
      </p:nvGrpSpPr>
      <p:grpSpPr>
        <a:xfrm>
          <a:off x="0" y="0"/>
          <a:ext cx="0" cy="0"/>
          <a:chOff x="0" y="0"/>
          <a:chExt cx="0" cy="0"/>
        </a:xfrm>
      </p:grpSpPr>
      <p:sp>
        <p:nvSpPr>
          <p:cNvPr id="3" name="Retângulo 2">
            <a:extLst>
              <a:ext uri="{FF2B5EF4-FFF2-40B4-BE49-F238E27FC236}">
                <a16:creationId xmlns:a16="http://schemas.microsoft.com/office/drawing/2014/main" id="{A694AEC2-456D-3B36-18BA-562AEE5E885A}"/>
              </a:ext>
            </a:extLst>
          </p:cNvPr>
          <p:cNvSpPr/>
          <p:nvPr/>
        </p:nvSpPr>
        <p:spPr>
          <a:xfrm>
            <a:off x="783988" y="1873285"/>
            <a:ext cx="7191639" cy="71899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extBox 11">
            <a:extLst>
              <a:ext uri="{FF2B5EF4-FFF2-40B4-BE49-F238E27FC236}">
                <a16:creationId xmlns:a16="http://schemas.microsoft.com/office/drawing/2014/main" id="{2469874A-1C6A-2C88-74AC-9DD75A0FC754}"/>
              </a:ext>
            </a:extLst>
          </p:cNvPr>
          <p:cNvSpPr txBox="1"/>
          <p:nvPr/>
        </p:nvSpPr>
        <p:spPr>
          <a:xfrm>
            <a:off x="1300939" y="5194721"/>
            <a:ext cx="6172200" cy="598241"/>
          </a:xfrm>
          <a:prstGeom prst="rect">
            <a:avLst/>
          </a:prstGeom>
        </p:spPr>
        <p:txBody>
          <a:bodyPr wrap="square" lIns="0" tIns="0" rIns="0" bIns="0" rtlCol="0" anchor="t">
            <a:spAutoFit/>
          </a:bodyPr>
          <a:lstStyle/>
          <a:p>
            <a:pPr algn="ctr">
              <a:lnSpc>
                <a:spcPts val="4295"/>
              </a:lnSpc>
            </a:pPr>
            <a:r>
              <a:rPr lang="en-US" sz="4800" spc="-458" dirty="0">
                <a:solidFill>
                  <a:schemeClr val="bg1"/>
                </a:solidFill>
                <a:latin typeface="Garet Bold" panose="020B0604020202020204" charset="0"/>
                <a:ea typeface="Archivo Black"/>
                <a:cs typeface="Archivo Black"/>
                <a:sym typeface="Archivo Black"/>
              </a:rPr>
              <a:t>Equipe </a:t>
            </a:r>
            <a:r>
              <a:rPr lang="en-US" sz="4800" spc="-458" dirty="0" err="1">
                <a:solidFill>
                  <a:schemeClr val="bg1"/>
                </a:solidFill>
                <a:latin typeface="Garet Bold" panose="020B0604020202020204" charset="0"/>
                <a:ea typeface="Archivo Black"/>
                <a:cs typeface="Archivo Black"/>
                <a:sym typeface="Archivo Black"/>
              </a:rPr>
              <a:t>Educativa</a:t>
            </a:r>
            <a:endParaRPr lang="en-US" sz="4800" spc="-458" dirty="0">
              <a:solidFill>
                <a:schemeClr val="bg1"/>
              </a:solidFill>
              <a:latin typeface="Garet Bold" panose="020B0604020202020204" charset="0"/>
              <a:ea typeface="Archivo Black"/>
              <a:cs typeface="Archivo Black"/>
              <a:sym typeface="Archivo Black"/>
            </a:endParaRPr>
          </a:p>
        </p:txBody>
      </p:sp>
      <p:graphicFrame>
        <p:nvGraphicFramePr>
          <p:cNvPr id="8" name="Table 3">
            <a:extLst>
              <a:ext uri="{FF2B5EF4-FFF2-40B4-BE49-F238E27FC236}">
                <a16:creationId xmlns:a16="http://schemas.microsoft.com/office/drawing/2014/main" id="{8C802B50-79C0-7376-C196-62BDDDD9F720}"/>
              </a:ext>
            </a:extLst>
          </p:cNvPr>
          <p:cNvGraphicFramePr>
            <a:graphicFrameLocks noGrp="1"/>
          </p:cNvGraphicFramePr>
          <p:nvPr>
            <p:extLst>
              <p:ext uri="{D42A27DB-BD31-4B8C-83A1-F6EECF244321}">
                <p14:modId xmlns:p14="http://schemas.microsoft.com/office/powerpoint/2010/main" val="1069927295"/>
              </p:ext>
            </p:extLst>
          </p:nvPr>
        </p:nvGraphicFramePr>
        <p:xfrm>
          <a:off x="9144000" y="5792962"/>
          <a:ext cx="9125542" cy="3094745"/>
        </p:xfrm>
        <a:graphic>
          <a:graphicData uri="http://schemas.openxmlformats.org/drawingml/2006/table">
            <a:tbl>
              <a:tblPr/>
              <a:tblGrid>
                <a:gridCol w="2909188">
                  <a:extLst>
                    <a:ext uri="{9D8B030D-6E8A-4147-A177-3AD203B41FA5}">
                      <a16:colId xmlns:a16="http://schemas.microsoft.com/office/drawing/2014/main" val="20000"/>
                    </a:ext>
                  </a:extLst>
                </a:gridCol>
                <a:gridCol w="6216354">
                  <a:extLst>
                    <a:ext uri="{9D8B030D-6E8A-4147-A177-3AD203B41FA5}">
                      <a16:colId xmlns:a16="http://schemas.microsoft.com/office/drawing/2014/main" val="20001"/>
                    </a:ext>
                  </a:extLst>
                </a:gridCol>
              </a:tblGrid>
              <a:tr h="896470">
                <a:tc>
                  <a:txBody>
                    <a:bodyPr/>
                    <a:lstStyle/>
                    <a:p>
                      <a:pPr algn="ctr">
                        <a:lnSpc>
                          <a:spcPts val="2799"/>
                        </a:lnSpc>
                        <a:defRPr/>
                      </a:pPr>
                      <a:endParaRPr lang="en-US" sz="1100" dirty="0"/>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endParaRPr lang="en-US" sz="1100" dirty="0"/>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333535">
                <a:tc>
                  <a:txBody>
                    <a:bodyPr/>
                    <a:lstStyle/>
                    <a:p>
                      <a:pPr algn="l">
                        <a:lnSpc>
                          <a:spcPts val="2799"/>
                        </a:lnSpc>
                        <a:defRPr/>
                      </a:pPr>
                      <a:r>
                        <a:rPr lang="en-US" sz="1999" b="1" dirty="0">
                          <a:solidFill>
                            <a:srgbClr val="000000"/>
                          </a:solidFill>
                          <a:latin typeface="Garet Bold"/>
                          <a:ea typeface="Garet Bold"/>
                          <a:cs typeface="Garet Bold"/>
                          <a:sym typeface="Garet Bold"/>
                        </a:rPr>
                        <a:t>Equipe</a:t>
                      </a:r>
                      <a:endParaRPr lang="en-US" sz="1100" dirty="0"/>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2799"/>
                        </a:lnSpc>
                        <a:defRPr/>
                      </a:pPr>
                      <a:r>
                        <a:rPr lang="en-US" sz="1999" dirty="0">
                          <a:solidFill>
                            <a:srgbClr val="000000"/>
                          </a:solidFill>
                          <a:latin typeface="Garet"/>
                          <a:ea typeface="Garet"/>
                          <a:cs typeface="Garet"/>
                          <a:sym typeface="Garet"/>
                        </a:rPr>
                        <a:t>02 </a:t>
                      </a:r>
                      <a:r>
                        <a:rPr lang="en-US" sz="1999" dirty="0" err="1">
                          <a:solidFill>
                            <a:srgbClr val="000000"/>
                          </a:solidFill>
                          <a:latin typeface="Garet"/>
                          <a:ea typeface="Garet"/>
                          <a:cs typeface="Garet"/>
                          <a:sym typeface="Garet"/>
                        </a:rPr>
                        <a:t>Facilitadores</a:t>
                      </a:r>
                      <a:r>
                        <a:rPr lang="en-US" sz="1999" dirty="0">
                          <a:solidFill>
                            <a:srgbClr val="000000"/>
                          </a:solidFill>
                          <a:latin typeface="Garet"/>
                          <a:ea typeface="Garet"/>
                          <a:cs typeface="Garet"/>
                          <a:sym typeface="Garet"/>
                        </a:rPr>
                        <a:t> II - </a:t>
                      </a:r>
                      <a:r>
                        <a:rPr lang="en-US" sz="1999" dirty="0" err="1">
                          <a:solidFill>
                            <a:srgbClr val="000000"/>
                          </a:solidFill>
                          <a:latin typeface="Garet"/>
                          <a:ea typeface="Garet"/>
                          <a:cs typeface="Garet"/>
                          <a:sym typeface="Garet"/>
                        </a:rPr>
                        <a:t>Supervisores</a:t>
                      </a:r>
                      <a:endParaRPr lang="en-US" sz="1999" dirty="0">
                        <a:solidFill>
                          <a:srgbClr val="000000"/>
                        </a:solidFill>
                        <a:latin typeface="Garet"/>
                        <a:ea typeface="Garet"/>
                        <a:cs typeface="Garet"/>
                        <a:sym typeface="Garet"/>
                      </a:endParaRPr>
                    </a:p>
                    <a:p>
                      <a:pPr algn="l">
                        <a:lnSpc>
                          <a:spcPts val="2799"/>
                        </a:lnSpc>
                        <a:defRPr/>
                      </a:pPr>
                      <a:r>
                        <a:rPr lang="en-US" sz="1999" dirty="0">
                          <a:solidFill>
                            <a:srgbClr val="000000"/>
                          </a:solidFill>
                          <a:latin typeface="Garet"/>
                          <a:ea typeface="Garet"/>
                          <a:cs typeface="Garet"/>
                          <a:sym typeface="Garet"/>
                        </a:rPr>
                        <a:t>02 </a:t>
                      </a:r>
                      <a:r>
                        <a:rPr lang="en-US" sz="1999" dirty="0" err="1">
                          <a:solidFill>
                            <a:srgbClr val="000000"/>
                          </a:solidFill>
                          <a:latin typeface="Garet"/>
                          <a:ea typeface="Garet"/>
                          <a:cs typeface="Garet"/>
                          <a:sym typeface="Garet"/>
                        </a:rPr>
                        <a:t>Facilitadores</a:t>
                      </a:r>
                      <a:r>
                        <a:rPr lang="en-US" sz="1999" dirty="0">
                          <a:solidFill>
                            <a:srgbClr val="000000"/>
                          </a:solidFill>
                          <a:latin typeface="Garet"/>
                          <a:ea typeface="Garet"/>
                          <a:cs typeface="Garet"/>
                          <a:sym typeface="Garet"/>
                        </a:rPr>
                        <a:t> I – </a:t>
                      </a:r>
                      <a:r>
                        <a:rPr lang="en-US" sz="1999" dirty="0" err="1">
                          <a:solidFill>
                            <a:srgbClr val="000000"/>
                          </a:solidFill>
                          <a:latin typeface="Garet"/>
                          <a:ea typeface="Garet"/>
                          <a:cs typeface="Garet"/>
                          <a:sym typeface="Garet"/>
                        </a:rPr>
                        <a:t>Educadores</a:t>
                      </a:r>
                      <a:r>
                        <a:rPr lang="en-US" sz="1999" dirty="0">
                          <a:solidFill>
                            <a:srgbClr val="000000"/>
                          </a:solidFill>
                          <a:latin typeface="Garet"/>
                          <a:ea typeface="Garet"/>
                          <a:cs typeface="Garet"/>
                          <a:sym typeface="Garet"/>
                        </a:rPr>
                        <a:t> </a:t>
                      </a:r>
                      <a:r>
                        <a:rPr lang="en-US" sz="1999" dirty="0" err="1">
                          <a:solidFill>
                            <a:srgbClr val="000000"/>
                          </a:solidFill>
                          <a:latin typeface="Garet"/>
                          <a:ea typeface="Garet"/>
                          <a:cs typeface="Garet"/>
                          <a:sym typeface="Garet"/>
                        </a:rPr>
                        <a:t>Formados</a:t>
                      </a:r>
                      <a:endParaRPr lang="en-US" sz="1999" dirty="0">
                        <a:solidFill>
                          <a:srgbClr val="000000"/>
                        </a:solidFill>
                        <a:latin typeface="Garet"/>
                        <a:ea typeface="Garet"/>
                        <a:cs typeface="Garet"/>
                        <a:sym typeface="Garet"/>
                      </a:endParaRPr>
                    </a:p>
                    <a:p>
                      <a:pPr algn="l">
                        <a:lnSpc>
                          <a:spcPts val="2799"/>
                        </a:lnSpc>
                        <a:defRPr/>
                      </a:pPr>
                      <a:r>
                        <a:rPr lang="en-US" sz="1999" dirty="0">
                          <a:solidFill>
                            <a:srgbClr val="000000"/>
                          </a:solidFill>
                          <a:latin typeface="Garet"/>
                          <a:ea typeface="Garet"/>
                          <a:cs typeface="Garet"/>
                          <a:sym typeface="Garet"/>
                        </a:rPr>
                        <a:t>02 </a:t>
                      </a:r>
                      <a:r>
                        <a:rPr lang="en-US" sz="1999" dirty="0" err="1">
                          <a:solidFill>
                            <a:srgbClr val="000000"/>
                          </a:solidFill>
                          <a:latin typeface="Garet"/>
                          <a:ea typeface="Garet"/>
                          <a:cs typeface="Garet"/>
                          <a:sym typeface="Garet"/>
                        </a:rPr>
                        <a:t>Estagiários</a:t>
                      </a:r>
                      <a:endParaRPr lang="en-US" sz="1999" dirty="0">
                        <a:solidFill>
                          <a:srgbClr val="000000"/>
                        </a:solidFill>
                        <a:latin typeface="Garet"/>
                        <a:ea typeface="Garet"/>
                        <a:cs typeface="Garet"/>
                        <a:sym typeface="Garet"/>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763175">
                <a:tc>
                  <a:txBody>
                    <a:bodyPr/>
                    <a:lstStyle/>
                    <a:p>
                      <a:pPr algn="l">
                        <a:lnSpc>
                          <a:spcPts val="2799"/>
                        </a:lnSpc>
                        <a:defRPr/>
                      </a:pPr>
                      <a:r>
                        <a:rPr lang="en-US" sz="2000" b="1" dirty="0" err="1">
                          <a:solidFill>
                            <a:srgbClr val="000000"/>
                          </a:solidFill>
                          <a:latin typeface="Garet Bold"/>
                          <a:ea typeface="Garet Bold"/>
                          <a:cs typeface="Garet Bold"/>
                          <a:sym typeface="Garet Bold"/>
                        </a:rPr>
                        <a:t>Formação</a:t>
                      </a:r>
                      <a:endParaRPr lang="en-US" sz="1100" dirty="0"/>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2799"/>
                        </a:lnSpc>
                        <a:defRPr/>
                      </a:pPr>
                      <a:r>
                        <a:rPr lang="en-US" sz="1999" kern="1200" dirty="0" err="1">
                          <a:solidFill>
                            <a:srgbClr val="000000"/>
                          </a:solidFill>
                          <a:latin typeface="Garet"/>
                          <a:ea typeface="+mn-ea"/>
                          <a:cs typeface="+mn-cs"/>
                        </a:rPr>
                        <a:t>Presencial</a:t>
                      </a:r>
                      <a:r>
                        <a:rPr lang="en-US" sz="1999" kern="1200" dirty="0">
                          <a:solidFill>
                            <a:srgbClr val="000000"/>
                          </a:solidFill>
                          <a:latin typeface="Garet"/>
                          <a:ea typeface="+mn-ea"/>
                          <a:cs typeface="+mn-cs"/>
                        </a:rPr>
                        <a:t> – 12 </a:t>
                      </a:r>
                      <a:r>
                        <a:rPr lang="en-US" sz="1999" kern="1200" dirty="0" err="1">
                          <a:solidFill>
                            <a:srgbClr val="000000"/>
                          </a:solidFill>
                          <a:latin typeface="Garet"/>
                          <a:ea typeface="+mn-ea"/>
                          <a:cs typeface="+mn-cs"/>
                        </a:rPr>
                        <a:t>dias</a:t>
                      </a:r>
                      <a:r>
                        <a:rPr lang="en-US" sz="1999" kern="1200" dirty="0">
                          <a:solidFill>
                            <a:srgbClr val="000000"/>
                          </a:solidFill>
                          <a:latin typeface="Garet"/>
                          <a:ea typeface="+mn-ea"/>
                          <a:cs typeface="+mn-cs"/>
                        </a:rPr>
                        <a:t> – 44h</a:t>
                      </a: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10" name="Retângulo 9">
            <a:extLst>
              <a:ext uri="{FF2B5EF4-FFF2-40B4-BE49-F238E27FC236}">
                <a16:creationId xmlns:a16="http://schemas.microsoft.com/office/drawing/2014/main" id="{CF0DA796-BD38-0A79-3E0B-537CE87F848A}"/>
              </a:ext>
            </a:extLst>
          </p:cNvPr>
          <p:cNvSpPr/>
          <p:nvPr/>
        </p:nvSpPr>
        <p:spPr>
          <a:xfrm>
            <a:off x="191557" y="2362538"/>
            <a:ext cx="2218764" cy="448235"/>
          </a:xfrm>
          <a:prstGeom prst="rect">
            <a:avLst/>
          </a:prstGeom>
          <a:solidFill>
            <a:srgbClr val="FFABF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id="{63EAC409-6EDF-53E3-87E9-F1ED782CD672}"/>
              </a:ext>
            </a:extLst>
          </p:cNvPr>
          <p:cNvSpPr/>
          <p:nvPr/>
        </p:nvSpPr>
        <p:spPr>
          <a:xfrm>
            <a:off x="191557" y="3148218"/>
            <a:ext cx="4906061" cy="426669"/>
          </a:xfrm>
          <a:prstGeom prst="rect">
            <a:avLst/>
          </a:prstGeom>
          <a:solidFill>
            <a:srgbClr val="FED0D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id="{716339BE-1D42-2206-0FEE-C84B24436AB0}"/>
              </a:ext>
            </a:extLst>
          </p:cNvPr>
          <p:cNvSpPr/>
          <p:nvPr/>
        </p:nvSpPr>
        <p:spPr>
          <a:xfrm>
            <a:off x="3069566" y="7412796"/>
            <a:ext cx="5513294" cy="381000"/>
          </a:xfrm>
          <a:prstGeom prst="rect">
            <a:avLst/>
          </a:prstGeom>
          <a:solidFill>
            <a:srgbClr val="FFF1B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TextBox 14">
            <a:extLst>
              <a:ext uri="{FF2B5EF4-FFF2-40B4-BE49-F238E27FC236}">
                <a16:creationId xmlns:a16="http://schemas.microsoft.com/office/drawing/2014/main" id="{CD60DD16-BD39-E49C-F4FC-32C6E7388121}"/>
              </a:ext>
            </a:extLst>
          </p:cNvPr>
          <p:cNvSpPr txBox="1"/>
          <p:nvPr/>
        </p:nvSpPr>
        <p:spPr>
          <a:xfrm>
            <a:off x="11271504" y="2705257"/>
            <a:ext cx="4870533" cy="2788584"/>
          </a:xfrm>
          <a:prstGeom prst="rect">
            <a:avLst/>
          </a:prstGeom>
        </p:spPr>
        <p:txBody>
          <a:bodyPr wrap="square" lIns="0" tIns="0" rIns="0" bIns="0" rtlCol="0" anchor="t">
            <a:spAutoFit/>
          </a:bodyPr>
          <a:lstStyle/>
          <a:p>
            <a:pPr algn="ctr">
              <a:lnSpc>
                <a:spcPts val="4295"/>
              </a:lnSpc>
            </a:pPr>
            <a:r>
              <a:rPr lang="pt-BR" sz="6600" b="1" dirty="0">
                <a:solidFill>
                  <a:srgbClr val="000000"/>
                </a:solidFill>
                <a:latin typeface="Garet Bold" panose="020B0604020202020204" charset="0"/>
                <a:ea typeface="Garet"/>
                <a:cs typeface="Garet"/>
                <a:sym typeface="Garet"/>
              </a:rPr>
              <a:t>7.164</a:t>
            </a:r>
            <a:endParaRPr lang="en-US" sz="6600" dirty="0">
              <a:solidFill>
                <a:srgbClr val="000000"/>
              </a:solidFill>
              <a:latin typeface="Garet"/>
              <a:ea typeface="Garet"/>
              <a:cs typeface="Garet"/>
              <a:sym typeface="Garet"/>
            </a:endParaRPr>
          </a:p>
          <a:p>
            <a:pPr algn="ctr">
              <a:lnSpc>
                <a:spcPts val="4295"/>
              </a:lnSpc>
            </a:pPr>
            <a:r>
              <a:rPr lang="en-US" sz="4400" dirty="0" err="1">
                <a:solidFill>
                  <a:srgbClr val="000000"/>
                </a:solidFill>
                <a:latin typeface="Garet"/>
                <a:ea typeface="Garet"/>
                <a:cs typeface="Garet"/>
                <a:sym typeface="Garet"/>
              </a:rPr>
              <a:t>Atendimentos</a:t>
            </a:r>
            <a:r>
              <a:rPr lang="en-US" sz="4400" dirty="0">
                <a:solidFill>
                  <a:srgbClr val="000000"/>
                </a:solidFill>
                <a:latin typeface="Garet"/>
                <a:ea typeface="Garet"/>
                <a:cs typeface="Garet"/>
                <a:sym typeface="Garet"/>
              </a:rPr>
              <a:t> </a:t>
            </a:r>
            <a:r>
              <a:rPr lang="en-US" sz="4400" dirty="0" err="1">
                <a:solidFill>
                  <a:srgbClr val="000000"/>
                </a:solidFill>
                <a:latin typeface="Garet"/>
                <a:ea typeface="Garet"/>
                <a:cs typeface="Garet"/>
                <a:sym typeface="Garet"/>
              </a:rPr>
              <a:t>em</a:t>
            </a:r>
            <a:r>
              <a:rPr lang="en-US" sz="4400" dirty="0">
                <a:solidFill>
                  <a:srgbClr val="000000"/>
                </a:solidFill>
                <a:latin typeface="Garet"/>
                <a:ea typeface="Garet"/>
                <a:cs typeface="Garet"/>
                <a:sym typeface="Garet"/>
              </a:rPr>
              <a:t> </a:t>
            </a:r>
            <a:r>
              <a:rPr lang="en-US" sz="4400" dirty="0" err="1">
                <a:solidFill>
                  <a:srgbClr val="000000"/>
                </a:solidFill>
                <a:latin typeface="Garet"/>
                <a:ea typeface="Garet"/>
                <a:cs typeface="Garet"/>
                <a:sym typeface="Garet"/>
              </a:rPr>
              <a:t>visitas</a:t>
            </a:r>
            <a:r>
              <a:rPr lang="en-US" sz="4400" dirty="0">
                <a:solidFill>
                  <a:srgbClr val="000000"/>
                </a:solidFill>
                <a:latin typeface="Garet"/>
                <a:ea typeface="Garet"/>
                <a:cs typeface="Garet"/>
                <a:sym typeface="Garet"/>
              </a:rPr>
              <a:t> </a:t>
            </a:r>
            <a:r>
              <a:rPr lang="en-US" sz="4400" dirty="0" err="1">
                <a:solidFill>
                  <a:srgbClr val="000000"/>
                </a:solidFill>
                <a:latin typeface="Garet"/>
                <a:ea typeface="Garet"/>
                <a:cs typeface="Garet"/>
                <a:sym typeface="Garet"/>
              </a:rPr>
              <a:t>mediadas</a:t>
            </a:r>
            <a:endParaRPr lang="en-US" sz="4400" dirty="0">
              <a:solidFill>
                <a:srgbClr val="000000"/>
              </a:solidFill>
              <a:latin typeface="Garet"/>
              <a:ea typeface="Garet"/>
              <a:cs typeface="Garet"/>
              <a:sym typeface="Garet"/>
            </a:endParaRPr>
          </a:p>
          <a:p>
            <a:pPr algn="ctr">
              <a:lnSpc>
                <a:spcPts val="4295"/>
              </a:lnSpc>
            </a:pPr>
            <a:r>
              <a:rPr lang="en-US" sz="4400" dirty="0">
                <a:solidFill>
                  <a:srgbClr val="000000"/>
                </a:solidFill>
                <a:latin typeface="Garet"/>
                <a:ea typeface="Garet"/>
                <a:cs typeface="Garet"/>
                <a:sym typeface="Garet"/>
              </a:rPr>
              <a:t>(142 </a:t>
            </a:r>
            <a:r>
              <a:rPr lang="en-US" sz="4400" dirty="0" err="1">
                <a:solidFill>
                  <a:srgbClr val="000000"/>
                </a:solidFill>
                <a:latin typeface="Garet"/>
                <a:ea typeface="Garet"/>
                <a:cs typeface="Garet"/>
                <a:sym typeface="Garet"/>
              </a:rPr>
              <a:t>ações</a:t>
            </a:r>
            <a:r>
              <a:rPr lang="en-US" sz="4400" dirty="0">
                <a:solidFill>
                  <a:srgbClr val="000000"/>
                </a:solidFill>
                <a:latin typeface="Garet"/>
                <a:ea typeface="Garet"/>
                <a:cs typeface="Garet"/>
                <a:sym typeface="Garet"/>
              </a:rPr>
              <a:t>)</a:t>
            </a:r>
          </a:p>
        </p:txBody>
      </p:sp>
    </p:spTree>
    <p:extLst>
      <p:ext uri="{BB962C8B-B14F-4D97-AF65-F5344CB8AC3E}">
        <p14:creationId xmlns:p14="http://schemas.microsoft.com/office/powerpoint/2010/main" val="2205436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fillRect t="-3000" b="-3000"/>
          </a:stretch>
        </a:blipFill>
        <a:effectLst/>
      </p:bgPr>
    </p:bg>
    <p:spTree>
      <p:nvGrpSpPr>
        <p:cNvPr id="1" name="">
          <a:extLst>
            <a:ext uri="{FF2B5EF4-FFF2-40B4-BE49-F238E27FC236}">
              <a16:creationId xmlns:a16="http://schemas.microsoft.com/office/drawing/2014/main" id="{41F38756-E95B-F760-2671-0149A08D13E0}"/>
            </a:ext>
          </a:extLst>
        </p:cNvPr>
        <p:cNvGrpSpPr/>
        <p:nvPr/>
      </p:nvGrpSpPr>
      <p:grpSpPr>
        <a:xfrm>
          <a:off x="0" y="0"/>
          <a:ext cx="0" cy="0"/>
          <a:chOff x="0" y="0"/>
          <a:chExt cx="0" cy="0"/>
        </a:xfrm>
      </p:grpSpPr>
      <p:sp>
        <p:nvSpPr>
          <p:cNvPr id="2" name="TextBox 7">
            <a:extLst>
              <a:ext uri="{FF2B5EF4-FFF2-40B4-BE49-F238E27FC236}">
                <a16:creationId xmlns:a16="http://schemas.microsoft.com/office/drawing/2014/main" id="{B7176D80-E6DB-3DB8-9E83-0653AF580B67}"/>
              </a:ext>
            </a:extLst>
          </p:cNvPr>
          <p:cNvSpPr txBox="1"/>
          <p:nvPr/>
        </p:nvSpPr>
        <p:spPr>
          <a:xfrm>
            <a:off x="1447800" y="870351"/>
            <a:ext cx="14782800" cy="728917"/>
          </a:xfrm>
          <a:prstGeom prst="rect">
            <a:avLst/>
          </a:prstGeom>
        </p:spPr>
        <p:txBody>
          <a:bodyPr wrap="square" lIns="0" tIns="0" rIns="0" bIns="0" rtlCol="0" anchor="t">
            <a:spAutoFit/>
          </a:bodyPr>
          <a:lstStyle/>
          <a:p>
            <a:pPr algn="l">
              <a:lnSpc>
                <a:spcPts val="5808"/>
              </a:lnSpc>
            </a:pPr>
            <a:r>
              <a:rPr lang="en-US" sz="4400" spc="-458" dirty="0" err="1">
                <a:solidFill>
                  <a:srgbClr val="000000"/>
                </a:solidFill>
                <a:latin typeface="Garet Bold" panose="020B0604020202020204" charset="0"/>
                <a:ea typeface="Archivo Black"/>
                <a:cs typeface="Archivo Black"/>
                <a:sym typeface="Archivo Black"/>
              </a:rPr>
              <a:t>Visitas</a:t>
            </a:r>
            <a:r>
              <a:rPr lang="en-US" sz="4400" spc="-458" dirty="0">
                <a:solidFill>
                  <a:srgbClr val="000000"/>
                </a:solidFill>
                <a:latin typeface="Garet Bold" panose="020B0604020202020204" charset="0"/>
                <a:ea typeface="Archivo Black"/>
                <a:cs typeface="Archivo Black"/>
                <a:sym typeface="Archivo Black"/>
              </a:rPr>
              <a:t> </a:t>
            </a:r>
            <a:r>
              <a:rPr lang="en-US" sz="4400" spc="-458" dirty="0" err="1">
                <a:solidFill>
                  <a:srgbClr val="000000"/>
                </a:solidFill>
                <a:latin typeface="Garet Bold" panose="020B0604020202020204" charset="0"/>
                <a:ea typeface="Archivo Black"/>
                <a:cs typeface="Archivo Black"/>
                <a:sym typeface="Archivo Black"/>
              </a:rPr>
              <a:t>mediadas</a:t>
            </a:r>
            <a:r>
              <a:rPr lang="en-US" sz="4400" spc="-458" dirty="0">
                <a:solidFill>
                  <a:srgbClr val="000000"/>
                </a:solidFill>
                <a:latin typeface="Garet Bold" panose="020B0604020202020204" charset="0"/>
                <a:ea typeface="Archivo Black"/>
                <a:cs typeface="Archivo Black"/>
                <a:sym typeface="Archivo Black"/>
              </a:rPr>
              <a:t> </a:t>
            </a:r>
            <a:r>
              <a:rPr lang="en-US" sz="4400" spc="-458" dirty="0" err="1">
                <a:solidFill>
                  <a:srgbClr val="000000"/>
                </a:solidFill>
                <a:latin typeface="Garet Bold" panose="020B0604020202020204" charset="0"/>
                <a:ea typeface="Archivo Black"/>
                <a:cs typeface="Archivo Black"/>
                <a:sym typeface="Archivo Black"/>
              </a:rPr>
              <a:t>ao</a:t>
            </a:r>
            <a:r>
              <a:rPr lang="en-US" sz="4400" spc="-458" dirty="0">
                <a:solidFill>
                  <a:srgbClr val="000000"/>
                </a:solidFill>
                <a:latin typeface="Garet Bold" panose="020B0604020202020204" charset="0"/>
                <a:ea typeface="Archivo Black"/>
                <a:cs typeface="Archivo Black"/>
                <a:sym typeface="Archivo Black"/>
              </a:rPr>
              <a:t> </a:t>
            </a:r>
            <a:r>
              <a:rPr lang="en-US" sz="4400" spc="-458" dirty="0" err="1">
                <a:solidFill>
                  <a:srgbClr val="000000"/>
                </a:solidFill>
                <a:latin typeface="Garet Bold" panose="020B0604020202020204" charset="0"/>
                <a:ea typeface="Archivo Black"/>
                <a:cs typeface="Archivo Black"/>
                <a:sym typeface="Archivo Black"/>
              </a:rPr>
              <a:t>longo</a:t>
            </a:r>
            <a:r>
              <a:rPr lang="en-US" sz="4400" spc="-458" dirty="0">
                <a:solidFill>
                  <a:srgbClr val="000000"/>
                </a:solidFill>
                <a:latin typeface="Garet Bold" panose="020B0604020202020204" charset="0"/>
                <a:ea typeface="Archivo Black"/>
                <a:cs typeface="Archivo Black"/>
                <a:sym typeface="Archivo Black"/>
              </a:rPr>
              <a:t> da </a:t>
            </a:r>
            <a:r>
              <a:rPr lang="en-US" sz="4400" spc="-458" dirty="0" err="1">
                <a:solidFill>
                  <a:srgbClr val="000000"/>
                </a:solidFill>
                <a:latin typeface="Garet Bold" panose="020B0604020202020204" charset="0"/>
                <a:ea typeface="Archivo Black"/>
                <a:cs typeface="Archivo Black"/>
                <a:sym typeface="Archivo Black"/>
              </a:rPr>
              <a:t>exposição</a:t>
            </a:r>
            <a:endParaRPr lang="en-US" sz="4400" spc="-458" dirty="0">
              <a:solidFill>
                <a:srgbClr val="000000"/>
              </a:solidFill>
              <a:latin typeface="Garet Bold" panose="020B0604020202020204" charset="0"/>
              <a:ea typeface="Archivo Black"/>
              <a:cs typeface="Archivo Black"/>
              <a:sym typeface="Archivo Black"/>
            </a:endParaRPr>
          </a:p>
        </p:txBody>
      </p:sp>
      <p:graphicFrame>
        <p:nvGraphicFramePr>
          <p:cNvPr id="12" name="Gráfico 11">
            <a:extLst>
              <a:ext uri="{FF2B5EF4-FFF2-40B4-BE49-F238E27FC236}">
                <a16:creationId xmlns:a16="http://schemas.microsoft.com/office/drawing/2014/main" id="{FD3B841C-7496-30D9-F724-2F3B3EAE8B39}"/>
              </a:ext>
            </a:extLst>
          </p:cNvPr>
          <p:cNvGraphicFramePr/>
          <p:nvPr>
            <p:extLst>
              <p:ext uri="{D42A27DB-BD31-4B8C-83A1-F6EECF244321}">
                <p14:modId xmlns:p14="http://schemas.microsoft.com/office/powerpoint/2010/main" val="4073593541"/>
              </p:ext>
            </p:extLst>
          </p:nvPr>
        </p:nvGraphicFramePr>
        <p:xfrm>
          <a:off x="1447800" y="2092378"/>
          <a:ext cx="15773400" cy="73406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76374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fillRect t="-3000" b="-3000"/>
          </a:stretch>
        </a:blipFill>
        <a:effectLst/>
      </p:bgPr>
    </p:bg>
    <p:spTree>
      <p:nvGrpSpPr>
        <p:cNvPr id="1" name=""/>
        <p:cNvGrpSpPr/>
        <p:nvPr/>
      </p:nvGrpSpPr>
      <p:grpSpPr>
        <a:xfrm>
          <a:off x="0" y="0"/>
          <a:ext cx="0" cy="0"/>
          <a:chOff x="0" y="0"/>
          <a:chExt cx="0" cy="0"/>
        </a:xfrm>
      </p:grpSpPr>
      <p:sp>
        <p:nvSpPr>
          <p:cNvPr id="8" name="Retângulo 7">
            <a:extLst>
              <a:ext uri="{FF2B5EF4-FFF2-40B4-BE49-F238E27FC236}">
                <a16:creationId xmlns:a16="http://schemas.microsoft.com/office/drawing/2014/main" id="{5FCCCD44-9F2C-4478-E23C-79A0EA954DEA}"/>
              </a:ext>
            </a:extLst>
          </p:cNvPr>
          <p:cNvSpPr/>
          <p:nvPr/>
        </p:nvSpPr>
        <p:spPr>
          <a:xfrm>
            <a:off x="783988" y="1873285"/>
            <a:ext cx="7191639" cy="718994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id="{19054FE0-046B-D63A-B6FE-54EBB4A027C3}"/>
              </a:ext>
            </a:extLst>
          </p:cNvPr>
          <p:cNvSpPr/>
          <p:nvPr/>
        </p:nvSpPr>
        <p:spPr>
          <a:xfrm>
            <a:off x="191557" y="2362538"/>
            <a:ext cx="2218764" cy="448235"/>
          </a:xfrm>
          <a:prstGeom prst="rect">
            <a:avLst/>
          </a:prstGeom>
          <a:solidFill>
            <a:srgbClr val="FFABF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3">
            <a:extLst>
              <a:ext uri="{FF2B5EF4-FFF2-40B4-BE49-F238E27FC236}">
                <a16:creationId xmlns:a16="http://schemas.microsoft.com/office/drawing/2014/main" id="{4BFB615B-BB95-11E1-D007-4F2B72A71946}"/>
              </a:ext>
            </a:extLst>
          </p:cNvPr>
          <p:cNvSpPr/>
          <p:nvPr/>
        </p:nvSpPr>
        <p:spPr>
          <a:xfrm>
            <a:off x="191557" y="3148218"/>
            <a:ext cx="4906061" cy="426669"/>
          </a:xfrm>
          <a:prstGeom prst="rect">
            <a:avLst/>
          </a:prstGeom>
          <a:solidFill>
            <a:srgbClr val="FED0D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aphicFrame>
        <p:nvGraphicFramePr>
          <p:cNvPr id="3" name="Table 3"/>
          <p:cNvGraphicFramePr>
            <a:graphicFrameLocks noGrp="1"/>
          </p:cNvGraphicFramePr>
          <p:nvPr>
            <p:extLst>
              <p:ext uri="{D42A27DB-BD31-4B8C-83A1-F6EECF244321}">
                <p14:modId xmlns:p14="http://schemas.microsoft.com/office/powerpoint/2010/main" val="3500914968"/>
              </p:ext>
            </p:extLst>
          </p:nvPr>
        </p:nvGraphicFramePr>
        <p:xfrm>
          <a:off x="8794983" y="3225161"/>
          <a:ext cx="8730800" cy="3260952"/>
        </p:xfrm>
        <a:graphic>
          <a:graphicData uri="http://schemas.openxmlformats.org/drawingml/2006/table">
            <a:tbl>
              <a:tblPr/>
              <a:tblGrid>
                <a:gridCol w="4818231">
                  <a:extLst>
                    <a:ext uri="{9D8B030D-6E8A-4147-A177-3AD203B41FA5}">
                      <a16:colId xmlns:a16="http://schemas.microsoft.com/office/drawing/2014/main" val="20000"/>
                    </a:ext>
                  </a:extLst>
                </a:gridCol>
                <a:gridCol w="2299421">
                  <a:extLst>
                    <a:ext uri="{9D8B030D-6E8A-4147-A177-3AD203B41FA5}">
                      <a16:colId xmlns:a16="http://schemas.microsoft.com/office/drawing/2014/main" val="20001"/>
                    </a:ext>
                  </a:extLst>
                </a:gridCol>
                <a:gridCol w="1613148">
                  <a:extLst>
                    <a:ext uri="{9D8B030D-6E8A-4147-A177-3AD203B41FA5}">
                      <a16:colId xmlns:a16="http://schemas.microsoft.com/office/drawing/2014/main" val="20002"/>
                    </a:ext>
                  </a:extLst>
                </a:gridCol>
              </a:tblGrid>
              <a:tr h="1083106">
                <a:tc>
                  <a:txBody>
                    <a:bodyPr/>
                    <a:lstStyle/>
                    <a:p>
                      <a:pPr algn="ctr">
                        <a:lnSpc>
                          <a:spcPts val="2799"/>
                        </a:lnSpc>
                        <a:defRPr/>
                      </a:pPr>
                      <a:endParaRPr lang="en-US" sz="2400" dirty="0">
                        <a:latin typeface="Garet Bold"/>
                      </a:endParaRPr>
                    </a:p>
                  </a:txBody>
                  <a:tcPr marL="190500" marR="190500" marT="190500" marB="190500" anchor="ctr">
                    <a:lnL w="190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2400" dirty="0" err="1">
                          <a:solidFill>
                            <a:srgbClr val="000000"/>
                          </a:solidFill>
                          <a:latin typeface="Garet Bold"/>
                          <a:ea typeface="Garet"/>
                          <a:cs typeface="Garet"/>
                          <a:sym typeface="Garet"/>
                        </a:rPr>
                        <a:t>Presenças</a:t>
                      </a:r>
                      <a:endParaRPr lang="en-US" sz="2400" dirty="0">
                        <a:latin typeface="Garet Bold"/>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2400" dirty="0">
                          <a:solidFill>
                            <a:schemeClr val="bg1">
                              <a:lumMod val="49000"/>
                            </a:schemeClr>
                          </a:solidFill>
                          <a:latin typeface="Garet Bold"/>
                          <a:ea typeface="Garet"/>
                          <a:cs typeface="Garet"/>
                          <a:sym typeface="Garet"/>
                        </a:rPr>
                        <a:t>Nº de </a:t>
                      </a:r>
                      <a:r>
                        <a:rPr lang="en-US" sz="2400" dirty="0" err="1">
                          <a:solidFill>
                            <a:schemeClr val="bg1">
                              <a:lumMod val="49000"/>
                            </a:schemeClr>
                          </a:solidFill>
                          <a:latin typeface="Garet Bold"/>
                          <a:ea typeface="Garet"/>
                          <a:cs typeface="Garet"/>
                          <a:sym typeface="Garet"/>
                        </a:rPr>
                        <a:t>ações</a:t>
                      </a:r>
                      <a:endParaRPr lang="en-US" sz="2400" dirty="0">
                        <a:solidFill>
                          <a:schemeClr val="bg1">
                            <a:lumMod val="49000"/>
                          </a:schemeClr>
                        </a:solidFill>
                        <a:latin typeface="Garet Bold"/>
                      </a:endParaRPr>
                    </a:p>
                  </a:txBody>
                  <a:tcPr marL="190500" marR="190500" marT="190500" marB="19050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083106">
                <a:tc>
                  <a:txBody>
                    <a:bodyPr/>
                    <a:lstStyle/>
                    <a:p>
                      <a:pPr algn="ctr">
                        <a:lnSpc>
                          <a:spcPts val="2799"/>
                        </a:lnSpc>
                        <a:defRPr/>
                      </a:pPr>
                      <a:r>
                        <a:rPr lang="en-US" sz="2400" b="1" dirty="0" err="1">
                          <a:solidFill>
                            <a:srgbClr val="000000"/>
                          </a:solidFill>
                          <a:latin typeface="Garet Bold"/>
                          <a:ea typeface="Garet Bold"/>
                          <a:cs typeface="Garet Bold"/>
                          <a:sym typeface="Garet Bold"/>
                        </a:rPr>
                        <a:t>Cursos</a:t>
                      </a:r>
                      <a:r>
                        <a:rPr lang="en-US" sz="2400" b="1" dirty="0">
                          <a:solidFill>
                            <a:srgbClr val="000000"/>
                          </a:solidFill>
                          <a:latin typeface="Garet Bold"/>
                          <a:ea typeface="Garet Bold"/>
                          <a:cs typeface="Garet Bold"/>
                          <a:sym typeface="Garet Bold"/>
                        </a:rPr>
                        <a:t> e </a:t>
                      </a:r>
                      <a:r>
                        <a:rPr lang="en-US" sz="2400" b="1" dirty="0" err="1">
                          <a:solidFill>
                            <a:srgbClr val="000000"/>
                          </a:solidFill>
                          <a:latin typeface="Garet Bold"/>
                          <a:ea typeface="Garet Bold"/>
                          <a:cs typeface="Garet Bold"/>
                          <a:sym typeface="Garet Bold"/>
                        </a:rPr>
                        <a:t>oficinas</a:t>
                      </a:r>
                      <a:endParaRPr lang="en-US" sz="2400" dirty="0">
                        <a:latin typeface="Garet Bold"/>
                      </a:endParaRPr>
                    </a:p>
                  </a:txBody>
                  <a:tcPr marL="190500" marR="190500" marT="190500" marB="190500" anchor="ctr">
                    <a:lnL w="190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2400" dirty="0">
                          <a:solidFill>
                            <a:srgbClr val="000000"/>
                          </a:solidFill>
                          <a:latin typeface="Garet Bold"/>
                          <a:sym typeface="Garet"/>
                        </a:rPr>
                        <a:t>203</a:t>
                      </a:r>
                      <a:endParaRPr lang="en-US" sz="2400" dirty="0">
                        <a:latin typeface="Garet Bold"/>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tabLst/>
                        <a:defRPr/>
                      </a:pPr>
                      <a:r>
                        <a:rPr lang="en-US" sz="2400" dirty="0">
                          <a:solidFill>
                            <a:schemeClr val="bg1">
                              <a:lumMod val="49000"/>
                            </a:schemeClr>
                          </a:solidFill>
                          <a:latin typeface="Garet Bold"/>
                        </a:rPr>
                        <a:t>9</a:t>
                      </a:r>
                    </a:p>
                  </a:txBody>
                  <a:tcPr marL="190500" marR="190500" marT="190500" marB="19050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083106">
                <a:tc>
                  <a:txBody>
                    <a:bodyPr/>
                    <a:lstStyle/>
                    <a:p>
                      <a:pPr algn="ctr">
                        <a:lnSpc>
                          <a:spcPts val="2799"/>
                        </a:lnSpc>
                        <a:defRPr/>
                      </a:pPr>
                      <a:r>
                        <a:rPr lang="en-US" sz="2400" b="1" dirty="0" err="1">
                          <a:solidFill>
                            <a:srgbClr val="000000"/>
                          </a:solidFill>
                          <a:latin typeface="Garet Bold"/>
                          <a:ea typeface="Garet Bold"/>
                          <a:cs typeface="Garet Bold"/>
                          <a:sym typeface="Garet Bold"/>
                        </a:rPr>
                        <a:t>Mediação</a:t>
                      </a:r>
                      <a:endParaRPr lang="en-US" sz="2400" dirty="0">
                        <a:latin typeface="Garet Bold"/>
                      </a:endParaRPr>
                    </a:p>
                  </a:txBody>
                  <a:tcPr marL="190500" marR="190500" marT="190500" marB="190500" anchor="ctr">
                    <a:lnL w="190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2400" dirty="0">
                          <a:solidFill>
                            <a:srgbClr val="000000"/>
                          </a:solidFill>
                          <a:latin typeface="Garet Bold"/>
                          <a:ea typeface="Garet"/>
                          <a:cs typeface="Garet"/>
                          <a:sym typeface="Garet"/>
                        </a:rPr>
                        <a:t>28</a:t>
                      </a:r>
                      <a:endParaRPr lang="en-US" sz="2400" dirty="0">
                        <a:latin typeface="Garet Bold"/>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2400" dirty="0">
                          <a:solidFill>
                            <a:schemeClr val="bg1">
                              <a:lumMod val="49000"/>
                            </a:schemeClr>
                          </a:solidFill>
                          <a:latin typeface="Garet Bold"/>
                        </a:rPr>
                        <a:t>4</a:t>
                      </a:r>
                    </a:p>
                  </a:txBody>
                  <a:tcPr marL="190500" marR="190500" marT="190500" marB="19050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7" name="TextBox 11">
            <a:extLst>
              <a:ext uri="{FF2B5EF4-FFF2-40B4-BE49-F238E27FC236}">
                <a16:creationId xmlns:a16="http://schemas.microsoft.com/office/drawing/2014/main" id="{79A31098-639A-3778-D1DB-C199CAD3F36C}"/>
              </a:ext>
            </a:extLst>
          </p:cNvPr>
          <p:cNvSpPr txBox="1"/>
          <p:nvPr/>
        </p:nvSpPr>
        <p:spPr>
          <a:xfrm>
            <a:off x="1293707" y="4849820"/>
            <a:ext cx="6172200" cy="1654299"/>
          </a:xfrm>
          <a:prstGeom prst="rect">
            <a:avLst/>
          </a:prstGeom>
        </p:spPr>
        <p:txBody>
          <a:bodyPr wrap="square" lIns="0" tIns="0" rIns="0" bIns="0" rtlCol="0" anchor="t">
            <a:spAutoFit/>
          </a:bodyPr>
          <a:lstStyle/>
          <a:p>
            <a:pPr algn="ctr">
              <a:lnSpc>
                <a:spcPts val="4295"/>
              </a:lnSpc>
            </a:pPr>
            <a:r>
              <a:rPr lang="en-US" sz="6000" b="1" dirty="0">
                <a:solidFill>
                  <a:schemeClr val="bg1"/>
                </a:solidFill>
                <a:latin typeface="Garet Bold" panose="020B0604020202020204" charset="0"/>
                <a:ea typeface="Garet"/>
                <a:cs typeface="Garet"/>
                <a:sym typeface="Garet"/>
              </a:rPr>
              <a:t>231</a:t>
            </a:r>
            <a:endParaRPr lang="en-US" sz="6000" dirty="0">
              <a:solidFill>
                <a:schemeClr val="bg1"/>
              </a:solidFill>
              <a:latin typeface="Garet Bold" panose="020B0604020202020204" charset="0"/>
              <a:ea typeface="Garet"/>
              <a:cs typeface="Garet"/>
              <a:sym typeface="Garet"/>
            </a:endParaRPr>
          </a:p>
          <a:p>
            <a:pPr algn="ctr">
              <a:lnSpc>
                <a:spcPts val="4295"/>
              </a:lnSpc>
            </a:pPr>
            <a:r>
              <a:rPr lang="en-US" sz="3068" dirty="0" err="1">
                <a:solidFill>
                  <a:schemeClr val="bg1"/>
                </a:solidFill>
                <a:latin typeface="Garet"/>
                <a:ea typeface="Garet"/>
                <a:cs typeface="Garet"/>
                <a:sym typeface="Garet"/>
              </a:rPr>
              <a:t>presenças</a:t>
            </a:r>
            <a:r>
              <a:rPr lang="en-US" sz="3068" dirty="0">
                <a:solidFill>
                  <a:schemeClr val="bg1"/>
                </a:solidFill>
                <a:latin typeface="Garet"/>
                <a:ea typeface="Garet"/>
                <a:cs typeface="Garet"/>
                <a:sym typeface="Garet"/>
              </a:rPr>
              <a:t> </a:t>
            </a:r>
            <a:r>
              <a:rPr lang="en-US" sz="3068" dirty="0" err="1">
                <a:solidFill>
                  <a:schemeClr val="bg1"/>
                </a:solidFill>
                <a:latin typeface="Garet"/>
                <a:ea typeface="Garet"/>
                <a:cs typeface="Garet"/>
                <a:sym typeface="Garet"/>
              </a:rPr>
              <a:t>em</a:t>
            </a:r>
            <a:r>
              <a:rPr lang="en-US" sz="3068" dirty="0">
                <a:solidFill>
                  <a:schemeClr val="bg1"/>
                </a:solidFill>
                <a:latin typeface="Garet"/>
                <a:ea typeface="Garet"/>
                <a:cs typeface="Garet"/>
                <a:sym typeface="Garet"/>
              </a:rPr>
              <a:t> </a:t>
            </a:r>
            <a:r>
              <a:rPr lang="en-US" sz="3068" dirty="0" err="1">
                <a:solidFill>
                  <a:schemeClr val="bg1"/>
                </a:solidFill>
                <a:latin typeface="Garet"/>
                <a:ea typeface="Garet"/>
                <a:cs typeface="Garet"/>
                <a:sym typeface="Garet"/>
              </a:rPr>
              <a:t>ações</a:t>
            </a:r>
            <a:r>
              <a:rPr lang="en-US" sz="3068" dirty="0">
                <a:solidFill>
                  <a:schemeClr val="bg1"/>
                </a:solidFill>
                <a:latin typeface="Garet"/>
                <a:ea typeface="Garet"/>
                <a:cs typeface="Garet"/>
                <a:sym typeface="Garet"/>
              </a:rPr>
              <a:t> </a:t>
            </a:r>
            <a:r>
              <a:rPr lang="en-US" sz="3068" dirty="0" err="1">
                <a:solidFill>
                  <a:schemeClr val="bg1"/>
                </a:solidFill>
                <a:latin typeface="Garet"/>
                <a:ea typeface="Garet"/>
                <a:cs typeface="Garet"/>
                <a:sym typeface="Garet"/>
              </a:rPr>
              <a:t>integradas</a:t>
            </a:r>
            <a:r>
              <a:rPr lang="en-US" sz="3068" dirty="0">
                <a:solidFill>
                  <a:schemeClr val="bg1"/>
                </a:solidFill>
                <a:latin typeface="Garet"/>
                <a:ea typeface="Garet"/>
                <a:cs typeface="Garet"/>
                <a:sym typeface="Garet"/>
              </a:rPr>
              <a:t> à </a:t>
            </a:r>
            <a:r>
              <a:rPr lang="en-US" sz="3068" dirty="0" err="1">
                <a:solidFill>
                  <a:schemeClr val="bg1"/>
                </a:solidFill>
                <a:latin typeface="Garet"/>
                <a:ea typeface="Garet"/>
                <a:cs typeface="Garet"/>
                <a:sym typeface="Garet"/>
              </a:rPr>
              <a:t>exposição</a:t>
            </a:r>
            <a:endParaRPr lang="en-US" sz="3068" dirty="0">
              <a:solidFill>
                <a:schemeClr val="bg1"/>
              </a:solidFill>
              <a:latin typeface="Garet"/>
              <a:ea typeface="Garet"/>
              <a:cs typeface="Garet"/>
              <a:sym typeface="Garet"/>
            </a:endParaRPr>
          </a:p>
        </p:txBody>
      </p:sp>
      <p:sp>
        <p:nvSpPr>
          <p:cNvPr id="16" name="Retângulo 15">
            <a:extLst>
              <a:ext uri="{FF2B5EF4-FFF2-40B4-BE49-F238E27FC236}">
                <a16:creationId xmlns:a16="http://schemas.microsoft.com/office/drawing/2014/main" id="{B3D3276B-CE7D-F77E-C750-E1B8FFC8CFD8}"/>
              </a:ext>
            </a:extLst>
          </p:cNvPr>
          <p:cNvSpPr/>
          <p:nvPr/>
        </p:nvSpPr>
        <p:spPr>
          <a:xfrm>
            <a:off x="3069566" y="7412796"/>
            <a:ext cx="5513294" cy="381000"/>
          </a:xfrm>
          <a:prstGeom prst="rect">
            <a:avLst/>
          </a:prstGeom>
          <a:solidFill>
            <a:srgbClr val="FFF1B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t="-3000" b="-3000"/>
          </a:stretch>
        </a:blipFill>
        <a:effectLst/>
      </p:bgPr>
    </p:bg>
    <p:spTree>
      <p:nvGrpSpPr>
        <p:cNvPr id="1" name="">
          <a:extLst>
            <a:ext uri="{FF2B5EF4-FFF2-40B4-BE49-F238E27FC236}">
              <a16:creationId xmlns:a16="http://schemas.microsoft.com/office/drawing/2014/main" id="{5D12D2C5-A307-8B8D-BB83-BBFBCC9699CA}"/>
            </a:ext>
          </a:extLst>
        </p:cNvPr>
        <p:cNvGrpSpPr/>
        <p:nvPr/>
      </p:nvGrpSpPr>
      <p:grpSpPr>
        <a:xfrm>
          <a:off x="0" y="0"/>
          <a:ext cx="0" cy="0"/>
          <a:chOff x="0" y="0"/>
          <a:chExt cx="0" cy="0"/>
        </a:xfrm>
      </p:grpSpPr>
      <p:sp>
        <p:nvSpPr>
          <p:cNvPr id="2" name="TextBox 7">
            <a:extLst>
              <a:ext uri="{FF2B5EF4-FFF2-40B4-BE49-F238E27FC236}">
                <a16:creationId xmlns:a16="http://schemas.microsoft.com/office/drawing/2014/main" id="{13F10801-6D61-9624-3E74-403C3889618B}"/>
              </a:ext>
            </a:extLst>
          </p:cNvPr>
          <p:cNvSpPr txBox="1"/>
          <p:nvPr/>
        </p:nvSpPr>
        <p:spPr>
          <a:xfrm>
            <a:off x="1447800" y="870351"/>
            <a:ext cx="14782800" cy="728917"/>
          </a:xfrm>
          <a:prstGeom prst="rect">
            <a:avLst/>
          </a:prstGeom>
        </p:spPr>
        <p:txBody>
          <a:bodyPr wrap="square" lIns="0" tIns="0" rIns="0" bIns="0" rtlCol="0" anchor="t">
            <a:spAutoFit/>
          </a:bodyPr>
          <a:lstStyle/>
          <a:p>
            <a:pPr algn="l">
              <a:lnSpc>
                <a:spcPts val="5808"/>
              </a:lnSpc>
            </a:pPr>
            <a:r>
              <a:rPr lang="en-US" sz="4400" spc="-458" dirty="0" err="1">
                <a:solidFill>
                  <a:srgbClr val="000000"/>
                </a:solidFill>
                <a:latin typeface="Garet Bold" panose="020B0604020202020204" charset="0"/>
                <a:ea typeface="Archivo Black"/>
                <a:cs typeface="Archivo Black"/>
                <a:sym typeface="Archivo Black"/>
              </a:rPr>
              <a:t>Número</a:t>
            </a:r>
            <a:r>
              <a:rPr lang="en-US" sz="4400" spc="-458" dirty="0">
                <a:solidFill>
                  <a:srgbClr val="000000"/>
                </a:solidFill>
                <a:latin typeface="Garet Bold" panose="020B0604020202020204" charset="0"/>
                <a:ea typeface="Archivo Black"/>
                <a:cs typeface="Archivo Black"/>
                <a:sym typeface="Archivo Black"/>
              </a:rPr>
              <a:t> de </a:t>
            </a:r>
            <a:r>
              <a:rPr lang="en-US" sz="4400" spc="-458" dirty="0" err="1">
                <a:solidFill>
                  <a:srgbClr val="000000"/>
                </a:solidFill>
                <a:latin typeface="Garet Bold" panose="020B0604020202020204" charset="0"/>
                <a:ea typeface="Archivo Black"/>
                <a:cs typeface="Archivo Black"/>
                <a:sym typeface="Archivo Black"/>
              </a:rPr>
              <a:t>programações</a:t>
            </a:r>
            <a:r>
              <a:rPr lang="en-US" sz="4400" spc="-458" dirty="0">
                <a:solidFill>
                  <a:srgbClr val="000000"/>
                </a:solidFill>
                <a:latin typeface="Garet Bold" panose="020B0604020202020204" charset="0"/>
                <a:ea typeface="Archivo Black"/>
                <a:cs typeface="Archivo Black"/>
                <a:sym typeface="Archivo Black"/>
              </a:rPr>
              <a:t> </a:t>
            </a:r>
            <a:r>
              <a:rPr lang="en-US" sz="4400" spc="-458" dirty="0" err="1">
                <a:solidFill>
                  <a:srgbClr val="000000"/>
                </a:solidFill>
                <a:latin typeface="Garet Bold" panose="020B0604020202020204" charset="0"/>
                <a:ea typeface="Archivo Black"/>
                <a:cs typeface="Archivo Black"/>
                <a:sym typeface="Archivo Black"/>
              </a:rPr>
              <a:t>integradas</a:t>
            </a:r>
            <a:r>
              <a:rPr lang="en-US" sz="4400" spc="-458" dirty="0">
                <a:solidFill>
                  <a:srgbClr val="000000"/>
                </a:solidFill>
                <a:latin typeface="Garet Bold" panose="020B0604020202020204" charset="0"/>
                <a:ea typeface="Archivo Black"/>
                <a:cs typeface="Archivo Black"/>
                <a:sym typeface="Archivo Black"/>
              </a:rPr>
              <a:t> </a:t>
            </a:r>
            <a:r>
              <a:rPr lang="en-US" sz="4400" spc="-458" dirty="0" err="1">
                <a:solidFill>
                  <a:srgbClr val="000000"/>
                </a:solidFill>
                <a:latin typeface="Garet Bold" panose="020B0604020202020204" charset="0"/>
                <a:ea typeface="Archivo Black"/>
                <a:cs typeface="Archivo Black"/>
                <a:sym typeface="Archivo Black"/>
              </a:rPr>
              <a:t>por</a:t>
            </a:r>
            <a:r>
              <a:rPr lang="en-US" sz="4400" spc="-458" dirty="0">
                <a:solidFill>
                  <a:srgbClr val="000000"/>
                </a:solidFill>
                <a:latin typeface="Garet Bold" panose="020B0604020202020204" charset="0"/>
                <a:ea typeface="Archivo Black"/>
                <a:cs typeface="Archivo Black"/>
                <a:sym typeface="Archivo Black"/>
              </a:rPr>
              <a:t> </a:t>
            </a:r>
            <a:r>
              <a:rPr lang="en-US" sz="4400" spc="-458" dirty="0" err="1">
                <a:solidFill>
                  <a:srgbClr val="000000"/>
                </a:solidFill>
                <a:latin typeface="Garet Bold" panose="020B0604020202020204" charset="0"/>
                <a:ea typeface="Archivo Black"/>
                <a:cs typeface="Archivo Black"/>
                <a:sym typeface="Archivo Black"/>
              </a:rPr>
              <a:t>mês</a:t>
            </a:r>
            <a:endParaRPr lang="en-US" sz="4400" spc="-458" dirty="0">
              <a:solidFill>
                <a:srgbClr val="000000"/>
              </a:solidFill>
              <a:latin typeface="Garet Bold" panose="020B0604020202020204" charset="0"/>
              <a:ea typeface="Archivo Black"/>
              <a:cs typeface="Archivo Black"/>
              <a:sym typeface="Archivo Black"/>
            </a:endParaRPr>
          </a:p>
        </p:txBody>
      </p:sp>
      <p:graphicFrame>
        <p:nvGraphicFramePr>
          <p:cNvPr id="12" name="Gráfico 11">
            <a:extLst>
              <a:ext uri="{FF2B5EF4-FFF2-40B4-BE49-F238E27FC236}">
                <a16:creationId xmlns:a16="http://schemas.microsoft.com/office/drawing/2014/main" id="{E18A90B0-A0DA-109C-FD4F-84DCD0FAE7F9}"/>
              </a:ext>
            </a:extLst>
          </p:cNvPr>
          <p:cNvGraphicFramePr/>
          <p:nvPr>
            <p:extLst>
              <p:ext uri="{D42A27DB-BD31-4B8C-83A1-F6EECF244321}">
                <p14:modId xmlns:p14="http://schemas.microsoft.com/office/powerpoint/2010/main" val="1971838819"/>
              </p:ext>
            </p:extLst>
          </p:nvPr>
        </p:nvGraphicFramePr>
        <p:xfrm>
          <a:off x="1447800" y="2092378"/>
          <a:ext cx="15773400" cy="73406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47855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t="-3000" b="-3000"/>
          </a:stretch>
        </a:blipFill>
        <a:effectLst/>
      </p:bgPr>
    </p:bg>
    <p:spTree>
      <p:nvGrpSpPr>
        <p:cNvPr id="1" name="">
          <a:extLst>
            <a:ext uri="{FF2B5EF4-FFF2-40B4-BE49-F238E27FC236}">
              <a16:creationId xmlns:a16="http://schemas.microsoft.com/office/drawing/2014/main" id="{0420FDA7-B291-C22D-9667-DA9A5DD46A86}"/>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D7F082A3-D60F-1AAB-1517-60689FB4FD8C}"/>
              </a:ext>
            </a:extLst>
          </p:cNvPr>
          <p:cNvSpPr txBox="1"/>
          <p:nvPr/>
        </p:nvSpPr>
        <p:spPr>
          <a:xfrm>
            <a:off x="701582" y="1346835"/>
            <a:ext cx="8749349" cy="1578637"/>
          </a:xfrm>
          <a:prstGeom prst="rect">
            <a:avLst/>
          </a:prstGeom>
        </p:spPr>
        <p:txBody>
          <a:bodyPr wrap="square" lIns="0" tIns="0" rIns="0" bIns="0" rtlCol="0" anchor="t">
            <a:spAutoFit/>
          </a:bodyPr>
          <a:lstStyle/>
          <a:p>
            <a:pPr algn="r">
              <a:lnSpc>
                <a:spcPts val="5808"/>
              </a:lnSpc>
            </a:pPr>
            <a:r>
              <a:rPr lang="en-US" sz="5808" spc="-458" dirty="0">
                <a:solidFill>
                  <a:srgbClr val="000000"/>
                </a:solidFill>
                <a:latin typeface="Garet Bold" panose="020B0604020202020204" charset="0"/>
                <a:ea typeface="Archivo Black"/>
                <a:cs typeface="Archivo Black"/>
                <a:sym typeface="Archivo Black"/>
              </a:rPr>
              <a:t> </a:t>
            </a:r>
          </a:p>
          <a:p>
            <a:pPr marL="0" lvl="0" indent="0">
              <a:lnSpc>
                <a:spcPts val="5808"/>
              </a:lnSpc>
              <a:spcBef>
                <a:spcPct val="0"/>
              </a:spcBef>
            </a:pPr>
            <a:r>
              <a:rPr lang="en-US" sz="7200" b="1" spc="-458" dirty="0">
                <a:solidFill>
                  <a:srgbClr val="000000"/>
                </a:solidFill>
                <a:latin typeface="Garet Bold" panose="020B0604020202020204" charset="0"/>
                <a:ea typeface="Archivo Black"/>
                <a:cs typeface="Archivo Black"/>
                <a:sym typeface="Archivo Black"/>
              </a:rPr>
              <a:t>41 </a:t>
            </a:r>
            <a:r>
              <a:rPr lang="en-US" sz="7200" b="1" spc="-458" dirty="0" err="1">
                <a:solidFill>
                  <a:srgbClr val="000000"/>
                </a:solidFill>
                <a:latin typeface="Garet Bold" panose="020B0604020202020204" charset="0"/>
                <a:ea typeface="Archivo Black"/>
                <a:cs typeface="Archivo Black"/>
                <a:sym typeface="Archivo Black"/>
              </a:rPr>
              <a:t>instituições</a:t>
            </a:r>
            <a:endParaRPr lang="en-US" sz="7200" b="1" spc="-458" dirty="0">
              <a:solidFill>
                <a:srgbClr val="000000"/>
              </a:solidFill>
              <a:latin typeface="Garet Bold" panose="020B0604020202020204" charset="0"/>
              <a:ea typeface="Archivo Black"/>
              <a:cs typeface="Archivo Black"/>
              <a:sym typeface="Archivo Black"/>
            </a:endParaRPr>
          </a:p>
        </p:txBody>
      </p:sp>
      <p:sp>
        <p:nvSpPr>
          <p:cNvPr id="11" name="TextBox 11">
            <a:extLst>
              <a:ext uri="{FF2B5EF4-FFF2-40B4-BE49-F238E27FC236}">
                <a16:creationId xmlns:a16="http://schemas.microsoft.com/office/drawing/2014/main" id="{6BC3A460-C150-E3A8-05B9-91D55EB1C4B7}"/>
              </a:ext>
            </a:extLst>
          </p:cNvPr>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50" b="1" dirty="0">
                <a:solidFill>
                  <a:srgbClr val="000000"/>
                </a:solidFill>
                <a:latin typeface="Garet Bold"/>
                <a:ea typeface="Garet Bold"/>
                <a:cs typeface="Garet Bold"/>
                <a:sym typeface="Garet Bold"/>
              </a:rPr>
              <a:t>08/14</a:t>
            </a:r>
            <a:endParaRPr lang="en-US" sz="2099" b="1" dirty="0">
              <a:solidFill>
                <a:srgbClr val="000000"/>
              </a:solidFill>
              <a:latin typeface="Garet Bold"/>
              <a:ea typeface="Garet Bold"/>
              <a:cs typeface="Garet Bold"/>
              <a:sym typeface="Garet Bold"/>
            </a:endParaRPr>
          </a:p>
        </p:txBody>
      </p:sp>
      <p:sp>
        <p:nvSpPr>
          <p:cNvPr id="3" name="TextBox 13">
            <a:extLst>
              <a:ext uri="{FF2B5EF4-FFF2-40B4-BE49-F238E27FC236}">
                <a16:creationId xmlns:a16="http://schemas.microsoft.com/office/drawing/2014/main" id="{443776A8-5BF1-5C6C-FDAB-3F0211A9B258}"/>
              </a:ext>
            </a:extLst>
          </p:cNvPr>
          <p:cNvSpPr txBox="1"/>
          <p:nvPr/>
        </p:nvSpPr>
        <p:spPr>
          <a:xfrm>
            <a:off x="4320677" y="3500368"/>
            <a:ext cx="11414218" cy="5416868"/>
          </a:xfrm>
          <a:prstGeom prst="rect">
            <a:avLst/>
          </a:prstGeom>
        </p:spPr>
        <p:txBody>
          <a:bodyPr wrap="square" lIns="0" tIns="0" rIns="0" bIns="0" numCol="1" rtlCol="0" anchor="t">
            <a:spAutoFit/>
          </a:bodyPr>
          <a:lstStyle/>
          <a:p>
            <a:r>
              <a:rPr lang="pt-BR" sz="2800" dirty="0">
                <a:latin typeface="Garet" panose="020B0604020202020204" charset="0"/>
              </a:rPr>
              <a:t>Destaques entre as instituições recebidas:</a:t>
            </a:r>
          </a:p>
          <a:p>
            <a:pPr marL="285750" indent="-285750">
              <a:buFont typeface="Arial" panose="020B0604020202020204" pitchFamily="34" charset="0"/>
              <a:buChar char="•"/>
            </a:pPr>
            <a:endParaRPr lang="pt-BR" sz="2800" dirty="0">
              <a:latin typeface="Garet" panose="020B0604020202020204" charset="0"/>
            </a:endParaRPr>
          </a:p>
          <a:p>
            <a:pPr marL="285750" indent="-285750">
              <a:buFont typeface="Arial" panose="020B0604020202020204" pitchFamily="34" charset="0"/>
              <a:buChar char="•"/>
            </a:pPr>
            <a:r>
              <a:rPr lang="pt-BR" sz="2800" dirty="0">
                <a:latin typeface="Garet" panose="020B0604020202020204" charset="0"/>
              </a:rPr>
              <a:t>CAPS Infanto-juvenil Diadema</a:t>
            </a:r>
          </a:p>
          <a:p>
            <a:pPr marL="285750" indent="-285750">
              <a:buFont typeface="Arial" panose="020B0604020202020204" pitchFamily="34" charset="0"/>
              <a:buChar char="•"/>
            </a:pPr>
            <a:r>
              <a:rPr lang="pt-BR" sz="2800" dirty="0">
                <a:latin typeface="Garet" panose="020B0604020202020204" charset="0"/>
              </a:rPr>
              <a:t>Casa Museu Ema Klabin</a:t>
            </a:r>
          </a:p>
          <a:p>
            <a:pPr marL="285750" indent="-285750">
              <a:buFont typeface="Arial" panose="020B0604020202020204" pitchFamily="34" charset="0"/>
              <a:buChar char="•"/>
            </a:pPr>
            <a:r>
              <a:rPr lang="pt-BR" sz="2800" dirty="0">
                <a:latin typeface="Garet" panose="020B0604020202020204" charset="0"/>
              </a:rPr>
              <a:t>Unesp - </a:t>
            </a:r>
            <a:r>
              <a:rPr lang="pt-BR" sz="2800" dirty="0" err="1">
                <a:latin typeface="Garet" panose="020B0604020202020204" charset="0"/>
              </a:rPr>
              <a:t>Instuto</a:t>
            </a:r>
            <a:r>
              <a:rPr lang="pt-BR" sz="2800" dirty="0">
                <a:latin typeface="Garet" panose="020B0604020202020204" charset="0"/>
              </a:rPr>
              <a:t> de Artes</a:t>
            </a:r>
          </a:p>
          <a:p>
            <a:pPr marL="285750" indent="-285750">
              <a:buFont typeface="Arial" panose="020B0604020202020204" pitchFamily="34" charset="0"/>
              <a:buChar char="•"/>
            </a:pPr>
            <a:r>
              <a:rPr lang="pt-BR" sz="2800" dirty="0">
                <a:latin typeface="Garet" panose="020B0604020202020204" charset="0"/>
              </a:rPr>
              <a:t>Fundação Casa </a:t>
            </a:r>
          </a:p>
          <a:p>
            <a:pPr marL="285750" indent="-285750">
              <a:buFont typeface="Arial" panose="020B0604020202020204" pitchFamily="34" charset="0"/>
              <a:buChar char="•"/>
            </a:pPr>
            <a:r>
              <a:rPr lang="pt-BR" sz="2800" dirty="0">
                <a:latin typeface="Garet" panose="020B0604020202020204" charset="0"/>
              </a:rPr>
              <a:t>Núcleo de Apoio e Inclusão Social para pessoas com Deficiência (NAISPD) </a:t>
            </a:r>
          </a:p>
          <a:p>
            <a:pPr marL="285750" indent="-285750">
              <a:buFont typeface="Arial" panose="020B0604020202020204" pitchFamily="34" charset="0"/>
              <a:buChar char="•"/>
            </a:pPr>
            <a:r>
              <a:rPr lang="pt-BR" sz="2800" dirty="0">
                <a:latin typeface="Garet" panose="020B0604020202020204" charset="0"/>
              </a:rPr>
              <a:t>Escola de Comunicações e Artes da USP</a:t>
            </a:r>
          </a:p>
          <a:p>
            <a:pPr marL="285750" indent="-285750">
              <a:buFont typeface="Arial" panose="020B0604020202020204" pitchFamily="34" charset="0"/>
              <a:buChar char="•"/>
            </a:pPr>
            <a:r>
              <a:rPr lang="pt-BR" sz="2800" dirty="0">
                <a:latin typeface="Garet" panose="020B0604020202020204" charset="0"/>
              </a:rPr>
              <a:t>Escola Superior de Artes Célia Helena</a:t>
            </a:r>
          </a:p>
          <a:p>
            <a:pPr marL="285750" indent="-285750">
              <a:buFont typeface="Arial" panose="020B0604020202020204" pitchFamily="34" charset="0"/>
              <a:buChar char="•"/>
            </a:pPr>
            <a:r>
              <a:rPr lang="pt-BR" sz="2800" dirty="0">
                <a:latin typeface="Garet" panose="020B0604020202020204" charset="0"/>
              </a:rPr>
              <a:t>SENAC</a:t>
            </a:r>
          </a:p>
          <a:p>
            <a:endParaRPr lang="pt-BR" sz="4400" dirty="0"/>
          </a:p>
        </p:txBody>
      </p:sp>
      <p:sp>
        <p:nvSpPr>
          <p:cNvPr id="19" name="Retângulo 18">
            <a:extLst>
              <a:ext uri="{FF2B5EF4-FFF2-40B4-BE49-F238E27FC236}">
                <a16:creationId xmlns:a16="http://schemas.microsoft.com/office/drawing/2014/main" id="{B4F08DD1-08EE-96E0-C0DB-DC1EDB85DAD0}"/>
              </a:ext>
            </a:extLst>
          </p:cNvPr>
          <p:cNvSpPr/>
          <p:nvPr/>
        </p:nvSpPr>
        <p:spPr>
          <a:xfrm>
            <a:off x="8451350" y="9618030"/>
            <a:ext cx="5941230" cy="361971"/>
          </a:xfrm>
          <a:prstGeom prst="rect">
            <a:avLst/>
          </a:prstGeom>
          <a:solidFill>
            <a:srgbClr val="FED0D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Retângulo 20">
            <a:extLst>
              <a:ext uri="{FF2B5EF4-FFF2-40B4-BE49-F238E27FC236}">
                <a16:creationId xmlns:a16="http://schemas.microsoft.com/office/drawing/2014/main" id="{D24F70FF-C5F8-9E91-79F3-C22B607EC164}"/>
              </a:ext>
            </a:extLst>
          </p:cNvPr>
          <p:cNvSpPr/>
          <p:nvPr/>
        </p:nvSpPr>
        <p:spPr>
          <a:xfrm>
            <a:off x="3824379" y="9245910"/>
            <a:ext cx="6203407" cy="381000"/>
          </a:xfrm>
          <a:prstGeom prst="rect">
            <a:avLst/>
          </a:prstGeom>
          <a:solidFill>
            <a:srgbClr val="FFF1B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Retângulo 22">
            <a:extLst>
              <a:ext uri="{FF2B5EF4-FFF2-40B4-BE49-F238E27FC236}">
                <a16:creationId xmlns:a16="http://schemas.microsoft.com/office/drawing/2014/main" id="{FD58A7BE-FE27-5980-E91C-EE3995DB4450}"/>
              </a:ext>
            </a:extLst>
          </p:cNvPr>
          <p:cNvSpPr/>
          <p:nvPr/>
        </p:nvSpPr>
        <p:spPr>
          <a:xfrm>
            <a:off x="924803" y="8875482"/>
            <a:ext cx="5777159" cy="383537"/>
          </a:xfrm>
          <a:prstGeom prst="rect">
            <a:avLst/>
          </a:prstGeom>
          <a:solidFill>
            <a:srgbClr val="FFABF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5118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t="-3000" b="-3000"/>
          </a:stretch>
        </a:blipFill>
        <a:effectLst/>
      </p:bgPr>
    </p:bg>
    <p:spTree>
      <p:nvGrpSpPr>
        <p:cNvPr id="1" name="">
          <a:extLst>
            <a:ext uri="{FF2B5EF4-FFF2-40B4-BE49-F238E27FC236}">
              <a16:creationId xmlns:a16="http://schemas.microsoft.com/office/drawing/2014/main" id="{7978CCE2-E305-C8FD-6565-4BD621ABAFD2}"/>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FFCC4CE1-9A99-AC19-04E4-B1FCEF0982B2}"/>
              </a:ext>
            </a:extLst>
          </p:cNvPr>
          <p:cNvSpPr txBox="1"/>
          <p:nvPr/>
        </p:nvSpPr>
        <p:spPr>
          <a:xfrm>
            <a:off x="549238" y="3255692"/>
            <a:ext cx="7203393" cy="780983"/>
          </a:xfrm>
          <a:prstGeom prst="rect">
            <a:avLst/>
          </a:prstGeom>
        </p:spPr>
        <p:txBody>
          <a:bodyPr lIns="0" tIns="0" rIns="0" bIns="0" rtlCol="0" anchor="t">
            <a:spAutoFit/>
          </a:bodyPr>
          <a:lstStyle/>
          <a:p>
            <a:pPr algn="l">
              <a:lnSpc>
                <a:spcPts val="5808"/>
              </a:lnSpc>
            </a:pPr>
            <a:r>
              <a:rPr lang="en-US" sz="5800" spc="-458">
                <a:solidFill>
                  <a:srgbClr val="000000"/>
                </a:solidFill>
                <a:latin typeface="Garet Bold"/>
                <a:ea typeface="Archivo Black"/>
                <a:cs typeface="Archivo Black"/>
                <a:sym typeface="Archivo Black"/>
              </a:rPr>
              <a:t>Registros</a:t>
            </a:r>
            <a:r>
              <a:rPr lang="en-US" sz="5800" spc="-458" dirty="0">
                <a:solidFill>
                  <a:srgbClr val="000000"/>
                </a:solidFill>
                <a:latin typeface="Garet Bold"/>
                <a:ea typeface="Archivo Black"/>
                <a:cs typeface="Archivo Black"/>
                <a:sym typeface="Archivo Black"/>
              </a:rPr>
              <a:t> </a:t>
            </a:r>
          </a:p>
        </p:txBody>
      </p:sp>
      <p:sp>
        <p:nvSpPr>
          <p:cNvPr id="8" name="TextBox 8">
            <a:extLst>
              <a:ext uri="{FF2B5EF4-FFF2-40B4-BE49-F238E27FC236}">
                <a16:creationId xmlns:a16="http://schemas.microsoft.com/office/drawing/2014/main" id="{46C10996-7FAA-895F-B17C-D5DB05AAF094}"/>
              </a:ext>
            </a:extLst>
          </p:cNvPr>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50" b="1" dirty="0">
                <a:solidFill>
                  <a:srgbClr val="000000"/>
                </a:solidFill>
                <a:latin typeface="Garet Bold"/>
                <a:ea typeface="Garet Bold"/>
                <a:cs typeface="Garet Bold"/>
                <a:sym typeface="Garet Bold"/>
              </a:rPr>
              <a:t>09/14</a:t>
            </a:r>
            <a:endParaRPr lang="en-US" sz="2099" b="1" dirty="0">
              <a:solidFill>
                <a:srgbClr val="000000"/>
              </a:solidFill>
              <a:latin typeface="Garet Bold"/>
              <a:ea typeface="Garet Bold"/>
              <a:cs typeface="Garet Bold"/>
              <a:sym typeface="Garet Bold"/>
            </a:endParaRPr>
          </a:p>
        </p:txBody>
      </p:sp>
      <p:sp>
        <p:nvSpPr>
          <p:cNvPr id="5" name="CaixaDeTexto 4">
            <a:extLst>
              <a:ext uri="{FF2B5EF4-FFF2-40B4-BE49-F238E27FC236}">
                <a16:creationId xmlns:a16="http://schemas.microsoft.com/office/drawing/2014/main" id="{FA6AAB1D-6FEE-07E3-0395-97D5F5C9B40E}"/>
              </a:ext>
            </a:extLst>
          </p:cNvPr>
          <p:cNvSpPr txBox="1"/>
          <p:nvPr/>
        </p:nvSpPr>
        <p:spPr>
          <a:xfrm>
            <a:off x="7604185" y="8118764"/>
            <a:ext cx="5932098" cy="954107"/>
          </a:xfrm>
          <a:prstGeom prst="rect">
            <a:avLst/>
          </a:prstGeom>
          <a:noFill/>
        </p:spPr>
        <p:txBody>
          <a:bodyPr wrap="square" rtlCol="0">
            <a:spAutoFit/>
          </a:bodyPr>
          <a:lstStyle/>
          <a:p>
            <a:pPr algn="r"/>
            <a:r>
              <a:rPr lang="pt-BR" sz="1400" dirty="0"/>
              <a:t>Registro da oficina “Funk e o Corpo Político”, com Marcelo Ferreira (educador da exposição), que fez parte da programação integrada da exposição. Material produzido pela equipe educativa da exposição “Espelho do poder”. São Paulo, 2025. </a:t>
            </a:r>
          </a:p>
        </p:txBody>
      </p:sp>
      <p:pic>
        <p:nvPicPr>
          <p:cNvPr id="9" name="Imagem 8">
            <a:extLst>
              <a:ext uri="{FF2B5EF4-FFF2-40B4-BE49-F238E27FC236}">
                <a16:creationId xmlns:a16="http://schemas.microsoft.com/office/drawing/2014/main" id="{E7A2FF87-62CE-54C4-FACB-B71BEFBFBA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0086" y="1514210"/>
            <a:ext cx="8749664" cy="6437180"/>
          </a:xfrm>
          <a:prstGeom prst="rect">
            <a:avLst/>
          </a:prstGeom>
        </p:spPr>
      </p:pic>
      <p:sp>
        <p:nvSpPr>
          <p:cNvPr id="22" name="Retângulo 21">
            <a:extLst>
              <a:ext uri="{FF2B5EF4-FFF2-40B4-BE49-F238E27FC236}">
                <a16:creationId xmlns:a16="http://schemas.microsoft.com/office/drawing/2014/main" id="{ED669BBC-B7A7-8888-0B64-2345779AA677}"/>
              </a:ext>
            </a:extLst>
          </p:cNvPr>
          <p:cNvSpPr/>
          <p:nvPr/>
        </p:nvSpPr>
        <p:spPr>
          <a:xfrm>
            <a:off x="8451350" y="9618030"/>
            <a:ext cx="5941230" cy="361971"/>
          </a:xfrm>
          <a:prstGeom prst="rect">
            <a:avLst/>
          </a:prstGeom>
          <a:solidFill>
            <a:srgbClr val="FED0D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Retângulo 23">
            <a:extLst>
              <a:ext uri="{FF2B5EF4-FFF2-40B4-BE49-F238E27FC236}">
                <a16:creationId xmlns:a16="http://schemas.microsoft.com/office/drawing/2014/main" id="{0FC02CDE-7895-86D9-EDED-4EE138DA1414}"/>
              </a:ext>
            </a:extLst>
          </p:cNvPr>
          <p:cNvSpPr/>
          <p:nvPr/>
        </p:nvSpPr>
        <p:spPr>
          <a:xfrm>
            <a:off x="3824379" y="9245910"/>
            <a:ext cx="6203407" cy="381000"/>
          </a:xfrm>
          <a:prstGeom prst="rect">
            <a:avLst/>
          </a:prstGeom>
          <a:solidFill>
            <a:srgbClr val="FFF1B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Retângulo 25">
            <a:extLst>
              <a:ext uri="{FF2B5EF4-FFF2-40B4-BE49-F238E27FC236}">
                <a16:creationId xmlns:a16="http://schemas.microsoft.com/office/drawing/2014/main" id="{A92F604E-4882-5EB8-8096-3D76197FF0BD}"/>
              </a:ext>
            </a:extLst>
          </p:cNvPr>
          <p:cNvSpPr/>
          <p:nvPr/>
        </p:nvSpPr>
        <p:spPr>
          <a:xfrm>
            <a:off x="924803" y="8875482"/>
            <a:ext cx="5777159" cy="383537"/>
          </a:xfrm>
          <a:prstGeom prst="rect">
            <a:avLst/>
          </a:prstGeom>
          <a:solidFill>
            <a:srgbClr val="FFABF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244445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fillRect t="-3000" b="-3000"/>
          </a:stretch>
        </a:blipFill>
        <a:effectLst/>
      </p:bgPr>
    </p:bg>
    <p:spTree>
      <p:nvGrpSpPr>
        <p:cNvPr id="1" name="">
          <a:extLst>
            <a:ext uri="{FF2B5EF4-FFF2-40B4-BE49-F238E27FC236}">
              <a16:creationId xmlns:a16="http://schemas.microsoft.com/office/drawing/2014/main" id="{7C2078B6-8BFD-D9C1-2853-5A36DCC44550}"/>
            </a:ext>
          </a:extLst>
        </p:cNvPr>
        <p:cNvGrpSpPr/>
        <p:nvPr/>
      </p:nvGrpSpPr>
      <p:grpSpPr>
        <a:xfrm>
          <a:off x="0" y="0"/>
          <a:ext cx="0" cy="0"/>
          <a:chOff x="0" y="0"/>
          <a:chExt cx="0" cy="0"/>
        </a:xfrm>
      </p:grpSpPr>
      <p:sp>
        <p:nvSpPr>
          <p:cNvPr id="8" name="TextBox 8">
            <a:extLst>
              <a:ext uri="{FF2B5EF4-FFF2-40B4-BE49-F238E27FC236}">
                <a16:creationId xmlns:a16="http://schemas.microsoft.com/office/drawing/2014/main" id="{327A7C11-4F39-73FB-66EA-844A89576212}"/>
              </a:ext>
            </a:extLst>
          </p:cNvPr>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50" b="1" dirty="0">
                <a:solidFill>
                  <a:srgbClr val="000000"/>
                </a:solidFill>
                <a:latin typeface="Garet Bold"/>
                <a:ea typeface="Garet Bold"/>
                <a:cs typeface="Garet Bold"/>
                <a:sym typeface="Garet Bold"/>
              </a:rPr>
              <a:t>10/14</a:t>
            </a:r>
            <a:endParaRPr lang="en-US" sz="2099" b="1" dirty="0">
              <a:solidFill>
                <a:srgbClr val="000000"/>
              </a:solidFill>
              <a:latin typeface="Garet Bold"/>
              <a:ea typeface="Garet Bold"/>
              <a:cs typeface="Garet Bold"/>
              <a:sym typeface="Garet Bold"/>
            </a:endParaRPr>
          </a:p>
        </p:txBody>
      </p:sp>
      <p:pic>
        <p:nvPicPr>
          <p:cNvPr id="6" name="Imagem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2313" y="2041538"/>
            <a:ext cx="6558335" cy="5205050"/>
          </a:xfrm>
          <a:prstGeom prst="rect">
            <a:avLst/>
          </a:prstGeom>
        </p:spPr>
      </p:pic>
      <p:pic>
        <p:nvPicPr>
          <p:cNvPr id="10" name="Imagem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24680" y="2783299"/>
            <a:ext cx="7115420" cy="4727917"/>
          </a:xfrm>
          <a:prstGeom prst="rect">
            <a:avLst/>
          </a:prstGeom>
        </p:spPr>
      </p:pic>
      <p:sp>
        <p:nvSpPr>
          <p:cNvPr id="13" name="CaixaDeTexto 12">
            <a:extLst>
              <a:ext uri="{FF2B5EF4-FFF2-40B4-BE49-F238E27FC236}">
                <a16:creationId xmlns:a16="http://schemas.microsoft.com/office/drawing/2014/main" id="{80835AE9-549D-A724-999C-D818F04F5E18}"/>
              </a:ext>
            </a:extLst>
          </p:cNvPr>
          <p:cNvSpPr txBox="1"/>
          <p:nvPr/>
        </p:nvSpPr>
        <p:spPr>
          <a:xfrm>
            <a:off x="11821064" y="7741424"/>
            <a:ext cx="5935570" cy="738664"/>
          </a:xfrm>
          <a:prstGeom prst="rect">
            <a:avLst/>
          </a:prstGeom>
          <a:noFill/>
        </p:spPr>
        <p:txBody>
          <a:bodyPr wrap="square" rtlCol="0">
            <a:spAutoFit/>
          </a:bodyPr>
          <a:lstStyle/>
          <a:p>
            <a:pPr algn="r"/>
            <a:r>
              <a:rPr lang="pt-BR" sz="1400" dirty="0"/>
              <a:t>Registro da programação Integrada “Como se eu fosse MC – Criação de Capa de Disco de Funk” e de visita de grupo agendado. Material produzido pela equipe educativa da exposição “Espelho do poder”. São Paulo, 2025. </a:t>
            </a:r>
          </a:p>
        </p:txBody>
      </p:sp>
      <p:sp>
        <p:nvSpPr>
          <p:cNvPr id="9" name="Retângulo 8">
            <a:extLst>
              <a:ext uri="{FF2B5EF4-FFF2-40B4-BE49-F238E27FC236}">
                <a16:creationId xmlns:a16="http://schemas.microsoft.com/office/drawing/2014/main" id="{086E708F-2E11-E268-684F-9B81DEA3FE4A}"/>
              </a:ext>
            </a:extLst>
          </p:cNvPr>
          <p:cNvSpPr/>
          <p:nvPr/>
        </p:nvSpPr>
        <p:spPr>
          <a:xfrm>
            <a:off x="8451350" y="9618030"/>
            <a:ext cx="5941230" cy="361971"/>
          </a:xfrm>
          <a:prstGeom prst="rect">
            <a:avLst/>
          </a:prstGeom>
          <a:solidFill>
            <a:srgbClr val="FED0D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id="{7023DDC2-A8FC-8BB1-150D-B146D900302D}"/>
              </a:ext>
            </a:extLst>
          </p:cNvPr>
          <p:cNvSpPr/>
          <p:nvPr/>
        </p:nvSpPr>
        <p:spPr>
          <a:xfrm>
            <a:off x="3824379" y="9245910"/>
            <a:ext cx="6203407" cy="381000"/>
          </a:xfrm>
          <a:prstGeom prst="rect">
            <a:avLst/>
          </a:prstGeom>
          <a:solidFill>
            <a:srgbClr val="FFF1B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Retângulo 14">
            <a:extLst>
              <a:ext uri="{FF2B5EF4-FFF2-40B4-BE49-F238E27FC236}">
                <a16:creationId xmlns:a16="http://schemas.microsoft.com/office/drawing/2014/main" id="{673AF481-6453-7C63-07C0-AA13E801DD3A}"/>
              </a:ext>
            </a:extLst>
          </p:cNvPr>
          <p:cNvSpPr/>
          <p:nvPr/>
        </p:nvSpPr>
        <p:spPr>
          <a:xfrm>
            <a:off x="924803" y="8875482"/>
            <a:ext cx="5777159" cy="383537"/>
          </a:xfrm>
          <a:prstGeom prst="rect">
            <a:avLst/>
          </a:prstGeom>
          <a:solidFill>
            <a:srgbClr val="FFABF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extBox 7">
            <a:extLst>
              <a:ext uri="{FF2B5EF4-FFF2-40B4-BE49-F238E27FC236}">
                <a16:creationId xmlns:a16="http://schemas.microsoft.com/office/drawing/2014/main" id="{46A04C4E-19D5-8986-C6F6-95F9A20F919A}"/>
              </a:ext>
            </a:extLst>
          </p:cNvPr>
          <p:cNvSpPr txBox="1"/>
          <p:nvPr/>
        </p:nvSpPr>
        <p:spPr>
          <a:xfrm>
            <a:off x="549238" y="3255692"/>
            <a:ext cx="7203393" cy="780983"/>
          </a:xfrm>
          <a:prstGeom prst="rect">
            <a:avLst/>
          </a:prstGeom>
        </p:spPr>
        <p:txBody>
          <a:bodyPr lIns="0" tIns="0" rIns="0" bIns="0" rtlCol="0" anchor="t">
            <a:spAutoFit/>
          </a:bodyPr>
          <a:lstStyle/>
          <a:p>
            <a:pPr algn="l">
              <a:lnSpc>
                <a:spcPts val="5808"/>
              </a:lnSpc>
            </a:pPr>
            <a:r>
              <a:rPr lang="en-US" sz="5800" spc="-458" dirty="0" err="1">
                <a:solidFill>
                  <a:srgbClr val="000000"/>
                </a:solidFill>
                <a:latin typeface="Garet Bold"/>
                <a:ea typeface="Archivo Black"/>
                <a:cs typeface="Archivo Black"/>
                <a:sym typeface="Archivo Black"/>
              </a:rPr>
              <a:t>Registros</a:t>
            </a:r>
            <a:endParaRPr lang="en-US" sz="5800" spc="-458" dirty="0" err="1">
              <a:solidFill>
                <a:srgbClr val="000000"/>
              </a:solidFill>
              <a:latin typeface="Garet Bold"/>
              <a:ea typeface="Archivo Black"/>
              <a:cs typeface="Archivo Black"/>
            </a:endParaRPr>
          </a:p>
        </p:txBody>
      </p:sp>
    </p:spTree>
    <p:extLst>
      <p:ext uri="{BB962C8B-B14F-4D97-AF65-F5344CB8AC3E}">
        <p14:creationId xmlns:p14="http://schemas.microsoft.com/office/powerpoint/2010/main" val="3318066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t="-3000" b="-3000"/>
          </a:stretch>
        </a:blipFill>
        <a:effectLst/>
      </p:bgPr>
    </p:bg>
    <p:spTree>
      <p:nvGrpSpPr>
        <p:cNvPr id="1" name="">
          <a:extLst>
            <a:ext uri="{FF2B5EF4-FFF2-40B4-BE49-F238E27FC236}">
              <a16:creationId xmlns:a16="http://schemas.microsoft.com/office/drawing/2014/main" id="{65B5BED3-5ED9-4238-7A51-9560FFEFC675}"/>
            </a:ext>
          </a:extLst>
        </p:cNvPr>
        <p:cNvGrpSpPr/>
        <p:nvPr/>
      </p:nvGrpSpPr>
      <p:grpSpPr>
        <a:xfrm>
          <a:off x="0" y="0"/>
          <a:ext cx="0" cy="0"/>
          <a:chOff x="0" y="0"/>
          <a:chExt cx="0" cy="0"/>
        </a:xfrm>
      </p:grpSpPr>
      <p:sp>
        <p:nvSpPr>
          <p:cNvPr id="8" name="TextBox 8">
            <a:extLst>
              <a:ext uri="{FF2B5EF4-FFF2-40B4-BE49-F238E27FC236}">
                <a16:creationId xmlns:a16="http://schemas.microsoft.com/office/drawing/2014/main" id="{64AED875-AF15-E551-4290-A820DC97E87A}"/>
              </a:ext>
            </a:extLst>
          </p:cNvPr>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50" b="1" dirty="0">
                <a:solidFill>
                  <a:srgbClr val="000000"/>
                </a:solidFill>
                <a:latin typeface="Garet Bold"/>
                <a:ea typeface="Garet Bold"/>
                <a:cs typeface="Garet Bold"/>
                <a:sym typeface="Garet Bold"/>
              </a:rPr>
              <a:t>11/14</a:t>
            </a:r>
            <a:endParaRPr lang="en-US" sz="2099" b="1" dirty="0">
              <a:solidFill>
                <a:srgbClr val="000000"/>
              </a:solidFill>
              <a:latin typeface="Garet Bold"/>
              <a:ea typeface="Garet Bold"/>
              <a:cs typeface="Garet Bold"/>
              <a:sym typeface="Garet Bold"/>
            </a:endParaRPr>
          </a:p>
        </p:txBody>
      </p:sp>
      <p:sp>
        <p:nvSpPr>
          <p:cNvPr id="5" name="CaixaDeTexto 4">
            <a:extLst>
              <a:ext uri="{FF2B5EF4-FFF2-40B4-BE49-F238E27FC236}">
                <a16:creationId xmlns:a16="http://schemas.microsoft.com/office/drawing/2014/main" id="{725E7909-F004-D570-D4FF-3DB39C919F2A}"/>
              </a:ext>
            </a:extLst>
          </p:cNvPr>
          <p:cNvSpPr txBox="1"/>
          <p:nvPr/>
        </p:nvSpPr>
        <p:spPr>
          <a:xfrm>
            <a:off x="11711789" y="7804090"/>
            <a:ext cx="5720039" cy="954107"/>
          </a:xfrm>
          <a:prstGeom prst="rect">
            <a:avLst/>
          </a:prstGeom>
          <a:noFill/>
        </p:spPr>
        <p:txBody>
          <a:bodyPr wrap="square" rtlCol="0">
            <a:spAutoFit/>
          </a:bodyPr>
          <a:lstStyle/>
          <a:p>
            <a:pPr algn="r"/>
            <a:r>
              <a:rPr lang="pt-BR" sz="1400" dirty="0"/>
              <a:t>Registros das programações integradas “A Presença do Graffiti em ‘Espelho do Poder’” e “Paulista Teimosa: uma introdução à fotografia a partir da obra de Bárbara Wagner”. Material produzido pela equipe educativa da exposição “Espelho do poder”. São Paulo, 2025. </a:t>
            </a:r>
          </a:p>
        </p:txBody>
      </p:sp>
      <p:pic>
        <p:nvPicPr>
          <p:cNvPr id="9" name="Imagem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89838" y="1565672"/>
            <a:ext cx="6726548" cy="4716733"/>
          </a:xfrm>
          <a:prstGeom prst="rect">
            <a:avLst/>
          </a:prstGeom>
        </p:spPr>
      </p:pic>
      <p:pic>
        <p:nvPicPr>
          <p:cNvPr id="10" name="Imagem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98314" y="2371042"/>
            <a:ext cx="6436030" cy="5233769"/>
          </a:xfrm>
          <a:prstGeom prst="rect">
            <a:avLst/>
          </a:prstGeom>
        </p:spPr>
      </p:pic>
      <p:sp>
        <p:nvSpPr>
          <p:cNvPr id="11" name="Retângulo 10">
            <a:extLst>
              <a:ext uri="{FF2B5EF4-FFF2-40B4-BE49-F238E27FC236}">
                <a16:creationId xmlns:a16="http://schemas.microsoft.com/office/drawing/2014/main" id="{FAB93071-3984-DABD-E150-4F6DCD6C7E91}"/>
              </a:ext>
            </a:extLst>
          </p:cNvPr>
          <p:cNvSpPr/>
          <p:nvPr/>
        </p:nvSpPr>
        <p:spPr>
          <a:xfrm>
            <a:off x="8451350" y="9618030"/>
            <a:ext cx="5941230" cy="361971"/>
          </a:xfrm>
          <a:prstGeom prst="rect">
            <a:avLst/>
          </a:prstGeom>
          <a:solidFill>
            <a:srgbClr val="FED0D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id="{737E12BB-58EE-A53E-BC3F-BE92D31DB4F7}"/>
              </a:ext>
            </a:extLst>
          </p:cNvPr>
          <p:cNvSpPr/>
          <p:nvPr/>
        </p:nvSpPr>
        <p:spPr>
          <a:xfrm>
            <a:off x="3824379" y="9245910"/>
            <a:ext cx="6203407" cy="381000"/>
          </a:xfrm>
          <a:prstGeom prst="rect">
            <a:avLst/>
          </a:prstGeom>
          <a:solidFill>
            <a:srgbClr val="FFF1B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Retângulo 14">
            <a:extLst>
              <a:ext uri="{FF2B5EF4-FFF2-40B4-BE49-F238E27FC236}">
                <a16:creationId xmlns:a16="http://schemas.microsoft.com/office/drawing/2014/main" id="{34997291-4685-83F5-1C35-68947706A83F}"/>
              </a:ext>
            </a:extLst>
          </p:cNvPr>
          <p:cNvSpPr/>
          <p:nvPr/>
        </p:nvSpPr>
        <p:spPr>
          <a:xfrm>
            <a:off x="924803" y="8875482"/>
            <a:ext cx="5777159" cy="383537"/>
          </a:xfrm>
          <a:prstGeom prst="rect">
            <a:avLst/>
          </a:prstGeom>
          <a:solidFill>
            <a:srgbClr val="FFABF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extBox 7">
            <a:extLst>
              <a:ext uri="{FF2B5EF4-FFF2-40B4-BE49-F238E27FC236}">
                <a16:creationId xmlns:a16="http://schemas.microsoft.com/office/drawing/2014/main" id="{2E106094-4E8C-D44D-F3C7-5367DF1CB07B}"/>
              </a:ext>
            </a:extLst>
          </p:cNvPr>
          <p:cNvSpPr txBox="1"/>
          <p:nvPr/>
        </p:nvSpPr>
        <p:spPr>
          <a:xfrm>
            <a:off x="549238" y="3255692"/>
            <a:ext cx="7203393" cy="780983"/>
          </a:xfrm>
          <a:prstGeom prst="rect">
            <a:avLst/>
          </a:prstGeom>
        </p:spPr>
        <p:txBody>
          <a:bodyPr lIns="0" tIns="0" rIns="0" bIns="0" rtlCol="0" anchor="t">
            <a:spAutoFit/>
          </a:bodyPr>
          <a:lstStyle/>
          <a:p>
            <a:pPr algn="l">
              <a:lnSpc>
                <a:spcPts val="5808"/>
              </a:lnSpc>
            </a:pPr>
            <a:r>
              <a:rPr lang="en-US" sz="5800" spc="-458" err="1">
                <a:solidFill>
                  <a:srgbClr val="000000"/>
                </a:solidFill>
                <a:latin typeface="Garet Bold"/>
                <a:ea typeface="Archivo Black"/>
                <a:cs typeface="Archivo Black"/>
                <a:sym typeface="Archivo Black"/>
              </a:rPr>
              <a:t>Registros</a:t>
            </a:r>
            <a:r>
              <a:rPr lang="en-US" sz="5800" spc="-458" dirty="0">
                <a:solidFill>
                  <a:srgbClr val="000000"/>
                </a:solidFill>
                <a:latin typeface="Garet Bold"/>
                <a:ea typeface="Archivo Black"/>
                <a:cs typeface="Archivo Black"/>
                <a:sym typeface="Archivo Black"/>
              </a:rPr>
              <a:t> </a:t>
            </a:r>
          </a:p>
        </p:txBody>
      </p:sp>
    </p:spTree>
    <p:extLst>
      <p:ext uri="{BB962C8B-B14F-4D97-AF65-F5344CB8AC3E}">
        <p14:creationId xmlns:p14="http://schemas.microsoft.com/office/powerpoint/2010/main" val="1557655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fillRect t="-3000" b="-3000"/>
          </a:stretch>
        </a:blipFill>
        <a:effectLst/>
      </p:bgPr>
    </p:bg>
    <p:spTree>
      <p:nvGrpSpPr>
        <p:cNvPr id="1" name="">
          <a:extLst>
            <a:ext uri="{FF2B5EF4-FFF2-40B4-BE49-F238E27FC236}">
              <a16:creationId xmlns:a16="http://schemas.microsoft.com/office/drawing/2014/main" id="{D252B2C8-D8D1-92DF-CA1E-957FC0731C9D}"/>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E6A27B3E-BB47-740B-9B96-7EC6624BFB58}"/>
              </a:ext>
            </a:extLst>
          </p:cNvPr>
          <p:cNvSpPr txBox="1"/>
          <p:nvPr/>
        </p:nvSpPr>
        <p:spPr>
          <a:xfrm>
            <a:off x="920870" y="972122"/>
            <a:ext cx="13830300" cy="743793"/>
          </a:xfrm>
          <a:prstGeom prst="rect">
            <a:avLst/>
          </a:prstGeom>
        </p:spPr>
        <p:txBody>
          <a:bodyPr wrap="square" lIns="0" tIns="0" rIns="0" bIns="0" rtlCol="0" anchor="t">
            <a:spAutoFit/>
          </a:bodyPr>
          <a:lstStyle/>
          <a:p>
            <a:pPr>
              <a:lnSpc>
                <a:spcPts val="5808"/>
              </a:lnSpc>
            </a:pPr>
            <a:r>
              <a:rPr lang="pt-BR" sz="3600" dirty="0">
                <a:latin typeface="Garet Bold" panose="020B0604020202020204" charset="0"/>
                <a:sym typeface="Archivo Black"/>
              </a:rPr>
              <a:t>a arte só se faz com o outro, quando há identificação</a:t>
            </a:r>
            <a:endParaRPr lang="en-US" sz="3600" spc="-458" dirty="0">
              <a:latin typeface="Garet Bold" panose="020B0604020202020204" charset="0"/>
              <a:ea typeface="Archivo Black"/>
              <a:cs typeface="Archivo Black"/>
              <a:sym typeface="Archivo Black"/>
            </a:endParaRPr>
          </a:p>
        </p:txBody>
      </p:sp>
      <p:sp>
        <p:nvSpPr>
          <p:cNvPr id="8" name="TextBox 8">
            <a:extLst>
              <a:ext uri="{FF2B5EF4-FFF2-40B4-BE49-F238E27FC236}">
                <a16:creationId xmlns:a16="http://schemas.microsoft.com/office/drawing/2014/main" id="{49428AAF-8FC8-0478-50EA-423511556C2F}"/>
              </a:ext>
            </a:extLst>
          </p:cNvPr>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50" b="1" dirty="0">
                <a:solidFill>
                  <a:srgbClr val="000000"/>
                </a:solidFill>
                <a:latin typeface="Garet Bold"/>
                <a:ea typeface="Garet Bold"/>
                <a:cs typeface="Garet Bold"/>
                <a:sym typeface="Garet Bold"/>
              </a:rPr>
              <a:t>12/14</a:t>
            </a:r>
            <a:endParaRPr lang="en-US" sz="2099" b="1" dirty="0">
              <a:solidFill>
                <a:srgbClr val="000000"/>
              </a:solidFill>
              <a:latin typeface="Garet Bold"/>
              <a:ea typeface="Garet Bold"/>
              <a:cs typeface="Garet Bold"/>
              <a:sym typeface="Garet Bold"/>
            </a:endParaRPr>
          </a:p>
        </p:txBody>
      </p:sp>
      <p:sp>
        <p:nvSpPr>
          <p:cNvPr id="5" name="Espaço Reservado para Número de Slide 4">
            <a:extLst>
              <a:ext uri="{FF2B5EF4-FFF2-40B4-BE49-F238E27FC236}">
                <a16:creationId xmlns:a16="http://schemas.microsoft.com/office/drawing/2014/main" id="{421FA8D5-4D6B-7181-7B58-420EC9F0E032}"/>
              </a:ext>
            </a:extLst>
          </p:cNvPr>
          <p:cNvSpPr>
            <a:spLocks noGrp="1"/>
          </p:cNvSpPr>
          <p:nvPr>
            <p:ph type="sldNum" sz="quarter" idx="12"/>
          </p:nvPr>
        </p:nvSpPr>
        <p:spPr>
          <a:xfrm>
            <a:off x="6380672" y="6830803"/>
            <a:ext cx="2133600" cy="365125"/>
          </a:xfrm>
        </p:spPr>
        <p:txBody>
          <a:bodyPr/>
          <a:lstStyle/>
          <a:p>
            <a:fld id="{B6F15528-21DE-4FAA-801E-634DDDAF4B2B}" type="slidenum">
              <a:rPr lang="en-US" smtClean="0"/>
              <a:pPr/>
              <a:t>12</a:t>
            </a:fld>
            <a:endParaRPr lang="en-US"/>
          </a:p>
        </p:txBody>
      </p:sp>
      <p:sp>
        <p:nvSpPr>
          <p:cNvPr id="6" name="CaixaDeTexto 5">
            <a:extLst>
              <a:ext uri="{FF2B5EF4-FFF2-40B4-BE49-F238E27FC236}">
                <a16:creationId xmlns:a16="http://schemas.microsoft.com/office/drawing/2014/main" id="{22DF92E3-368C-D716-79C1-D9BDACF1AEC3}"/>
              </a:ext>
            </a:extLst>
          </p:cNvPr>
          <p:cNvSpPr txBox="1"/>
          <p:nvPr/>
        </p:nvSpPr>
        <p:spPr>
          <a:xfrm>
            <a:off x="11638472" y="7898039"/>
            <a:ext cx="5829300" cy="738664"/>
          </a:xfrm>
          <a:prstGeom prst="rect">
            <a:avLst/>
          </a:prstGeom>
          <a:noFill/>
        </p:spPr>
        <p:txBody>
          <a:bodyPr wrap="square" rtlCol="0">
            <a:spAutoFit/>
          </a:bodyPr>
          <a:lstStyle/>
          <a:p>
            <a:pPr algn="r"/>
            <a:r>
              <a:rPr lang="pt-BR" sz="1400" dirty="0"/>
              <a:t>Imagem do curso “Brega pra Quem? – Introdução à História do Brega”. Material produzido pela equipe educativa da exposição “Espelho do poder”. São Paulo, 2025. </a:t>
            </a:r>
          </a:p>
        </p:txBody>
      </p:sp>
      <p:sp>
        <p:nvSpPr>
          <p:cNvPr id="11" name="CaixaDeTexto 10"/>
          <p:cNvSpPr txBox="1"/>
          <p:nvPr/>
        </p:nvSpPr>
        <p:spPr>
          <a:xfrm>
            <a:off x="856172" y="2064560"/>
            <a:ext cx="9334500" cy="6463308"/>
          </a:xfrm>
          <a:prstGeom prst="rect">
            <a:avLst/>
          </a:prstGeom>
          <a:noFill/>
        </p:spPr>
        <p:txBody>
          <a:bodyPr wrap="square" rtlCol="0">
            <a:spAutoFit/>
          </a:bodyPr>
          <a:lstStyle/>
          <a:p>
            <a:r>
              <a:rPr lang="pt-BR" b="1" dirty="0">
                <a:latin typeface="Garet" panose="020B0604020202020204" charset="0"/>
              </a:rPr>
              <a:t>“Como de costume, antes de entrar no espaço expositivo e também por se tratar de um grupo com muitas crianças </a:t>
            </a:r>
            <a:r>
              <a:rPr lang="pt-BR" b="1" dirty="0" err="1">
                <a:latin typeface="Garet" panose="020B0604020202020204" charset="0"/>
              </a:rPr>
              <a:t>neurodivergentes</a:t>
            </a:r>
            <a:r>
              <a:rPr lang="pt-BR" b="1" dirty="0">
                <a:latin typeface="Garet" panose="020B0604020202020204" charset="0"/>
              </a:rPr>
              <a:t>, expliquei pra eles que caso alguém se incomodasse com as luzes fortes ou o som alto do filme, deveria falar comigo e, depois disso, me deu uma ideia de propor algo que eu não tinha feito em nenhuma outra mediação: pedi para que eles se sentissem livres pelo espaço e que não tivessem vergonha de dançarem durante o filme. Entramos. O </a:t>
            </a:r>
            <a:r>
              <a:rPr lang="pt-BR" b="1" dirty="0" err="1">
                <a:latin typeface="Garet" panose="020B0604020202020204" charset="0"/>
              </a:rPr>
              <a:t>BregaFunk</a:t>
            </a:r>
            <a:r>
              <a:rPr lang="pt-BR" b="1" dirty="0">
                <a:latin typeface="Garet" panose="020B0604020202020204" charset="0"/>
              </a:rPr>
              <a:t> começou a tocar e, naturalmente, vários deles começaram a dançar e eu fui na onda. Passamos os 19 minutos inteiros do </a:t>
            </a:r>
            <a:r>
              <a:rPr lang="pt-BR" b="1" dirty="0" err="1">
                <a:latin typeface="Garet" panose="020B0604020202020204" charset="0"/>
              </a:rPr>
              <a:t>Swinguerra</a:t>
            </a:r>
            <a:r>
              <a:rPr lang="pt-BR" b="1" dirty="0">
                <a:latin typeface="Garet" panose="020B0604020202020204" charset="0"/>
              </a:rPr>
              <a:t> nos mexendo e rindo muito com os passinhos uns dos outros. Quando saímos do espaço, fomos para o educativo trocar uma ideia sobre o que foi essa nossa experiência. Nesse momento, sempre gosto de conversar sobre o significado da cultura popular e de como a arte que apreciamos na maioria das vezes não aprendemos na escola ou na universidade. Depois desse papo, dou uma breve oficina de criação de “</a:t>
            </a:r>
            <a:r>
              <a:rPr lang="pt-BR" b="1" dirty="0" err="1">
                <a:latin typeface="Garet" panose="020B0604020202020204" charset="0"/>
              </a:rPr>
              <a:t>tag</a:t>
            </a:r>
            <a:r>
              <a:rPr lang="pt-BR" b="1" dirty="0">
                <a:latin typeface="Garet" panose="020B0604020202020204" charset="0"/>
              </a:rPr>
              <a:t>”, pois sou fissurado em cultura Hip-Hop e a ligação com o Funk e o </a:t>
            </a:r>
            <a:r>
              <a:rPr lang="pt-BR" b="1" dirty="0" err="1">
                <a:latin typeface="Garet" panose="020B0604020202020204" charset="0"/>
              </a:rPr>
              <a:t>BregaFunk</a:t>
            </a:r>
            <a:r>
              <a:rPr lang="pt-BR" b="1" dirty="0">
                <a:latin typeface="Garet" panose="020B0604020202020204" charset="0"/>
              </a:rPr>
              <a:t> está aí. Eles estavam se divertindo muito pintando as paredes e, em um certo momento, uma menina disse que queria recitar um </a:t>
            </a:r>
            <a:r>
              <a:rPr lang="pt-BR" b="1" dirty="0" err="1">
                <a:latin typeface="Garet" panose="020B0604020202020204" charset="0"/>
              </a:rPr>
              <a:t>slam</a:t>
            </a:r>
            <a:r>
              <a:rPr lang="pt-BR" b="1" dirty="0">
                <a:latin typeface="Garet" panose="020B0604020202020204" charset="0"/>
              </a:rPr>
              <a:t> e obviamente eu falei “bora pra cima”. E foi lindo, emocionante, forte, consciente, revolucionário. Uma menina adolescente do CAPS, do fundão do ABC e poeta. Eu já não conseguia mais esconder aquele sentimento de que a minha missão como arte-educador foi cumprida.”</a:t>
            </a:r>
          </a:p>
          <a:p>
            <a:endParaRPr lang="pt-BR" dirty="0"/>
          </a:p>
        </p:txBody>
      </p:sp>
      <p:sp>
        <p:nvSpPr>
          <p:cNvPr id="12" name="CaixaDeTexto 11"/>
          <p:cNvSpPr txBox="1"/>
          <p:nvPr/>
        </p:nvSpPr>
        <p:spPr>
          <a:xfrm>
            <a:off x="6018722" y="8127758"/>
            <a:ext cx="5867400" cy="400110"/>
          </a:xfrm>
          <a:prstGeom prst="rect">
            <a:avLst/>
          </a:prstGeom>
          <a:noFill/>
        </p:spPr>
        <p:txBody>
          <a:bodyPr wrap="square" rtlCol="0">
            <a:spAutoFit/>
          </a:bodyPr>
          <a:lstStyle/>
          <a:p>
            <a:r>
              <a:rPr lang="pt-BR" sz="2000" i="1" dirty="0"/>
              <a:t>Depoimento do estagiário Oliver Muniz</a:t>
            </a:r>
          </a:p>
        </p:txBody>
      </p:sp>
      <p:pic>
        <p:nvPicPr>
          <p:cNvPr id="13" name="Imagem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09772" y="2069010"/>
            <a:ext cx="6858000" cy="5717534"/>
          </a:xfrm>
          <a:prstGeom prst="rect">
            <a:avLst/>
          </a:prstGeom>
        </p:spPr>
      </p:pic>
      <p:sp>
        <p:nvSpPr>
          <p:cNvPr id="10" name="Retângulo 9">
            <a:extLst>
              <a:ext uri="{FF2B5EF4-FFF2-40B4-BE49-F238E27FC236}">
                <a16:creationId xmlns:a16="http://schemas.microsoft.com/office/drawing/2014/main" id="{59F9AA8B-703A-A1B5-32B7-A49DBE2C7273}"/>
              </a:ext>
            </a:extLst>
          </p:cNvPr>
          <p:cNvSpPr/>
          <p:nvPr/>
        </p:nvSpPr>
        <p:spPr>
          <a:xfrm>
            <a:off x="8451350" y="9618030"/>
            <a:ext cx="5941230" cy="361971"/>
          </a:xfrm>
          <a:prstGeom prst="rect">
            <a:avLst/>
          </a:prstGeom>
          <a:solidFill>
            <a:srgbClr val="FED0D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Retângulo 14">
            <a:extLst>
              <a:ext uri="{FF2B5EF4-FFF2-40B4-BE49-F238E27FC236}">
                <a16:creationId xmlns:a16="http://schemas.microsoft.com/office/drawing/2014/main" id="{AEDB4E97-3E7E-5924-9F17-5F0C874620BD}"/>
              </a:ext>
            </a:extLst>
          </p:cNvPr>
          <p:cNvSpPr/>
          <p:nvPr/>
        </p:nvSpPr>
        <p:spPr>
          <a:xfrm>
            <a:off x="3824379" y="9245910"/>
            <a:ext cx="6203407" cy="381000"/>
          </a:xfrm>
          <a:prstGeom prst="rect">
            <a:avLst/>
          </a:prstGeom>
          <a:solidFill>
            <a:srgbClr val="FFF1B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tângulo 16">
            <a:extLst>
              <a:ext uri="{FF2B5EF4-FFF2-40B4-BE49-F238E27FC236}">
                <a16:creationId xmlns:a16="http://schemas.microsoft.com/office/drawing/2014/main" id="{2FD7347A-271C-B1C1-2B1F-AB21A3CBCA2D}"/>
              </a:ext>
            </a:extLst>
          </p:cNvPr>
          <p:cNvSpPr/>
          <p:nvPr/>
        </p:nvSpPr>
        <p:spPr>
          <a:xfrm>
            <a:off x="924803" y="8875482"/>
            <a:ext cx="5777159" cy="383537"/>
          </a:xfrm>
          <a:prstGeom prst="rect">
            <a:avLst/>
          </a:prstGeom>
          <a:solidFill>
            <a:srgbClr val="FFABF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299208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fillRect t="-3000" b="-3000"/>
          </a:stretch>
        </a:blipFill>
        <a:effectLst/>
      </p:bgPr>
    </p:bg>
    <p:spTree>
      <p:nvGrpSpPr>
        <p:cNvPr id="1" name="">
          <a:extLst>
            <a:ext uri="{FF2B5EF4-FFF2-40B4-BE49-F238E27FC236}">
              <a16:creationId xmlns:a16="http://schemas.microsoft.com/office/drawing/2014/main" id="{831F8883-5E3E-6EC0-F421-D25AE086B542}"/>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DC9F338A-487C-93FA-5F0D-74DEB71E7BE1}"/>
              </a:ext>
            </a:extLst>
          </p:cNvPr>
          <p:cNvSpPr txBox="1"/>
          <p:nvPr/>
        </p:nvSpPr>
        <p:spPr>
          <a:xfrm>
            <a:off x="1028700" y="1163955"/>
            <a:ext cx="6111782" cy="5262979"/>
          </a:xfrm>
          <a:prstGeom prst="rect">
            <a:avLst/>
          </a:prstGeom>
        </p:spPr>
        <p:txBody>
          <a:bodyPr wrap="square" lIns="0" tIns="0" rIns="0" bIns="0" rtlCol="0" anchor="t">
            <a:spAutoFit/>
          </a:bodyPr>
          <a:lstStyle/>
          <a:p>
            <a:r>
              <a:rPr lang="pt-BR" b="1" dirty="0"/>
              <a:t>SESC – SERVICO SOCIAL DO COMERCIO</a:t>
            </a:r>
          </a:p>
          <a:p>
            <a:r>
              <a:rPr lang="pt-BR" b="1" dirty="0"/>
              <a:t>Administração Regional no Estado de São Paulo</a:t>
            </a:r>
            <a:br>
              <a:rPr lang="pt-BR" b="1" dirty="0"/>
            </a:br>
            <a:endParaRPr lang="pt-BR" b="1" dirty="0"/>
          </a:p>
          <a:p>
            <a:pPr fontAlgn="base"/>
            <a:r>
              <a:rPr lang="pt-BR" b="1" dirty="0"/>
              <a:t>Presidente do Conselho Regional</a:t>
            </a:r>
            <a:r>
              <a:rPr lang="pt-BR" dirty="0"/>
              <a:t> </a:t>
            </a:r>
          </a:p>
          <a:p>
            <a:pPr fontAlgn="base"/>
            <a:r>
              <a:rPr lang="pt-BR" dirty="0"/>
              <a:t>Abram Szajman  </a:t>
            </a:r>
            <a:br>
              <a:rPr lang="pt-BR" dirty="0"/>
            </a:br>
            <a:endParaRPr lang="pt-BR" dirty="0"/>
          </a:p>
          <a:p>
            <a:pPr fontAlgn="base"/>
            <a:r>
              <a:rPr lang="pt-BR" b="1" dirty="0"/>
              <a:t>Diretor do Departamento Regional</a:t>
            </a:r>
            <a:r>
              <a:rPr lang="pt-BR" dirty="0"/>
              <a:t> </a:t>
            </a:r>
          </a:p>
          <a:p>
            <a:pPr fontAlgn="base"/>
            <a:r>
              <a:rPr lang="pt-BR" dirty="0"/>
              <a:t>Luiz </a:t>
            </a:r>
            <a:r>
              <a:rPr lang="pt-BR" dirty="0" err="1"/>
              <a:t>Deoclecio</a:t>
            </a:r>
            <a:r>
              <a:rPr lang="pt-BR" dirty="0"/>
              <a:t> Massaro Galina </a:t>
            </a:r>
          </a:p>
          <a:p>
            <a:pPr fontAlgn="base"/>
            <a:r>
              <a:rPr lang="pt-BR" dirty="0"/>
              <a:t> </a:t>
            </a:r>
          </a:p>
          <a:p>
            <a:pPr fontAlgn="base"/>
            <a:r>
              <a:rPr lang="pt-BR" b="1" dirty="0"/>
              <a:t>Superintendentes</a:t>
            </a:r>
            <a:r>
              <a:rPr lang="pt-BR" dirty="0"/>
              <a:t> </a:t>
            </a:r>
            <a:br>
              <a:rPr lang="pt-BR" dirty="0"/>
            </a:br>
            <a:endParaRPr lang="pt-BR" dirty="0"/>
          </a:p>
          <a:p>
            <a:pPr fontAlgn="base"/>
            <a:r>
              <a:rPr lang="pt-BR" b="1" dirty="0"/>
              <a:t>Técnico-social</a:t>
            </a:r>
            <a:r>
              <a:rPr lang="pt-BR" dirty="0"/>
              <a:t> </a:t>
            </a:r>
          </a:p>
          <a:p>
            <a:pPr fontAlgn="base"/>
            <a:r>
              <a:rPr lang="pt-BR" dirty="0"/>
              <a:t>Rosana Paulo da Cunha  </a:t>
            </a:r>
          </a:p>
          <a:p>
            <a:pPr fontAlgn="base"/>
            <a:r>
              <a:rPr lang="pt-BR" b="1" dirty="0"/>
              <a:t>Comunicação Social</a:t>
            </a:r>
            <a:r>
              <a:rPr lang="pt-BR" dirty="0"/>
              <a:t>   </a:t>
            </a:r>
          </a:p>
          <a:p>
            <a:pPr fontAlgn="base"/>
            <a:r>
              <a:rPr lang="pt-BR" dirty="0"/>
              <a:t>Ricardo Gentil </a:t>
            </a:r>
          </a:p>
          <a:p>
            <a:pPr fontAlgn="base"/>
            <a:r>
              <a:rPr lang="pt-BR" b="1" dirty="0"/>
              <a:t>Administração</a:t>
            </a:r>
            <a:r>
              <a:rPr lang="pt-BR" dirty="0"/>
              <a:t>  </a:t>
            </a:r>
          </a:p>
          <a:p>
            <a:pPr fontAlgn="base"/>
            <a:r>
              <a:rPr lang="pt-BR" dirty="0"/>
              <a:t>Jackson Andrade de Matos  </a:t>
            </a:r>
          </a:p>
          <a:p>
            <a:pPr fontAlgn="base"/>
            <a:r>
              <a:rPr lang="pt-BR" b="1" dirty="0"/>
              <a:t>Assessoria Técnica e de Planejamento </a:t>
            </a:r>
            <a:r>
              <a:rPr lang="pt-BR" dirty="0"/>
              <a:t> </a:t>
            </a:r>
          </a:p>
          <a:p>
            <a:pPr fontAlgn="base"/>
            <a:r>
              <a:rPr lang="pt-BR" dirty="0"/>
              <a:t>Marta Raquel </a:t>
            </a:r>
            <a:r>
              <a:rPr lang="pt-BR" dirty="0" err="1"/>
              <a:t>Colabone</a:t>
            </a:r>
            <a:r>
              <a:rPr lang="pt-BR" dirty="0"/>
              <a:t>  </a:t>
            </a:r>
          </a:p>
        </p:txBody>
      </p:sp>
      <p:sp>
        <p:nvSpPr>
          <p:cNvPr id="8" name="TextBox 8">
            <a:extLst>
              <a:ext uri="{FF2B5EF4-FFF2-40B4-BE49-F238E27FC236}">
                <a16:creationId xmlns:a16="http://schemas.microsoft.com/office/drawing/2014/main" id="{0AF52537-AECF-8110-1DAE-C7A687C122C7}"/>
              </a:ext>
            </a:extLst>
          </p:cNvPr>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50" b="1" dirty="0">
                <a:solidFill>
                  <a:srgbClr val="000000"/>
                </a:solidFill>
                <a:latin typeface="Garet Bold"/>
                <a:ea typeface="Garet Bold"/>
                <a:cs typeface="Garet Bold"/>
                <a:sym typeface="Garet Bold"/>
              </a:rPr>
              <a:t>13/14</a:t>
            </a:r>
            <a:endParaRPr lang="en-US" sz="2099" b="1" dirty="0">
              <a:solidFill>
                <a:srgbClr val="000000"/>
              </a:solidFill>
              <a:latin typeface="Garet Bold"/>
              <a:ea typeface="Garet Bold"/>
              <a:cs typeface="Garet Bold"/>
              <a:sym typeface="Garet Bold"/>
            </a:endParaRPr>
          </a:p>
        </p:txBody>
      </p:sp>
      <p:sp>
        <p:nvSpPr>
          <p:cNvPr id="5" name="TextBox 7">
            <a:extLst>
              <a:ext uri="{FF2B5EF4-FFF2-40B4-BE49-F238E27FC236}">
                <a16:creationId xmlns:a16="http://schemas.microsoft.com/office/drawing/2014/main" id="{397D7FAF-A8C4-8D62-D818-B2B600D9203D}"/>
              </a:ext>
            </a:extLst>
          </p:cNvPr>
          <p:cNvSpPr txBox="1"/>
          <p:nvPr/>
        </p:nvSpPr>
        <p:spPr>
          <a:xfrm>
            <a:off x="6826436" y="1958012"/>
            <a:ext cx="4321082" cy="6647974"/>
          </a:xfrm>
          <a:prstGeom prst="rect">
            <a:avLst/>
          </a:prstGeom>
        </p:spPr>
        <p:txBody>
          <a:bodyPr wrap="square" lIns="0" tIns="0" rIns="0" bIns="0" rtlCol="0" anchor="t">
            <a:spAutoFit/>
          </a:bodyPr>
          <a:lstStyle/>
          <a:p>
            <a:pPr fontAlgn="base"/>
            <a:r>
              <a:rPr lang="pt-BR" b="1" dirty="0"/>
              <a:t>Gerentes</a:t>
            </a:r>
            <a:br>
              <a:rPr lang="pt-BR" b="1" dirty="0"/>
            </a:br>
            <a:endParaRPr lang="pt-BR" dirty="0"/>
          </a:p>
          <a:p>
            <a:pPr fontAlgn="base"/>
            <a:r>
              <a:rPr lang="pt-BR" b="1" dirty="0"/>
              <a:t>Artes Visuais e Tecnologia</a:t>
            </a:r>
          </a:p>
          <a:p>
            <a:pPr fontAlgn="base"/>
            <a:r>
              <a:rPr lang="pt-BR" dirty="0"/>
              <a:t>Juliana Braga de Mattos</a:t>
            </a:r>
            <a:endParaRPr lang="pt-BR" b="1" dirty="0"/>
          </a:p>
          <a:p>
            <a:pPr fontAlgn="base"/>
            <a:r>
              <a:rPr lang="pt-BR" b="1" dirty="0"/>
              <a:t>Estudos e Desenvolvimento</a:t>
            </a:r>
          </a:p>
          <a:p>
            <a:pPr fontAlgn="base"/>
            <a:r>
              <a:rPr lang="pt-BR" dirty="0"/>
              <a:t>João Paulo </a:t>
            </a:r>
            <a:r>
              <a:rPr lang="pt-BR" dirty="0" err="1"/>
              <a:t>Guadanucci</a:t>
            </a:r>
            <a:r>
              <a:rPr lang="pt-BR" dirty="0"/>
              <a:t> </a:t>
            </a:r>
          </a:p>
          <a:p>
            <a:pPr fontAlgn="base"/>
            <a:r>
              <a:rPr lang="pt-BR" b="1" dirty="0"/>
              <a:t>Artes Gráficas</a:t>
            </a:r>
          </a:p>
          <a:p>
            <a:pPr fontAlgn="base"/>
            <a:r>
              <a:rPr lang="pt-BR" dirty="0"/>
              <a:t>Rogerio </a:t>
            </a:r>
            <a:r>
              <a:rPr lang="pt-BR" dirty="0" err="1"/>
              <a:t>Ianelli</a:t>
            </a:r>
            <a:r>
              <a:rPr lang="pt-BR" b="1" dirty="0"/>
              <a:t> </a:t>
            </a:r>
          </a:p>
          <a:p>
            <a:pPr fontAlgn="base"/>
            <a:r>
              <a:rPr lang="pt-BR" b="1" dirty="0"/>
              <a:t>Difusão e Promoção</a:t>
            </a:r>
          </a:p>
          <a:p>
            <a:pPr fontAlgn="base"/>
            <a:r>
              <a:rPr lang="pt-BR" dirty="0"/>
              <a:t>Ligia </a:t>
            </a:r>
            <a:r>
              <a:rPr lang="pt-BR" dirty="0" err="1"/>
              <a:t>Moreli</a:t>
            </a:r>
            <a:endParaRPr lang="pt-BR" dirty="0"/>
          </a:p>
          <a:p>
            <a:pPr fontAlgn="base"/>
            <a:r>
              <a:rPr lang="pt-BR" b="1" dirty="0"/>
              <a:t>Sesc Avenida Paulista</a:t>
            </a:r>
          </a:p>
          <a:p>
            <a:pPr fontAlgn="base"/>
            <a:r>
              <a:rPr lang="pt-BR" dirty="0"/>
              <a:t>Daniel </a:t>
            </a:r>
            <a:r>
              <a:rPr lang="pt-BR" dirty="0" err="1"/>
              <a:t>Hanai</a:t>
            </a:r>
            <a:r>
              <a:rPr lang="pt-BR" dirty="0"/>
              <a:t> </a:t>
            </a:r>
          </a:p>
          <a:p>
            <a:pPr fontAlgn="base"/>
            <a:endParaRPr lang="pt-BR" dirty="0"/>
          </a:p>
          <a:p>
            <a:pPr fontAlgn="base"/>
            <a:r>
              <a:rPr lang="pt-BR" b="1" dirty="0"/>
              <a:t>Espelho do poder</a:t>
            </a:r>
            <a:r>
              <a:rPr lang="pt-BR" dirty="0"/>
              <a:t> </a:t>
            </a:r>
          </a:p>
          <a:p>
            <a:pPr fontAlgn="base"/>
            <a:endParaRPr lang="pt-BR" dirty="0"/>
          </a:p>
          <a:p>
            <a:pPr fontAlgn="base"/>
            <a:r>
              <a:rPr lang="pt-BR" b="1" dirty="0"/>
              <a:t>Artistas</a:t>
            </a:r>
            <a:r>
              <a:rPr lang="pt-BR" dirty="0"/>
              <a:t> </a:t>
            </a:r>
          </a:p>
          <a:p>
            <a:pPr fontAlgn="base"/>
            <a:r>
              <a:rPr lang="pt-BR" dirty="0"/>
              <a:t>Bárbara Wagner &amp; Benjamin de Burca </a:t>
            </a:r>
          </a:p>
          <a:p>
            <a:pPr fontAlgn="base"/>
            <a:r>
              <a:rPr lang="pt-BR" b="1" dirty="0"/>
              <a:t>Assistente</a:t>
            </a:r>
            <a:r>
              <a:rPr lang="pt-BR" dirty="0"/>
              <a:t> </a:t>
            </a:r>
          </a:p>
          <a:p>
            <a:pPr fontAlgn="base"/>
            <a:r>
              <a:rPr lang="pt-BR" dirty="0" err="1"/>
              <a:t>Vika</a:t>
            </a:r>
            <a:r>
              <a:rPr lang="pt-BR" dirty="0"/>
              <a:t> Lima </a:t>
            </a:r>
          </a:p>
          <a:p>
            <a:pPr fontAlgn="base"/>
            <a:r>
              <a:rPr lang="pt-BR" b="1" dirty="0"/>
              <a:t>Curadoria  </a:t>
            </a:r>
            <a:r>
              <a:rPr lang="pt-BR" dirty="0"/>
              <a:t> </a:t>
            </a:r>
            <a:r>
              <a:rPr lang="pt-BR" b="1" i="1" dirty="0"/>
              <a:t> </a:t>
            </a:r>
            <a:r>
              <a:rPr lang="pt-BR" dirty="0"/>
              <a:t> </a:t>
            </a:r>
          </a:p>
          <a:p>
            <a:pPr fontAlgn="base"/>
            <a:r>
              <a:rPr lang="pt-BR" dirty="0"/>
              <a:t>Clarissa Diniz  </a:t>
            </a:r>
          </a:p>
          <a:p>
            <a:pPr fontAlgn="base"/>
            <a:r>
              <a:rPr lang="pt-BR" b="1" dirty="0"/>
              <a:t>Assistente</a:t>
            </a:r>
            <a:r>
              <a:rPr lang="pt-BR" dirty="0"/>
              <a:t> </a:t>
            </a:r>
            <a:r>
              <a:rPr lang="pt-BR" b="1" dirty="0"/>
              <a:t> </a:t>
            </a:r>
            <a:r>
              <a:rPr lang="pt-BR" dirty="0"/>
              <a:t> </a:t>
            </a:r>
          </a:p>
          <a:p>
            <a:pPr fontAlgn="base"/>
            <a:r>
              <a:rPr lang="pt-BR" dirty="0"/>
              <a:t>Gabriel Moreno</a:t>
            </a:r>
          </a:p>
          <a:p>
            <a:endParaRPr lang="pt-BR" dirty="0"/>
          </a:p>
        </p:txBody>
      </p:sp>
      <p:sp>
        <p:nvSpPr>
          <p:cNvPr id="6" name="TextBox 7">
            <a:extLst>
              <a:ext uri="{FF2B5EF4-FFF2-40B4-BE49-F238E27FC236}">
                <a16:creationId xmlns:a16="http://schemas.microsoft.com/office/drawing/2014/main" id="{702355C0-5E0B-71D1-9447-81FEAB0ACE7C}"/>
              </a:ext>
            </a:extLst>
          </p:cNvPr>
          <p:cNvSpPr txBox="1"/>
          <p:nvPr/>
        </p:nvSpPr>
        <p:spPr>
          <a:xfrm>
            <a:off x="12938218" y="3343007"/>
            <a:ext cx="4321082" cy="3600986"/>
          </a:xfrm>
          <a:prstGeom prst="rect">
            <a:avLst/>
          </a:prstGeom>
        </p:spPr>
        <p:txBody>
          <a:bodyPr wrap="square" lIns="0" tIns="0" rIns="0" bIns="0" rtlCol="0" anchor="t">
            <a:spAutoFit/>
          </a:bodyPr>
          <a:lstStyle/>
          <a:p>
            <a:pPr fontAlgn="base"/>
            <a:r>
              <a:rPr lang="pt-BR" b="1" dirty="0"/>
              <a:t>Equipe Sesc</a:t>
            </a:r>
            <a:br>
              <a:rPr lang="pt-BR" b="1" dirty="0"/>
            </a:br>
            <a:br>
              <a:rPr lang="pt-BR" dirty="0"/>
            </a:br>
            <a:r>
              <a:rPr lang="pt-BR" dirty="0"/>
              <a:t>Adriano Alves Pinto de Campos, Aline Ribenboim, Aline Tafner Almeida, Angélica Cristine de Paula, Camila Paes, Carlos Alberto Oliveira Morgado, Carolina Balza, Edson FM, Elenice Andrade Ribeiro Lino, Fernanda Porta Nova, João Evandro </a:t>
            </a:r>
            <a:r>
              <a:rPr lang="pt-BR" dirty="0" err="1"/>
              <a:t>Biazotto</a:t>
            </a:r>
            <a:r>
              <a:rPr lang="pt-BR" dirty="0"/>
              <a:t>, Karina Musumeci, </a:t>
            </a:r>
            <a:r>
              <a:rPr lang="pt-BR" dirty="0" err="1"/>
              <a:t>Kleyson</a:t>
            </a:r>
            <a:r>
              <a:rPr lang="pt-BR" dirty="0"/>
              <a:t> </a:t>
            </a:r>
            <a:r>
              <a:rPr lang="pt-BR" dirty="0" err="1"/>
              <a:t>Antonio</a:t>
            </a:r>
            <a:r>
              <a:rPr lang="pt-BR" dirty="0"/>
              <a:t> de Jesus, Lilian Sales, Marina Real, Michelli Cristine </a:t>
            </a:r>
            <a:r>
              <a:rPr lang="pt-BR" dirty="0" err="1"/>
              <a:t>Scapol</a:t>
            </a:r>
            <a:r>
              <a:rPr lang="pt-BR" dirty="0"/>
              <a:t> Monteiro, Priscila Xavier, Rafael </a:t>
            </a:r>
            <a:r>
              <a:rPr lang="pt-BR" dirty="0" err="1"/>
              <a:t>Saloe</a:t>
            </a:r>
            <a:r>
              <a:rPr lang="pt-BR" dirty="0"/>
              <a:t> Ribeiro, Roberta Della </a:t>
            </a:r>
            <a:r>
              <a:rPr lang="pt-BR" dirty="0" err="1"/>
              <a:t>Noce</a:t>
            </a:r>
            <a:r>
              <a:rPr lang="pt-BR" dirty="0"/>
              <a:t>, Sandra </a:t>
            </a:r>
            <a:r>
              <a:rPr lang="pt-BR" dirty="0" err="1"/>
              <a:t>Leibovici</a:t>
            </a:r>
            <a:r>
              <a:rPr lang="pt-BR" dirty="0"/>
              <a:t>, Silvio Basílio. </a:t>
            </a:r>
          </a:p>
        </p:txBody>
      </p:sp>
    </p:spTree>
    <p:extLst>
      <p:ext uri="{BB962C8B-B14F-4D97-AF65-F5344CB8AC3E}">
        <p14:creationId xmlns:p14="http://schemas.microsoft.com/office/powerpoint/2010/main" val="3730727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stretch>
            <a:fillRect t="-3000" b="-3000"/>
          </a:stretch>
        </a:blipFill>
        <a:effectLst/>
      </p:bgPr>
    </p:bg>
    <p:spTree>
      <p:nvGrpSpPr>
        <p:cNvPr id="1" name="">
          <a:extLst>
            <a:ext uri="{FF2B5EF4-FFF2-40B4-BE49-F238E27FC236}">
              <a16:creationId xmlns:a16="http://schemas.microsoft.com/office/drawing/2014/main" id="{1CE70880-D7F0-D1DD-9E5A-F8EBAA9875CC}"/>
            </a:ext>
          </a:extLst>
        </p:cNvPr>
        <p:cNvGrpSpPr/>
        <p:nvPr/>
      </p:nvGrpSpPr>
      <p:grpSpPr>
        <a:xfrm>
          <a:off x="0" y="0"/>
          <a:ext cx="0" cy="0"/>
          <a:chOff x="0" y="0"/>
          <a:chExt cx="0" cy="0"/>
        </a:xfrm>
      </p:grpSpPr>
      <p:sp>
        <p:nvSpPr>
          <p:cNvPr id="8" name="TextBox 8">
            <a:extLst>
              <a:ext uri="{FF2B5EF4-FFF2-40B4-BE49-F238E27FC236}">
                <a16:creationId xmlns:a16="http://schemas.microsoft.com/office/drawing/2014/main" id="{3C8E28A8-8B59-1D35-0D06-39680BF174DC}"/>
              </a:ext>
            </a:extLst>
          </p:cNvPr>
          <p:cNvSpPr txBox="1"/>
          <p:nvPr/>
        </p:nvSpPr>
        <p:spPr>
          <a:xfrm>
            <a:off x="12938218" y="981075"/>
            <a:ext cx="4321082" cy="365760"/>
          </a:xfrm>
          <a:prstGeom prst="rect">
            <a:avLst/>
          </a:prstGeom>
        </p:spPr>
        <p:txBody>
          <a:bodyPr lIns="0" tIns="0" rIns="0" bIns="0" rtlCol="0" anchor="t">
            <a:spAutoFit/>
          </a:bodyPr>
          <a:lstStyle/>
          <a:p>
            <a:pPr algn="r">
              <a:lnSpc>
                <a:spcPts val="2939"/>
              </a:lnSpc>
            </a:pPr>
            <a:r>
              <a:rPr lang="en-US" sz="2050" b="1" dirty="0">
                <a:solidFill>
                  <a:srgbClr val="000000"/>
                </a:solidFill>
                <a:latin typeface="Garet Bold"/>
                <a:ea typeface="Garet Bold"/>
                <a:cs typeface="Garet Bold"/>
                <a:sym typeface="Garet Bold"/>
              </a:rPr>
              <a:t>14/14</a:t>
            </a:r>
            <a:endParaRPr lang="en-US" sz="2099" b="1" dirty="0">
              <a:solidFill>
                <a:srgbClr val="000000"/>
              </a:solidFill>
              <a:latin typeface="Garet Bold"/>
              <a:ea typeface="Garet Bold"/>
              <a:cs typeface="Garet Bold"/>
              <a:sym typeface="Garet Bold"/>
            </a:endParaRPr>
          </a:p>
        </p:txBody>
      </p:sp>
      <p:sp>
        <p:nvSpPr>
          <p:cNvPr id="6" name="TextBox 7">
            <a:extLst>
              <a:ext uri="{FF2B5EF4-FFF2-40B4-BE49-F238E27FC236}">
                <a16:creationId xmlns:a16="http://schemas.microsoft.com/office/drawing/2014/main" id="{93CAEAE7-567E-2CAB-8DBB-B04A441A9FA2}"/>
              </a:ext>
            </a:extLst>
          </p:cNvPr>
          <p:cNvSpPr txBox="1"/>
          <p:nvPr/>
        </p:nvSpPr>
        <p:spPr>
          <a:xfrm>
            <a:off x="996043" y="986518"/>
            <a:ext cx="7538357" cy="13849945"/>
          </a:xfrm>
          <a:prstGeom prst="rect">
            <a:avLst/>
          </a:prstGeom>
        </p:spPr>
        <p:txBody>
          <a:bodyPr wrap="square" lIns="0" tIns="0" rIns="0" bIns="0" numCol="2" rtlCol="0" anchor="t">
            <a:spAutoFit/>
          </a:bodyPr>
          <a:lstStyle/>
          <a:p>
            <a:br>
              <a:rPr lang="en-US" dirty="0"/>
            </a:b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pt-BR" b="1" dirty="0"/>
          </a:p>
          <a:p>
            <a:endParaRPr lang="pt-BR" b="1" dirty="0"/>
          </a:p>
          <a:p>
            <a:endParaRPr lang="pt-BR" b="1" dirty="0"/>
          </a:p>
          <a:p>
            <a:endParaRPr lang="pt-BR" b="1" dirty="0"/>
          </a:p>
          <a:p>
            <a:endParaRPr lang="pt-BR" b="1" dirty="0"/>
          </a:p>
          <a:p>
            <a:endParaRPr lang="pt-BR" b="1" dirty="0"/>
          </a:p>
          <a:p>
            <a:endParaRPr lang="pt-BR" b="1" dirty="0"/>
          </a:p>
          <a:p>
            <a:pPr fontAlgn="base"/>
            <a:br>
              <a:rPr lang="pt-BR" b="1" dirty="0"/>
            </a:br>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p:txBody>
      </p:sp>
      <p:sp>
        <p:nvSpPr>
          <p:cNvPr id="5" name="CaixaDeTexto 4">
            <a:extLst>
              <a:ext uri="{FF2B5EF4-FFF2-40B4-BE49-F238E27FC236}">
                <a16:creationId xmlns:a16="http://schemas.microsoft.com/office/drawing/2014/main" id="{DC4FEB83-50D5-49D4-2450-63719C798051}"/>
              </a:ext>
            </a:extLst>
          </p:cNvPr>
          <p:cNvSpPr txBox="1"/>
          <p:nvPr/>
        </p:nvSpPr>
        <p:spPr>
          <a:xfrm>
            <a:off x="12690568" y="3197066"/>
            <a:ext cx="4816382" cy="3416320"/>
          </a:xfrm>
          <a:prstGeom prst="rect">
            <a:avLst/>
          </a:prstGeom>
          <a:noFill/>
        </p:spPr>
        <p:txBody>
          <a:bodyPr wrap="square" rtlCol="0">
            <a:spAutoFit/>
          </a:bodyPr>
          <a:lstStyle/>
          <a:p>
            <a:pPr fontAlgn="base"/>
            <a:r>
              <a:rPr lang="pt-BR" b="1" dirty="0"/>
              <a:t>Equipe Educativa</a:t>
            </a:r>
            <a:endParaRPr lang="en-US" b="1" dirty="0"/>
          </a:p>
          <a:p>
            <a:r>
              <a:rPr lang="pt-BR" b="1" dirty="0"/>
              <a:t>Coordenação</a:t>
            </a:r>
          </a:p>
          <a:p>
            <a:r>
              <a:rPr lang="pt-BR" dirty="0" err="1"/>
              <a:t>alingua</a:t>
            </a:r>
            <a:r>
              <a:rPr lang="pt-BR" dirty="0"/>
              <a:t> </a:t>
            </a:r>
          </a:p>
          <a:p>
            <a:r>
              <a:rPr lang="pt-BR" dirty="0"/>
              <a:t>(Ana </a:t>
            </a:r>
            <a:r>
              <a:rPr lang="pt-BR" dirty="0" err="1"/>
              <a:t>Krein</a:t>
            </a:r>
            <a:r>
              <a:rPr lang="pt-BR" dirty="0"/>
              <a:t>, Giulia Fontes, </a:t>
            </a:r>
            <a:r>
              <a:rPr lang="pt-BR" dirty="0" err="1"/>
              <a:t>Laysa</a:t>
            </a:r>
            <a:r>
              <a:rPr lang="pt-BR" dirty="0"/>
              <a:t> Elias e Paola Ribeiro)</a:t>
            </a:r>
          </a:p>
          <a:p>
            <a:r>
              <a:rPr lang="pt-BR" b="1" dirty="0"/>
              <a:t>Supervisão</a:t>
            </a:r>
          </a:p>
          <a:p>
            <a:r>
              <a:rPr lang="pt-BR" dirty="0"/>
              <a:t>Leonardo </a:t>
            </a:r>
            <a:r>
              <a:rPr lang="pt-BR" dirty="0" err="1"/>
              <a:t>Birche</a:t>
            </a:r>
            <a:r>
              <a:rPr lang="pt-BR" dirty="0"/>
              <a:t>, Maya de Paiva</a:t>
            </a:r>
          </a:p>
          <a:p>
            <a:r>
              <a:rPr lang="pt-BR" b="1" dirty="0"/>
              <a:t>Educadoras</a:t>
            </a:r>
          </a:p>
          <a:p>
            <a:r>
              <a:rPr lang="pt-BR" dirty="0"/>
              <a:t>Beatriz Antunes, Marcelo Ferreira</a:t>
            </a:r>
          </a:p>
          <a:p>
            <a:r>
              <a:rPr lang="pt-BR" b="1" dirty="0"/>
              <a:t>Estagiários</a:t>
            </a:r>
            <a:br>
              <a:rPr lang="pt-BR" b="1" dirty="0"/>
            </a:br>
            <a:r>
              <a:rPr lang="pt-BR" dirty="0" err="1"/>
              <a:t>Iacê</a:t>
            </a:r>
            <a:r>
              <a:rPr lang="pt-BR" dirty="0"/>
              <a:t> Andrade, Oliver Muniz</a:t>
            </a:r>
          </a:p>
          <a:p>
            <a:endParaRPr lang="pt-BR" dirty="0"/>
          </a:p>
        </p:txBody>
      </p:sp>
      <p:sp>
        <p:nvSpPr>
          <p:cNvPr id="2" name="CaixaDeTexto 1">
            <a:extLst>
              <a:ext uri="{FF2B5EF4-FFF2-40B4-BE49-F238E27FC236}">
                <a16:creationId xmlns:a16="http://schemas.microsoft.com/office/drawing/2014/main" id="{41AD17D9-D912-FADA-B2B0-928AD9CBF9B6}"/>
              </a:ext>
            </a:extLst>
          </p:cNvPr>
          <p:cNvSpPr txBox="1"/>
          <p:nvPr/>
        </p:nvSpPr>
        <p:spPr>
          <a:xfrm>
            <a:off x="6967130" y="981075"/>
            <a:ext cx="4120423" cy="7848302"/>
          </a:xfrm>
          <a:prstGeom prst="rect">
            <a:avLst/>
          </a:prstGeom>
          <a:noFill/>
        </p:spPr>
        <p:txBody>
          <a:bodyPr wrap="none" rtlCol="0">
            <a:spAutoFit/>
          </a:bodyPr>
          <a:lstStyle/>
          <a:p>
            <a:r>
              <a:rPr lang="en-US" b="1" dirty="0"/>
              <a:t>Design de </a:t>
            </a:r>
            <a:r>
              <a:rPr lang="en-US" b="1" dirty="0" err="1"/>
              <a:t>som</a:t>
            </a:r>
            <a:r>
              <a:rPr lang="en-US" b="1" dirty="0"/>
              <a:t> e </a:t>
            </a:r>
            <a:r>
              <a:rPr lang="en-US" b="1" dirty="0" err="1"/>
              <a:t>Mixagem</a:t>
            </a:r>
            <a:endParaRPr lang="en-US" b="1" dirty="0"/>
          </a:p>
          <a:p>
            <a:r>
              <a:rPr lang="en-US" dirty="0"/>
              <a:t>Nicolau Domingues</a:t>
            </a:r>
            <a:br>
              <a:rPr lang="en-US" dirty="0"/>
            </a:br>
            <a:r>
              <a:rPr lang="en-US" b="1" dirty="0" err="1"/>
              <a:t>Finalização</a:t>
            </a:r>
            <a:endParaRPr lang="en-US" dirty="0"/>
          </a:p>
          <a:p>
            <a:r>
              <a:rPr lang="pt-BR" dirty="0"/>
              <a:t>Brunno Schiavon</a:t>
            </a:r>
            <a:endParaRPr lang="pt-BR" b="1" dirty="0"/>
          </a:p>
          <a:p>
            <a:r>
              <a:rPr lang="pt-BR" b="1" dirty="0"/>
              <a:t>Coordenação de Pós-produção</a:t>
            </a:r>
            <a:endParaRPr lang="pt-BR" b="1" i="1" dirty="0"/>
          </a:p>
          <a:p>
            <a:r>
              <a:rPr lang="pt-BR" dirty="0"/>
              <a:t>Maria </a:t>
            </a:r>
            <a:r>
              <a:rPr lang="pt-BR" dirty="0" err="1"/>
              <a:t>Sayd</a:t>
            </a:r>
            <a:r>
              <a:rPr lang="pt-BR" dirty="0"/>
              <a:t>, Bia Almeida</a:t>
            </a:r>
            <a:br>
              <a:rPr lang="pt-BR" dirty="0"/>
            </a:br>
            <a:endParaRPr lang="pt-BR" b="1" dirty="0"/>
          </a:p>
          <a:p>
            <a:r>
              <a:rPr lang="pt-BR" b="1" dirty="0"/>
              <a:t>Consultoria Audiovisual</a:t>
            </a:r>
            <a:endParaRPr lang="pt-BR" dirty="0"/>
          </a:p>
          <a:p>
            <a:r>
              <a:rPr lang="pt-BR" dirty="0" err="1"/>
              <a:t>Mit</a:t>
            </a:r>
            <a:r>
              <a:rPr lang="pt-BR" dirty="0"/>
              <a:t> </a:t>
            </a:r>
            <a:r>
              <a:rPr lang="pt-BR" dirty="0" err="1"/>
              <a:t>Art</a:t>
            </a:r>
            <a:r>
              <a:rPr lang="pt-BR" dirty="0"/>
              <a:t> – Patrícia Mesquita</a:t>
            </a:r>
          </a:p>
          <a:p>
            <a:r>
              <a:rPr lang="pt-BR" b="1" dirty="0"/>
              <a:t>Programação Geral de Sistema</a:t>
            </a:r>
            <a:endParaRPr lang="pt-BR" b="1" i="1" dirty="0"/>
          </a:p>
          <a:p>
            <a:r>
              <a:rPr lang="pt-BR" dirty="0"/>
              <a:t>Schumacher Frazão</a:t>
            </a:r>
          </a:p>
          <a:p>
            <a:r>
              <a:rPr lang="pt-BR" b="1" dirty="0"/>
              <a:t>Consultoria Acústica</a:t>
            </a:r>
            <a:br>
              <a:rPr lang="pt-BR" b="1" i="1" dirty="0"/>
            </a:br>
            <a:r>
              <a:rPr lang="pt-BR" dirty="0"/>
              <a:t>José Miguel Torres Galindo</a:t>
            </a:r>
            <a:br>
              <a:rPr lang="pt-BR" dirty="0"/>
            </a:br>
            <a:endParaRPr lang="pt-BR" dirty="0"/>
          </a:p>
          <a:p>
            <a:r>
              <a:rPr lang="pt-BR" b="1" dirty="0"/>
              <a:t>Projeto de estrutura, elétrica e segurança</a:t>
            </a:r>
            <a:br>
              <a:rPr lang="pt-BR" b="1" dirty="0"/>
            </a:br>
            <a:r>
              <a:rPr lang="pt-BR" dirty="0"/>
              <a:t>Murilo Jarreta </a:t>
            </a:r>
            <a:br>
              <a:rPr lang="pt-BR" dirty="0"/>
            </a:br>
            <a:endParaRPr lang="pt-BR" dirty="0"/>
          </a:p>
          <a:p>
            <a:r>
              <a:rPr lang="pt-BR" b="1" dirty="0"/>
              <a:t>Gestão financeira</a:t>
            </a:r>
            <a:br>
              <a:rPr lang="pt-BR" b="1" i="1" dirty="0"/>
            </a:br>
            <a:r>
              <a:rPr lang="pt-BR" dirty="0"/>
              <a:t>João Luiz Calmon </a:t>
            </a:r>
            <a:br>
              <a:rPr lang="pt-BR" dirty="0"/>
            </a:br>
            <a:endParaRPr lang="pt-BR" dirty="0"/>
          </a:p>
          <a:p>
            <a:r>
              <a:rPr lang="pt-BR" b="1" dirty="0"/>
              <a:t>Assessoria Jurídica</a:t>
            </a:r>
            <a:br>
              <a:rPr lang="pt-BR" b="1" i="1" dirty="0"/>
            </a:br>
            <a:r>
              <a:rPr lang="pt-BR" dirty="0"/>
              <a:t>Olivieri Associados </a:t>
            </a:r>
          </a:p>
          <a:p>
            <a:r>
              <a:rPr lang="pt-BR" b="1" dirty="0"/>
              <a:t>Seguro</a:t>
            </a:r>
            <a:br>
              <a:rPr lang="pt-BR" b="1" dirty="0"/>
            </a:br>
            <a:r>
              <a:rPr lang="pt-BR" dirty="0" err="1"/>
              <a:t>Howden</a:t>
            </a:r>
            <a:r>
              <a:rPr lang="pt-BR" dirty="0"/>
              <a:t> Brasil</a:t>
            </a:r>
            <a:br>
              <a:rPr lang="pt-BR" dirty="0"/>
            </a:br>
            <a:br>
              <a:rPr lang="pt-BR" dirty="0"/>
            </a:br>
            <a:r>
              <a:rPr lang="en-US" b="1" dirty="0" err="1"/>
              <a:t>Cenotécnica</a:t>
            </a:r>
            <a:br>
              <a:rPr lang="en-US" b="1" dirty="0"/>
            </a:br>
            <a:r>
              <a:rPr lang="en-US" dirty="0"/>
              <a:t>Vetor </a:t>
            </a:r>
            <a:r>
              <a:rPr lang="en-US" dirty="0" err="1"/>
              <a:t>Consultt</a:t>
            </a:r>
            <a:endParaRPr lang="pt-BR" dirty="0"/>
          </a:p>
          <a:p>
            <a:endParaRPr lang="pt-BR" dirty="0"/>
          </a:p>
        </p:txBody>
      </p:sp>
      <p:sp>
        <p:nvSpPr>
          <p:cNvPr id="3" name="CaixaDeTexto 2">
            <a:extLst>
              <a:ext uri="{FF2B5EF4-FFF2-40B4-BE49-F238E27FC236}">
                <a16:creationId xmlns:a16="http://schemas.microsoft.com/office/drawing/2014/main" id="{FC22AFEB-6F61-5609-A862-D52BDDC69639}"/>
              </a:ext>
            </a:extLst>
          </p:cNvPr>
          <p:cNvSpPr txBox="1"/>
          <p:nvPr/>
        </p:nvSpPr>
        <p:spPr>
          <a:xfrm>
            <a:off x="996043" y="956310"/>
            <a:ext cx="4120423" cy="8956298"/>
          </a:xfrm>
          <a:prstGeom prst="rect">
            <a:avLst/>
          </a:prstGeom>
          <a:noFill/>
        </p:spPr>
        <p:txBody>
          <a:bodyPr wrap="square" rtlCol="0">
            <a:spAutoFit/>
          </a:bodyPr>
          <a:lstStyle/>
          <a:p>
            <a:r>
              <a:rPr lang="pt-BR" b="1" dirty="0"/>
              <a:t>Produção geral</a:t>
            </a:r>
          </a:p>
          <a:p>
            <a:r>
              <a:rPr lang="en-US" dirty="0"/>
              <a:t>Arte 3</a:t>
            </a:r>
          </a:p>
          <a:p>
            <a:r>
              <a:rPr lang="en-US" b="1" dirty="0" err="1"/>
              <a:t>Coordenação</a:t>
            </a:r>
            <a:r>
              <a:rPr lang="en-US" b="1" dirty="0"/>
              <a:t> de </a:t>
            </a:r>
            <a:r>
              <a:rPr lang="en-US" b="1" dirty="0" err="1"/>
              <a:t>produção</a:t>
            </a:r>
            <a:r>
              <a:rPr lang="en-US" b="1" dirty="0"/>
              <a:t> </a:t>
            </a:r>
          </a:p>
          <a:p>
            <a:r>
              <a:rPr lang="en-US" dirty="0"/>
              <a:t>Ana Helena Curti</a:t>
            </a:r>
          </a:p>
          <a:p>
            <a:r>
              <a:rPr lang="pt-BR" b="1" dirty="0"/>
              <a:t>Produção executiva </a:t>
            </a:r>
            <a:endParaRPr lang="pt-BR" b="1" i="1" dirty="0"/>
          </a:p>
          <a:p>
            <a:r>
              <a:rPr lang="pt-BR" dirty="0"/>
              <a:t>João Simões</a:t>
            </a:r>
          </a:p>
          <a:p>
            <a:r>
              <a:rPr lang="pt-BR" b="1" dirty="0"/>
              <a:t>Produção</a:t>
            </a:r>
          </a:p>
          <a:p>
            <a:r>
              <a:rPr lang="pt-BR" dirty="0"/>
              <a:t>Fernando Lion, Gabriela Caetano, Rodrigo Primo </a:t>
            </a:r>
          </a:p>
          <a:p>
            <a:endParaRPr lang="pt-BR" dirty="0"/>
          </a:p>
          <a:p>
            <a:r>
              <a:rPr lang="pt-BR" b="1" dirty="0"/>
              <a:t>Direção de Arte e Projeto Expográfico </a:t>
            </a:r>
            <a:endParaRPr lang="pt-BR" b="1" i="1" dirty="0"/>
          </a:p>
          <a:p>
            <a:r>
              <a:rPr lang="pt-BR" dirty="0"/>
              <a:t>Juliana Godoy</a:t>
            </a:r>
          </a:p>
          <a:p>
            <a:r>
              <a:rPr lang="pt-BR" b="1" dirty="0"/>
              <a:t>Equipe</a:t>
            </a:r>
            <a:endParaRPr lang="pt-BR" b="1" i="1" dirty="0"/>
          </a:p>
          <a:p>
            <a:r>
              <a:rPr lang="pt-BR" dirty="0"/>
              <a:t>Leticia Santos, Victor </a:t>
            </a:r>
            <a:r>
              <a:rPr lang="pt-BR" dirty="0" err="1"/>
              <a:t>Delaqua</a:t>
            </a:r>
            <a:br>
              <a:rPr lang="pt-BR" dirty="0"/>
            </a:br>
            <a:endParaRPr lang="pt-BR" dirty="0"/>
          </a:p>
          <a:p>
            <a:r>
              <a:rPr lang="pt-BR" b="1" dirty="0"/>
              <a:t>Design gráfico</a:t>
            </a:r>
          </a:p>
          <a:p>
            <a:r>
              <a:rPr lang="pt-BR" dirty="0"/>
              <a:t>Estúdio Margem – Alê Lindenberg, João Pedro Nogueira, Letícia Souza </a:t>
            </a:r>
          </a:p>
          <a:p>
            <a:r>
              <a:rPr lang="pt-BR" b="1" dirty="0"/>
              <a:t>Pesquisa</a:t>
            </a:r>
            <a:endParaRPr lang="pt-BR" b="1" i="1" dirty="0"/>
          </a:p>
          <a:p>
            <a:r>
              <a:rPr lang="pt-BR" dirty="0" err="1"/>
              <a:t>Vika</a:t>
            </a:r>
            <a:r>
              <a:rPr lang="pt-BR" dirty="0"/>
              <a:t> Lima, Mariana Cavalcante , </a:t>
            </a:r>
            <a:r>
              <a:rPr lang="pt-BR" dirty="0" err="1"/>
              <a:t>Thaysa</a:t>
            </a:r>
            <a:r>
              <a:rPr lang="pt-BR" dirty="0"/>
              <a:t> </a:t>
            </a:r>
            <a:r>
              <a:rPr lang="pt-BR" dirty="0" err="1"/>
              <a:t>Aussuba</a:t>
            </a:r>
            <a:r>
              <a:rPr lang="pt-BR" dirty="0"/>
              <a:t>, Gabriel Moreno</a:t>
            </a:r>
            <a:br>
              <a:rPr lang="pt-BR" dirty="0"/>
            </a:br>
            <a:endParaRPr lang="pt-BR" dirty="0"/>
          </a:p>
          <a:p>
            <a:r>
              <a:rPr lang="pt-BR" b="1" dirty="0"/>
              <a:t>Produtor Musical</a:t>
            </a:r>
            <a:endParaRPr lang="pt-BR" b="1" i="1" dirty="0"/>
          </a:p>
          <a:p>
            <a:r>
              <a:rPr lang="pt-BR" dirty="0"/>
              <a:t>Carlos Sá </a:t>
            </a:r>
            <a:br>
              <a:rPr lang="pt-BR" dirty="0"/>
            </a:br>
            <a:endParaRPr lang="pt-BR" dirty="0"/>
          </a:p>
          <a:p>
            <a:r>
              <a:rPr lang="pt-BR" b="1" dirty="0"/>
              <a:t>Desenho de luz</a:t>
            </a:r>
          </a:p>
          <a:p>
            <a:r>
              <a:rPr lang="pt-BR" dirty="0"/>
              <a:t>Anna Turra</a:t>
            </a:r>
            <a:endParaRPr lang="pt-BR" b="1" dirty="0"/>
          </a:p>
          <a:p>
            <a:r>
              <a:rPr lang="pt-BR" b="1" dirty="0"/>
              <a:t>Equipe</a:t>
            </a:r>
            <a:endParaRPr lang="en-US" b="1" dirty="0"/>
          </a:p>
          <a:p>
            <a:r>
              <a:rPr lang="en-US" dirty="0"/>
              <a:t>Lina Kaplan </a:t>
            </a:r>
          </a:p>
          <a:p>
            <a:r>
              <a:rPr lang="en-US" b="1" dirty="0" err="1"/>
              <a:t>Montagem</a:t>
            </a:r>
            <a:endParaRPr lang="en-US" b="1" dirty="0"/>
          </a:p>
          <a:p>
            <a:r>
              <a:rPr lang="en-US" dirty="0"/>
              <a:t>Tom Butcher</a:t>
            </a:r>
            <a:endParaRPr lang="pt-BR" dirty="0"/>
          </a:p>
        </p:txBody>
      </p:sp>
    </p:spTree>
    <p:extLst>
      <p:ext uri="{BB962C8B-B14F-4D97-AF65-F5344CB8AC3E}">
        <p14:creationId xmlns:p14="http://schemas.microsoft.com/office/powerpoint/2010/main" val="40567292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F4AA543F6DF343AE125287C7372420" ma:contentTypeVersion="19" ma:contentTypeDescription="Create a new document." ma:contentTypeScope="" ma:versionID="80e31c2d4cf67f597e2913233729ac87">
  <xsd:schema xmlns:xsd="http://www.w3.org/2001/XMLSchema" xmlns:xs="http://www.w3.org/2001/XMLSchema" xmlns:p="http://schemas.microsoft.com/office/2006/metadata/properties" xmlns:ns2="2f0f1dc7-e081-4ee5-8ddc-4eb9cb678d23" xmlns:ns3="0c3ae786-5e4f-419c-8a3f-0eb5f2beec71" targetNamespace="http://schemas.microsoft.com/office/2006/metadata/properties" ma:root="true" ma:fieldsID="63c7e8f0b8b92c9c338ade3a17bd240b" ns2:_="" ns3:_="">
    <xsd:import namespace="2f0f1dc7-e081-4ee5-8ddc-4eb9cb678d23"/>
    <xsd:import namespace="0c3ae786-5e4f-419c-8a3f-0eb5f2beec7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3:SharedWithUsers" minOccurs="0"/>
                <xsd:element ref="ns3:SharedWithDetails"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0f1dc7-e081-4ee5-8ddc-4eb9cb678d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a3e1715-c84c-4513-8882-6ca9fbd4fec8"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c3ae786-5e4f-419c-8a3f-0eb5f2beec71"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b1bef07-5750-4eca-98f1-e07cb21896cd}" ma:internalName="TaxCatchAll" ma:showField="CatchAllData" ma:web="0c3ae786-5e4f-419c-8a3f-0eb5f2beec7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f0f1dc7-e081-4ee5-8ddc-4eb9cb678d23">
      <Terms xmlns="http://schemas.microsoft.com/office/infopath/2007/PartnerControls"/>
    </lcf76f155ced4ddcb4097134ff3c332f>
    <TaxCatchAll xmlns="0c3ae786-5e4f-419c-8a3f-0eb5f2beec71" xsi:nil="true"/>
  </documentManagement>
</p:properties>
</file>

<file path=customXml/itemProps1.xml><?xml version="1.0" encoding="utf-8"?>
<ds:datastoreItem xmlns:ds="http://schemas.openxmlformats.org/officeDocument/2006/customXml" ds:itemID="{5B8171ED-32DD-4267-8547-2FC9E1E9E57D}"/>
</file>

<file path=customXml/itemProps2.xml><?xml version="1.0" encoding="utf-8"?>
<ds:datastoreItem xmlns:ds="http://schemas.openxmlformats.org/officeDocument/2006/customXml" ds:itemID="{BED3F7AE-B181-44B9-BCBD-181EE60B0448}">
  <ds:schemaRefs>
    <ds:schemaRef ds:uri="http://schemas.microsoft.com/sharepoint/v3/contenttype/forms"/>
  </ds:schemaRefs>
</ds:datastoreItem>
</file>

<file path=customXml/itemProps3.xml><?xml version="1.0" encoding="utf-8"?>
<ds:datastoreItem xmlns:ds="http://schemas.openxmlformats.org/officeDocument/2006/customXml" ds:itemID="{C4216E51-BF42-4DF3-BB5F-F92C4A17FB27}">
  <ds:schemaRefs>
    <ds:schemaRef ds:uri="http://purl.org/dc/terms/"/>
    <ds:schemaRef ds:uri="http://schemas.microsoft.com/office/2006/documentManagement/types"/>
    <ds:schemaRef ds:uri="http://purl.org/dc/dcmitype/"/>
    <ds:schemaRef ds:uri="http://schemas.openxmlformats.org/package/2006/metadata/core-properties"/>
    <ds:schemaRef ds:uri="http://purl.org/dc/elements/1.1/"/>
    <ds:schemaRef ds:uri="http://schemas.microsoft.com/office/2006/metadata/properties"/>
    <ds:schemaRef ds:uri="http://schemas.microsoft.com/office/infopath/2007/PartnerControls"/>
    <ds:schemaRef ds:uri="0c3ae786-5e4f-419c-8a3f-0eb5f2beec71"/>
    <ds:schemaRef ds:uri="2f0f1dc7-e081-4ee5-8ddc-4eb9cb678d23"/>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2192</TotalTime>
  <Words>1061</Words>
  <Application>Microsoft Office PowerPoint</Application>
  <PresentationFormat>Personalizar</PresentationFormat>
  <Paragraphs>218</Paragraphs>
  <Slides>14</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14</vt:i4>
      </vt:variant>
    </vt:vector>
  </HeadingPairs>
  <TitlesOfParts>
    <vt:vector size="20" baseType="lpstr">
      <vt:lpstr>Garet</vt:lpstr>
      <vt:lpstr>Garet Bold</vt:lpstr>
      <vt:lpstr>Calibri</vt:lpstr>
      <vt:lpstr>Arial</vt:lpstr>
      <vt:lpstr>Aptos</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Assojaba Tupinamba</dc:title>
  <dc:creator>Maria Eduarda Schone Gil Ferreira</dc:creator>
  <cp:lastModifiedBy>Carolina Barmell</cp:lastModifiedBy>
  <cp:revision>320</cp:revision>
  <dcterms:created xsi:type="dcterms:W3CDTF">2006-08-16T00:00:00Z</dcterms:created>
  <dcterms:modified xsi:type="dcterms:W3CDTF">2026-04-28T17:49:57Z</dcterms:modified>
  <dc:identifier>DAG38scdCyg</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0x01010026F4AA543F6DF343AE125287C7372420</vt:lpwstr>
  </property>
  <property fmtid="{D5CDD505-2E9C-101B-9397-08002B2CF9AE}" pid="3" name="MediaServiceImageTags">
    <vt:lpwstr/>
  </property>
</Properties>
</file>
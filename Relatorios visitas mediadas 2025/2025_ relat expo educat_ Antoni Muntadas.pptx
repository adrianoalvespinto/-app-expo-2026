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9" r:id="rId7"/>
    <p:sldId id="278" r:id="rId8"/>
    <p:sldId id="265" r:id="rId9"/>
    <p:sldId id="273" r:id="rId10"/>
    <p:sldId id="258" r:id="rId11"/>
    <p:sldId id="275" r:id="rId12"/>
    <p:sldId id="279" r:id="rId13"/>
    <p:sldId id="271" r:id="rId14"/>
    <p:sldId id="280" r:id="rId15"/>
    <p:sldId id="282" r:id="rId16"/>
  </p:sldIdLst>
  <p:sldSz cx="18288000" cy="10287000"/>
  <p:notesSz cx="6858000" cy="9144000"/>
  <p:embeddedFontLst>
    <p:embeddedFont>
      <p:font typeface="Archivo Black" panose="020B0604020202020204" charset="0"/>
      <p:regular r:id="rId18"/>
    </p:embeddedFont>
    <p:embeddedFont>
      <p:font typeface="Garet" panose="020B0604020202020204" charset="0"/>
      <p:regular r:id="rId19"/>
    </p:embeddedFont>
    <p:embeddedFont>
      <p:font typeface="Garet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6B315F-61D5-4196-B8D3-FAE4DCC0745C}" v="1" dt="2026-02-15T22:40:38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Leonardo Leme Bueno" userId="d22e1eba-e8a5-4448-b46e-cef1aee77a01" providerId="ADAL" clId="{25A1D2A1-A921-4716-B15D-6ACC588308C0}"/>
    <pc:docChg chg="modSld">
      <pc:chgData name="Pedro Leonardo Leme Bueno" userId="d22e1eba-e8a5-4448-b46e-cef1aee77a01" providerId="ADAL" clId="{25A1D2A1-A921-4716-B15D-6ACC588308C0}" dt="2026-02-15T22:41:25.343" v="23" actId="20577"/>
      <pc:docMkLst>
        <pc:docMk/>
      </pc:docMkLst>
      <pc:sldChg chg="modSp mod">
        <pc:chgData name="Pedro Leonardo Leme Bueno" userId="d22e1eba-e8a5-4448-b46e-cef1aee77a01" providerId="ADAL" clId="{25A1D2A1-A921-4716-B15D-6ACC588308C0}" dt="2026-02-15T22:41:25.343" v="23" actId="20577"/>
        <pc:sldMkLst>
          <pc:docMk/>
          <pc:sldMk cId="3730727321" sldId="282"/>
        </pc:sldMkLst>
        <pc:spChg chg="mod">
          <ac:chgData name="Pedro Leonardo Leme Bueno" userId="d22e1eba-e8a5-4448-b46e-cef1aee77a01" providerId="ADAL" clId="{25A1D2A1-A921-4716-B15D-6ACC588308C0}" dt="2026-02-15T22:41:25.343" v="23" actId="20577"/>
          <ac:spMkLst>
            <pc:docMk/>
            <pc:sldMk cId="3730727321" sldId="282"/>
            <ac:spMk id="9" creationId="{D0B0E17D-2B29-B664-D895-3DB12002069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maio</c:v>
                </c:pt>
                <c:pt idx="1">
                  <c:v>junho</c:v>
                </c:pt>
                <c:pt idx="2">
                  <c:v>julho</c:v>
                </c:pt>
                <c:pt idx="3">
                  <c:v>agosto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7</c:v>
                </c:pt>
                <c:pt idx="1">
                  <c:v>18</c:v>
                </c:pt>
                <c:pt idx="2">
                  <c:v>21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0C-4415-8C53-828AF0FCC6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758611048"/>
        <c:axId val="758607088"/>
      </c:barChart>
      <c:catAx>
        <c:axId val="758611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58607088"/>
        <c:crosses val="autoZero"/>
        <c:auto val="1"/>
        <c:lblAlgn val="ctr"/>
        <c:lblOffset val="100"/>
        <c:noMultiLvlLbl val="0"/>
      </c:catAx>
      <c:valAx>
        <c:axId val="7586070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5861104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400"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19050" cap="rnd" cmpd="sng" algn="ctr">
              <a:solidFill>
                <a:schemeClr val="dk1">
                  <a:tint val="88500"/>
                  <a:shade val="95000"/>
                  <a:satMod val="105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l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1" i="0" u="none" strike="noStrike" kern="1200" baseline="0">
                    <a:solidFill>
                      <a:schemeClr val="dk1">
                        <a:tint val="885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Planilha1!$A$2:$A$3</c:f>
              <c:strCache>
                <c:ptCount val="2"/>
                <c:pt idx="0">
                  <c:v>abril</c:v>
                </c:pt>
                <c:pt idx="1">
                  <c:v>agosto</c:v>
                </c:pt>
              </c:strCache>
            </c:strRef>
          </c:cat>
          <c:val>
            <c:numRef>
              <c:f>Planilha1!$B$2:$B$3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0C-4415-8C53-828AF0FCC66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58611048"/>
        <c:axId val="758607088"/>
      </c:lineChart>
      <c:catAx>
        <c:axId val="758611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58607088"/>
        <c:crosses val="autoZero"/>
        <c:auto val="1"/>
        <c:lblAlgn val="ctr"/>
        <c:lblOffset val="100"/>
        <c:noMultiLvlLbl val="0"/>
      </c:catAx>
      <c:valAx>
        <c:axId val="7586070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58611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sz="2800"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cs:styleClr val="auto"/>
    </cs:fontRef>
    <cs:spPr/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 w="9575">
        <a:solidFill>
          <a:schemeClr val="lt1">
            <a:lumMod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19050" cap="rnd" cmpd="sng" algn="ctr">
        <a:solidFill>
          <a:schemeClr val="phClr">
            <a:shade val="95000"/>
            <a:satMod val="105000"/>
          </a:schemeClr>
        </a:solidFill>
        <a:round/>
      </a:ln>
    </cs:spPr>
  </cs:dataPointLine>
  <cs:dataPointMarker>
    <cs:lnRef idx="0"/>
    <cs:fillRef idx="0"/>
    <cs:effectRef idx="0"/>
    <cs:fontRef idx="minor">
      <a:schemeClr val="dk1"/>
    </cs:fontRef>
    <cs:spPr>
      <a:solidFill>
        <a:schemeClr val="lt1"/>
      </a:solidFill>
    </cs:spPr>
  </cs:dataPointMarker>
  <cs:dataPointMarkerLayout symbol="circle" size="17"/>
  <cs:dataPointWireframe>
    <cs:lnRef idx="0">
      <cs:styleClr val="auto"/>
    </cs:lnRef>
    <cs:fillRef idx="1"/>
    <cs:effectRef idx="0"/>
    <cs:fontRef idx="minor">
      <a:schemeClr val="dk1"/>
    </cs:fontRef>
    <cs:spPr>
      <a:ln w="9525">
        <a:solidFill>
          <a:schemeClr val="phClr"/>
        </a:solidFill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/>
    </cs:fontRef>
    <cs:defRPr sz="1915" b="0" kern="1200" cap="all" spc="0" baseline="0">
      <a:gradFill>
        <a:gsLst>
          <a:gs pos="0">
            <a:schemeClr val="dk1">
              <a:lumMod val="50000"/>
              <a:lumOff val="50000"/>
            </a:schemeClr>
          </a:gs>
          <a:gs pos="100000">
            <a:schemeClr val="dk1">
              <a:lumMod val="85000"/>
              <a:lumOff val="15000"/>
            </a:schemeClr>
          </a:gs>
        </a:gsLst>
        <a:lin ang="5400000" scaled="0"/>
      </a:gradFill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9462A7-D93D-4585-8DF1-631315E49F5D}" type="datetimeFigureOut">
              <a:rPr lang="pt-BR" smtClean="0"/>
              <a:t>15/02/2026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58A87-E2C5-468E-BCE3-38A907ED00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3118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1.pn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5000">
              <a:srgbClr val="E48005">
                <a:alpha val="100000"/>
              </a:srgbClr>
            </a:gs>
            <a:gs pos="50000">
              <a:srgbClr val="8A3300">
                <a:alpha val="100000"/>
              </a:srgbClr>
            </a:gs>
            <a:gs pos="85000">
              <a:srgbClr val="14CC97">
                <a:alpha val="100000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79298" y="8311463"/>
            <a:ext cx="1880002" cy="946837"/>
          </a:xfrm>
          <a:custGeom>
            <a:avLst/>
            <a:gdLst/>
            <a:ahLst/>
            <a:cxnLst/>
            <a:rect l="l" t="t" r="r" b="b"/>
            <a:pathLst>
              <a:path w="1880002" h="946837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487060" y="0"/>
            <a:ext cx="2646799" cy="2960595"/>
          </a:xfrm>
          <a:custGeom>
            <a:avLst/>
            <a:gdLst/>
            <a:ahLst/>
            <a:cxnLst/>
            <a:rect l="l" t="t" r="r" b="b"/>
            <a:pathLst>
              <a:path w="2646799" h="2960595">
                <a:moveTo>
                  <a:pt x="0" y="0"/>
                </a:moveTo>
                <a:lnTo>
                  <a:pt x="2646799" y="0"/>
                </a:lnTo>
                <a:lnTo>
                  <a:pt x="2646799" y="2960595"/>
                </a:lnTo>
                <a:lnTo>
                  <a:pt x="0" y="29605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7885470" y="6965576"/>
            <a:ext cx="9373830" cy="37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48"/>
              </a:lnSpc>
              <a:spcBef>
                <a:spcPct val="0"/>
              </a:spcBef>
            </a:pPr>
            <a:r>
              <a:rPr lang="en-US" sz="2748" spc="-217" dirty="0" err="1">
                <a:solidFill>
                  <a:schemeClr val="bg1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Exposição</a:t>
            </a:r>
            <a:r>
              <a:rPr lang="en-US" sz="2748" spc="-217" dirty="0">
                <a:solidFill>
                  <a:schemeClr val="bg1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 | </a:t>
            </a:r>
            <a:r>
              <a:rPr lang="en-US" sz="2748" spc="-217" dirty="0" err="1">
                <a:solidFill>
                  <a:schemeClr val="bg1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Sesc</a:t>
            </a:r>
            <a:r>
              <a:rPr lang="en-US" sz="2748" spc="-217" dirty="0">
                <a:solidFill>
                  <a:schemeClr val="bg1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 Pompeia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400999"/>
            <a:ext cx="3100542" cy="483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5"/>
              </a:lnSpc>
            </a:pPr>
            <a:r>
              <a:rPr lang="en-US" sz="1473" b="1" dirty="0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05 de </a:t>
            </a:r>
            <a:r>
              <a:rPr lang="en-US" sz="1473" b="1" dirty="0" err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abril</a:t>
            </a:r>
            <a:r>
              <a:rPr lang="en-US" sz="1473" b="1" dirty="0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 de 2025 a </a:t>
            </a:r>
          </a:p>
          <a:p>
            <a:pPr marL="0" lvl="0" indent="0" algn="l">
              <a:lnSpc>
                <a:spcPts val="1915"/>
              </a:lnSpc>
              <a:spcBef>
                <a:spcPct val="0"/>
              </a:spcBef>
            </a:pPr>
            <a:r>
              <a:rPr lang="en-US" sz="1473" b="1" dirty="0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31 de Agosto de 2025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88760" y="954405"/>
            <a:ext cx="517054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  <a:spcBef>
                <a:spcPct val="0"/>
              </a:spcBef>
            </a:pPr>
            <a:r>
              <a:rPr lang="en-US" sz="2099" b="1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Relatório</a:t>
            </a:r>
            <a:r>
              <a:rPr lang="en-US" sz="2099" b="1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99" b="1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geral</a:t>
            </a:r>
            <a:r>
              <a:rPr lang="en-US" sz="2099" b="1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77844" y="2767344"/>
            <a:ext cx="10927255" cy="1971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211"/>
              </a:lnSpc>
              <a:spcBef>
                <a:spcPct val="0"/>
              </a:spcBef>
            </a:pPr>
            <a:r>
              <a:rPr lang="en-US" sz="9245" spc="-730" dirty="0">
                <a:solidFill>
                  <a:schemeClr val="bg1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Lugar </a:t>
            </a:r>
            <a:r>
              <a:rPr lang="en-US" sz="9245" spc="-730" dirty="0" err="1">
                <a:solidFill>
                  <a:schemeClr val="bg1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público</a:t>
            </a:r>
            <a:r>
              <a:rPr lang="en-US" sz="9245" spc="-730" dirty="0">
                <a:solidFill>
                  <a:schemeClr val="bg1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– </a:t>
            </a:r>
          </a:p>
          <a:p>
            <a:pPr marL="0" lvl="0" indent="0" algn="r">
              <a:lnSpc>
                <a:spcPts val="7211"/>
              </a:lnSpc>
              <a:spcBef>
                <a:spcPct val="0"/>
              </a:spcBef>
            </a:pPr>
            <a:r>
              <a:rPr lang="en-US" sz="9245" spc="-730" dirty="0">
                <a:solidFill>
                  <a:schemeClr val="bg1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Antoni Muntadas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 rot="-10800000">
            <a:off x="11159450" y="-140976"/>
            <a:ext cx="2611028" cy="411480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1028700" y="1557564"/>
            <a:ext cx="7279037" cy="781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Destaques</a:t>
            </a:r>
            <a:endParaRPr lang="en-US" sz="5808" spc="-458" dirty="0">
              <a:solidFill>
                <a:srgbClr val="000000"/>
              </a:solidFill>
              <a:latin typeface="Garet Bold" panose="020B0604020202020204" charset="0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6140" y="5506011"/>
            <a:ext cx="3929165" cy="65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5032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114.948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95750" y="5506012"/>
            <a:ext cx="3929165" cy="65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5032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30742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2055" y="6124228"/>
            <a:ext cx="5177335" cy="105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3068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presenças</a:t>
            </a:r>
            <a:r>
              <a:rPr lang="en-US" sz="3068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68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</a:t>
            </a:r>
            <a:r>
              <a:rPr lang="en-US" sz="3068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68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toda</a:t>
            </a:r>
            <a:r>
              <a:rPr lang="en-US" sz="3068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marL="0" lvl="0" indent="0" algn="ctr">
              <a:lnSpc>
                <a:spcPts val="4295"/>
              </a:lnSpc>
              <a:spcBef>
                <a:spcPct val="0"/>
              </a:spcBef>
            </a:pPr>
            <a:r>
              <a:rPr lang="en-US" sz="3068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programação</a:t>
            </a:r>
            <a:endParaRPr lang="en-US" sz="3068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871665" y="6124228"/>
            <a:ext cx="5177335" cy="108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3068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pessoas</a:t>
            </a:r>
            <a:r>
              <a:rPr lang="en-US" sz="30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68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atendidas</a:t>
            </a:r>
            <a:r>
              <a:rPr lang="en-US" sz="30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68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</a:t>
            </a:r>
            <a:r>
              <a:rPr lang="en-US" sz="30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marL="0" lvl="0" indent="0" algn="ctr">
              <a:lnSpc>
                <a:spcPts val="4295"/>
              </a:lnSpc>
              <a:spcBef>
                <a:spcPct val="0"/>
              </a:spcBef>
            </a:pPr>
            <a:r>
              <a:rPr lang="en-US" sz="3068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visitas</a:t>
            </a:r>
            <a:r>
              <a:rPr lang="en-US" sz="30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68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mediadas</a:t>
            </a:r>
            <a:endParaRPr lang="en-US" sz="3068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680820" y="5537972"/>
            <a:ext cx="3929165" cy="193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2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1.578</a:t>
            </a:r>
          </a:p>
          <a:p>
            <a:pPr marL="0" lvl="0" indent="0" algn="ctr">
              <a:lnSpc>
                <a:spcPts val="5032"/>
              </a:lnSpc>
              <a:spcBef>
                <a:spcPct val="0"/>
              </a:spcBef>
            </a:pPr>
            <a:endParaRPr lang="en-US" sz="44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0" lvl="0" indent="0" algn="ctr">
              <a:lnSpc>
                <a:spcPts val="5032"/>
              </a:lnSpc>
              <a:spcBef>
                <a:spcPct val="0"/>
              </a:spcBef>
            </a:pPr>
            <a:endParaRPr lang="en-US" sz="44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056736" y="6156189"/>
            <a:ext cx="4870533" cy="10823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305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presenças</a:t>
            </a:r>
            <a:r>
              <a:rPr lang="en-US" sz="305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5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</a:t>
            </a:r>
            <a:r>
              <a:rPr lang="en-US" sz="305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5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ações</a:t>
            </a:r>
            <a:r>
              <a:rPr lang="en-US" sz="305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 </a:t>
            </a:r>
            <a:r>
              <a:rPr lang="en-US" sz="305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programação</a:t>
            </a:r>
            <a:r>
              <a:rPr lang="en-US" sz="305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5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integrada</a:t>
            </a:r>
            <a:endParaRPr lang="en-US" sz="305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9" name="Freeform 9"/>
          <p:cNvSpPr/>
          <p:nvPr/>
        </p:nvSpPr>
        <p:spPr>
          <a:xfrm>
            <a:off x="13456423" y="1883102"/>
            <a:ext cx="3802877" cy="1486579"/>
          </a:xfrm>
          <a:custGeom>
            <a:avLst/>
            <a:gdLst/>
            <a:ahLst/>
            <a:cxnLst/>
            <a:rect l="l" t="t" r="r" b="b"/>
            <a:pathLst>
              <a:path w="3802877" h="1486579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11100751" y="3060654"/>
            <a:ext cx="6158549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808"/>
              </a:lnSpc>
            </a:pPr>
            <a:r>
              <a:rPr lang="pt-BR" sz="5808" spc="-458" noProof="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pt-BR" sz="5808" spc="-458" noProof="0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presenças</a:t>
            </a: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0F950054-21F1-2A9E-E636-B2A0D382AD3F}"/>
              </a:ext>
            </a:extLst>
          </p:cNvPr>
          <p:cNvSpPr txBox="1"/>
          <p:nvPr/>
        </p:nvSpPr>
        <p:spPr>
          <a:xfrm>
            <a:off x="1022838" y="3330572"/>
            <a:ext cx="4530613" cy="2369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114.948</a:t>
            </a:r>
          </a:p>
          <a:p>
            <a:pPr algn="ctr"/>
            <a:r>
              <a:rPr lang="pt-BR" sz="4400" noProof="0" dirty="0">
                <a:solidFill>
                  <a:srgbClr val="000000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presenças</a:t>
            </a:r>
          </a:p>
          <a:p>
            <a:pPr algn="ctr"/>
            <a:r>
              <a:rPr lang="pt-BR" sz="4400" noProof="0" dirty="0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EXPOSIÇÃO</a:t>
            </a: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F07F23C8-A2E4-F6C1-89A8-0BA16761324B}"/>
              </a:ext>
            </a:extLst>
          </p:cNvPr>
          <p:cNvSpPr txBox="1"/>
          <p:nvPr/>
        </p:nvSpPr>
        <p:spPr>
          <a:xfrm>
            <a:off x="1" y="8857018"/>
            <a:ext cx="18288000" cy="492443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Garet Bold" panose="020B0604020202020204" charset="0"/>
                <a:ea typeface="Garet Bold"/>
                <a:cs typeface="Garet Bold"/>
                <a:sym typeface="Garet Bold"/>
              </a:rPr>
              <a:t>135</a:t>
            </a:r>
            <a:r>
              <a:rPr lang="pt-BR" sz="3200" noProof="0" dirty="0">
                <a:solidFill>
                  <a:schemeClr val="bg1"/>
                </a:solidFill>
                <a:latin typeface="Garet Bold" panose="020B0604020202020204" charset="0"/>
                <a:ea typeface="Garet Bold"/>
                <a:cs typeface="Garet Bold"/>
                <a:sym typeface="Garet Bold"/>
              </a:rPr>
              <a:t> dias de visitação</a:t>
            </a:r>
          </a:p>
        </p:txBody>
      </p:sp>
      <p:sp>
        <p:nvSpPr>
          <p:cNvPr id="4" name="TextBox 29">
            <a:extLst>
              <a:ext uri="{FF2B5EF4-FFF2-40B4-BE49-F238E27FC236}">
                <a16:creationId xmlns:a16="http://schemas.microsoft.com/office/drawing/2014/main" id="{C511EDE2-9A5A-C628-030F-920FA69F9F3F}"/>
              </a:ext>
            </a:extLst>
          </p:cNvPr>
          <p:cNvSpPr txBox="1"/>
          <p:nvPr/>
        </p:nvSpPr>
        <p:spPr>
          <a:xfrm>
            <a:off x="6858000" y="2682959"/>
            <a:ext cx="5876551" cy="36240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endParaRPr lang="pt-BR" sz="3200" noProof="0" dirty="0">
              <a:solidFill>
                <a:srgbClr val="000000"/>
              </a:solidFill>
              <a:latin typeface="Garet"/>
              <a:ea typeface="Garet Bold"/>
              <a:cs typeface="Garet Bold"/>
              <a:sym typeface="Garet Bold"/>
            </a:endParaRPr>
          </a:p>
          <a:p>
            <a:pPr algn="ctr">
              <a:lnSpc>
                <a:spcPts val="2794"/>
              </a:lnSpc>
            </a:pPr>
            <a:endParaRPr lang="pt-BR" sz="3200" noProof="0" dirty="0">
              <a:solidFill>
                <a:srgbClr val="000000"/>
              </a:solidFill>
              <a:latin typeface="Garet"/>
              <a:ea typeface="Garet Bold"/>
              <a:cs typeface="Garet Bold"/>
              <a:sym typeface="Garet Bold"/>
            </a:endParaRPr>
          </a:p>
          <a:p>
            <a:pPr algn="ctr">
              <a:lnSpc>
                <a:spcPts val="2794"/>
              </a:lnSpc>
            </a:pPr>
            <a:r>
              <a:rPr lang="pt-BR" sz="4800" b="1" dirty="0">
                <a:solidFill>
                  <a:srgbClr val="000000"/>
                </a:solidFill>
                <a:latin typeface="Garet Bold" panose="020B0604020202020204" charset="0"/>
                <a:ea typeface="Garet Bold"/>
                <a:cs typeface="Garet Bold"/>
                <a:sym typeface="Garet Bold"/>
              </a:rPr>
              <a:t>48</a:t>
            </a:r>
            <a:r>
              <a:rPr lang="pt-BR" sz="4800" b="1" noProof="0" dirty="0">
                <a:solidFill>
                  <a:srgbClr val="000000"/>
                </a:solidFill>
                <a:latin typeface="Garet Bold" panose="020B0604020202020204" charset="0"/>
                <a:ea typeface="Garet Bold"/>
                <a:cs typeface="Garet Bold"/>
                <a:sym typeface="Garet Bold"/>
              </a:rPr>
              <a:t> </a:t>
            </a:r>
          </a:p>
          <a:p>
            <a:pPr algn="ctr">
              <a:lnSpc>
                <a:spcPts val="2794"/>
              </a:lnSpc>
            </a:pPr>
            <a:r>
              <a:rPr lang="pt-BR" sz="3200" dirty="0">
                <a:solidFill>
                  <a:srgbClr val="000000"/>
                </a:solidFill>
                <a:latin typeface="Garet"/>
                <a:ea typeface="Garet Bold"/>
                <a:cs typeface="Garet Bold"/>
                <a:sym typeface="Garet Bold"/>
              </a:rPr>
              <a:t>Ônibus solicitados para diversas instituições</a:t>
            </a:r>
            <a:endParaRPr lang="pt-BR" sz="3200" noProof="0" dirty="0">
              <a:solidFill>
                <a:srgbClr val="000000"/>
              </a:solidFill>
              <a:latin typeface="Garet" panose="020B0604020202020204" charset="0"/>
              <a:ea typeface="Garet Bold"/>
              <a:cs typeface="Garet Bold"/>
              <a:sym typeface="Garet Bold"/>
            </a:endParaRPr>
          </a:p>
          <a:p>
            <a:pPr algn="ctr">
              <a:lnSpc>
                <a:spcPts val="2794"/>
              </a:lnSpc>
            </a:pPr>
            <a:endParaRPr lang="pt-BR" sz="3200" noProof="0" dirty="0">
              <a:solidFill>
                <a:srgbClr val="000000"/>
              </a:solidFill>
              <a:latin typeface="Garet" panose="020B0604020202020204" charset="0"/>
              <a:ea typeface="Garet Bold"/>
              <a:cs typeface="Garet Bold"/>
              <a:sym typeface="Garet Bold"/>
            </a:endParaRPr>
          </a:p>
          <a:p>
            <a:pPr algn="ctr">
              <a:lnSpc>
                <a:spcPts val="2794"/>
              </a:lnSpc>
            </a:pPr>
            <a:endParaRPr lang="pt-BR" sz="4800" noProof="0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ctr">
              <a:lnSpc>
                <a:spcPts val="2794"/>
              </a:lnSpc>
            </a:pPr>
            <a:r>
              <a:rPr lang="pt-BR" sz="4800" dirty="0">
                <a:solidFill>
                  <a:srgbClr val="000000"/>
                </a:solidFill>
                <a:latin typeface="Garet Bold"/>
                <a:sym typeface="Garet Bold"/>
              </a:rPr>
              <a:t>2.152</a:t>
            </a:r>
            <a:endParaRPr lang="pt-BR" noProof="0" dirty="0"/>
          </a:p>
          <a:p>
            <a:pPr algn="ctr">
              <a:lnSpc>
                <a:spcPts val="2794"/>
              </a:lnSpc>
            </a:pPr>
            <a:r>
              <a:rPr lang="pt-BR" sz="3200" dirty="0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Estudantes </a:t>
            </a:r>
            <a:r>
              <a:rPr lang="pt-BR" sz="3200" noProof="0" dirty="0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diretamente</a:t>
            </a:r>
          </a:p>
          <a:p>
            <a:pPr algn="ctr">
              <a:lnSpc>
                <a:spcPts val="2794"/>
              </a:lnSpc>
            </a:pPr>
            <a:r>
              <a:rPr lang="pt-BR" sz="3200" dirty="0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impactados</a:t>
            </a:r>
            <a:endParaRPr lang="pt-BR" sz="3200" noProof="0" dirty="0">
              <a:solidFill>
                <a:srgbClr val="000000"/>
              </a:solidFill>
              <a:latin typeface="Garet" panose="020B0604020202020204" charset="0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BDC1E-7D4C-DCB8-9A56-77B68FFAD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C60F951-6CE8-7AE0-9C08-6D6757B253B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25AABD2-EDAE-7537-7126-2BF789A60CEB}"/>
              </a:ext>
            </a:extLst>
          </p:cNvPr>
          <p:cNvSpPr/>
          <p:nvPr/>
        </p:nvSpPr>
        <p:spPr>
          <a:xfrm>
            <a:off x="-609600" y="1559650"/>
            <a:ext cx="9125543" cy="7167700"/>
          </a:xfrm>
          <a:custGeom>
            <a:avLst/>
            <a:gdLst/>
            <a:ahLst/>
            <a:cxnLst/>
            <a:rect l="l" t="t" r="r" b="b"/>
            <a:pathLst>
              <a:path w="9125543" h="7167700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8CD3464-5DA2-508B-D356-76A61FE7B2A8}"/>
              </a:ext>
            </a:extLst>
          </p:cNvPr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2469874A-1C6A-2C88-74AC-9DD75A0FC754}"/>
              </a:ext>
            </a:extLst>
          </p:cNvPr>
          <p:cNvSpPr txBox="1"/>
          <p:nvPr/>
        </p:nvSpPr>
        <p:spPr>
          <a:xfrm>
            <a:off x="1295400" y="6124228"/>
            <a:ext cx="6172200" cy="598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4800" spc="-458" dirty="0">
                <a:solidFill>
                  <a:schemeClr val="bg1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Equipe </a:t>
            </a:r>
            <a:r>
              <a:rPr lang="en-US" sz="4800" spc="-458" dirty="0" err="1">
                <a:solidFill>
                  <a:schemeClr val="bg1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Educativa</a:t>
            </a:r>
            <a:endParaRPr lang="en-US" sz="4800" spc="-458" dirty="0">
              <a:solidFill>
                <a:schemeClr val="bg1"/>
              </a:solidFill>
              <a:latin typeface="Garet Bold" panose="020B0604020202020204" charset="0"/>
              <a:ea typeface="Archivo Black"/>
              <a:cs typeface="Archivo Black"/>
              <a:sym typeface="Archivo Black"/>
            </a:endParaRPr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8C802B50-79C0-7376-C196-62BDDDD9F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189937"/>
              </p:ext>
            </p:extLst>
          </p:nvPr>
        </p:nvGraphicFramePr>
        <p:xfrm>
          <a:off x="8978012" y="5143500"/>
          <a:ext cx="9125542" cy="3077700"/>
        </p:xfrm>
        <a:graphic>
          <a:graphicData uri="http://schemas.openxmlformats.org/drawingml/2006/table">
            <a:tbl>
              <a:tblPr/>
              <a:tblGrid>
                <a:gridCol w="2909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6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Equipe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03 </a:t>
                      </a:r>
                      <a:r>
                        <a:rPr lang="en-US" sz="1999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Facilitadores</a:t>
                      </a:r>
                      <a:r>
                        <a:rPr lang="en-US" sz="1999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 II - </a:t>
                      </a:r>
                      <a:r>
                        <a:rPr lang="en-US" sz="1999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Supervisores</a:t>
                      </a:r>
                      <a:endParaRPr lang="en-US" sz="1999" dirty="0">
                        <a:solidFill>
                          <a:srgbClr val="000000"/>
                        </a:solidFill>
                        <a:latin typeface="Garet"/>
                        <a:ea typeface="Garet"/>
                        <a:cs typeface="Garet"/>
                        <a:sym typeface="Garet"/>
                      </a:endParaRPr>
                    </a:p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08 </a:t>
                      </a:r>
                      <a:r>
                        <a:rPr lang="en-US" sz="1999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Facilitadores</a:t>
                      </a:r>
                      <a:r>
                        <a:rPr lang="en-US" sz="1999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 I – </a:t>
                      </a:r>
                      <a:r>
                        <a:rPr lang="en-US" sz="1999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Educadores</a:t>
                      </a:r>
                      <a:r>
                        <a:rPr lang="en-US" sz="1999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 </a:t>
                      </a:r>
                      <a:r>
                        <a:rPr lang="en-US" sz="1999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Formados</a:t>
                      </a:r>
                      <a:endParaRPr lang="en-US" sz="1999" dirty="0">
                        <a:solidFill>
                          <a:srgbClr val="000000"/>
                        </a:solidFill>
                        <a:latin typeface="Garet"/>
                        <a:ea typeface="Garet"/>
                        <a:cs typeface="Garet"/>
                        <a:sym typeface="Garet"/>
                      </a:endParaRPr>
                    </a:p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16 </a:t>
                      </a:r>
                      <a:r>
                        <a:rPr lang="en-US" sz="1999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Estagiários</a:t>
                      </a:r>
                      <a:endParaRPr lang="en-US" sz="1999" dirty="0">
                        <a:solidFill>
                          <a:srgbClr val="000000"/>
                        </a:solidFill>
                        <a:latin typeface="Garet"/>
                        <a:ea typeface="Garet"/>
                        <a:cs typeface="Garet"/>
                        <a:sym typeface="Garet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Formação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kern="1200" dirty="0" err="1">
                          <a:solidFill>
                            <a:srgbClr val="000000"/>
                          </a:solidFill>
                          <a:latin typeface="Garet"/>
                          <a:ea typeface="+mn-ea"/>
                          <a:cs typeface="+mn-cs"/>
                        </a:rPr>
                        <a:t>Presencial</a:t>
                      </a:r>
                      <a:r>
                        <a:rPr lang="en-US" sz="1999" kern="1200" dirty="0">
                          <a:solidFill>
                            <a:srgbClr val="000000"/>
                          </a:solidFill>
                          <a:latin typeface="Garet"/>
                          <a:ea typeface="+mn-ea"/>
                          <a:cs typeface="+mn-cs"/>
                        </a:rPr>
                        <a:t> – 15 </a:t>
                      </a:r>
                      <a:r>
                        <a:rPr lang="en-US" sz="1999" kern="1200" dirty="0" err="1">
                          <a:solidFill>
                            <a:srgbClr val="000000"/>
                          </a:solidFill>
                          <a:latin typeface="Garet"/>
                          <a:ea typeface="+mn-ea"/>
                          <a:cs typeface="+mn-cs"/>
                        </a:rPr>
                        <a:t>dias</a:t>
                      </a:r>
                      <a:r>
                        <a:rPr lang="en-US" sz="1999" kern="1200" dirty="0">
                          <a:solidFill>
                            <a:srgbClr val="000000"/>
                          </a:solidFill>
                          <a:latin typeface="Garet"/>
                          <a:ea typeface="+mn-ea"/>
                          <a:cs typeface="+mn-cs"/>
                        </a:rPr>
                        <a:t> – 75h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9372600" y="1600906"/>
            <a:ext cx="6780409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 b="1" dirty="0">
                <a:solidFill>
                  <a:srgbClr val="000000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578</a:t>
            </a:r>
            <a:r>
              <a:rPr lang="en-US" sz="6000" b="1" dirty="0">
                <a:solidFill>
                  <a:srgbClr val="000000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 </a:t>
            </a:r>
          </a:p>
          <a:p>
            <a:pPr algn="ctr"/>
            <a:r>
              <a:rPr lang="en-US" sz="4400" dirty="0" err="1">
                <a:solidFill>
                  <a:srgbClr val="000000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presenças</a:t>
            </a:r>
            <a:endParaRPr lang="en-US" sz="4400" dirty="0">
              <a:solidFill>
                <a:srgbClr val="000000"/>
              </a:solidFill>
              <a:latin typeface="Garet" panose="020B0604020202020204" charset="0"/>
              <a:ea typeface="Garet"/>
              <a:cs typeface="Garet"/>
              <a:sym typeface="Garet"/>
            </a:endParaRPr>
          </a:p>
          <a:p>
            <a:pPr algn="ctr"/>
            <a:r>
              <a:rPr lang="en-US" sz="4400" dirty="0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VISITAS MEDIADAS</a:t>
            </a:r>
          </a:p>
          <a:p>
            <a:pPr algn="ctr"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27 </a:t>
            </a:r>
            <a:r>
              <a:rPr lang="en-US" sz="4400" dirty="0" err="1">
                <a:solidFill>
                  <a:srgbClr val="000000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ações</a:t>
            </a:r>
            <a:endParaRPr lang="en-US" sz="4400" dirty="0">
              <a:solidFill>
                <a:srgbClr val="000000"/>
              </a:solidFill>
              <a:latin typeface="Garet" panose="020B0604020202020204" charset="0"/>
              <a:ea typeface="Garet"/>
              <a:cs typeface="Garet"/>
              <a:sym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220543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1447800" y="870351"/>
            <a:ext cx="14782800" cy="728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4400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Visitas</a:t>
            </a:r>
            <a:r>
              <a:rPr lang="en-US" sz="4400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mediadas</a:t>
            </a:r>
            <a:r>
              <a:rPr lang="en-US" sz="4400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ao</a:t>
            </a:r>
            <a:r>
              <a:rPr lang="en-US" sz="4400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longo</a:t>
            </a:r>
            <a:r>
              <a:rPr lang="en-US" sz="4400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da </a:t>
            </a:r>
            <a:r>
              <a:rPr lang="en-US" sz="4400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exposição</a:t>
            </a:r>
            <a:endParaRPr lang="en-US" sz="4400" spc="-458" dirty="0">
              <a:solidFill>
                <a:srgbClr val="000000"/>
              </a:solidFill>
              <a:latin typeface="Garet Bold" panose="020B0604020202020204" charset="0"/>
              <a:ea typeface="Archivo Black"/>
              <a:cs typeface="Archivo Black"/>
              <a:sym typeface="Archivo Black"/>
            </a:endParaRP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CFEC77CF-962E-5A9D-DB93-3865E19132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8857717"/>
              </p:ext>
            </p:extLst>
          </p:nvPr>
        </p:nvGraphicFramePr>
        <p:xfrm>
          <a:off x="457200" y="1923519"/>
          <a:ext cx="17449800" cy="6648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65D9A-13DA-E312-80E5-E7518DB31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638F53-2EF6-AB5C-DAF0-6E627F5436E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90C5D4F-5ACA-526A-D62D-39F4624561C4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0EB9079-C093-BF2C-DEB9-59978D2A5B57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A95DBF5-E5B4-A834-351A-BE5A38901568}"/>
              </a:ext>
            </a:extLst>
          </p:cNvPr>
          <p:cNvSpPr txBox="1"/>
          <p:nvPr/>
        </p:nvSpPr>
        <p:spPr>
          <a:xfrm>
            <a:off x="1447800" y="870351"/>
            <a:ext cx="14782800" cy="728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4400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ações</a:t>
            </a:r>
            <a:r>
              <a:rPr lang="en-US" sz="4400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integradas</a:t>
            </a:r>
            <a:r>
              <a:rPr lang="en-US" sz="4400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da </a:t>
            </a:r>
            <a:r>
              <a:rPr lang="en-US" sz="4400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exposição</a:t>
            </a:r>
            <a:r>
              <a:rPr lang="en-US" sz="4400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ao</a:t>
            </a:r>
            <a:r>
              <a:rPr lang="en-US" sz="4400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longo</a:t>
            </a:r>
            <a:r>
              <a:rPr lang="en-US" sz="4400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dos meses</a:t>
            </a: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FC25CF46-1209-BF52-6AD9-9F5C28DD0E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5877711"/>
              </p:ext>
            </p:extLst>
          </p:nvPr>
        </p:nvGraphicFramePr>
        <p:xfrm>
          <a:off x="1447800" y="1923519"/>
          <a:ext cx="15811500" cy="6629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39162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529904"/>
              </p:ext>
            </p:extLst>
          </p:nvPr>
        </p:nvGraphicFramePr>
        <p:xfrm>
          <a:off x="9447524" y="1450250"/>
          <a:ext cx="7811857" cy="7277100"/>
        </p:xfrm>
        <a:graphic>
          <a:graphicData uri="http://schemas.openxmlformats.org/drawingml/2006/table">
            <a:tbl>
              <a:tblPr/>
              <a:tblGrid>
                <a:gridCol w="4311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 dirty="0"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 Bold" panose="020B0604020202020204" charset="0"/>
                          <a:ea typeface="Garet"/>
                          <a:cs typeface="Garet"/>
                          <a:sym typeface="Garet"/>
                        </a:rPr>
                        <a:t>presenças</a:t>
                      </a:r>
                      <a:endParaRPr lang="en-US" sz="1100"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Garet Bold" panose="020B0604020202020204" charset="0"/>
                          <a:ea typeface="Garet"/>
                          <a:cs typeface="Garet"/>
                          <a:sym typeface="Garet"/>
                        </a:rPr>
                        <a:t>ações</a:t>
                      </a:r>
                      <a:endParaRPr lang="en-US" sz="11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 dirty="0" err="1">
                          <a:solidFill>
                            <a:srgbClr val="000000"/>
                          </a:solidFill>
                          <a:latin typeface="Garet Bold" panose="020B0604020202020204" charset="0"/>
                          <a:ea typeface="Garet Bold"/>
                          <a:cs typeface="Garet Bold"/>
                          <a:sym typeface="Garet Bold"/>
                        </a:rPr>
                        <a:t>Ações</a:t>
                      </a: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Garet Bold" panose="020B0604020202020204" charset="0"/>
                          <a:ea typeface="Garet Bold"/>
                          <a:cs typeface="Garet Bold"/>
                          <a:sym typeface="Garet Bold"/>
                        </a:rPr>
                        <a:t> </a:t>
                      </a:r>
                      <a:r>
                        <a:rPr lang="en-US" sz="1999" b="1" dirty="0" err="1">
                          <a:solidFill>
                            <a:srgbClr val="000000"/>
                          </a:solidFill>
                          <a:latin typeface="Garet Bold" panose="020B0604020202020204" charset="0"/>
                          <a:ea typeface="Garet Bold"/>
                          <a:cs typeface="Garet Bold"/>
                          <a:sym typeface="Garet Bold"/>
                        </a:rPr>
                        <a:t>Mediadas</a:t>
                      </a:r>
                      <a:endParaRPr lang="en-US" sz="1100" dirty="0"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dirty="0">
                          <a:solidFill>
                            <a:srgbClr val="000000"/>
                          </a:solidFill>
                          <a:latin typeface="Garet Bold" panose="020B0604020202020204" charset="0"/>
                          <a:ea typeface="Garet"/>
                          <a:cs typeface="Garet"/>
                          <a:sym typeface="Garet"/>
                        </a:rPr>
                        <a:t>578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Garet Bold" panose="020B0604020202020204" charset="0"/>
                        </a:rPr>
                        <a:t>49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 dirty="0" err="1">
                          <a:solidFill>
                            <a:srgbClr val="000000"/>
                          </a:solidFill>
                          <a:latin typeface="Garet Bold" panose="020B0604020202020204" charset="0"/>
                          <a:ea typeface="Garet Bold"/>
                          <a:cs typeface="Garet Bold"/>
                          <a:sym typeface="Garet Bold"/>
                        </a:rPr>
                        <a:t>Abertura</a:t>
                      </a:r>
                      <a:endParaRPr lang="en-US" sz="1100" dirty="0"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dirty="0">
                          <a:solidFill>
                            <a:srgbClr val="000000"/>
                          </a:solidFill>
                          <a:latin typeface="Garet Bold" panose="020B0604020202020204" charset="0"/>
                          <a:sym typeface="Garet"/>
                        </a:rPr>
                        <a:t>1000</a:t>
                      </a:r>
                      <a:endParaRPr lang="en-US" sz="1100" dirty="0"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Garet Bold" panose="020B0604020202020204" charset="0"/>
                        </a:rPr>
                        <a:t>1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 dirty="0"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 dirty="0"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2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 dirty="0"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 dirty="0"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2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465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 dirty="0"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 dirty="0"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2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7465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 dirty="0"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2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 dirty="0"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2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-609600" y="1559650"/>
            <a:ext cx="9125543" cy="7167700"/>
          </a:xfrm>
          <a:custGeom>
            <a:avLst/>
            <a:gdLst/>
            <a:ahLst/>
            <a:cxnLst/>
            <a:rect l="l" t="t" r="r" b="b"/>
            <a:pathLst>
              <a:path w="9125543" h="7167700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79A31098-639A-3778-D1DB-C199CAD3F36C}"/>
              </a:ext>
            </a:extLst>
          </p:cNvPr>
          <p:cNvSpPr txBox="1"/>
          <p:nvPr/>
        </p:nvSpPr>
        <p:spPr>
          <a:xfrm>
            <a:off x="1295400" y="6124228"/>
            <a:ext cx="6172200" cy="1634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6000" b="1" dirty="0">
                <a:solidFill>
                  <a:schemeClr val="bg1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1.578</a:t>
            </a:r>
            <a:r>
              <a:rPr lang="en-US" sz="6000" dirty="0">
                <a:solidFill>
                  <a:schemeClr val="bg1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</a:t>
            </a:r>
          </a:p>
          <a:p>
            <a:pPr algn="ctr">
              <a:lnSpc>
                <a:spcPts val="4295"/>
              </a:lnSpc>
            </a:pPr>
            <a:r>
              <a:rPr lang="en-US" sz="306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presenças</a:t>
            </a:r>
            <a:r>
              <a:rPr lang="en-US" sz="306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6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em</a:t>
            </a:r>
            <a:r>
              <a:rPr lang="en-US" sz="306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6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ações</a:t>
            </a:r>
            <a:r>
              <a:rPr lang="en-US" sz="306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6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integradas</a:t>
            </a:r>
            <a:r>
              <a:rPr lang="en-US" sz="306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à </a:t>
            </a:r>
            <a:r>
              <a:rPr lang="en-US" sz="306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exposição</a:t>
            </a:r>
            <a:endParaRPr lang="en-US" sz="306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0FDA7-B291-C22D-9667-DA9A5DD4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0954F1D-16E1-FA8F-8C1C-5D689D99036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7F082A3-D60F-1AAB-1517-60689FB4FD8C}"/>
              </a:ext>
            </a:extLst>
          </p:cNvPr>
          <p:cNvSpPr txBox="1"/>
          <p:nvPr/>
        </p:nvSpPr>
        <p:spPr>
          <a:xfrm>
            <a:off x="394651" y="1346835"/>
            <a:ext cx="8749349" cy="3066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808"/>
              </a:lnSpc>
            </a:pPr>
            <a:r>
              <a:rPr lang="en-US" sz="5808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</a:t>
            </a:r>
          </a:p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en-US" sz="7200" b="1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</a:t>
            </a:r>
            <a:r>
              <a:rPr lang="en-US" sz="7200" b="1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instituições</a:t>
            </a:r>
            <a:endParaRPr lang="en-US" sz="7200" b="1" spc="-458" dirty="0">
              <a:solidFill>
                <a:srgbClr val="000000"/>
              </a:solidFill>
              <a:latin typeface="Garet Bold" panose="020B0604020202020204" charset="0"/>
              <a:ea typeface="Archivo Black"/>
              <a:cs typeface="Archivo Black"/>
              <a:sym typeface="Archivo Black"/>
            </a:endParaRPr>
          </a:p>
          <a:p>
            <a:pPr algn="r">
              <a:lnSpc>
                <a:spcPts val="5808"/>
              </a:lnSpc>
              <a:spcBef>
                <a:spcPct val="0"/>
              </a:spcBef>
            </a:pPr>
            <a:r>
              <a:rPr lang="en-US" sz="4000" spc="-458" dirty="0" err="1">
                <a:solidFill>
                  <a:srgbClr val="000000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destaques</a:t>
            </a:r>
            <a:r>
              <a:rPr lang="en-US" sz="4000" spc="-458" dirty="0">
                <a:solidFill>
                  <a:srgbClr val="000000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 entre as </a:t>
            </a:r>
            <a:r>
              <a:rPr lang="en-US" sz="4000" spc="-458" dirty="0" err="1">
                <a:solidFill>
                  <a:srgbClr val="000000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instituições</a:t>
            </a:r>
            <a:r>
              <a:rPr lang="en-US" sz="4000" spc="-458" dirty="0">
                <a:solidFill>
                  <a:srgbClr val="000000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 </a:t>
            </a:r>
            <a:r>
              <a:rPr lang="en-US" sz="4000" spc="-458" dirty="0" err="1">
                <a:solidFill>
                  <a:srgbClr val="000000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recebidas</a:t>
            </a:r>
            <a:endParaRPr lang="en-US" sz="5400" spc="-458" dirty="0">
              <a:solidFill>
                <a:srgbClr val="000000"/>
              </a:solidFill>
              <a:latin typeface="Garet" panose="020B0604020202020204" charset="0"/>
              <a:ea typeface="Archivo Black"/>
              <a:cs typeface="Archivo Black"/>
              <a:sym typeface="Archivo Black"/>
            </a:endParaRPr>
          </a:p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endParaRPr lang="en-US" sz="7200" b="1" spc="-458" dirty="0">
              <a:solidFill>
                <a:srgbClr val="000000"/>
              </a:solidFill>
              <a:latin typeface="Garet Bold" panose="020B0604020202020204" charset="0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443776A8-5BF1-5C6C-FDAB-3F0211A9B258}"/>
              </a:ext>
            </a:extLst>
          </p:cNvPr>
          <p:cNvSpPr txBox="1"/>
          <p:nvPr/>
        </p:nvSpPr>
        <p:spPr>
          <a:xfrm>
            <a:off x="6172200" y="4076700"/>
            <a:ext cx="11414218" cy="1969770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>
                <a:latin typeface="Garet" panose="020B0604020202020204" charset="0"/>
              </a:rPr>
              <a:t>Diretoria Pedagógica (DIPED) – Lapa/Perus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>
                <a:latin typeface="Garet" panose="020B0604020202020204" charset="0"/>
              </a:rPr>
              <a:t>Senac Tito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>
                <a:latin typeface="Garet" panose="020B0604020202020204" charset="0"/>
              </a:rPr>
              <a:t>Senac Scipião</a:t>
            </a:r>
          </a:p>
          <a:p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5118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8CCE2-E305-C8FD-6565-4BD621ABA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506378A-EAC4-8AEB-EDA8-925CE16AA0A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473A619-A185-7E13-FFE9-28DA349F71B9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FF2528C-549B-D853-2A77-2C0445ED0DA1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FCC4CE1-9A99-AC19-04E4-B1FCEF0982B2}"/>
              </a:ext>
            </a:extLst>
          </p:cNvPr>
          <p:cNvSpPr txBox="1"/>
          <p:nvPr/>
        </p:nvSpPr>
        <p:spPr>
          <a:xfrm>
            <a:off x="533400" y="570086"/>
            <a:ext cx="7203393" cy="76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Registros</a:t>
            </a: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pic>
        <p:nvPicPr>
          <p:cNvPr id="9" name="Imagem 8" descr="Grupo de pessoas sentadas ao redor de uma mesa&#10;&#10;O conteúdo gerado por IA pode estar incorreto.">
            <a:extLst>
              <a:ext uri="{FF2B5EF4-FFF2-40B4-BE49-F238E27FC236}">
                <a16:creationId xmlns:a16="http://schemas.microsoft.com/office/drawing/2014/main" id="{8B1F6E98-5A4E-A976-1B6A-DD21628E33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356166"/>
            <a:ext cx="10820400" cy="811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445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078B6-8BFD-D9C1-2853-5A36DCC44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C8A35FE-BE79-76FA-B59D-C338340490F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6701DC7-DF15-38C6-06BF-63EA819EE8D4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5499EDC-E752-8A1F-9CFD-86AD814CB5CD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AFB028F-DD5B-A5DB-2613-C9D9135DB747}"/>
              </a:ext>
            </a:extLst>
          </p:cNvPr>
          <p:cNvSpPr txBox="1"/>
          <p:nvPr/>
        </p:nvSpPr>
        <p:spPr>
          <a:xfrm>
            <a:off x="600000" y="570086"/>
            <a:ext cx="7203393" cy="76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Registros</a:t>
            </a: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pic>
        <p:nvPicPr>
          <p:cNvPr id="10" name="Imagem 9" descr="Grupo de pessoas em frente a palco&#10;&#10;O conteúdo gerado por IA pode estar incorreto.">
            <a:extLst>
              <a:ext uri="{FF2B5EF4-FFF2-40B4-BE49-F238E27FC236}">
                <a16:creationId xmlns:a16="http://schemas.microsoft.com/office/drawing/2014/main" id="{35B429EA-44B5-9D4F-2646-4A6AC7587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6950" y="1328759"/>
            <a:ext cx="5429249" cy="7238999"/>
          </a:xfrm>
          <a:prstGeom prst="rect">
            <a:avLst/>
          </a:prstGeom>
        </p:spPr>
      </p:pic>
      <p:pic>
        <p:nvPicPr>
          <p:cNvPr id="13" name="Imagem 12" descr="Pessoas sentadas em frente a palco&#10;&#10;O conteúdo gerado por IA pode estar incorreto.">
            <a:extLst>
              <a:ext uri="{FF2B5EF4-FFF2-40B4-BE49-F238E27FC236}">
                <a16:creationId xmlns:a16="http://schemas.microsoft.com/office/drawing/2014/main" id="{B914B872-9AED-930A-7C22-E4145A5698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120" y="1328759"/>
            <a:ext cx="5409585" cy="7212780"/>
          </a:xfrm>
          <a:prstGeom prst="rect">
            <a:avLst/>
          </a:prstGeom>
        </p:spPr>
      </p:pic>
      <p:pic>
        <p:nvPicPr>
          <p:cNvPr id="15" name="Imagem 14" descr="Pessoas sentadas em cadeiras&#10;&#10;O conteúdo gerado por IA pode estar incorreto.">
            <a:extLst>
              <a:ext uri="{FF2B5EF4-FFF2-40B4-BE49-F238E27FC236}">
                <a16:creationId xmlns:a16="http://schemas.microsoft.com/office/drawing/2014/main" id="{CE34FB63-2ACC-B8EB-CF92-FAADDFD6D9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00" y="1302541"/>
            <a:ext cx="5429249" cy="723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66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5BED3-5ED9-4238-7A51-9560FFEFC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54BF215-012C-0BB6-7FA7-34B16A29D3E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8736DF3-8994-D83D-8F8B-AF08375CB210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7C2E4A0-364C-8305-CAA4-B3CF496D42E2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0EFF2F3-EC3D-B0B2-4235-175D4F8E8FA0}"/>
              </a:ext>
            </a:extLst>
          </p:cNvPr>
          <p:cNvSpPr txBox="1"/>
          <p:nvPr/>
        </p:nvSpPr>
        <p:spPr>
          <a:xfrm>
            <a:off x="304800" y="570086"/>
            <a:ext cx="7203393" cy="76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Registros</a:t>
            </a: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pic>
        <p:nvPicPr>
          <p:cNvPr id="10" name="Imagem 9" descr="Grupo de pessoas sentadas em sala de aula&#10;&#10;O conteúdo gerado por IA pode estar incorreto.">
            <a:extLst>
              <a:ext uri="{FF2B5EF4-FFF2-40B4-BE49-F238E27FC236}">
                <a16:creationId xmlns:a16="http://schemas.microsoft.com/office/drawing/2014/main" id="{4FBE6C65-FA28-A1C1-1D1C-E55761806E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08" y="2050193"/>
            <a:ext cx="7715911" cy="5786933"/>
          </a:xfrm>
          <a:prstGeom prst="rect">
            <a:avLst/>
          </a:prstGeom>
        </p:spPr>
      </p:pic>
      <p:pic>
        <p:nvPicPr>
          <p:cNvPr id="13" name="Imagem 12" descr="Pessoas com roupas coloridas&#10;&#10;O conteúdo gerado por IA pode estar incorreto.">
            <a:extLst>
              <a:ext uri="{FF2B5EF4-FFF2-40B4-BE49-F238E27FC236}">
                <a16:creationId xmlns:a16="http://schemas.microsoft.com/office/drawing/2014/main" id="{38E6A10F-6863-A697-B7A3-F810FEB7B2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050193"/>
            <a:ext cx="7715911" cy="578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55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F8883-5E3E-6EC0-F421-D25AE086B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92F307A-CC33-7C8C-7DB1-2017D98FCD24}"/>
              </a:ext>
            </a:extLst>
          </p:cNvPr>
          <p:cNvSpPr/>
          <p:nvPr/>
        </p:nvSpPr>
        <p:spPr>
          <a:xfrm>
            <a:off x="-5862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42E7647-4A49-50C4-F1C7-E3338AC96F6C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02F01D4-DDA4-061A-4DBC-CB00D2833603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0B0E17D-2B29-B664-D895-3DB12002069D}"/>
              </a:ext>
            </a:extLst>
          </p:cNvPr>
          <p:cNvSpPr txBox="1"/>
          <p:nvPr/>
        </p:nvSpPr>
        <p:spPr>
          <a:xfrm>
            <a:off x="2203938" y="693237"/>
            <a:ext cx="13868400" cy="7848302"/>
          </a:xfrm>
          <a:prstGeom prst="rect">
            <a:avLst/>
          </a:prstGeom>
          <a:noFill/>
        </p:spPr>
        <p:txBody>
          <a:bodyPr wrap="square" numCol="3" spcCol="360000" rtlCol="0">
            <a:spAutoFit/>
          </a:bodyPr>
          <a:lstStyle/>
          <a:p>
            <a:r>
              <a:rPr lang="pt-BR" dirty="0"/>
              <a:t>Muntadas Lugar Público [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Place</a:t>
            </a:r>
            <a:r>
              <a:rPr lang="pt-BR" dirty="0"/>
              <a:t>] Curadoria [</a:t>
            </a:r>
            <a:r>
              <a:rPr lang="pt-BR" dirty="0" err="1"/>
              <a:t>Curated</a:t>
            </a:r>
            <a:r>
              <a:rPr lang="pt-BR" dirty="0"/>
              <a:t> </a:t>
            </a:r>
            <a:r>
              <a:rPr lang="pt-BR" dirty="0" err="1"/>
              <a:t>by</a:t>
            </a:r>
            <a:r>
              <a:rPr lang="pt-BR" dirty="0"/>
              <a:t>] Diego Matos Coordenação Artística [</a:t>
            </a:r>
            <a:r>
              <a:rPr lang="pt-BR" dirty="0" err="1"/>
              <a:t>Artistic</a:t>
            </a:r>
            <a:r>
              <a:rPr lang="pt-BR" dirty="0"/>
              <a:t> </a:t>
            </a:r>
            <a:r>
              <a:rPr lang="pt-BR" dirty="0" err="1"/>
              <a:t>Coordination</a:t>
            </a:r>
            <a:r>
              <a:rPr lang="pt-BR" dirty="0"/>
              <a:t>] Diego Matos Assistência Artística [</a:t>
            </a:r>
            <a:r>
              <a:rPr lang="pt-BR" dirty="0" err="1"/>
              <a:t>Artistic</a:t>
            </a:r>
            <a:r>
              <a:rPr lang="pt-BR" dirty="0"/>
              <a:t> </a:t>
            </a:r>
            <a:r>
              <a:rPr lang="pt-BR" dirty="0" err="1"/>
              <a:t>Assistance</a:t>
            </a:r>
            <a:r>
              <a:rPr lang="pt-BR" dirty="0"/>
              <a:t>] Vitor Cesar Assistentes do Artista [</a:t>
            </a:r>
            <a:r>
              <a:rPr lang="pt-BR" dirty="0" err="1"/>
              <a:t>Artist</a:t>
            </a:r>
            <a:r>
              <a:rPr lang="pt-BR" dirty="0"/>
              <a:t> </a:t>
            </a:r>
            <a:r>
              <a:rPr lang="pt-BR" dirty="0" err="1"/>
              <a:t>Assistants</a:t>
            </a:r>
            <a:r>
              <a:rPr lang="pt-BR" dirty="0"/>
              <a:t>] Andrea </a:t>
            </a:r>
            <a:r>
              <a:rPr lang="pt-BR" dirty="0" err="1"/>
              <a:t>Nacach</a:t>
            </a:r>
            <a:r>
              <a:rPr lang="pt-BR" dirty="0"/>
              <a:t>, Esteban </a:t>
            </a:r>
            <a:r>
              <a:rPr lang="pt-BR" dirty="0" err="1"/>
              <a:t>Andueza</a:t>
            </a:r>
            <a:r>
              <a:rPr lang="pt-BR" dirty="0"/>
              <a:t>, Federico </a:t>
            </a:r>
            <a:r>
              <a:rPr lang="pt-BR" dirty="0" err="1"/>
              <a:t>Logomarsino</a:t>
            </a:r>
            <a:r>
              <a:rPr lang="pt-BR" dirty="0"/>
              <a:t> e [</a:t>
            </a:r>
            <a:r>
              <a:rPr lang="pt-BR" dirty="0" err="1"/>
              <a:t>and</a:t>
            </a:r>
            <a:r>
              <a:rPr lang="pt-BR" dirty="0"/>
              <a:t>] </a:t>
            </a:r>
            <a:r>
              <a:rPr lang="pt-BR" dirty="0" err="1"/>
              <a:t>Corali</a:t>
            </a:r>
            <a:r>
              <a:rPr lang="pt-BR" dirty="0"/>
              <a:t> </a:t>
            </a:r>
            <a:r>
              <a:rPr lang="pt-BR" dirty="0" err="1"/>
              <a:t>Mercader</a:t>
            </a:r>
            <a:r>
              <a:rPr lang="pt-BR" dirty="0"/>
              <a:t> Produção Executiva [</a:t>
            </a:r>
            <a:r>
              <a:rPr lang="pt-BR" dirty="0" err="1"/>
              <a:t>Executive</a:t>
            </a:r>
            <a:r>
              <a:rPr lang="pt-BR" dirty="0"/>
              <a:t> </a:t>
            </a:r>
            <a:r>
              <a:rPr lang="pt-BR" dirty="0" err="1"/>
              <a:t>Production</a:t>
            </a:r>
            <a:r>
              <a:rPr lang="pt-BR" dirty="0"/>
              <a:t>] Pink </a:t>
            </a:r>
            <a:r>
              <a:rPr lang="pt-BR" dirty="0" err="1"/>
              <a:t>Pineapple</a:t>
            </a:r>
            <a:r>
              <a:rPr lang="pt-BR" dirty="0"/>
              <a:t> | Adelaide D’Esposito e [</a:t>
            </a:r>
            <a:r>
              <a:rPr lang="pt-BR" dirty="0" err="1"/>
              <a:t>and</a:t>
            </a:r>
            <a:r>
              <a:rPr lang="pt-BR" dirty="0"/>
              <a:t>] </a:t>
            </a:r>
            <a:r>
              <a:rPr lang="pt-BR" dirty="0" err="1"/>
              <a:t>Waléria</a:t>
            </a:r>
            <a:r>
              <a:rPr lang="pt-BR" dirty="0"/>
              <a:t> Dias Assistente de Produção [</a:t>
            </a:r>
            <a:r>
              <a:rPr lang="pt-BR" dirty="0" err="1"/>
              <a:t>Production</a:t>
            </a:r>
            <a:r>
              <a:rPr lang="pt-BR" dirty="0"/>
              <a:t> </a:t>
            </a:r>
            <a:r>
              <a:rPr lang="pt-BR" dirty="0" err="1"/>
              <a:t>Assistant</a:t>
            </a:r>
            <a:r>
              <a:rPr lang="pt-BR" dirty="0"/>
              <a:t>] Áurea Denize Identidade Visual e Projeto Gráfico [Visual </a:t>
            </a:r>
            <a:r>
              <a:rPr lang="pt-BR" dirty="0" err="1"/>
              <a:t>Identity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Graphic Design] Estúdio Permitido | Vitor Cesar, Beatriz </a:t>
            </a:r>
            <a:r>
              <a:rPr lang="pt-BR" dirty="0" err="1"/>
              <a:t>Sallowicz</a:t>
            </a:r>
            <a:r>
              <a:rPr lang="pt-BR" dirty="0"/>
              <a:t> e </a:t>
            </a:r>
            <a:r>
              <a:rPr lang="pt-BR" dirty="0" err="1"/>
              <a:t>Karime</a:t>
            </a:r>
            <a:r>
              <a:rPr lang="pt-BR" dirty="0"/>
              <a:t> Zaher Expografia [</a:t>
            </a:r>
            <a:r>
              <a:rPr lang="pt-BR" dirty="0" err="1"/>
              <a:t>Exhibition</a:t>
            </a:r>
            <a:r>
              <a:rPr lang="pt-BR" dirty="0"/>
              <a:t> Design] </a:t>
            </a:r>
            <a:r>
              <a:rPr lang="pt-BR" dirty="0" err="1"/>
              <a:t>a.ferrari</a:t>
            </a:r>
            <a:r>
              <a:rPr lang="pt-BR" dirty="0"/>
              <a:t> arquitetura | Anna Ferrari, Pedro Lins, Beatriz Teixeira e Marina Cortopassi Vídeos [</a:t>
            </a:r>
            <a:r>
              <a:rPr lang="pt-BR" dirty="0" err="1"/>
              <a:t>Videos</a:t>
            </a:r>
            <a:r>
              <a:rPr lang="pt-BR" dirty="0"/>
              <a:t>] Olhar Periférico Filmes | </a:t>
            </a:r>
            <a:r>
              <a:rPr lang="pt-BR" dirty="0" err="1"/>
              <a:t>Andre</a:t>
            </a:r>
            <a:r>
              <a:rPr lang="pt-BR" dirty="0"/>
              <a:t> </a:t>
            </a:r>
            <a:r>
              <a:rPr lang="pt-BR" dirty="0" err="1"/>
              <a:t>Fratti</a:t>
            </a:r>
            <a:r>
              <a:rPr lang="pt-BR" dirty="0"/>
              <a:t> Costa e Matias </a:t>
            </a:r>
            <a:r>
              <a:rPr lang="pt-BR" dirty="0" err="1"/>
              <a:t>Lancetti</a:t>
            </a:r>
            <a:r>
              <a:rPr lang="pt-BR" dirty="0"/>
              <a:t> Imagens de Drone [Drone Images] Gabriel Andrade Desenho de Som [</a:t>
            </a:r>
            <a:r>
              <a:rPr lang="pt-BR" dirty="0" err="1"/>
              <a:t>Sound</a:t>
            </a:r>
            <a:r>
              <a:rPr lang="pt-BR" dirty="0"/>
              <a:t> Design] </a:t>
            </a:r>
            <a:r>
              <a:rPr lang="pt-BR" dirty="0" err="1"/>
              <a:t>Sonideria</a:t>
            </a:r>
            <a:r>
              <a:rPr lang="pt-BR" dirty="0"/>
              <a:t> | Edson Secco Projeto de Iluminação [Lighting Design] Fernanda Carvalho Lighting Design Projeto de Elétrica e Estrutura [</a:t>
            </a:r>
            <a:r>
              <a:rPr lang="pt-BR" dirty="0" err="1"/>
              <a:t>Electrical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Structural</a:t>
            </a:r>
            <a:r>
              <a:rPr lang="pt-BR" dirty="0"/>
              <a:t> Project] Murilo Jarreta Projeto Consultoria de Audiovisual [Audiovisual Consultancy Project] </a:t>
            </a:r>
            <a:r>
              <a:rPr lang="pt-BR" dirty="0" err="1"/>
              <a:t>Mit</a:t>
            </a:r>
            <a:r>
              <a:rPr lang="pt-BR" dirty="0"/>
              <a:t> Arte | </a:t>
            </a:r>
            <a:r>
              <a:rPr lang="pt-BR" dirty="0" err="1"/>
              <a:t>Patricia</a:t>
            </a:r>
            <a:r>
              <a:rPr lang="pt-BR" dirty="0"/>
              <a:t> Mesquita Produção Gráfica [Graphic </a:t>
            </a:r>
            <a:r>
              <a:rPr lang="pt-BR" dirty="0" err="1"/>
              <a:t>Production</a:t>
            </a:r>
            <a:r>
              <a:rPr lang="pt-BR" dirty="0"/>
              <a:t>] Lilia Góes Coordenação de Montagem [</a:t>
            </a:r>
            <a:r>
              <a:rPr lang="pt-BR" dirty="0" err="1"/>
              <a:t>Art</a:t>
            </a:r>
            <a:r>
              <a:rPr lang="pt-BR" dirty="0"/>
              <a:t> </a:t>
            </a:r>
            <a:r>
              <a:rPr lang="pt-BR" dirty="0" err="1"/>
              <a:t>Handling</a:t>
            </a:r>
            <a:r>
              <a:rPr lang="pt-BR" dirty="0"/>
              <a:t> </a:t>
            </a:r>
            <a:r>
              <a:rPr lang="pt-BR" dirty="0" err="1"/>
              <a:t>Coordination</a:t>
            </a:r>
            <a:r>
              <a:rPr lang="pt-BR" dirty="0"/>
              <a:t>] Gala Montagem de Obras [</a:t>
            </a:r>
            <a:r>
              <a:rPr lang="pt-BR" dirty="0" err="1"/>
              <a:t>Art</a:t>
            </a:r>
            <a:r>
              <a:rPr lang="pt-BR" dirty="0"/>
              <a:t> </a:t>
            </a:r>
            <a:r>
              <a:rPr lang="pt-BR" dirty="0" err="1"/>
              <a:t>Handling</a:t>
            </a:r>
            <a:r>
              <a:rPr lang="pt-BR" dirty="0"/>
              <a:t>] Gala Produção de Obras [</a:t>
            </a:r>
            <a:r>
              <a:rPr lang="pt-BR" dirty="0" err="1"/>
              <a:t>Artwork</a:t>
            </a:r>
            <a:r>
              <a:rPr lang="pt-BR" dirty="0"/>
              <a:t> </a:t>
            </a:r>
            <a:r>
              <a:rPr lang="pt-BR" dirty="0" err="1"/>
              <a:t>Production</a:t>
            </a:r>
            <a:r>
              <a:rPr lang="pt-BR" dirty="0"/>
              <a:t>] Oficina São João e [</a:t>
            </a:r>
            <a:r>
              <a:rPr lang="pt-BR" dirty="0" err="1"/>
              <a:t>and</a:t>
            </a:r>
            <a:r>
              <a:rPr lang="pt-BR" dirty="0"/>
              <a:t>] </a:t>
            </a:r>
            <a:r>
              <a:rPr lang="pt-BR" dirty="0" err="1"/>
              <a:t>Insign</a:t>
            </a:r>
            <a:r>
              <a:rPr lang="pt-BR" dirty="0"/>
              <a:t> Impressões [Prints] Roda Ateliê Gráfica e Editora </a:t>
            </a:r>
            <a:r>
              <a:rPr lang="pt-BR" dirty="0" err="1"/>
              <a:t>Pifferprint</a:t>
            </a:r>
            <a:r>
              <a:rPr lang="pt-BR" dirty="0"/>
              <a:t> Molduras [Frames] </a:t>
            </a:r>
            <a:r>
              <a:rPr lang="pt-BR" dirty="0" err="1"/>
              <a:t>Art</a:t>
            </a:r>
            <a:r>
              <a:rPr lang="pt-BR" dirty="0"/>
              <a:t> </a:t>
            </a:r>
            <a:r>
              <a:rPr lang="pt-BR" dirty="0" err="1"/>
              <a:t>Factory</a:t>
            </a:r>
            <a:r>
              <a:rPr lang="pt-BR" dirty="0"/>
              <a:t> Coordenação Educativa [</a:t>
            </a:r>
            <a:r>
              <a:rPr lang="pt-BR" dirty="0" err="1"/>
              <a:t>Educational</a:t>
            </a:r>
            <a:r>
              <a:rPr lang="pt-BR" dirty="0"/>
              <a:t> Project </a:t>
            </a:r>
            <a:r>
              <a:rPr lang="pt-BR" dirty="0" err="1"/>
              <a:t>Coordination</a:t>
            </a:r>
            <a:r>
              <a:rPr lang="pt-BR" dirty="0"/>
              <a:t>] Janaína Machado Equipe Educativa [</a:t>
            </a:r>
            <a:r>
              <a:rPr lang="pt-BR" dirty="0" err="1"/>
              <a:t>Educational</a:t>
            </a:r>
            <a:r>
              <a:rPr lang="pt-BR" dirty="0"/>
              <a:t> Team] Alice </a:t>
            </a:r>
            <a:r>
              <a:rPr lang="pt-BR" dirty="0" err="1"/>
              <a:t>Yura</a:t>
            </a:r>
            <a:r>
              <a:rPr lang="pt-BR" dirty="0"/>
              <a:t>, Aline Ferreira, Aline Silva do Bom Conselho, Ana Clara Ramos, Augusto Nicoletti, Caio Saraiva, </a:t>
            </a:r>
            <a:r>
              <a:rPr lang="pt-BR" dirty="0" err="1"/>
              <a:t>Emili</a:t>
            </a:r>
            <a:r>
              <a:rPr lang="pt-BR" dirty="0"/>
              <a:t> Senra da Silva, Engler Reis, Guilherme Pombo, Gustavo Pereira, Helen Santos Aguiar, João Pedro, Jonas Santos Ferreira, Karen </a:t>
            </a:r>
            <a:r>
              <a:rPr lang="pt-BR" dirty="0" err="1"/>
              <a:t>Anisia</a:t>
            </a:r>
            <a:r>
              <a:rPr lang="pt-BR" dirty="0"/>
              <a:t>, Larissa Maria Rocha Silva, Lucas </a:t>
            </a:r>
            <a:r>
              <a:rPr lang="pt-BR" dirty="0" err="1"/>
              <a:t>Cominato</a:t>
            </a:r>
            <a:r>
              <a:rPr lang="pt-BR" dirty="0"/>
              <a:t> (Supervisão [</a:t>
            </a:r>
            <a:r>
              <a:rPr lang="pt-BR" dirty="0" err="1"/>
              <a:t>Supervision</a:t>
            </a:r>
            <a:r>
              <a:rPr lang="pt-BR" dirty="0"/>
              <a:t>]), Luma Louise </a:t>
            </a:r>
            <a:r>
              <a:rPr lang="pt-BR" dirty="0" err="1"/>
              <a:t>Delmondes</a:t>
            </a:r>
            <a:r>
              <a:rPr lang="pt-BR" dirty="0"/>
              <a:t>, Matheus Xavier, Mirian Almeida dos Santos (Supervisão [</a:t>
            </a:r>
            <a:r>
              <a:rPr lang="pt-BR" dirty="0" err="1"/>
              <a:t>Supervision</a:t>
            </a:r>
            <a:r>
              <a:rPr lang="pt-BR" dirty="0"/>
              <a:t>]), Obá Airam, Priscila </a:t>
            </a:r>
            <a:r>
              <a:rPr lang="pt-BR" dirty="0" err="1"/>
              <a:t>Pasetto</a:t>
            </a:r>
            <a:r>
              <a:rPr lang="pt-BR" dirty="0"/>
              <a:t>, Ricarda Wapichana, </a:t>
            </a:r>
            <a:r>
              <a:rPr lang="pt-BR" dirty="0" err="1"/>
              <a:t>Shamira</a:t>
            </a:r>
            <a:r>
              <a:rPr lang="pt-BR" dirty="0"/>
              <a:t> Mamani, Tamires Cristina dos Santos, Thiago Lago, </a:t>
            </a:r>
            <a:r>
              <a:rPr lang="pt-BR" dirty="0" err="1"/>
              <a:t>Williana</a:t>
            </a:r>
            <a:r>
              <a:rPr lang="pt-BR" dirty="0"/>
              <a:t> Silva (Supervisão [</a:t>
            </a:r>
            <a:r>
              <a:rPr lang="pt-BR" dirty="0" err="1"/>
              <a:t>Supervision</a:t>
            </a:r>
            <a:r>
              <a:rPr lang="pt-BR" dirty="0"/>
              <a:t>]) Produção e Coordenação de Acessibilidade [</a:t>
            </a:r>
            <a:r>
              <a:rPr lang="pt-BR" dirty="0" err="1"/>
              <a:t>Accessibility</a:t>
            </a:r>
            <a:r>
              <a:rPr lang="pt-BR" dirty="0"/>
              <a:t> </a:t>
            </a:r>
            <a:r>
              <a:rPr lang="pt-BR" dirty="0" err="1"/>
              <a:t>Production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Coordination</a:t>
            </a:r>
            <a:r>
              <a:rPr lang="pt-BR" dirty="0"/>
              <a:t>] Janela Produtora Consultoria em Acessibilidade e Audiodescrição Sensoriais  </a:t>
            </a:r>
            <a:r>
              <a:rPr lang="pt-BR" dirty="0" err="1"/>
              <a:t>Aka</a:t>
            </a:r>
            <a:r>
              <a:rPr lang="pt-BR" dirty="0"/>
              <a:t> Projetos Culturais Comunicação Visual [Visual Communication] </a:t>
            </a:r>
            <a:r>
              <a:rPr lang="pt-BR" dirty="0" err="1"/>
              <a:t>Select</a:t>
            </a:r>
            <a:r>
              <a:rPr lang="pt-BR" dirty="0"/>
              <a:t> Color – Artes Gráficas Cenografia [Set Design] </a:t>
            </a:r>
            <a:r>
              <a:rPr lang="pt-BR" dirty="0" err="1"/>
              <a:t>Maxxy</a:t>
            </a:r>
            <a:r>
              <a:rPr lang="pt-BR" dirty="0"/>
              <a:t> Stands Iluminação [Lighting] KL Produções AV </a:t>
            </a:r>
            <a:r>
              <a:rPr lang="pt-BR" dirty="0" err="1"/>
              <a:t>Criativy</a:t>
            </a:r>
            <a:r>
              <a:rPr lang="pt-BR" dirty="0"/>
              <a:t> Produções Créditos da publicação [</a:t>
            </a:r>
            <a:r>
              <a:rPr lang="pt-BR" dirty="0" err="1"/>
              <a:t>Publication</a:t>
            </a:r>
            <a:r>
              <a:rPr lang="pt-BR" dirty="0"/>
              <a:t> </a:t>
            </a:r>
            <a:r>
              <a:rPr lang="pt-BR" dirty="0" err="1"/>
              <a:t>credits</a:t>
            </a:r>
            <a:r>
              <a:rPr lang="pt-BR" dirty="0"/>
              <a:t>] Organizadores [</a:t>
            </a:r>
            <a:r>
              <a:rPr lang="pt-BR" dirty="0" err="1"/>
              <a:t>Editors</a:t>
            </a:r>
            <a:r>
              <a:rPr lang="pt-BR" dirty="0"/>
              <a:t>] Antoni Muntadas Diego Matos Vitor Cesar Textos [</a:t>
            </a:r>
            <a:r>
              <a:rPr lang="pt-BR" dirty="0" err="1"/>
              <a:t>Texts</a:t>
            </a:r>
            <a:r>
              <a:rPr lang="pt-BR" dirty="0"/>
              <a:t> </a:t>
            </a:r>
            <a:r>
              <a:rPr lang="pt-BR" dirty="0" err="1"/>
              <a:t>by</a:t>
            </a:r>
            <a:r>
              <a:rPr lang="pt-BR" dirty="0"/>
              <a:t>] Antoni Muntadas Ana Maria Tavares Diego Matos Guilherme Wisnik Projeto Gráfico [Graphic Design] Estúdio Permitido | Vitor Cesar Beatriz </a:t>
            </a:r>
            <a:r>
              <a:rPr lang="pt-BR" dirty="0" err="1"/>
              <a:t>Sallowicz</a:t>
            </a:r>
            <a:r>
              <a:rPr lang="pt-BR" dirty="0"/>
              <a:t> </a:t>
            </a:r>
            <a:r>
              <a:rPr lang="pt-BR" dirty="0" err="1"/>
              <a:t>Karime</a:t>
            </a:r>
            <a:r>
              <a:rPr lang="pt-BR" dirty="0"/>
              <a:t> Zaher Coordenação Editorial [Editorial </a:t>
            </a:r>
            <a:r>
              <a:rPr lang="pt-BR" dirty="0" err="1"/>
              <a:t>Coordination</a:t>
            </a:r>
            <a:r>
              <a:rPr lang="pt-BR" dirty="0"/>
              <a:t>] Cristina Fino Produção Gráfica [Graphic </a:t>
            </a:r>
            <a:r>
              <a:rPr lang="pt-BR" dirty="0" err="1"/>
              <a:t>Production</a:t>
            </a:r>
            <a:r>
              <a:rPr lang="pt-BR" dirty="0"/>
              <a:t>] Lilia Goes Tradução [</a:t>
            </a:r>
            <a:r>
              <a:rPr lang="pt-BR" dirty="0" err="1"/>
              <a:t>Translation</a:t>
            </a:r>
            <a:r>
              <a:rPr lang="pt-BR" dirty="0"/>
              <a:t>] Philip </a:t>
            </a:r>
            <a:r>
              <a:rPr lang="pt-BR" dirty="0" err="1"/>
              <a:t>Somervell</a:t>
            </a:r>
            <a:r>
              <a:rPr lang="pt-BR" dirty="0"/>
              <a:t> Mariana Nacif Mendes</a:t>
            </a:r>
          </a:p>
        </p:txBody>
      </p:sp>
    </p:spTree>
    <p:extLst>
      <p:ext uri="{BB962C8B-B14F-4D97-AF65-F5344CB8AC3E}">
        <p14:creationId xmlns:p14="http://schemas.microsoft.com/office/powerpoint/2010/main" val="3730727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0f1dc7-e081-4ee5-8ddc-4eb9cb678d23">
      <Terms xmlns="http://schemas.microsoft.com/office/infopath/2007/PartnerControls"/>
    </lcf76f155ced4ddcb4097134ff3c332f>
    <TaxCatchAll xmlns="0c3ae786-5e4f-419c-8a3f-0eb5f2beec7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6F4AA543F6DF343AE125287C7372420" ma:contentTypeVersion="19" ma:contentTypeDescription="Crie um novo documento." ma:contentTypeScope="" ma:versionID="5c156ee47157b23bbb4d74133864e0c7">
  <xsd:schema xmlns:xsd="http://www.w3.org/2001/XMLSchema" xmlns:xs="http://www.w3.org/2001/XMLSchema" xmlns:p="http://schemas.microsoft.com/office/2006/metadata/properties" xmlns:ns2="2f0f1dc7-e081-4ee5-8ddc-4eb9cb678d23" xmlns:ns3="0c3ae786-5e4f-419c-8a3f-0eb5f2beec71" targetNamespace="http://schemas.microsoft.com/office/2006/metadata/properties" ma:root="true" ma:fieldsID="e2d2199643eb1e463aea5ecf1739fc3c" ns2:_="" ns3:_="">
    <xsd:import namespace="2f0f1dc7-e081-4ee5-8ddc-4eb9cb678d23"/>
    <xsd:import namespace="0c3ae786-5e4f-419c-8a3f-0eb5f2beec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0f1dc7-e081-4ee5-8ddc-4eb9cb678d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5a3e1715-c84c-4513-8882-6ca9fbd4fe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3ae786-5e4f-419c-8a3f-0eb5f2beec7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b1bef07-5750-4eca-98f1-e07cb21896cd}" ma:internalName="TaxCatchAll" ma:showField="CatchAllData" ma:web="0c3ae786-5e4f-419c-8a3f-0eb5f2beec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216E51-BF42-4DF3-BB5F-F92C4A17FB27}">
  <ds:schemaRefs>
    <ds:schemaRef ds:uri="http://purl.org/dc/elements/1.1/"/>
    <ds:schemaRef ds:uri="http://purl.org/dc/dcmitype/"/>
    <ds:schemaRef ds:uri="0c3ae786-5e4f-419c-8a3f-0eb5f2beec71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2f0f1dc7-e081-4ee5-8ddc-4eb9cb678d23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052C4A3-9C6F-48B8-9A4F-6A86E5E67E37}"/>
</file>

<file path=customXml/itemProps3.xml><?xml version="1.0" encoding="utf-8"?>
<ds:datastoreItem xmlns:ds="http://schemas.openxmlformats.org/officeDocument/2006/customXml" ds:itemID="{BED3F7AE-B181-44B9-BCBD-181EE60B04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632</Words>
  <Application>Microsoft Office PowerPoint</Application>
  <PresentationFormat>Personalizar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Archivo Black</vt:lpstr>
      <vt:lpstr>Aptos</vt:lpstr>
      <vt:lpstr>Garet Bold</vt:lpstr>
      <vt:lpstr>Arial</vt:lpstr>
      <vt:lpstr>Calibri</vt:lpstr>
      <vt:lpstr>Garet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Assojaba Tupinamba</dc:title>
  <dc:creator>Pedro Leonardo Leme Bueno</dc:creator>
  <cp:lastModifiedBy>Pedro Leonardo Leme Bueno</cp:lastModifiedBy>
  <cp:revision>3</cp:revision>
  <dcterms:created xsi:type="dcterms:W3CDTF">2006-08-16T00:00:00Z</dcterms:created>
  <dcterms:modified xsi:type="dcterms:W3CDTF">2026-02-15T22:41:29Z</dcterms:modified>
  <dc:identifier>DAG38scdCyg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0x01010026F4AA543F6DF343AE125287C7372420</vt:lpwstr>
  </property>
  <property fmtid="{D5CDD505-2E9C-101B-9397-08002B2CF9AE}" pid="3" name="MediaServiceImageTags">
    <vt:lpwstr/>
  </property>
</Properties>
</file>
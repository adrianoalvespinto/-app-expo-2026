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84" r:id="rId6"/>
    <p:sldId id="285" r:id="rId7"/>
    <p:sldId id="278" r:id="rId8"/>
    <p:sldId id="265" r:id="rId9"/>
    <p:sldId id="273" r:id="rId10"/>
    <p:sldId id="258" r:id="rId11"/>
    <p:sldId id="274" r:id="rId12"/>
    <p:sldId id="275" r:id="rId13"/>
    <p:sldId id="266" r:id="rId14"/>
    <p:sldId id="279" r:id="rId15"/>
    <p:sldId id="271" r:id="rId16"/>
    <p:sldId id="280" r:id="rId17"/>
    <p:sldId id="281" r:id="rId18"/>
    <p:sldId id="282" r:id="rId19"/>
    <p:sldId id="283" r:id="rId20"/>
  </p:sldIdLst>
  <p:sldSz cx="18288000" cy="10287000"/>
  <p:notesSz cx="6858000" cy="9144000"/>
  <p:embeddedFontLst>
    <p:embeddedFont>
      <p:font typeface="Archivo Black" panose="020B0604020202020204" charset="0"/>
      <p:regular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807673-8821-7027-F446-DFB0147488D4}" name="Herbert Otacilio Da Silva" initials="HS" userId="S::herbert.silva@sescsp.org.br::cee1e1ac-31c5-41af-9b4f-52e5d8140c8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DA8"/>
    <a:srgbClr val="CC5D12"/>
    <a:srgbClr val="AB4E0F"/>
    <a:srgbClr val="E6630B"/>
    <a:srgbClr val="E1E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39F13-04C2-76CE-9B75-6C5BC74E0F45}" v="103" dt="2026-02-16T16:37:20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97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escsp-my.sharepoint.com/personal/herbert_silva_sescsp_org_br/Documents/2025_%20relat%C3%B3rio%20expo%20educat_%20ASSOJABA_Column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escsp-my.sharepoint.com/personal/herbert_silva_sescsp_org_br/Documents/2025_%20relat%C3%B3rio%20expo%20educat_%2038Panorama_Linh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rgbClr val="BD501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MAIO</c:v>
                </c:pt>
                <c:pt idx="1">
                  <c:v>JUNHO</c:v>
                </c:pt>
                <c:pt idx="2">
                  <c:v>JULHO</c:v>
                </c:pt>
                <c:pt idx="3">
                  <c:v>AGOSTO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754</c:v>
                </c:pt>
                <c:pt idx="1">
                  <c:v>1024</c:v>
                </c:pt>
                <c:pt idx="2">
                  <c:v>500</c:v>
                </c:pt>
                <c:pt idx="3">
                  <c:v>1495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E2-41E7-AFD2-75C6EB712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100"/>
        <c:axId val="2073971488"/>
        <c:axId val="2076197824"/>
      </c:barChart>
      <c:catAx>
        <c:axId val="207397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2076197824"/>
        <c:crosses val="autoZero"/>
        <c:auto val="1"/>
        <c:lblAlgn val="ctr"/>
        <c:lblOffset val="100"/>
        <c:noMultiLvlLbl val="0"/>
      </c:catAx>
      <c:valAx>
        <c:axId val="2076197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7397148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Numero</c:v>
          </c:tx>
          <c:spPr>
            <a:ln w="28575" cap="rnd">
              <a:solidFill>
                <a:srgbClr val="45D65A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0735080058224163E-2"/>
                  <c:y val="-1.066350710900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B88-40A2-A0B1-5B2D58B23F90}"/>
                </c:ext>
              </c:extLst>
            </c:dLbl>
            <c:dLbl>
              <c:idx val="1"/>
              <c:layout>
                <c:manualLayout>
                  <c:x val="-2.1106220892694125E-2"/>
                  <c:y val="-2.84355213892102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8-40A2-A0B1-5B2D58B23F90}"/>
                </c:ext>
              </c:extLst>
            </c:dLbl>
            <c:dLbl>
              <c:idx val="2"/>
              <c:layout>
                <c:manualLayout>
                  <c:x val="-2.6018922852983989E-2"/>
                  <c:y val="-1.18485900162953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B88-40A2-A0B1-5B2D58B23F90}"/>
                </c:ext>
              </c:extLst>
            </c:dLbl>
            <c:dLbl>
              <c:idx val="3"/>
              <c:layout>
                <c:manualLayout>
                  <c:x val="-1.4192158840406957E-2"/>
                  <c:y val="-9.47869786418882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88-40A2-A0B1-5B2D58B23F90}"/>
                </c:ext>
              </c:extLst>
            </c:dLbl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rgbClr val="000000"/>
                    </a:solidFill>
                    <a:latin typeface="Arial Black"/>
                    <a:ea typeface="Arial Black"/>
                    <a:cs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ABRIL</c:v>
                </c:pt>
                <c:pt idx="1">
                  <c:v>MAIO</c:v>
                </c:pt>
                <c:pt idx="2">
                  <c:v>JUNHO</c:v>
                </c:pt>
                <c:pt idx="3">
                  <c:v>JULHO</c:v>
                </c:pt>
                <c:pt idx="4">
                  <c:v>AGOSTO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99</c:v>
                </c:pt>
                <c:pt idx="2">
                  <c:v>111</c:v>
                </c:pt>
                <c:pt idx="3">
                  <c:v>80</c:v>
                </c:pt>
                <c:pt idx="4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A-467C-BC80-2FA49A807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8255647"/>
        <c:axId val="1588256127"/>
      </c:lineChart>
      <c:catAx>
        <c:axId val="1588255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88256127"/>
        <c:crosses val="autoZero"/>
        <c:auto val="1"/>
        <c:lblAlgn val="ctr"/>
        <c:lblOffset val="100"/>
        <c:noMultiLvlLbl val="0"/>
      </c:catAx>
      <c:valAx>
        <c:axId val="15882561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88255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487060" y="0"/>
            <a:ext cx="2646799" cy="2960595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885470" y="6402343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00" spc="-217" dirty="0">
                <a:latin typeface="Garet"/>
                <a:ea typeface="Archivo Black"/>
                <a:cs typeface="Archivo Black"/>
                <a:sym typeface="Archivo Black"/>
              </a:rPr>
              <a:t>Exposição | Sesc Campinas</a:t>
            </a:r>
            <a:endParaRPr lang="en-US" sz="2700" spc="-217">
              <a:latin typeface="Garet" panose="020B0604020202020204" charset="0"/>
              <a:ea typeface="Archivo Black"/>
              <a:cs typeface="Archivo Blac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8400999"/>
            <a:ext cx="3100542" cy="48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5"/>
              </a:lnSpc>
            </a:pPr>
            <a:r>
              <a:rPr lang="en-US" sz="145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24 DE ABRIL A </a:t>
            </a:r>
          </a:p>
          <a:p>
            <a:pPr marL="0" lvl="0" indent="0" algn="l">
              <a:lnSpc>
                <a:spcPts val="1915"/>
              </a:lnSpc>
              <a:spcBef>
                <a:spcPct val="0"/>
              </a:spcBef>
            </a:pPr>
            <a:r>
              <a:rPr lang="en-US" sz="145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31 DE AGOSTO DE 2025</a:t>
            </a:r>
            <a:endParaRPr lang="en-US" sz="1450" b="1" dirty="0">
              <a:solidFill>
                <a:srgbClr val="2B2B2B"/>
              </a:solidFill>
              <a:latin typeface="Garet Bold"/>
              <a:ea typeface="Garet Bold"/>
              <a:cs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5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Relatório geral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07240" y="3522155"/>
            <a:ext cx="10927255" cy="289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11"/>
              </a:lnSpc>
              <a:spcBef>
                <a:spcPct val="0"/>
              </a:spcBef>
            </a:pPr>
            <a:r>
              <a:rPr lang="en-US" sz="9200" spc="-730" dirty="0">
                <a:latin typeface="Garet Bold"/>
                <a:ea typeface="+mn-lt"/>
                <a:cs typeface="+mn-lt"/>
              </a:rPr>
              <a:t>38º Panorama da Arte Brasileira - Mil Graus</a:t>
            </a:r>
            <a:endParaRPr lang="pt-BR">
              <a:latin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>
            <a:extLst>
              <a:ext uri="{FF2B5EF4-FFF2-40B4-BE49-F238E27FC236}">
                <a16:creationId xmlns:a16="http://schemas.microsoft.com/office/drawing/2014/main" id="{027F93FD-9691-CEDE-6FFD-310C9EB8C68D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DEBE7C7-9E09-D717-EB1E-7376AA776D51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2BDB3BE-3159-D41D-27DA-276E907205FC}"/>
              </a:ext>
            </a:extLst>
          </p:cNvPr>
          <p:cNvSpPr/>
          <p:nvPr/>
        </p:nvSpPr>
        <p:spPr>
          <a:xfrm rot="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4D74C-7236-9350-6CA9-BDBAB6AFDE8E}"/>
              </a:ext>
            </a:extLst>
          </p:cNvPr>
          <p:cNvSpPr txBox="1"/>
          <p:nvPr/>
        </p:nvSpPr>
        <p:spPr>
          <a:xfrm>
            <a:off x="1028700" y="1557564"/>
            <a:ext cx="7279037" cy="78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endParaRPr lang="en-US" sz="5808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9A20B-2260-FB60-FE58-CF76630193D8}"/>
              </a:ext>
            </a:extLst>
          </p:cNvPr>
          <p:cNvSpPr txBox="1"/>
          <p:nvPr/>
        </p:nvSpPr>
        <p:spPr>
          <a:xfrm>
            <a:off x="14382445" y="981075"/>
            <a:ext cx="2876855" cy="3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CE674E-B44E-298F-E657-DC1F657D58A5}"/>
              </a:ext>
            </a:extLst>
          </p:cNvPr>
          <p:cNvSpPr txBox="1"/>
          <p:nvPr/>
        </p:nvSpPr>
        <p:spPr>
          <a:xfrm>
            <a:off x="916140" y="5506011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ea typeface="+mn-lt"/>
                <a:cs typeface="+mn-lt"/>
                <a:sym typeface="Garet Bold"/>
              </a:rPr>
              <a:t>34.124</a:t>
            </a:r>
            <a:endParaRPr lang="pt-BR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775F9D-3680-F074-D7D2-92D153C9F9FD}"/>
              </a:ext>
            </a:extLst>
          </p:cNvPr>
          <p:cNvSpPr txBox="1"/>
          <p:nvPr/>
        </p:nvSpPr>
        <p:spPr>
          <a:xfrm>
            <a:off x="6495750" y="5506012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sym typeface="Garet Bold"/>
              </a:rPr>
              <a:t>3.773</a:t>
            </a:r>
            <a:endParaRPr lang="pt-BR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1339C6-ED5D-7CBB-FC06-0EADD009CA5D}"/>
              </a:ext>
            </a:extLst>
          </p:cNvPr>
          <p:cNvSpPr txBox="1"/>
          <p:nvPr/>
        </p:nvSpPr>
        <p:spPr>
          <a:xfrm>
            <a:off x="292055" y="6124228"/>
            <a:ext cx="5177335" cy="10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toda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programação</a:t>
            </a:r>
            <a:endParaRPr lang="en-US" sz="3068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51C07A4-47C0-7D5B-328C-6AB5502362A2}"/>
              </a:ext>
            </a:extLst>
          </p:cNvPr>
          <p:cNvSpPr txBox="1"/>
          <p:nvPr/>
        </p:nvSpPr>
        <p:spPr>
          <a:xfrm>
            <a:off x="5871665" y="6124228"/>
            <a:ext cx="5177335" cy="108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pessoas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atendidas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marL="0" lvl="0" indent="0" algn="ctr">
              <a:lnSpc>
                <a:spcPts val="4295"/>
              </a:lnSpc>
              <a:spcBef>
                <a:spcPct val="0"/>
              </a:spcBef>
            </a:pP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visitas</a:t>
            </a: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mediadas</a:t>
            </a:r>
            <a:endParaRPr lang="en-US" sz="3068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E131EE0-E08B-B2FA-36BF-F88D6B56E2C6}"/>
              </a:ext>
            </a:extLst>
          </p:cNvPr>
          <p:cNvSpPr txBox="1"/>
          <p:nvPr/>
        </p:nvSpPr>
        <p:spPr>
          <a:xfrm>
            <a:off x="12680820" y="5537972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sym typeface="Garet Bold"/>
              </a:rPr>
              <a:t>7.432</a:t>
            </a:r>
            <a:endParaRPr lang="pt-BR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1CA3583-EEA3-E4CE-10DE-8E398FDF9074}"/>
              </a:ext>
            </a:extLst>
          </p:cNvPr>
          <p:cNvSpPr txBox="1"/>
          <p:nvPr/>
        </p:nvSpPr>
        <p:spPr>
          <a:xfrm>
            <a:off x="12056736" y="6156189"/>
            <a:ext cx="4870533" cy="1082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programação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integrada</a:t>
            </a:r>
            <a:endParaRPr lang="en-US" sz="305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121182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6BAEF5C4-BD67-4CFD-F6F3-C1BE87AB22DD}"/>
              </a:ext>
            </a:extLst>
          </p:cNvPr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noProof="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C0B3F20-02B2-B7F6-4901-851D16EDA918}"/>
              </a:ext>
            </a:extLst>
          </p:cNvPr>
          <p:cNvSpPr txBox="1"/>
          <p:nvPr/>
        </p:nvSpPr>
        <p:spPr>
          <a:xfrm>
            <a:off x="11100751" y="3060654"/>
            <a:ext cx="6158549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5808"/>
              </a:lnSpc>
            </a:pPr>
            <a:r>
              <a:rPr lang="pt-BR" sz="5808" spc="-458" noProof="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pt-BR" sz="5808" spc="-458" noProof="0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presenças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0857FCF-42E3-3534-9B18-23F665E05FCE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939"/>
              </a:lnSpc>
            </a:pPr>
            <a:r>
              <a:rPr lang="pt-BR" sz="2099" b="1" noProof="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</a:t>
            </a:r>
            <a:r>
              <a:rPr lang="pt-BR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  <a:endParaRPr lang="pt-BR" sz="2099" b="1" noProof="0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0F950054-21F1-2A9E-E636-B2A0D382AD3F}"/>
              </a:ext>
            </a:extLst>
          </p:cNvPr>
          <p:cNvSpPr txBox="1"/>
          <p:nvPr/>
        </p:nvSpPr>
        <p:spPr>
          <a:xfrm>
            <a:off x="1022838" y="3330572"/>
            <a:ext cx="4530613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66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"/>
              </a:rPr>
              <a:t>32.896</a:t>
            </a:r>
            <a:r>
              <a:rPr lang="pt-BR" sz="6600" b="1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pt-BR" sz="4400" noProof="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</a:p>
          <a:p>
            <a:pPr algn="ctr"/>
            <a:r>
              <a:rPr lang="pt-BR" sz="4400" noProof="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EXPOSIÇÃO</a:t>
            </a:r>
          </a:p>
          <a:p>
            <a:pPr algn="ctr">
              <a:spcBef>
                <a:spcPct val="0"/>
              </a:spcBef>
            </a:pPr>
            <a:r>
              <a:rPr lang="pt-BR" sz="4400" noProof="0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1 ação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" y="8857018"/>
            <a:ext cx="18288000" cy="492443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112</a:t>
            </a:r>
            <a:r>
              <a:rPr lang="pt-BR" sz="3200" noProof="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dias de visitação</a:t>
            </a: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C511EDE2-9A5A-C628-030F-920FA69F9F3F}"/>
              </a:ext>
            </a:extLst>
          </p:cNvPr>
          <p:cNvSpPr txBox="1"/>
          <p:nvPr/>
        </p:nvSpPr>
        <p:spPr>
          <a:xfrm>
            <a:off x="6858000" y="2682959"/>
            <a:ext cx="5876551" cy="5142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137</a:t>
            </a:r>
            <a:endParaRPr lang="pt-BR" sz="4800" b="1" noProof="0" dirty="0">
              <a:solidFill>
                <a:srgbClr val="000000"/>
              </a:solidFill>
              <a:latin typeface="Garet Bold" panose="020B0604020202020204" charset="0"/>
              <a:ea typeface="Garet Bold"/>
              <a:cs typeface="Garet Bold"/>
            </a:endParaRPr>
          </a:p>
          <a:p>
            <a:pPr algn="ctr"/>
            <a:r>
              <a:rPr lang="pt-BR" sz="3200" noProof="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presenças </a:t>
            </a: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  <a:p>
            <a:pPr algn="ctr"/>
            <a:r>
              <a:rPr lang="pt-BR" sz="3200" dirty="0">
                <a:solidFill>
                  <a:srgbClr val="000000"/>
                </a:solidFill>
                <a:latin typeface="Garet"/>
                <a:sym typeface="Garet Bold"/>
              </a:rPr>
              <a:t>PERFORMANCES</a:t>
            </a:r>
            <a:endParaRPr lang="pt-BR" dirty="0">
              <a:ea typeface="Calibri"/>
              <a:cs typeface="Calibri"/>
            </a:endParaRPr>
          </a:p>
          <a:p>
            <a:pPr algn="ctr"/>
            <a:r>
              <a:rPr lang="pt-BR" sz="32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3 ações</a:t>
            </a: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  <a:p>
            <a:pPr algn="ctr"/>
            <a:endParaRPr lang="pt-BR" sz="320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3200" dirty="0">
              <a:solidFill>
                <a:srgbClr val="000000"/>
              </a:solidFill>
              <a:latin typeface="Garet"/>
            </a:endParaRPr>
          </a:p>
          <a:p>
            <a:pPr algn="ctr">
              <a:lnSpc>
                <a:spcPts val="2794"/>
              </a:lnSpc>
            </a:pPr>
            <a:r>
              <a:rPr lang="pt-BR" sz="4800" dirty="0">
                <a:solidFill>
                  <a:srgbClr val="000000"/>
                </a:solidFill>
                <a:latin typeface="Garet Bold"/>
              </a:rPr>
              <a:t>3.267</a:t>
            </a:r>
            <a:endParaRPr lang="pt-BR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pt-BR" sz="3200" dirty="0">
                <a:solidFill>
                  <a:srgbClr val="000000"/>
                </a:solidFill>
                <a:latin typeface="Garet"/>
                <a:sym typeface="Garet Bold"/>
              </a:rPr>
              <a:t>alunos impactados diretamente</a:t>
            </a:r>
            <a:endParaRPr lang="pt-BR" sz="3200" dirty="0">
              <a:latin typeface="Garet"/>
            </a:endParaRPr>
          </a:p>
          <a:p>
            <a:pPr algn="ctr">
              <a:lnSpc>
                <a:spcPts val="2794"/>
              </a:lnSpc>
            </a:pPr>
            <a:endParaRPr lang="pt-BR" sz="3200" dirty="0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11048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BDC1E-7D4C-DCB8-9A56-77B68FFA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8CD3464-5DA2-508B-D356-76A61FE7B2A8}"/>
              </a:ext>
            </a:extLst>
          </p:cNvPr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8C802B50-79C0-7376-C196-62BDDDD9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825285"/>
              </p:ext>
            </p:extLst>
          </p:nvPr>
        </p:nvGraphicFramePr>
        <p:xfrm>
          <a:off x="8978012" y="5143500"/>
          <a:ext cx="9125542" cy="3433300"/>
        </p:xfrm>
        <a:graphic>
          <a:graphicData uri="http://schemas.openxmlformats.org/drawingml/2006/table">
            <a:tbl>
              <a:tblPr/>
              <a:tblGrid>
                <a:gridCol w="290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Equipe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02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II -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Supervisores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04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 –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Educadores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Formados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08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Estagiários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02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Auxiliares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 de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Atendimento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Formação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Híbrida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05 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dias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20h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9372600" y="1600906"/>
            <a:ext cx="6780409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000000"/>
                </a:solidFill>
                <a:latin typeface="Garet Bold"/>
                <a:sym typeface="Garet"/>
              </a:rPr>
              <a:t>3.773</a:t>
            </a:r>
            <a:endParaRPr lang="pt-BR" dirty="0"/>
          </a:p>
          <a:p>
            <a:pPr algn="ctr"/>
            <a:endParaRPr lang="en-US"/>
          </a:p>
          <a:p>
            <a:pPr algn="ctr"/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4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endParaRPr lang="en-US" sz="4400" dirty="0" err="1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  <a:p>
            <a:pPr algn="ctr"/>
            <a:r>
              <a:rPr lang="en-US" sz="4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VISITAS MEDIADAS</a:t>
            </a:r>
          </a:p>
          <a:p>
            <a:pPr algn="ctr"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260 </a:t>
            </a:r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endParaRPr lang="en-US" sz="4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08A5CA6-EFF5-987B-404E-FB175E3EE851}"/>
              </a:ext>
            </a:extLst>
          </p:cNvPr>
          <p:cNvGrpSpPr/>
          <p:nvPr/>
        </p:nvGrpSpPr>
        <p:grpSpPr>
          <a:xfrm>
            <a:off x="-609600" y="1559650"/>
            <a:ext cx="9125543" cy="7167700"/>
            <a:chOff x="-609600" y="1559650"/>
            <a:chExt cx="9125543" cy="71677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5AABD2-EDAE-7537-7126-2BF789A60CEB}"/>
                </a:ext>
              </a:extLst>
            </p:cNvPr>
            <p:cNvSpPr/>
            <p:nvPr/>
          </p:nvSpPr>
          <p:spPr>
            <a:xfrm>
              <a:off x="-609600" y="1559650"/>
              <a:ext cx="9125543" cy="7167700"/>
            </a:xfrm>
            <a:custGeom>
              <a:avLst/>
              <a:gdLst/>
              <a:ahLst/>
              <a:cxnLst/>
              <a:rect l="l" t="t" r="r" b="b"/>
              <a:pathLst>
                <a:path w="9125543" h="7167700">
                  <a:moveTo>
                    <a:pt x="0" y="0"/>
                  </a:moveTo>
                  <a:lnTo>
                    <a:pt x="9125544" y="0"/>
                  </a:lnTo>
                  <a:lnTo>
                    <a:pt x="9125544" y="7167700"/>
                  </a:lnTo>
                  <a:lnTo>
                    <a:pt x="0" y="716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8214669-D4C7-693D-1289-0F678E9BA369}"/>
                </a:ext>
              </a:extLst>
            </p:cNvPr>
            <p:cNvSpPr/>
            <p:nvPr/>
          </p:nvSpPr>
          <p:spPr>
            <a:xfrm>
              <a:off x="1341782" y="3710608"/>
              <a:ext cx="3710608" cy="95249"/>
            </a:xfrm>
            <a:prstGeom prst="rect">
              <a:avLst/>
            </a:prstGeom>
            <a:solidFill>
              <a:srgbClr val="E1EEA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DBFC90A6-CEF7-EBF2-DB99-BEB047674E72}"/>
                </a:ext>
              </a:extLst>
            </p:cNvPr>
            <p:cNvSpPr/>
            <p:nvPr/>
          </p:nvSpPr>
          <p:spPr>
            <a:xfrm>
              <a:off x="1341782" y="4228193"/>
              <a:ext cx="3710608" cy="95249"/>
            </a:xfrm>
            <a:prstGeom prst="rect">
              <a:avLst/>
            </a:prstGeom>
            <a:solidFill>
              <a:srgbClr val="E1EEA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FD377A44-80D2-CD45-C750-F233C5EB24C8}"/>
                </a:ext>
              </a:extLst>
            </p:cNvPr>
            <p:cNvSpPr/>
            <p:nvPr/>
          </p:nvSpPr>
          <p:spPr>
            <a:xfrm>
              <a:off x="1341782" y="4745778"/>
              <a:ext cx="3710608" cy="95249"/>
            </a:xfrm>
            <a:prstGeom prst="rect">
              <a:avLst/>
            </a:prstGeom>
            <a:solidFill>
              <a:srgbClr val="E1EEA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2469874A-1C6A-2C88-74AC-9DD75A0FC754}"/>
                </a:ext>
              </a:extLst>
            </p:cNvPr>
            <p:cNvSpPr txBox="1"/>
            <p:nvPr/>
          </p:nvSpPr>
          <p:spPr>
            <a:xfrm>
              <a:off x="1295400" y="6124228"/>
              <a:ext cx="6172200" cy="5982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95"/>
                </a:lnSpc>
              </a:pPr>
              <a:r>
                <a:rPr lang="en-US" sz="4800" spc="-458" dirty="0">
                  <a:solidFill>
                    <a:schemeClr val="bg1"/>
                  </a:solidFill>
                  <a:latin typeface="Garet Bold" panose="020B0604020202020204" charset="0"/>
                  <a:ea typeface="Archivo Black"/>
                  <a:cs typeface="Archivo Black"/>
                  <a:sym typeface="Archivo Black"/>
                </a:rPr>
                <a:t>Equipe </a:t>
              </a:r>
              <a:r>
                <a:rPr lang="en-US" sz="4800" spc="-458" dirty="0" err="1">
                  <a:solidFill>
                    <a:schemeClr val="bg1"/>
                  </a:solidFill>
                  <a:latin typeface="Garet Bold" panose="020B0604020202020204" charset="0"/>
                  <a:ea typeface="Archivo Black"/>
                  <a:cs typeface="Archivo Black"/>
                  <a:sym typeface="Archivo Black"/>
                </a:rPr>
                <a:t>Educativa</a:t>
              </a:r>
              <a:endParaRPr lang="en-US" sz="4800" spc="-458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585133" y="956067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10003047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447800" y="870351"/>
            <a:ext cx="14782800" cy="727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Presença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em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visitas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mediadas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exposição</a:t>
            </a:r>
            <a:endParaRPr lang="en-US" sz="4400" spc="-458" dirty="0">
              <a:solidFill>
                <a:srgbClr val="000000"/>
              </a:solidFill>
              <a:latin typeface="Garet 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05/16</a:t>
            </a:r>
            <a:endParaRPr lang="pt-BR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324EEC8-48B6-6DE8-24A9-B0E7DB2F22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790000"/>
              </p:ext>
            </p:extLst>
          </p:nvPr>
        </p:nvGraphicFramePr>
        <p:xfrm>
          <a:off x="1078303" y="1861060"/>
          <a:ext cx="16907772" cy="7362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5D9A-13DA-E312-80E5-E7518DB3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90C5D4F-5ACA-526A-D62D-39F4624561C4}"/>
              </a:ext>
            </a:extLst>
          </p:cNvPr>
          <p:cNvSpPr/>
          <p:nvPr/>
        </p:nvSpPr>
        <p:spPr>
          <a:xfrm>
            <a:off x="-585133" y="9517538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0EB9079-C093-BF2C-DEB9-59978D2A5B57}"/>
              </a:ext>
            </a:extLst>
          </p:cNvPr>
          <p:cNvSpPr/>
          <p:nvPr/>
        </p:nvSpPr>
        <p:spPr>
          <a:xfrm>
            <a:off x="-585133" y="1004617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95DBF5-E5B4-A834-351A-BE5A38901568}"/>
              </a:ext>
            </a:extLst>
          </p:cNvPr>
          <p:cNvSpPr txBox="1"/>
          <p:nvPr/>
        </p:nvSpPr>
        <p:spPr>
          <a:xfrm>
            <a:off x="1447800" y="870351"/>
            <a:ext cx="14782800" cy="728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ações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integradas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dos meses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E517CA-2857-8240-6FD0-AE964F9A2E94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06/16</a:t>
            </a:r>
            <a:endParaRPr lang="pt-BR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872E67F-4284-227A-B3B0-72ABADA27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874872"/>
              </p:ext>
            </p:extLst>
          </p:nvPr>
        </p:nvGraphicFramePr>
        <p:xfrm>
          <a:off x="603849" y="1796362"/>
          <a:ext cx="17101868" cy="7470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3916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651426F-46BF-AA31-C678-C2B663446FD6}"/>
              </a:ext>
            </a:extLst>
          </p:cNvPr>
          <p:cNvSpPr/>
          <p:nvPr/>
        </p:nvSpPr>
        <p:spPr>
          <a:xfrm>
            <a:off x="1118918" y="2282046"/>
            <a:ext cx="6785754" cy="645543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9A31098-639A-3778-D1DB-C199CAD3F36C}"/>
              </a:ext>
            </a:extLst>
          </p:cNvPr>
          <p:cNvSpPr txBox="1"/>
          <p:nvPr/>
        </p:nvSpPr>
        <p:spPr>
          <a:xfrm>
            <a:off x="1489494" y="6124228"/>
            <a:ext cx="6172200" cy="1634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6000" dirty="0">
                <a:solidFill>
                  <a:schemeClr val="bg1"/>
                </a:solidFill>
                <a:latin typeface="Garet Bold"/>
                <a:ea typeface="Garet"/>
                <a:cs typeface="Garet"/>
                <a:sym typeface="Garet"/>
              </a:rPr>
              <a:t>7.432 </a:t>
            </a:r>
          </a:p>
          <a:p>
            <a:pPr algn="ctr">
              <a:lnSpc>
                <a:spcPts val="4295"/>
              </a:lnSpc>
            </a:pP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integradas</a:t>
            </a:r>
            <a:r>
              <a:rPr lang="en-US" sz="3068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à </a:t>
            </a:r>
            <a:r>
              <a:rPr lang="en-US" sz="3068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exposição</a:t>
            </a:r>
            <a:endParaRPr lang="en-US" sz="306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C15FEB0-FA0F-17B5-3870-E20C91ADAA24}"/>
              </a:ext>
            </a:extLst>
          </p:cNvPr>
          <p:cNvSpPr/>
          <p:nvPr/>
        </p:nvSpPr>
        <p:spPr>
          <a:xfrm>
            <a:off x="-780331" y="3040452"/>
            <a:ext cx="4152900" cy="152400"/>
          </a:xfrm>
          <a:prstGeom prst="rect">
            <a:avLst/>
          </a:prstGeom>
          <a:solidFill>
            <a:srgbClr val="DEE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1652135-AC1D-2A73-195B-7A735724D38F}"/>
              </a:ext>
            </a:extLst>
          </p:cNvPr>
          <p:cNvSpPr/>
          <p:nvPr/>
        </p:nvSpPr>
        <p:spPr>
          <a:xfrm>
            <a:off x="233272" y="3687433"/>
            <a:ext cx="4152900" cy="152400"/>
          </a:xfrm>
          <a:prstGeom prst="rect">
            <a:avLst/>
          </a:prstGeom>
          <a:solidFill>
            <a:srgbClr val="DEE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F6A4DB-931B-B36D-1E6B-ABFCE73CBF8F}"/>
              </a:ext>
            </a:extLst>
          </p:cNvPr>
          <p:cNvSpPr/>
          <p:nvPr/>
        </p:nvSpPr>
        <p:spPr>
          <a:xfrm>
            <a:off x="944951" y="4334414"/>
            <a:ext cx="4152900" cy="152400"/>
          </a:xfrm>
          <a:prstGeom prst="rect">
            <a:avLst/>
          </a:prstGeom>
          <a:solidFill>
            <a:srgbClr val="DEE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897B17EB-EC32-83E1-B7A1-1F6A1DC54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912349"/>
              </p:ext>
            </p:extLst>
          </p:nvPr>
        </p:nvGraphicFramePr>
        <p:xfrm>
          <a:off x="9144000" y="2286000"/>
          <a:ext cx="8493768" cy="64396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75015">
                  <a:extLst>
                    <a:ext uri="{9D8B030D-6E8A-4147-A177-3AD203B41FA5}">
                      <a16:colId xmlns:a16="http://schemas.microsoft.com/office/drawing/2014/main" val="513439459"/>
                    </a:ext>
                  </a:extLst>
                </a:gridCol>
                <a:gridCol w="2443441">
                  <a:extLst>
                    <a:ext uri="{9D8B030D-6E8A-4147-A177-3AD203B41FA5}">
                      <a16:colId xmlns:a16="http://schemas.microsoft.com/office/drawing/2014/main" val="3656841581"/>
                    </a:ext>
                  </a:extLst>
                </a:gridCol>
                <a:gridCol w="1775312">
                  <a:extLst>
                    <a:ext uri="{9D8B030D-6E8A-4147-A177-3AD203B41FA5}">
                      <a16:colId xmlns:a16="http://schemas.microsoft.com/office/drawing/2014/main" val="3915634875"/>
                    </a:ext>
                  </a:extLst>
                </a:gridCol>
              </a:tblGrid>
              <a:tr h="128792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pt-BR" sz="2400" dirty="0">
                        <a:effectLst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err="1">
                          <a:effectLst/>
                          <a:latin typeface="Garet Bold"/>
                        </a:rPr>
                        <a:t>presenças</a:t>
                      </a:r>
                      <a:endParaRPr lang="en-US" sz="2400">
                        <a:effectLst/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err="1">
                          <a:solidFill>
                            <a:srgbClr val="808080"/>
                          </a:solidFill>
                          <a:effectLst/>
                          <a:latin typeface="Garet Bold"/>
                        </a:rPr>
                        <a:t>ações</a:t>
                      </a:r>
                      <a:endParaRPr lang="en-US" sz="2400">
                        <a:effectLst/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88597"/>
                  </a:ext>
                </a:extLst>
              </a:tr>
              <a:tr h="12879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b="1" err="1">
                          <a:effectLst/>
                          <a:latin typeface="Garet Bold"/>
                        </a:rPr>
                        <a:t>Oficinas</a:t>
                      </a:r>
                      <a:endParaRPr lang="en-US" sz="2400">
                        <a:effectLst/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Garet Bold"/>
                        </a:rPr>
                        <a:t>1907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808080"/>
                          </a:solidFill>
                          <a:effectLst/>
                          <a:latin typeface="Garet Bold"/>
                        </a:rPr>
                        <a:t>67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190468"/>
                  </a:ext>
                </a:extLst>
              </a:tr>
              <a:tr h="12879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b="1" err="1">
                          <a:effectLst/>
                          <a:latin typeface="Garet Bold"/>
                        </a:rPr>
                        <a:t>Vivência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Garet Bold"/>
                        </a:rPr>
                        <a:t>1265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808080"/>
                          </a:solidFill>
                          <a:effectLst/>
                          <a:latin typeface="Garet Bold"/>
                        </a:rPr>
                        <a:t>35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351680"/>
                  </a:ext>
                </a:extLst>
              </a:tr>
              <a:tr h="12879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b="1" err="1">
                          <a:effectLst/>
                          <a:latin typeface="Garet Bold"/>
                        </a:rPr>
                        <a:t>Mediação</a:t>
                      </a:r>
                      <a:endParaRPr lang="en-US" sz="2400">
                        <a:effectLst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Garet Bold"/>
                        </a:rPr>
                        <a:t>3773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808080"/>
                          </a:solidFill>
                          <a:effectLst/>
                          <a:latin typeface="Garet Bold"/>
                        </a:rPr>
                        <a:t>260</a:t>
                      </a:r>
                      <a:endParaRPr lang="en-US" sz="2400" dirty="0">
                        <a:effectLst/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309620"/>
                  </a:ext>
                </a:extLst>
              </a:tr>
              <a:tr h="12879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b="1" err="1">
                          <a:effectLst/>
                          <a:latin typeface="Garet Bold"/>
                        </a:rPr>
                        <a:t>Apresentação</a:t>
                      </a:r>
                      <a:endParaRPr lang="en-US" sz="2400">
                        <a:effectLst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effectLst/>
                          <a:latin typeface="Garet Bold"/>
                        </a:rPr>
                        <a:t>487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775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808080"/>
                          </a:solidFill>
                          <a:effectLst/>
                          <a:latin typeface="Garet Bold"/>
                        </a:rPr>
                        <a:t>4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929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3CC4-F571-48F2-7C39-28DD692D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BA6CCAD3-0318-EEA0-4095-B7D4CDE78877}"/>
              </a:ext>
            </a:extLst>
          </p:cNvPr>
          <p:cNvSpPr txBox="1"/>
          <p:nvPr/>
        </p:nvSpPr>
        <p:spPr>
          <a:xfrm>
            <a:off x="10591800" y="6391635"/>
            <a:ext cx="6667500" cy="3810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6 </a:t>
            </a:r>
            <a:r>
              <a:rPr lang="en-US" sz="7200" b="1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cidades</a:t>
            </a:r>
            <a:endParaRPr lang="en-US" sz="7200" b="1" spc="-458" dirty="0">
              <a:solidFill>
                <a:srgbClr val="000000"/>
              </a:solidFill>
              <a:latin typeface="Garet Bold"/>
              <a:ea typeface="Archivo Black"/>
              <a:cs typeface="Archivo Black"/>
              <a:sym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abrangência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visitação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de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grupos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para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além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de Campinas</a:t>
            </a:r>
            <a:endParaRPr lang="en-US" sz="5400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B6F8271-3D51-F8CF-DD9F-B19454B21C5E}"/>
              </a:ext>
            </a:extLst>
          </p:cNvPr>
          <p:cNvSpPr txBox="1"/>
          <p:nvPr/>
        </p:nvSpPr>
        <p:spPr>
          <a:xfrm>
            <a:off x="12938218" y="981075"/>
            <a:ext cx="4321082" cy="35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08/16</a:t>
            </a:r>
            <a:endParaRPr lang="pt-BR" dirty="0"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2638323E-3606-ADDD-D1C1-97B3732AAB25}"/>
              </a:ext>
            </a:extLst>
          </p:cNvPr>
          <p:cNvSpPr txBox="1"/>
          <p:nvPr/>
        </p:nvSpPr>
        <p:spPr>
          <a:xfrm>
            <a:off x="1666336" y="1898530"/>
            <a:ext cx="14905008" cy="4431983"/>
          </a:xfrm>
          <a:prstGeom prst="rect">
            <a:avLst/>
          </a:prstGeom>
        </p:spPr>
        <p:txBody>
          <a:bodyPr wrap="square" lIns="0" tIns="0" rIns="0" bIns="0" numCol="3" rtlCol="0" anchor="t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Hortolândia</a:t>
            </a:r>
            <a:endParaRPr lang="pt-BR" sz="480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Itatiba</a:t>
            </a:r>
            <a:endParaRPr lang="pt-BR" sz="480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Paulínia</a:t>
            </a:r>
            <a:endParaRPr lang="pt-BR" sz="480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Sumaré</a:t>
            </a:r>
            <a:endParaRPr lang="pt-BR" sz="480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São Paulo</a:t>
            </a:r>
            <a:endParaRPr lang="pt-BR" sz="480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pt-BR" sz="4800" dirty="0">
                <a:latin typeface="Garet"/>
              </a:rPr>
              <a:t>Valinhos</a:t>
            </a:r>
            <a:endParaRPr lang="pt-BR" sz="4800" dirty="0">
              <a:latin typeface="Garet" panose="020B060402020202020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pt-BR" sz="3200" dirty="0">
              <a:latin typeface="Garet" panose="020B0604020202020204" charset="0"/>
            </a:endParaRPr>
          </a:p>
          <a:p>
            <a:pPr marL="1158875" indent="-168275">
              <a:buFont typeface="Arial" panose="020B0604020202020204" pitchFamily="34" charset="0"/>
              <a:buChar char="•"/>
            </a:pPr>
            <a:endParaRPr lang="pt-BR" sz="3200" dirty="0"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8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FDA7-B291-C22D-9667-DA9A5DD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7F082A3-D60F-1AAB-1517-60689FB4FD8C}"/>
              </a:ext>
            </a:extLst>
          </p:cNvPr>
          <p:cNvSpPr txBox="1"/>
          <p:nvPr/>
        </p:nvSpPr>
        <p:spPr>
          <a:xfrm>
            <a:off x="1796443" y="1346835"/>
            <a:ext cx="8749349" cy="306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7200" b="1" spc="-458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8 </a:t>
            </a:r>
            <a:r>
              <a:rPr lang="en-US" sz="7200" b="1" spc="-458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instituições</a:t>
            </a:r>
            <a:endParaRPr lang="en-US" sz="7200" b="1" spc="-458">
              <a:solidFill>
                <a:srgbClr val="000000"/>
              </a:solidFill>
              <a:latin typeface="Garet Bold"/>
              <a:ea typeface="Archivo Black"/>
              <a:cs typeface="Archivo Black"/>
            </a:endParaRPr>
          </a:p>
          <a:p>
            <a:pPr>
              <a:lnSpc>
                <a:spcPts val="5808"/>
              </a:lnSpc>
            </a:pPr>
            <a:r>
              <a:rPr lang="en-US" sz="4000" spc="-458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destaques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entre as </a:t>
            </a:r>
            <a:r>
              <a:rPr lang="en-US" sz="4000" spc="-458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instituições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recebidas</a:t>
            </a:r>
            <a:endParaRPr lang="en-US" sz="5400" spc="-458">
              <a:solidFill>
                <a:srgbClr val="000000"/>
              </a:solidFill>
              <a:latin typeface="Garet"/>
              <a:ea typeface="Archivo Black"/>
              <a:cs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BC3A460-C150-E3A8-05B9-91D55EB1C4B7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09/16</a:t>
            </a:r>
            <a:endParaRPr lang="pt-BR" dirty="0"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43776A8-5BF1-5C6C-FDAB-3F0211A9B258}"/>
              </a:ext>
            </a:extLst>
          </p:cNvPr>
          <p:cNvSpPr txBox="1"/>
          <p:nvPr/>
        </p:nvSpPr>
        <p:spPr>
          <a:xfrm>
            <a:off x="6172200" y="4076700"/>
            <a:ext cx="11414218" cy="4555093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Aldeias infantis SOS</a:t>
            </a:r>
            <a:endParaRPr lang="pt-BR" dirty="0">
              <a:latin typeface="Gare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Associação Anhumas Quero </a:t>
            </a:r>
            <a:r>
              <a:rPr lang="pt-BR" sz="2800" dirty="0" err="1">
                <a:latin typeface="Garet"/>
              </a:rPr>
              <a:t>Quero</a:t>
            </a:r>
            <a:endParaRPr lang="pt-BR" sz="2800" dirty="0" err="1">
              <a:latin typeface="Gare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CAPS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COMEC – Centro de Orientação ao Adolescente de Campinas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Fundação Síndrome de Down</a:t>
            </a:r>
            <a:endParaRPr lang="pt-BR" sz="2800" dirty="0">
              <a:latin typeface="Gare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  <a:ea typeface="+mn-lt"/>
                <a:cs typeface="+mn-lt"/>
              </a:rPr>
              <a:t>ICCT - Instituto Campineiro</a:t>
            </a:r>
            <a:r>
              <a:rPr lang="pt-BR" sz="2800" dirty="0">
                <a:latin typeface="Garet"/>
                <a:ea typeface="Calibri"/>
                <a:cs typeface="Calibri"/>
              </a:rPr>
              <a:t> dos Cegos Trabalhadores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Secretaria Municipal de Assistência 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  <a:ea typeface="+mn-lt"/>
                <a:cs typeface="+mn-lt"/>
              </a:rPr>
              <a:t>Sociedade Educativa de Trabalho e Assistência - SETA</a:t>
            </a: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511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4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Box 21"/>
          <p:cNvSpPr txBox="1"/>
          <p:nvPr/>
        </p:nvSpPr>
        <p:spPr>
          <a:xfrm>
            <a:off x="957365" y="1655550"/>
            <a:ext cx="15786981" cy="1455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Parcerias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e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relacionamentos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estabelecidos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ou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fortalecidos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 a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partir</a:t>
            </a:r>
            <a:r>
              <a:rPr lang="en-US" sz="4000" spc="-458" dirty="0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000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exposição</a:t>
            </a:r>
            <a:endParaRPr lang="en-US" sz="4000" spc="-458" dirty="0">
              <a:solidFill>
                <a:srgbClr val="000000"/>
              </a:solidFill>
              <a:latin typeface="Garet Bold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10/16</a:t>
            </a:r>
            <a:endParaRPr lang="pt-BR" dirty="0"/>
          </a:p>
        </p:txBody>
      </p:sp>
      <p:sp>
        <p:nvSpPr>
          <p:cNvPr id="23" name="TextBox 23"/>
          <p:cNvSpPr txBox="1"/>
          <p:nvPr/>
        </p:nvSpPr>
        <p:spPr>
          <a:xfrm>
            <a:off x="619813" y="3953460"/>
            <a:ext cx="4435171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pt-BR" sz="2400" dirty="0">
                <a:solidFill>
                  <a:srgbClr val="000000"/>
                </a:solidFill>
                <a:latin typeface="Garet Bold"/>
                <a:ea typeface="Calibri"/>
                <a:cs typeface="Calibri"/>
              </a:rPr>
              <a:t>MAM - SP</a:t>
            </a:r>
            <a:br>
              <a:rPr lang="pt-BR" sz="2400" b="1" dirty="0">
                <a:latin typeface="Garet"/>
              </a:rPr>
            </a:br>
            <a:r>
              <a:rPr lang="pt-BR" sz="2400" dirty="0">
                <a:solidFill>
                  <a:srgbClr val="000000"/>
                </a:solidFill>
                <a:latin typeface="Garet"/>
              </a:rPr>
              <a:t>Continuidade da parceria estabelecida anteriormente junto à Instituição</a:t>
            </a:r>
          </a:p>
          <a:p>
            <a:pPr algn="ctr">
              <a:lnSpc>
                <a:spcPts val="2794"/>
              </a:lnSpc>
            </a:pPr>
            <a:endParaRPr lang="pt-BR" sz="2400" b="1" dirty="0">
              <a:latin typeface="Garet" panose="020B060402020202020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57600" y="6764785"/>
            <a:ext cx="4175279" cy="10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Senac Campinas</a:t>
            </a:r>
            <a:endParaRPr lang="pt-BR" sz="2400" dirty="0">
              <a:latin typeface="Garet Bold" panose="020B0604020202020204" charset="0"/>
            </a:endParaRP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Ampliação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da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visitação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turmas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na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exposição</a:t>
            </a:r>
            <a:endParaRPr lang="en-US" sz="240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271287" y="3853409"/>
            <a:ext cx="4114584" cy="143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GAIA UNICAMP</a:t>
            </a:r>
            <a:endParaRPr lang="en-US" sz="2400" b="1" dirty="0">
              <a:solidFill>
                <a:srgbClr val="000000"/>
              </a:solidFill>
              <a:latin typeface="Garet Bold" panose="020B0604020202020204" charset="0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Visita da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gestão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e equipe da Galeria da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Universidade</a:t>
            </a:r>
            <a:endParaRPr lang="en-US" sz="2400" dirty="0" err="1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31328983-4961-5554-745E-BE3B4F610424}"/>
              </a:ext>
            </a:extLst>
          </p:cNvPr>
          <p:cNvSpPr txBox="1"/>
          <p:nvPr/>
        </p:nvSpPr>
        <p:spPr>
          <a:xfrm>
            <a:off x="6882308" y="3780647"/>
            <a:ext cx="4510560" cy="14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Secretaria Municipal de </a:t>
            </a:r>
            <a:r>
              <a:rPr lang="en-US" sz="2400" b="1" dirty="0" err="1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Educação</a:t>
            </a:r>
            <a:r>
              <a:rPr lang="en-US" sz="24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 </a:t>
            </a:r>
            <a:endParaRPr lang="pt-BR" sz="2400" dirty="0">
              <a:latin typeface="Garet Bold" panose="020B0604020202020204" charset="0"/>
            </a:endParaRP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Oferecimento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ônibus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visitação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escolares</a:t>
            </a:r>
            <a:endParaRPr lang="en-US" sz="240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909F154B-D5F8-F934-CE03-762B8E29D670}"/>
              </a:ext>
            </a:extLst>
          </p:cNvPr>
          <p:cNvSpPr txBox="1"/>
          <p:nvPr/>
        </p:nvSpPr>
        <p:spPr>
          <a:xfrm>
            <a:off x="10455123" y="6810165"/>
            <a:ext cx="4114584" cy="143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 err="1">
                <a:solidFill>
                  <a:srgbClr val="000000"/>
                </a:solidFill>
                <a:latin typeface="Garet Bold"/>
                <a:ea typeface="+mn-lt"/>
                <a:cs typeface="+mn-lt"/>
                <a:sym typeface="Garet Bold"/>
              </a:rPr>
              <a:t>Projeto</a:t>
            </a:r>
            <a:r>
              <a:rPr lang="en-US" sz="2400" b="1" dirty="0">
                <a:solidFill>
                  <a:srgbClr val="000000"/>
                </a:solidFill>
                <a:latin typeface="Garet Bold"/>
                <a:ea typeface="+mn-lt"/>
                <a:cs typeface="+mn-lt"/>
                <a:sym typeface="Garet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Garet Bold"/>
                <a:ea typeface="+mn-lt"/>
                <a:cs typeface="+mn-lt"/>
                <a:sym typeface="Garet Bold"/>
              </a:rPr>
              <a:t>Gente</a:t>
            </a:r>
            <a:r>
              <a:rPr lang="en-US" sz="2400" b="1" dirty="0">
                <a:solidFill>
                  <a:srgbClr val="000000"/>
                </a:solidFill>
                <a:latin typeface="Garet Bold"/>
                <a:ea typeface="+mn-lt"/>
                <a:cs typeface="+mn-lt"/>
                <a:sym typeface="Garet Bold"/>
              </a:rPr>
              <a:t> Nova (PROGEN)</a:t>
            </a:r>
            <a:endParaRPr lang="pt-BR" dirty="0"/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Atendimento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 de 247 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crianças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projeto</a:t>
            </a:r>
            <a:endParaRPr lang="en-US" sz="2400" dirty="0" err="1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473A619-A185-7E13-FFE9-28DA349F71B9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FF2528C-549B-D853-2A77-2C0445ED0DA1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6C10996-7FAA-895F-B17C-D5DB05AAF094}"/>
              </a:ext>
            </a:extLst>
          </p:cNvPr>
          <p:cNvSpPr txBox="1"/>
          <p:nvPr/>
        </p:nvSpPr>
        <p:spPr>
          <a:xfrm>
            <a:off x="12938218" y="981075"/>
            <a:ext cx="4321082" cy="35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11/16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6AAB1D-6FEE-07E3-0395-97D5F5C9B40E}"/>
              </a:ext>
            </a:extLst>
          </p:cNvPr>
          <p:cNvSpPr txBox="1"/>
          <p:nvPr/>
        </p:nvSpPr>
        <p:spPr>
          <a:xfrm>
            <a:off x="8405862" y="8191460"/>
            <a:ext cx="769188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400" dirty="0"/>
              <a:t>Educativo interagindo com público espontâneo na exposição - Acervo coletivo educativo exposição</a:t>
            </a:r>
          </a:p>
        </p:txBody>
      </p:sp>
      <p:pic>
        <p:nvPicPr>
          <p:cNvPr id="10" name="Imagem 9" descr="Uma imagem contendo galeria, cena, no interior, quarto&#10;&#10;O conteúdo gerado por IA pode estar incorreto.">
            <a:extLst>
              <a:ext uri="{FF2B5EF4-FFF2-40B4-BE49-F238E27FC236}">
                <a16:creationId xmlns:a16="http://schemas.microsoft.com/office/drawing/2014/main" id="{7DC1806D-E98C-35C6-E6E2-4285DC03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191" y="1848659"/>
            <a:ext cx="11144069" cy="620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78B6-8BFD-D9C1-2853-5A36DCC4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B6701DC7-DF15-38C6-06BF-63EA819EE8D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5499EDC-E752-8A1F-9CFD-86AD814CB5CD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FB028F-DD5B-A5DB-2613-C9D9135DB747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27A7C11-4F39-73FB-66EA-844A89576212}"/>
              </a:ext>
            </a:extLst>
          </p:cNvPr>
          <p:cNvSpPr txBox="1"/>
          <p:nvPr/>
        </p:nvSpPr>
        <p:spPr>
          <a:xfrm>
            <a:off x="12938218" y="981075"/>
            <a:ext cx="4321082" cy="35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12/16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35AE9-549D-A724-999C-D818F04F5E18}"/>
              </a:ext>
            </a:extLst>
          </p:cNvPr>
          <p:cNvSpPr txBox="1"/>
          <p:nvPr/>
        </p:nvSpPr>
        <p:spPr>
          <a:xfrm>
            <a:off x="5602277" y="8083630"/>
            <a:ext cx="1008571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400" dirty="0"/>
              <a:t>Educativo interagindo com crianças na exposição através de objetos disparadores – Acervo coletivo educativo exposição</a:t>
            </a:r>
          </a:p>
        </p:txBody>
      </p:sp>
      <p:pic>
        <p:nvPicPr>
          <p:cNvPr id="6" name="Imagem 5" descr="Uma imagem contendo no interior, criança, cena, quarto&#10;&#10;O conteúdo gerado por IA pode estar incorreto.">
            <a:extLst>
              <a:ext uri="{FF2B5EF4-FFF2-40B4-BE49-F238E27FC236}">
                <a16:creationId xmlns:a16="http://schemas.microsoft.com/office/drawing/2014/main" id="{5452F3D1-2D4E-F1D8-54AC-F4F4D9BD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86" y="993296"/>
            <a:ext cx="5147274" cy="689861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B022591-990B-9944-495A-C3D6E03D5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640" y="981255"/>
            <a:ext cx="5187890" cy="690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F8736DF3-8994-D83D-8F8B-AF08375CB210}"/>
              </a:ext>
            </a:extLst>
          </p:cNvPr>
          <p:cNvSpPr/>
          <p:nvPr/>
        </p:nvSpPr>
        <p:spPr>
          <a:xfrm>
            <a:off x="-585133" y="9164113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7C2E4A0-364C-8305-CAA4-B3CF496D42E2}"/>
              </a:ext>
            </a:extLst>
          </p:cNvPr>
          <p:cNvSpPr/>
          <p:nvPr/>
        </p:nvSpPr>
        <p:spPr>
          <a:xfrm>
            <a:off x="-295118" y="9488037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EFF2F3-EC3D-B0B2-4235-175D4F8E8FA0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AED875-AF15-E551-4290-A820DC97E87A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13/16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5E7909-F004-D570-D4FF-3DB39C919F2A}"/>
              </a:ext>
            </a:extLst>
          </p:cNvPr>
          <p:cNvSpPr txBox="1"/>
          <p:nvPr/>
        </p:nvSpPr>
        <p:spPr>
          <a:xfrm>
            <a:off x="6861128" y="8615718"/>
            <a:ext cx="79896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400" dirty="0"/>
              <a:t>Presença de instituições sociais na exposição e Objetos disparadores – Acervo coletivo educativo exposição</a:t>
            </a:r>
            <a:endParaRPr lang="pt-BR" sz="1400" dirty="0">
              <a:ea typeface="Calibri"/>
              <a:cs typeface="Calibri"/>
            </a:endParaRPr>
          </a:p>
        </p:txBody>
      </p:sp>
      <p:pic>
        <p:nvPicPr>
          <p:cNvPr id="9" name="Imagem 8" descr="Uma imagem contendo no interior, televisão, edifício, foto&#10;&#10;O conteúdo gerado por IA pode estar incorreto.">
            <a:extLst>
              <a:ext uri="{FF2B5EF4-FFF2-40B4-BE49-F238E27FC236}">
                <a16:creationId xmlns:a16="http://schemas.microsoft.com/office/drawing/2014/main" id="{1C615AD4-8B71-425C-5E25-70792631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482" y="4490966"/>
            <a:ext cx="9618544" cy="40005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6E114B6-5B55-70C5-CCDC-6D2C4E2BC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141" y="581594"/>
            <a:ext cx="9591106" cy="376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B2C8-D8D1-92DF-CA1E-957FC073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0DEB7203-752B-6661-58B2-43BAAC4D3E4E}"/>
              </a:ext>
            </a:extLst>
          </p:cNvPr>
          <p:cNvSpPr/>
          <p:nvPr/>
        </p:nvSpPr>
        <p:spPr>
          <a:xfrm>
            <a:off x="-585133" y="923718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43717D7-D385-528B-A43C-8FE6A9D441F0}"/>
              </a:ext>
            </a:extLst>
          </p:cNvPr>
          <p:cNvSpPr/>
          <p:nvPr/>
        </p:nvSpPr>
        <p:spPr>
          <a:xfrm>
            <a:off x="-585133" y="965799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A27B3E-BB47-740B-9B96-7EC6624BFB58}"/>
              </a:ext>
            </a:extLst>
          </p:cNvPr>
          <p:cNvSpPr txBox="1"/>
          <p:nvPr/>
        </p:nvSpPr>
        <p:spPr>
          <a:xfrm>
            <a:off x="1167164" y="1455989"/>
            <a:ext cx="11468100" cy="700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40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Além</a:t>
            </a:r>
            <a:r>
              <a:rPr lang="en-US" sz="4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 dos 1000°, </a:t>
            </a:r>
            <a:r>
              <a:rPr lang="en-US" sz="40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até</a:t>
            </a:r>
            <a:r>
              <a:rPr lang="en-US" sz="4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onde</a:t>
            </a:r>
            <a:r>
              <a:rPr lang="en-US" sz="4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vai</a:t>
            </a:r>
            <a:r>
              <a:rPr lang="en-US" sz="4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 esse </a:t>
            </a:r>
            <a:r>
              <a:rPr lang="en-US" sz="40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calor</a:t>
            </a:r>
            <a:r>
              <a:rPr lang="en-US" sz="4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</a:rPr>
              <a:t>?</a:t>
            </a:r>
            <a:endParaRPr lang="en-US" sz="4000" spc="-458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428AAF-8FC8-0478-50EA-423511556C2F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14/16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6E8C9B-5484-BA14-1296-D8001BBCBF97}"/>
              </a:ext>
            </a:extLst>
          </p:cNvPr>
          <p:cNvSpPr txBox="1"/>
          <p:nvPr/>
        </p:nvSpPr>
        <p:spPr>
          <a:xfrm>
            <a:off x="1156646" y="2150081"/>
            <a:ext cx="9574601" cy="65556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>
                <a:solidFill>
                  <a:srgbClr val="1F1F1F"/>
                </a:solidFill>
                <a:latin typeface="Garet"/>
                <a:cs typeface="Arial"/>
              </a:rPr>
              <a:t>Panorama</a:t>
            </a:r>
            <a:endParaRPr lang="pt-BR" sz="2000">
              <a:latin typeface="Garet"/>
            </a:endParaRPr>
          </a:p>
          <a:p>
            <a:r>
              <a:rPr lang="pt-BR" sz="2000" dirty="0">
                <a:solidFill>
                  <a:srgbClr val="5E5E5E"/>
                </a:solidFill>
                <a:latin typeface="Garet"/>
                <a:cs typeface="Arial"/>
              </a:rPr>
              <a:t>substantivo masculino</a:t>
            </a:r>
            <a:endParaRPr lang="pt-BR" sz="2000">
              <a:latin typeface="Garet"/>
            </a:endParaRPr>
          </a:p>
          <a:p>
            <a:r>
              <a:rPr lang="pt-BR" sz="2000" dirty="0">
                <a:solidFill>
                  <a:srgbClr val="1F1F1F"/>
                </a:solidFill>
                <a:latin typeface="Garet"/>
                <a:cs typeface="Arial"/>
              </a:rPr>
              <a:t>1.</a:t>
            </a:r>
            <a:endParaRPr lang="pt-BR" sz="2000">
              <a:latin typeface="Garet"/>
              <a:ea typeface="Calibri"/>
              <a:cs typeface="Calibri"/>
            </a:endParaRPr>
          </a:p>
          <a:p>
            <a:r>
              <a:rPr lang="pt-BR" sz="2000" dirty="0">
                <a:solidFill>
                  <a:srgbClr val="1F1F1F"/>
                </a:solidFill>
                <a:latin typeface="Garet"/>
                <a:cs typeface="Arial"/>
              </a:rPr>
              <a:t>visão ampla, em todas as direções, sem obstáculos e ger. de um ponto mais alto, de uma área extensa; paisagem, vista.</a:t>
            </a:r>
          </a:p>
          <a:p>
            <a:r>
              <a:rPr lang="pt-BR" sz="2000" dirty="0">
                <a:solidFill>
                  <a:srgbClr val="1F1F1F"/>
                </a:solidFill>
                <a:latin typeface="Garet"/>
                <a:cs typeface="Arial"/>
              </a:rPr>
              <a:t>2.</a:t>
            </a:r>
            <a:endParaRPr lang="pt-BR" sz="2000">
              <a:latin typeface="Garet"/>
              <a:ea typeface="Calibri"/>
              <a:cs typeface="Calibri"/>
            </a:endParaRPr>
          </a:p>
          <a:p>
            <a:r>
              <a:rPr lang="pt-BR" sz="2000" dirty="0">
                <a:solidFill>
                  <a:srgbClr val="1F1F1F"/>
                </a:solidFill>
                <a:latin typeface="Garet"/>
                <a:cs typeface="Arial"/>
              </a:rPr>
              <a:t>amplo quadro circular que permite ao espectador, colocado num ponto central, observar, como se estivesse do alto, objetos representados.</a:t>
            </a:r>
          </a:p>
          <a:p>
            <a:endParaRPr lang="pt-BR" sz="2000" dirty="0">
              <a:latin typeface="Garet"/>
              <a:ea typeface="Calibri"/>
              <a:cs typeface="Calibri"/>
            </a:endParaRPr>
          </a:p>
          <a:p>
            <a:r>
              <a:rPr lang="pt-BR" sz="2000" dirty="0">
                <a:latin typeface="Garet"/>
                <a:cs typeface="Segoe UI"/>
              </a:rPr>
              <a:t>A partir da definição de “panorama” do dicionário, podemos dizer que se pressupõe um ponto de vista privilegiado, acessível apenas a quem se encontra no alto. No entanto, </a:t>
            </a:r>
            <a:r>
              <a:rPr lang="pt-BR" sz="2000" dirty="0">
                <a:latin typeface="Garet"/>
                <a:ea typeface="+mn-lt"/>
                <a:cs typeface="Segoe UI"/>
              </a:rPr>
              <a:t>a exposição </a:t>
            </a:r>
            <a:r>
              <a:rPr lang="pt-BR" sz="2000" b="1" dirty="0">
                <a:latin typeface="Garet"/>
                <a:ea typeface="+mn-lt"/>
                <a:cs typeface="Segoe UI"/>
              </a:rPr>
              <a:t>38º Panorama da Arte Brasileira – Mil Graus</a:t>
            </a:r>
            <a:r>
              <a:rPr lang="pt-BR" sz="2000" dirty="0">
                <a:latin typeface="Garet"/>
                <a:ea typeface="+mn-lt"/>
                <a:cs typeface="Segoe UI"/>
              </a:rPr>
              <a:t>, em seus múltiplos discursos, trouxe à cena aqueles que sempre estiveram atribuídos à margem e que, mesmo a partir dessa posição, espalharam seu calor por seus territórios e conquistaram seu próprio espaço no circuito da arte contemporânea, inspirando tantos outros. Sendo assim, podemos dizer que o calor residual surgido a partir da itinerância criou uma rede calorosa de coragem e afeto.</a:t>
            </a:r>
            <a:br>
              <a:rPr lang="pt-BR" sz="2000" dirty="0">
                <a:latin typeface="Garet"/>
              </a:rPr>
            </a:br>
            <a:endParaRPr lang="pt-BR" sz="2000">
              <a:latin typeface="Garet"/>
              <a:ea typeface="Calibri"/>
              <a:cs typeface="Calibri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1FA8D5-4D6B-7181-7B58-420EC9F0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DF92E3-368C-D716-79C1-D9BDACF1AEC3}"/>
              </a:ext>
            </a:extLst>
          </p:cNvPr>
          <p:cNvSpPr txBox="1"/>
          <p:nvPr/>
        </p:nvSpPr>
        <p:spPr>
          <a:xfrm>
            <a:off x="12154364" y="8713058"/>
            <a:ext cx="4953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400" dirty="0">
                <a:ea typeface="Calibri"/>
                <a:cs typeface="Calibri"/>
              </a:rPr>
              <a:t>Peça de argila e frase resultante de umas das oficinas da </a:t>
            </a:r>
            <a:r>
              <a:rPr lang="pt-BR" sz="1400" dirty="0">
                <a:ea typeface="+mn-lt"/>
                <a:cs typeface="+mn-lt"/>
              </a:rPr>
              <a:t>itinerância, Acervo coletivo do educativo da exposição</a:t>
            </a:r>
            <a:endParaRPr lang="pt-BR" sz="1400" dirty="0" err="1">
              <a:ea typeface="Calibri"/>
              <a:cs typeface="Calibri"/>
            </a:endParaRPr>
          </a:p>
        </p:txBody>
      </p:sp>
      <p:pic>
        <p:nvPicPr>
          <p:cNvPr id="2" name="Imagem 1" descr="Uma imagem contendo pessoa, ao ar livre, segurando, homem&#10;&#10;O conteúdo gerado por IA pode estar incorreto.">
            <a:extLst>
              <a:ext uri="{FF2B5EF4-FFF2-40B4-BE49-F238E27FC236}">
                <a16:creationId xmlns:a16="http://schemas.microsoft.com/office/drawing/2014/main" id="{9215C264-FF1D-C572-710A-701821C0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864" y="1601638"/>
            <a:ext cx="5908914" cy="70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0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8883-5E3E-6EC0-F421-D25AE086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B42E7647-4A49-50C4-F1C7-E3338AC96F6C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02F01D4-DDA4-061A-4DBC-CB00D2833603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C9F338A-487C-93FA-5F0D-74DEB71E7BE1}"/>
              </a:ext>
            </a:extLst>
          </p:cNvPr>
          <p:cNvSpPr txBox="1"/>
          <p:nvPr/>
        </p:nvSpPr>
        <p:spPr>
          <a:xfrm>
            <a:off x="441418" y="495300"/>
            <a:ext cx="6111782" cy="93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1600" b="1" dirty="0"/>
              <a:t>SESC – SERVICO SOCIAL DO COMERCIO</a:t>
            </a:r>
            <a:endParaRPr lang="pt-BR" sz="1600" b="1" dirty="0">
              <a:ea typeface="Calibri"/>
              <a:cs typeface="Calibri"/>
            </a:endParaRPr>
          </a:p>
          <a:p>
            <a:r>
              <a:rPr lang="pt-BR" sz="1600" err="1"/>
              <a:t>Administracao</a:t>
            </a:r>
            <a:r>
              <a:rPr lang="pt-BR" sz="1600" dirty="0"/>
              <a:t> Regional no Estado de </a:t>
            </a:r>
            <a:r>
              <a:rPr lang="pt-BR" sz="1600" err="1"/>
              <a:t>Sao</a:t>
            </a:r>
            <a:r>
              <a:rPr lang="pt-BR" sz="1600" dirty="0"/>
              <a:t> Paulo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presidente do conselho regional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Abram Szajman</a:t>
            </a:r>
          </a:p>
          <a:p>
            <a:r>
              <a:rPr lang="pt-BR" sz="1600" dirty="0">
                <a:ea typeface="+mn-lt"/>
                <a:cs typeface="+mn-lt"/>
              </a:rPr>
              <a:t>diretor do departamento regional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Luiz Deoclécio Massaro Galina</a:t>
            </a:r>
          </a:p>
          <a:p>
            <a:r>
              <a:rPr lang="pt-BR" sz="1600" dirty="0">
                <a:ea typeface="+mn-lt"/>
                <a:cs typeface="+mn-lt"/>
              </a:rPr>
              <a:t>SUPERINTENDÊNCIAS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técnico-social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Rosana Paulo da Cunha</a:t>
            </a:r>
          </a:p>
          <a:p>
            <a:r>
              <a:rPr lang="pt-BR" sz="1600" dirty="0">
                <a:ea typeface="+mn-lt"/>
                <a:cs typeface="+mn-lt"/>
              </a:rPr>
              <a:t>comunicação social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Ricardo Gentil</a:t>
            </a:r>
          </a:p>
          <a:p>
            <a:r>
              <a:rPr lang="pt-BR" sz="1600" dirty="0">
                <a:ea typeface="+mn-lt"/>
                <a:cs typeface="+mn-lt"/>
              </a:rPr>
              <a:t>administração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Jackson Andrade de Matos</a:t>
            </a:r>
          </a:p>
          <a:p>
            <a:r>
              <a:rPr lang="pt-BR" sz="1600" dirty="0">
                <a:ea typeface="+mn-lt"/>
                <a:cs typeface="+mn-lt"/>
              </a:rPr>
              <a:t>assessoria técnica e de planejamento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Marta Raquel </a:t>
            </a:r>
            <a:r>
              <a:rPr lang="pt-BR" sz="1600" b="1" err="1">
                <a:ea typeface="+mn-lt"/>
                <a:cs typeface="+mn-lt"/>
              </a:rPr>
              <a:t>Colabone</a:t>
            </a:r>
            <a:endParaRPr lang="pt-BR" sz="1600" b="1">
              <a:ea typeface="+mn-lt"/>
              <a:cs typeface="+mn-lt"/>
            </a:endParaRPr>
          </a:p>
          <a:p>
            <a:r>
              <a:rPr lang="pt-BR" sz="1600" dirty="0">
                <a:ea typeface="+mn-lt"/>
                <a:cs typeface="+mn-lt"/>
              </a:rPr>
              <a:t>assessoria jurídica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Carla Bertucci Barbieri</a:t>
            </a:r>
          </a:p>
          <a:p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GERÊNCIAS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artes visuais e tecnologia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Juliana Braga de Mattos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estudos e desenvolvimento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João Paulo </a:t>
            </a:r>
            <a:r>
              <a:rPr lang="pt-BR" sz="1600" b="1" err="1">
                <a:ea typeface="+mn-lt"/>
                <a:cs typeface="+mn-lt"/>
              </a:rPr>
              <a:t>Guadanucci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educação para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sustentabilidade e cidadania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Denise Baena Segura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artes gráficas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Rogério Ianelli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difusão e promoção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Ligia Moreira </a:t>
            </a:r>
            <a:r>
              <a:rPr lang="pt-BR" sz="1600" b="1" err="1">
                <a:ea typeface="+mn-lt"/>
                <a:cs typeface="+mn-lt"/>
              </a:rPr>
              <a:t>Moreli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centro de produção audiovisual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Wagner </a:t>
            </a:r>
            <a:r>
              <a:rPr lang="pt-BR" sz="1600" b="1" err="1">
                <a:ea typeface="+mn-lt"/>
                <a:cs typeface="+mn-lt"/>
              </a:rPr>
              <a:t>Palazzi</a:t>
            </a:r>
            <a:r>
              <a:rPr lang="pt-BR" sz="1600" b="1" dirty="0">
                <a:ea typeface="+mn-lt"/>
                <a:cs typeface="+mn-lt"/>
              </a:rPr>
              <a:t> Perez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contratações e logística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Márcia </a:t>
            </a:r>
            <a:r>
              <a:rPr lang="pt-BR" sz="1600" b="1" err="1">
                <a:ea typeface="+mn-lt"/>
                <a:cs typeface="+mn-lt"/>
              </a:rPr>
              <a:t>Mitter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patrimônio e serviços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Adriana Mathias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Sesc Campinas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Hideki </a:t>
            </a:r>
            <a:r>
              <a:rPr lang="pt-BR" sz="1600" b="1" err="1">
                <a:ea typeface="+mn-lt"/>
                <a:cs typeface="+mn-lt"/>
              </a:rPr>
              <a:t>Yoshimoto</a:t>
            </a:r>
            <a:endParaRPr lang="pt-BR" sz="1600" err="1"/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F52537-AECF-8110-1DAE-C7A687C122C7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latin typeface="Garet Bold"/>
              </a:rPr>
              <a:t>15/16</a:t>
            </a:r>
            <a:endParaRPr lang="pt-BR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97D7FAF-A8C4-8D62-D818-B2B600D9203D}"/>
              </a:ext>
            </a:extLst>
          </p:cNvPr>
          <p:cNvSpPr txBox="1"/>
          <p:nvPr/>
        </p:nvSpPr>
        <p:spPr>
          <a:xfrm>
            <a:off x="5640605" y="495300"/>
            <a:ext cx="6111782" cy="9171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1600" b="1" dirty="0">
                <a:ea typeface="+mn-lt"/>
                <a:cs typeface="+mn-lt"/>
              </a:rPr>
              <a:t>EXPOSIÇÃO – Panorama da Arte Brasileira – Mil Graus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realização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Museu de Arte Moderna de São Paulo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Sesc – Serviço Social do Comércio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curadoria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Germano </a:t>
            </a:r>
            <a:r>
              <a:rPr lang="pt-BR" sz="1600" b="1" err="1">
                <a:ea typeface="+mn-lt"/>
                <a:cs typeface="+mn-lt"/>
              </a:rPr>
              <a:t>Dushá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Thiago de Paula Souza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curadoria-adjunta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Ariana </a:t>
            </a:r>
            <a:r>
              <a:rPr lang="pt-BR" sz="1600" b="1" err="1">
                <a:ea typeface="+mn-lt"/>
                <a:cs typeface="+mn-lt"/>
              </a:rPr>
              <a:t>Nuala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produção executiva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Luciana </a:t>
            </a:r>
            <a:r>
              <a:rPr lang="pt-BR" sz="1600" b="1" err="1">
                <a:ea typeface="+mn-lt"/>
                <a:cs typeface="+mn-lt"/>
              </a:rPr>
              <a:t>Nemes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(coord.)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Ana Paula Pedroso Santana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Bianca </a:t>
            </a:r>
            <a:r>
              <a:rPr lang="pt-BR" sz="1600" b="1" err="1">
                <a:ea typeface="+mn-lt"/>
                <a:cs typeface="+mn-lt"/>
              </a:rPr>
              <a:t>Yokoyama</a:t>
            </a:r>
            <a:endParaRPr lang="it-IT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Débora Bruno </a:t>
            </a:r>
            <a:r>
              <a:rPr lang="pt-BR" sz="1600" dirty="0">
                <a:ea typeface="+mn-lt"/>
                <a:cs typeface="+mn-lt"/>
              </a:rPr>
              <a:t>(PJ)</a:t>
            </a:r>
            <a:endParaRPr lang="it-IT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Elenice dos Santos Lourenço</a:t>
            </a:r>
            <a:endParaRPr lang="it-IT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Erika </a:t>
            </a:r>
            <a:r>
              <a:rPr lang="pt-BR" sz="1600" b="1" err="1">
                <a:ea typeface="+mn-lt"/>
                <a:cs typeface="+mn-lt"/>
              </a:rPr>
              <a:t>Hoffgen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dirty="0">
                <a:ea typeface="+mn-lt"/>
                <a:cs typeface="+mn-lt"/>
              </a:rPr>
              <a:t>(PJ)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Paola da Silveira Araujo </a:t>
            </a:r>
            <a:r>
              <a:rPr lang="pt-BR" sz="1600" dirty="0">
                <a:ea typeface="+mn-lt"/>
                <a:cs typeface="+mn-lt"/>
              </a:rPr>
              <a:t>(assistência)(PJ)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projeto expográfico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Alberto </a:t>
            </a:r>
            <a:r>
              <a:rPr lang="pt-BR" sz="1600" b="1" err="1">
                <a:ea typeface="+mn-lt"/>
                <a:cs typeface="+mn-lt"/>
              </a:rPr>
              <a:t>Rheingantz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assistência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Beatriz </a:t>
            </a:r>
            <a:r>
              <a:rPr lang="pt-BR" sz="1600" b="1" err="1">
                <a:ea typeface="+mn-lt"/>
                <a:cs typeface="+mn-lt"/>
              </a:rPr>
              <a:t>Sallowicz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identidade visual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Fabiano </a:t>
            </a:r>
            <a:r>
              <a:rPr lang="pt-BR" sz="1600" b="1" err="1">
                <a:ea typeface="+mn-lt"/>
                <a:cs typeface="+mn-lt"/>
              </a:rPr>
              <a:t>Procopio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Raul Luna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comunicação visual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Fabiano </a:t>
            </a:r>
            <a:r>
              <a:rPr lang="pt-BR" sz="1600" b="1" err="1">
                <a:ea typeface="+mn-lt"/>
                <a:cs typeface="+mn-lt"/>
              </a:rPr>
              <a:t>Procopio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projeto gráfico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Raul Luna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coordenação editorial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Renato Schreiner Salem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execução do projeto expográfico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AZ CORE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conservação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Fabiana Oda</a:t>
            </a:r>
            <a:endParaRPr lang="pt-BR" sz="1600" dirty="0">
              <a:ea typeface="Calibri"/>
              <a:cs typeface="Calibri"/>
            </a:endParaRPr>
          </a:p>
          <a:p>
            <a:endParaRPr lang="pt-BR" sz="1600" dirty="0">
              <a:ea typeface="Calibri"/>
              <a:cs typeface="Calibri"/>
            </a:endParaRPr>
          </a:p>
          <a:p>
            <a:endParaRPr lang="pt-BR" dirty="0"/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871C89-6296-2D70-CE98-D0E622525F82}"/>
              </a:ext>
            </a:extLst>
          </p:cNvPr>
          <p:cNvSpPr txBox="1"/>
          <p:nvPr/>
        </p:nvSpPr>
        <p:spPr>
          <a:xfrm>
            <a:off x="11555725" y="795648"/>
            <a:ext cx="5694351" cy="84946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ea typeface="+mn-lt"/>
                <a:cs typeface="+mn-lt"/>
              </a:rPr>
              <a:t>montagem</a:t>
            </a:r>
            <a:endParaRPr lang="en-US" sz="1600" dirty="0">
              <a:ea typeface="+mn-lt"/>
              <a:cs typeface="+mn-lt"/>
            </a:endParaRPr>
          </a:p>
          <a:p>
            <a:r>
              <a:rPr lang="pt-BR" sz="1600" b="1" dirty="0" err="1">
                <a:ea typeface="+mn-lt"/>
                <a:cs typeface="+mn-lt"/>
              </a:rPr>
              <a:t>Ck</a:t>
            </a:r>
            <a:r>
              <a:rPr lang="pt-BR" sz="1600" b="1" dirty="0">
                <a:ea typeface="+mn-lt"/>
                <a:cs typeface="+mn-lt"/>
              </a:rPr>
              <a:t> Black </a:t>
            </a:r>
            <a:r>
              <a:rPr lang="pt-BR" sz="1600" b="1" dirty="0" err="1">
                <a:ea typeface="+mn-lt"/>
                <a:cs typeface="+mn-lt"/>
              </a:rPr>
              <a:t>Art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b="1" dirty="0" err="1">
                <a:ea typeface="+mn-lt"/>
                <a:cs typeface="+mn-lt"/>
              </a:rPr>
              <a:t>Handler</a:t>
            </a:r>
            <a:endParaRPr lang="pt-BR" sz="1600" dirty="0" err="1">
              <a:ea typeface="+mn-lt"/>
              <a:cs typeface="+mn-lt"/>
            </a:endParaRPr>
          </a:p>
          <a:p>
            <a:r>
              <a:rPr lang="pt-BR" sz="1600" b="1" dirty="0" err="1">
                <a:ea typeface="+mn-lt"/>
                <a:cs typeface="+mn-lt"/>
              </a:rPr>
              <a:t>KBedim</a:t>
            </a:r>
            <a:r>
              <a:rPr lang="pt-BR" sz="1600" b="1" dirty="0">
                <a:ea typeface="+mn-lt"/>
                <a:cs typeface="+mn-lt"/>
              </a:rPr>
              <a:t> Montagem e Produção Cultural</a:t>
            </a:r>
            <a:endParaRPr lang="pt-BR" sz="1600" dirty="0">
              <a:ea typeface="+mn-lt"/>
              <a:cs typeface="+mn-lt"/>
            </a:endParaRPr>
          </a:p>
          <a:p>
            <a:r>
              <a:rPr lang="pt-BR" sz="1600" b="1" dirty="0">
                <a:ea typeface="+mn-lt"/>
                <a:cs typeface="+mn-lt"/>
              </a:rPr>
              <a:t>Luiz83</a:t>
            </a:r>
            <a:endParaRPr lang="pt-BR" sz="1600" dirty="0">
              <a:ea typeface="+mn-lt"/>
              <a:cs typeface="+mn-lt"/>
            </a:endParaRPr>
          </a:p>
          <a:p>
            <a:r>
              <a:rPr lang="pt-BR" sz="1600" b="1" dirty="0" err="1">
                <a:ea typeface="+mn-lt"/>
                <a:cs typeface="+mn-lt"/>
              </a:rPr>
              <a:t>MReneé</a:t>
            </a:r>
            <a:r>
              <a:rPr lang="pt-BR" sz="1600" b="1" dirty="0">
                <a:ea typeface="+mn-lt"/>
                <a:cs typeface="+mn-lt"/>
              </a:rPr>
              <a:t> Arte Produção e Montagem </a:t>
            </a:r>
            <a:r>
              <a:rPr lang="pt-BR" sz="1600" b="1" dirty="0" err="1">
                <a:ea typeface="+mn-lt"/>
                <a:cs typeface="+mn-lt"/>
              </a:rPr>
              <a:t>Phina</a:t>
            </a:r>
            <a:endParaRPr lang="pt-BR" sz="1600" dirty="0" err="1">
              <a:ea typeface="+mn-lt"/>
              <a:cs typeface="+mn-lt"/>
            </a:endParaRPr>
          </a:p>
          <a:p>
            <a:r>
              <a:rPr lang="pt-BR" sz="1600" dirty="0">
                <a:ea typeface="+mn-lt"/>
                <a:cs typeface="+mn-lt"/>
              </a:rPr>
              <a:t>projeto de iluminação</a:t>
            </a:r>
            <a:endParaRPr lang="pt-BR" sz="1600" dirty="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Anna Turra Lighting Design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equipamento de iluminação e audiovisual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KL Produções e Eventos LTDA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ampliações fotográficas coloridas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Giclê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adesivação fotográfica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+mn-lt"/>
                <a:cs typeface="+mn-lt"/>
              </a:rPr>
              <a:t>Insign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2 Print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impressão e instalação da comunicação visual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Diferente MKT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SECALL Comunicação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Visual LTDA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molduras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Capricho Molduras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transporte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Millenium Transportes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+mn-lt"/>
                <a:cs typeface="+mn-lt"/>
              </a:rPr>
              <a:t>Art</a:t>
            </a:r>
            <a:r>
              <a:rPr lang="pt-BR" sz="1600" b="1" dirty="0">
                <a:ea typeface="+mn-lt"/>
                <a:cs typeface="+mn-lt"/>
              </a:rPr>
              <a:t> </a:t>
            </a:r>
            <a:r>
              <a:rPr lang="pt-BR" sz="1600" b="1" err="1">
                <a:ea typeface="+mn-lt"/>
                <a:cs typeface="+mn-lt"/>
              </a:rPr>
              <a:t>Quality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tradução para o inglês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err="1">
                <a:ea typeface="+mn-lt"/>
                <a:cs typeface="+mn-lt"/>
              </a:rPr>
              <a:t>Fabricia</a:t>
            </a:r>
            <a:r>
              <a:rPr lang="pt-BR" sz="1600" b="1" dirty="0">
                <a:ea typeface="+mn-lt"/>
                <a:cs typeface="+mn-lt"/>
              </a:rPr>
              <a:t> Ramos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Germano </a:t>
            </a:r>
            <a:r>
              <a:rPr lang="pt-BR" sz="1600" b="1" err="1">
                <a:ea typeface="+mn-lt"/>
                <a:cs typeface="+mn-lt"/>
              </a:rPr>
              <a:t>Dushá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revisão e preparação de texto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Regina </a:t>
            </a:r>
            <a:r>
              <a:rPr lang="pt-BR" sz="1600" b="1" err="1">
                <a:ea typeface="+mn-lt"/>
                <a:cs typeface="+mn-lt"/>
              </a:rPr>
              <a:t>Stocklen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dirty="0">
                <a:ea typeface="+mn-lt"/>
                <a:cs typeface="+mn-lt"/>
              </a:rPr>
              <a:t>apoio residência artística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FAAP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Instituto Casa Líquida</a:t>
            </a:r>
            <a:endParaRPr lang="pt-BR" sz="1600">
              <a:ea typeface="Calibri"/>
              <a:cs typeface="Calibri"/>
            </a:endParaRPr>
          </a:p>
          <a:p>
            <a:r>
              <a:rPr lang="pt-BR" sz="1600" b="1" dirty="0">
                <a:ea typeface="+mn-lt"/>
                <a:cs typeface="+mn-lt"/>
              </a:rPr>
              <a:t>YBYTU</a:t>
            </a:r>
            <a:endParaRPr lang="pt-BR" sz="1600" dirty="0"/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0727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0880-D7F0-D1DD-9E5A-F8EBAA98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D77A73D-44E1-C963-02A5-47D1306655D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DDB1F2C-42E9-4A15-4C2C-40543DD6C5B2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C8E28A8-8B59-1D35-0D06-39680BF174DC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50" b="1" dirty="0">
                <a:solidFill>
                  <a:srgbClr val="000000"/>
                </a:solidFill>
                <a:latin typeface="Garet Bold"/>
                <a:sym typeface="Garet Bold"/>
              </a:rPr>
              <a:t>16/16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FF769C1-BF76-68F2-C17B-636C59D7E19F}"/>
              </a:ext>
            </a:extLst>
          </p:cNvPr>
          <p:cNvSpPr txBox="1"/>
          <p:nvPr/>
        </p:nvSpPr>
        <p:spPr>
          <a:xfrm>
            <a:off x="8367623" y="5143500"/>
            <a:ext cx="9144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educadores</a:t>
            </a:r>
          </a:p>
          <a:p>
            <a:r>
              <a:rPr lang="en-US" b="1"/>
              <a:t>Bruno Manzano da Silva, Dara Monteiro,</a:t>
            </a:r>
          </a:p>
          <a:p>
            <a:r>
              <a:rPr lang="en-US" b="1"/>
              <a:t>Gabriel Toledo Piza Nardi, Isabel de Souza Santana,</a:t>
            </a:r>
          </a:p>
          <a:p>
            <a:r>
              <a:rPr lang="en-US" b="1"/>
              <a:t>Isa Pita Batista, João Gabriel Xavier de Almeida,</a:t>
            </a:r>
          </a:p>
          <a:p>
            <a:r>
              <a:rPr lang="en-US" b="1"/>
              <a:t>Maíra Freitas, Marina Cruz de Albuquerque,</a:t>
            </a:r>
          </a:p>
          <a:p>
            <a:r>
              <a:rPr lang="en-US" b="1"/>
              <a:t>Mônica Rocha, Murilo Silva Moreira,</a:t>
            </a:r>
          </a:p>
          <a:p>
            <a:r>
              <a:rPr lang="en-US" b="1"/>
              <a:t>Paula Monterrey Sobral, </a:t>
            </a:r>
          </a:p>
          <a:p>
            <a:r>
              <a:rPr lang="en-US" b="1"/>
              <a:t>Pedro Henrique Salles de Nova Baruch,</a:t>
            </a:r>
          </a:p>
          <a:p>
            <a:r>
              <a:rPr lang="en-US" b="1"/>
              <a:t>Simone Peixoto e Tainá Beatriz dos Santos</a:t>
            </a:r>
          </a:p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BF1333-7695-75FB-2C68-0D0A908620AE}"/>
              </a:ext>
            </a:extLst>
          </p:cNvPr>
          <p:cNvSpPr txBox="1"/>
          <p:nvPr/>
        </p:nvSpPr>
        <p:spPr>
          <a:xfrm>
            <a:off x="1143000" y="1973293"/>
            <a:ext cx="9144000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equipe Sesc</a:t>
            </a:r>
          </a:p>
          <a:p>
            <a:r>
              <a:rPr lang="en-US" b="1"/>
              <a:t>Adriano Alves Pinto, Andreia Dorta,</a:t>
            </a:r>
          </a:p>
          <a:p>
            <a:r>
              <a:rPr lang="en-US" b="1"/>
              <a:t>Ariane Magalhães Campos,</a:t>
            </a:r>
          </a:p>
          <a:p>
            <a:r>
              <a:rPr lang="en-US" b="1"/>
              <a:t>Carolina Barmell, Cesar Albornoz,</a:t>
            </a:r>
          </a:p>
          <a:p>
            <a:r>
              <a:rPr lang="en-US" b="1"/>
              <a:t>Daniela Scarelli, Edson Gualberto de Souza,</a:t>
            </a:r>
          </a:p>
          <a:p>
            <a:r>
              <a:rPr lang="en-US" b="1"/>
              <a:t>Elisangela S. Moreira, Fabio Vasconcelos,</a:t>
            </a:r>
          </a:p>
          <a:p>
            <a:r>
              <a:rPr lang="en-US" b="1"/>
              <a:t>Fabíola Tavares Milan, Flavia de Andrade Monte</a:t>
            </a:r>
          </a:p>
          <a:p>
            <a:r>
              <a:rPr lang="en-US" b="1"/>
              <a:t>Alegre Battaglin, Joana Queiroz,</a:t>
            </a:r>
          </a:p>
          <a:p>
            <a:r>
              <a:rPr lang="en-US" b="1"/>
              <a:t>Jefferson Santanielo, José Eduardo da Silva Ruiz,</a:t>
            </a:r>
          </a:p>
          <a:p>
            <a:r>
              <a:rPr lang="en-US" b="1"/>
              <a:t>Karina Camargo Leal, Laís Jesus,</a:t>
            </a:r>
          </a:p>
          <a:p>
            <a:r>
              <a:rPr lang="en-US" b="1"/>
              <a:t>Laura de Melo Andare, Laura Magalhães,</a:t>
            </a:r>
          </a:p>
          <a:p>
            <a:r>
              <a:rPr lang="en-US" b="1"/>
              <a:t>Leandro Calçada Juncal, Luana Ligero Greve,</a:t>
            </a:r>
          </a:p>
          <a:p>
            <a:r>
              <a:rPr lang="en-US" b="1"/>
              <a:t>Luciano Quirino, Marina Villar,</a:t>
            </a:r>
          </a:p>
          <a:p>
            <a:r>
              <a:rPr lang="en-US" b="1"/>
              <a:t>Marcio Donisete Lopes, Marcio Rogério Rocha,</a:t>
            </a:r>
          </a:p>
          <a:p>
            <a:r>
              <a:rPr lang="en-US" b="1"/>
              <a:t>Michael Ahrens, Nóbrega Arimateia Sales,</a:t>
            </a:r>
          </a:p>
          <a:p>
            <a:r>
              <a:rPr lang="en-US" b="1"/>
              <a:t>Patrícia Moraes Piazzo, Priscilla David Vellone Ruiz,</a:t>
            </a:r>
          </a:p>
          <a:p>
            <a:r>
              <a:rPr lang="en-US" b="1"/>
              <a:t>Rachel Amoroso, Renata de Barros Corizola Yoshida,</a:t>
            </a:r>
          </a:p>
          <a:p>
            <a:r>
              <a:rPr lang="en-US" b="1"/>
              <a:t>Rodrigo Pedroso Gabrielli, Samara Fernanda Rosa Baptista,</a:t>
            </a:r>
          </a:p>
          <a:p>
            <a:r>
              <a:rPr lang="en-US" b="1"/>
              <a:t>Sibele Aguilar Oliveira Gioiosa, Sidnei C. Martins,</a:t>
            </a:r>
          </a:p>
          <a:p>
            <a:r>
              <a:rPr lang="en-US" b="1"/>
              <a:t>Silvia Eri Hirao, Sílvio Basílio,</a:t>
            </a:r>
          </a:p>
          <a:p>
            <a:r>
              <a:rPr lang="en-US" b="1"/>
              <a:t>Tatiana Fukuhara Borges e Thiago Barbosa Aoki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72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F4AA543F6DF343AE125287C7372420" ma:contentTypeVersion="19" ma:contentTypeDescription="Crie um novo documento." ma:contentTypeScope="" ma:versionID="5c156ee47157b23bbb4d74133864e0c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e2d2199643eb1e463aea5ecf1739fc3c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BEE12A-691C-4E73-AF13-976D3AA4BA71}"/>
</file>

<file path=customXml/itemProps2.xml><?xml version="1.0" encoding="utf-8"?>
<ds:datastoreItem xmlns:ds="http://schemas.openxmlformats.org/officeDocument/2006/customXml" ds:itemID="{C4216E51-BF42-4DF3-BB5F-F92C4A17FB27}">
  <ds:schemaRefs>
    <ds:schemaRef ds:uri="http://purl.org/dc/elements/1.1/"/>
    <ds:schemaRef ds:uri="http://purl.org/dc/dcmitype/"/>
    <ds:schemaRef ds:uri="0c3ae786-5e4f-419c-8a3f-0eb5f2beec71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f0f1dc7-e081-4ee5-8ddc-4eb9cb678d2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1145</Words>
  <Application>Microsoft Office PowerPoint</Application>
  <PresentationFormat>Personalizar</PresentationFormat>
  <Paragraphs>275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Assojaba Tupinamba</dc:title>
  <cp:lastModifiedBy>Carolina Barmell</cp:lastModifiedBy>
  <cp:revision>807</cp:revision>
  <dcterms:created xsi:type="dcterms:W3CDTF">2006-08-16T00:00:00Z</dcterms:created>
  <dcterms:modified xsi:type="dcterms:W3CDTF">2026-02-16T16:37:57Z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</Properties>
</file>
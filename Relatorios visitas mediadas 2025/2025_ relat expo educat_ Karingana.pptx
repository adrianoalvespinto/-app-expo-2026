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59" r:id="rId7"/>
    <p:sldId id="278" r:id="rId8"/>
    <p:sldId id="265" r:id="rId9"/>
    <p:sldId id="289" r:id="rId10"/>
    <p:sldId id="273" r:id="rId11"/>
    <p:sldId id="258" r:id="rId12"/>
    <p:sldId id="274" r:id="rId13"/>
    <p:sldId id="275" r:id="rId14"/>
    <p:sldId id="291" r:id="rId15"/>
    <p:sldId id="279" r:id="rId16"/>
    <p:sldId id="288" r:id="rId17"/>
    <p:sldId id="282" r:id="rId18"/>
    <p:sldId id="280" r:id="rId19"/>
    <p:sldId id="284" r:id="rId20"/>
    <p:sldId id="285" r:id="rId21"/>
    <p:sldId id="283" r:id="rId22"/>
  </p:sldIdLst>
  <p:sldSz cx="18288000" cy="10287000"/>
  <p:notesSz cx="6858000" cy="9144000"/>
  <p:embeddedFontLst>
    <p:embeddedFont>
      <p:font typeface="Archivo Black" panose="020B0604020202020204" charset="0"/>
      <p:regular r:id="rId24"/>
    </p:embeddedFont>
    <p:embeddedFont>
      <p:font typeface="Garet" panose="020B0604020202020204" charset="0"/>
      <p:regular r:id="rId25"/>
    </p:embeddedFont>
    <p:embeddedFont>
      <p:font typeface="Garet Bold" panose="020B0604020202020204" charset="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pos="86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9C9"/>
    <a:srgbClr val="006041"/>
    <a:srgbClr val="FFD300"/>
    <a:srgbClr val="8882BD"/>
    <a:srgbClr val="5B2B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847801-20F0-531D-2614-F0DAE5B98606}" v="20" dt="2026-01-27T18:46:53.749"/>
    <p1510:client id="{47966EFE-FBEC-8159-FF26-FE8F2CA3E0C7}" v="395" dt="2026-01-27T18:17:44.017"/>
    <p1510:client id="{738DC9D6-11E7-BFBF-9E0C-39CEB63E18BF}" v="320" dt="2026-01-27T17:31:07.987"/>
    <p1510:client id="{8A8939F6-3239-BEED-10AC-13F05F1888A7}" v="34" dt="2026-01-27T22:11:01.1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  <p:guide pos="86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Planilha1!$B$1</c:f>
              <c:strCache>
                <c:ptCount val="1"/>
                <c:pt idx="0">
                  <c:v>Série 1</c:v>
                </c:pt>
              </c:strCache>
            </c:strRef>
          </c:tx>
          <c:spPr>
            <a:solidFill>
              <a:srgbClr val="00604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Planilha1!$A$2:$A$7</c:f>
              <c:strCache>
                <c:ptCount val="6"/>
                <c:pt idx="0">
                  <c:v>junho</c:v>
                </c:pt>
                <c:pt idx="1">
                  <c:v>julho</c:v>
                </c:pt>
                <c:pt idx="2">
                  <c:v>agosto</c:v>
                </c:pt>
                <c:pt idx="3">
                  <c:v>setembro</c:v>
                </c:pt>
                <c:pt idx="4">
                  <c:v>outubro</c:v>
                </c:pt>
                <c:pt idx="5">
                  <c:v>novembro</c:v>
                </c:pt>
              </c:strCache>
            </c:strRef>
          </c:cat>
          <c:val>
            <c:numRef>
              <c:f>Planilha1!$B$2:$B$7</c:f>
              <c:numCache>
                <c:formatCode>General</c:formatCode>
                <c:ptCount val="6"/>
                <c:pt idx="0">
                  <c:v>427</c:v>
                </c:pt>
                <c:pt idx="1">
                  <c:v>530</c:v>
                </c:pt>
                <c:pt idx="2">
                  <c:v>1589</c:v>
                </c:pt>
                <c:pt idx="3">
                  <c:v>1869</c:v>
                </c:pt>
                <c:pt idx="4">
                  <c:v>1883</c:v>
                </c:pt>
                <c:pt idx="5">
                  <c:v>1336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E0C-4415-8C53-828AF0FCC66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758611048"/>
        <c:axId val="758607088"/>
      </c:barChart>
      <c:catAx>
        <c:axId val="7586110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solidFill>
            <a:srgbClr val="FFD300"/>
          </a:solidFill>
          <a:ln w="9525" cap="flat" cmpd="sng" algn="ctr">
            <a:solidFill>
              <a:srgbClr val="FFD3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cap="all" spc="120" normalizeH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758607088"/>
        <c:crosses val="autoZero"/>
        <c:auto val="1"/>
        <c:lblAlgn val="ctr"/>
        <c:lblOffset val="100"/>
        <c:noMultiLvlLbl val="0"/>
      </c:catAx>
      <c:valAx>
        <c:axId val="7586070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758611048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2400"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9462A7-D93D-4585-8DF1-631315E49F5D}" type="datetimeFigureOut">
              <a:rPr lang="pt-BR" smtClean="0"/>
              <a:t>27/01/2026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158A87-E2C5-468E-BCE3-38A907ED00E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23118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7885470" y="6965576"/>
            <a:ext cx="9373830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spcBef>
                <a:spcPct val="0"/>
              </a:spcBef>
            </a:pPr>
            <a:r>
              <a:rPr lang="pt-BR" sz="3000" spc="-217" noProof="0">
                <a:latin typeface="Garet" panose="020B0604020202020204" charset="0"/>
                <a:ea typeface="Archivo Black"/>
                <a:cs typeface="Archivo Black"/>
                <a:sym typeface="Archivo Black"/>
              </a:rPr>
              <a:t>Exposição | Sesc Piracicaba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656F8F80-92B1-242E-B231-C31DE7D33F77}"/>
              </a:ext>
            </a:extLst>
          </p:cNvPr>
          <p:cNvGrpSpPr/>
          <p:nvPr/>
        </p:nvGrpSpPr>
        <p:grpSpPr>
          <a:xfrm>
            <a:off x="0" y="0"/>
            <a:ext cx="10697653" cy="10287000"/>
            <a:chOff x="620691" y="0"/>
            <a:chExt cx="10686561" cy="10287000"/>
          </a:xfrm>
        </p:grpSpPr>
        <p:pic>
          <p:nvPicPr>
            <p:cNvPr id="6" name="Imagem 5" descr="Logotipo&#10;&#10;O conteúdo gerado por IA pode estar incorreto.">
              <a:extLst>
                <a:ext uri="{FF2B5EF4-FFF2-40B4-BE49-F238E27FC236}">
                  <a16:creationId xmlns:a16="http://schemas.microsoft.com/office/drawing/2014/main" id="{BAA6FDE0-D660-CF12-13A9-D44C03B5ED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39873" t="1" r="9850" b="18833"/>
            <a:stretch>
              <a:fillRect/>
            </a:stretch>
          </p:blipFill>
          <p:spPr>
            <a:xfrm>
              <a:off x="620691" y="0"/>
              <a:ext cx="10686561" cy="10287000"/>
            </a:xfrm>
            <a:prstGeom prst="rect">
              <a:avLst/>
            </a:prstGeom>
          </p:spPr>
        </p:pic>
        <p:sp>
          <p:nvSpPr>
            <p:cNvPr id="7" name="Retângulo 6">
              <a:extLst>
                <a:ext uri="{FF2B5EF4-FFF2-40B4-BE49-F238E27FC236}">
                  <a16:creationId xmlns:a16="http://schemas.microsoft.com/office/drawing/2014/main" id="{17F76A35-C527-07E3-12FF-D282BA8F6767}"/>
                </a:ext>
              </a:extLst>
            </p:cNvPr>
            <p:cNvSpPr/>
            <p:nvPr/>
          </p:nvSpPr>
          <p:spPr>
            <a:xfrm>
              <a:off x="620691" y="0"/>
              <a:ext cx="3265509" cy="1790700"/>
            </a:xfrm>
            <a:prstGeom prst="rect">
              <a:avLst/>
            </a:prstGeom>
            <a:solidFill>
              <a:srgbClr val="FFD3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noProof="0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581627" y="8337640"/>
            <a:ext cx="4656107" cy="5110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15"/>
              </a:lnSpc>
            </a:pPr>
            <a:r>
              <a:rPr lang="pt-BR" sz="2200" b="1" noProof="0">
                <a:solidFill>
                  <a:srgbClr val="006041"/>
                </a:solidFill>
                <a:latin typeface="Garet"/>
                <a:ea typeface="Garet Bold"/>
                <a:cs typeface="Garet Bold"/>
                <a:sym typeface="Garet Bold"/>
              </a:rPr>
              <a:t>29 DE MAIO A </a:t>
            </a:r>
            <a:endParaRPr lang="pt-BR" sz="2200" b="1" noProof="0">
              <a:solidFill>
                <a:srgbClr val="006041"/>
              </a:solidFill>
              <a:latin typeface="Garet"/>
              <a:ea typeface="Garet Bold"/>
              <a:cs typeface="Garet Bold"/>
            </a:endParaRPr>
          </a:p>
          <a:p>
            <a:pPr marL="0" lvl="0" indent="0" algn="r">
              <a:lnSpc>
                <a:spcPts val="1915"/>
              </a:lnSpc>
              <a:spcBef>
                <a:spcPct val="0"/>
              </a:spcBef>
            </a:pPr>
            <a:r>
              <a:rPr lang="pt-BR" sz="2200" b="1" noProof="0">
                <a:solidFill>
                  <a:srgbClr val="006041"/>
                </a:solidFill>
                <a:latin typeface="Garet"/>
                <a:ea typeface="Garet Bold"/>
                <a:cs typeface="Garet Bold"/>
                <a:sym typeface="Garet Bold"/>
              </a:rPr>
              <a:t>23 DE NOVEMBRO DE 2025</a:t>
            </a:r>
            <a:endParaRPr lang="pt-BR" sz="2200" b="1" noProof="0">
              <a:solidFill>
                <a:srgbClr val="006041"/>
              </a:solidFill>
              <a:latin typeface="Garet"/>
              <a:ea typeface="Garet Bold"/>
              <a:cs typeface="Gare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088760" y="954405"/>
            <a:ext cx="5170540" cy="365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939"/>
              </a:lnSpc>
              <a:spcBef>
                <a:spcPct val="0"/>
              </a:spcBef>
            </a:pPr>
            <a:r>
              <a:rPr lang="pt-BR" sz="2200" b="1" noProof="0">
                <a:solidFill>
                  <a:srgbClr val="006041"/>
                </a:solidFill>
                <a:latin typeface="Garet"/>
                <a:ea typeface="Garet"/>
                <a:cs typeface="Garet"/>
                <a:sym typeface="Garet"/>
              </a:rPr>
              <a:t>RELATÓRIO GERAL </a:t>
            </a:r>
          </a:p>
        </p:txBody>
      </p:sp>
      <p:sp>
        <p:nvSpPr>
          <p:cNvPr id="3" name="Freeform 3"/>
          <p:cNvSpPr/>
          <p:nvPr/>
        </p:nvSpPr>
        <p:spPr>
          <a:xfrm>
            <a:off x="487060" y="0"/>
            <a:ext cx="2646799" cy="2960595"/>
          </a:xfrm>
          <a:custGeom>
            <a:avLst/>
            <a:gdLst/>
            <a:ahLst/>
            <a:cxnLst/>
            <a:rect l="l" t="t" r="r" b="b"/>
            <a:pathLst>
              <a:path w="2646799" h="2960595">
                <a:moveTo>
                  <a:pt x="0" y="0"/>
                </a:moveTo>
                <a:lnTo>
                  <a:pt x="2646799" y="0"/>
                </a:lnTo>
                <a:lnTo>
                  <a:pt x="2646799" y="2960595"/>
                </a:lnTo>
                <a:lnTo>
                  <a:pt x="0" y="2960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11" name="TextBox 11"/>
          <p:cNvSpPr txBox="1"/>
          <p:nvPr/>
        </p:nvSpPr>
        <p:spPr>
          <a:xfrm>
            <a:off x="6332045" y="3688376"/>
            <a:ext cx="10927255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spcBef>
                <a:spcPct val="0"/>
              </a:spcBef>
            </a:pPr>
            <a:r>
              <a:rPr lang="pt-BR" sz="10000" spc="-730" noProof="0"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KARINGANA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885470" y="5143500"/>
            <a:ext cx="9373830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lang="pt-BR" sz="3000" spc="-217" noProof="0">
                <a:latin typeface="Garet" panose="020B0604020202020204" charset="0"/>
                <a:ea typeface="Archivo Black"/>
                <a:cs typeface="Archivo Black"/>
                <a:sym typeface="Archivo Black"/>
              </a:rPr>
              <a:t>Presenças Negras no Livro para as Infâncias</a:t>
            </a:r>
          </a:p>
          <a:p>
            <a:pPr marL="0" lvl="0" indent="0" algn="r">
              <a:spcBef>
                <a:spcPct val="0"/>
              </a:spcBef>
            </a:pPr>
            <a:endParaRPr lang="pt-BR" sz="3000" spc="-217" noProof="0">
              <a:latin typeface="Archivo Black"/>
              <a:ea typeface="Archivo Black"/>
              <a:cs typeface="Archivo Black"/>
              <a:sym typeface="Archivo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" y="4697224"/>
            <a:ext cx="9144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pt-BR" sz="6000" spc="-150" noProof="0">
                <a:solidFill>
                  <a:schemeClr val="bg1"/>
                </a:solidFill>
                <a:highlight>
                  <a:srgbClr val="8882BD"/>
                </a:highlight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Destaques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127333" y="1104900"/>
            <a:ext cx="5177335" cy="1154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pt-BR" sz="4500" b="1" spc="-150">
                <a:solidFill>
                  <a:srgbClr val="000000"/>
                </a:solidFill>
                <a:highlight>
                  <a:srgbClr val="FFD300"/>
                </a:highlight>
                <a:latin typeface="Garet Bold"/>
                <a:ea typeface="Garet"/>
                <a:cs typeface="Garet"/>
              </a:rPr>
              <a:t>29.687</a:t>
            </a:r>
            <a:endParaRPr lang="pt-BR" sz="4500" b="1" spc="-150" noProof="0">
              <a:solidFill>
                <a:srgbClr val="000000"/>
              </a:solidFill>
              <a:highlight>
                <a:srgbClr val="FFD300"/>
              </a:highlight>
              <a:latin typeface="Garet Bold" panose="020B0604020202020204" charset="0"/>
              <a:ea typeface="Garet"/>
              <a:cs typeface="Garet"/>
            </a:endParaRPr>
          </a:p>
          <a:p>
            <a:pPr algn="ctr"/>
            <a:r>
              <a:rPr lang="pt-BR" sz="3000" spc="-15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pt-BR" sz="3000" spc="-150" noProof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resenças na exposição</a:t>
            </a:r>
            <a:endParaRPr lang="pt-BR" sz="3000" spc="-150" noProof="0">
              <a:solidFill>
                <a:schemeClr val="bg1"/>
              </a:solidFill>
              <a:latin typeface="Garet"/>
              <a:ea typeface="Garet"/>
              <a:cs typeface="Gare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601200" y="2676345"/>
            <a:ext cx="82296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4500" b="1" spc="-150" noProof="0">
                <a:solidFill>
                  <a:srgbClr val="000000"/>
                </a:solidFill>
                <a:highlight>
                  <a:srgbClr val="FFD300"/>
                </a:highlight>
                <a:latin typeface="Garet Bold" panose="020B0604020202020204" charset="0"/>
                <a:ea typeface="Garet"/>
                <a:cs typeface="Garet"/>
                <a:sym typeface="Garet"/>
              </a:rPr>
              <a:t>7.634</a:t>
            </a:r>
          </a:p>
          <a:p>
            <a:pPr algn="ctr"/>
            <a:r>
              <a:rPr lang="pt-BR" sz="3000" spc="-150" noProof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pessoas atendidas em visitas mediadas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601200" y="4118394"/>
            <a:ext cx="82296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4500" b="1" spc="-150" noProof="0">
                <a:solidFill>
                  <a:srgbClr val="000000"/>
                </a:solidFill>
                <a:highlight>
                  <a:srgbClr val="FFD300"/>
                </a:highlight>
                <a:latin typeface="Garet Bold" panose="020B0604020202020204" charset="0"/>
                <a:ea typeface="Garet"/>
                <a:cs typeface="Garet"/>
                <a:sym typeface="Garet"/>
              </a:rPr>
              <a:t>818</a:t>
            </a:r>
          </a:p>
          <a:p>
            <a:pPr algn="ctr"/>
            <a:r>
              <a:rPr lang="pt-BR" sz="3000" spc="-150" noProof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presenças em programações integradas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F07F23C8-A2E4-F6C1-89A8-0BA16761324B}"/>
              </a:ext>
            </a:extLst>
          </p:cNvPr>
          <p:cNvSpPr txBox="1"/>
          <p:nvPr/>
        </p:nvSpPr>
        <p:spPr>
          <a:xfrm>
            <a:off x="1" y="8857018"/>
            <a:ext cx="18288000" cy="692497"/>
          </a:xfrm>
          <a:prstGeom prst="rect">
            <a:avLst/>
          </a:prstGeom>
          <a:solidFill>
            <a:srgbClr val="FFD300"/>
          </a:solidFill>
        </p:spPr>
        <p:txBody>
          <a:bodyPr wrap="square" lIns="0" tIns="0" rIns="0" bIns="0" rtlCol="0" anchor="t">
            <a:spAutoFit/>
          </a:bodyPr>
          <a:lstStyle/>
          <a:p>
            <a:pPr marL="9050338" algn="ctr"/>
            <a:r>
              <a:rPr lang="pt-BR" sz="4500" spc="-150" noProof="0">
                <a:latin typeface="Garet Bold" panose="020B0604020202020204" charset="0"/>
                <a:ea typeface="Garet Bold"/>
                <a:cs typeface="Garet Bold"/>
                <a:sym typeface="Garet Bold"/>
              </a:rPr>
              <a:t>153 </a:t>
            </a:r>
            <a:r>
              <a:rPr lang="pt-BR" sz="4500" spc="-150" noProof="0">
                <a:latin typeface="Garet" panose="020B0604020202020204" charset="0"/>
                <a:ea typeface="Garet Bold"/>
                <a:cs typeface="Garet Bold"/>
                <a:sym typeface="Garet Bold"/>
              </a:rPr>
              <a:t>dias de visitação</a:t>
            </a:r>
          </a:p>
        </p:txBody>
      </p:sp>
      <p:sp>
        <p:nvSpPr>
          <p:cNvPr id="21" name="TextBox 14">
            <a:extLst>
              <a:ext uri="{FF2B5EF4-FFF2-40B4-BE49-F238E27FC236}">
                <a16:creationId xmlns:a16="http://schemas.microsoft.com/office/drawing/2014/main" id="{75D0B55F-DEDD-07BB-541B-45D6C6C41DD9}"/>
              </a:ext>
            </a:extLst>
          </p:cNvPr>
          <p:cNvSpPr txBox="1"/>
          <p:nvPr/>
        </p:nvSpPr>
        <p:spPr>
          <a:xfrm>
            <a:off x="9601200" y="5625141"/>
            <a:ext cx="82296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4500" b="1" spc="-150">
                <a:solidFill>
                  <a:srgbClr val="000000"/>
                </a:solidFill>
                <a:highlight>
                  <a:srgbClr val="FFD300"/>
                </a:highlight>
                <a:latin typeface="Garet Bold"/>
              </a:rPr>
              <a:t>1.000</a:t>
            </a:r>
            <a:endParaRPr lang="pt-BR" sz="4500" b="1" spc="-150">
              <a:solidFill>
                <a:srgbClr val="000000"/>
              </a:solidFill>
              <a:highlight>
                <a:srgbClr val="FFD300"/>
              </a:highlight>
              <a:latin typeface="Garet Bold" panose="020B0604020202020204" charset="0"/>
            </a:endParaRPr>
          </a:p>
          <a:p>
            <a:pPr algn="ctr"/>
            <a:r>
              <a:rPr lang="pt-BR" sz="3000" spc="-15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c</a:t>
            </a:r>
            <a:r>
              <a:rPr lang="pt-BR" sz="3000" spc="-150" noProof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atálogos distribuídos</a:t>
            </a:r>
            <a:endParaRPr lang="pt-BR" sz="3000" spc="-150" noProof="0">
              <a:solidFill>
                <a:schemeClr val="bg1"/>
              </a:solidFill>
              <a:latin typeface="Garet"/>
              <a:ea typeface="Garet"/>
              <a:cs typeface="Garet"/>
            </a:endParaRPr>
          </a:p>
        </p:txBody>
      </p:sp>
      <p:sp>
        <p:nvSpPr>
          <p:cNvPr id="2" name="TextBox 14">
            <a:extLst>
              <a:ext uri="{FF2B5EF4-FFF2-40B4-BE49-F238E27FC236}">
                <a16:creationId xmlns:a16="http://schemas.microsoft.com/office/drawing/2014/main" id="{F4EFB419-F092-39EC-C147-34DF0A356358}"/>
              </a:ext>
            </a:extLst>
          </p:cNvPr>
          <p:cNvSpPr txBox="1"/>
          <p:nvPr/>
        </p:nvSpPr>
        <p:spPr>
          <a:xfrm>
            <a:off x="9601200" y="7134763"/>
            <a:ext cx="82296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4500" b="1" spc="-150">
                <a:solidFill>
                  <a:srgbClr val="000000"/>
                </a:solidFill>
                <a:highlight>
                  <a:srgbClr val="FFD300"/>
                </a:highlight>
                <a:latin typeface="Garet Bold"/>
              </a:rPr>
              <a:t>15.000</a:t>
            </a:r>
            <a:endParaRPr lang="pt-BR" sz="4500" b="1" spc="-150">
              <a:solidFill>
                <a:srgbClr val="000000"/>
              </a:solidFill>
              <a:highlight>
                <a:srgbClr val="FFD300"/>
              </a:highlight>
              <a:latin typeface="Garet Bold" panose="020B0604020202020204" charset="0"/>
            </a:endParaRPr>
          </a:p>
          <a:p>
            <a:pPr algn="ctr"/>
            <a:r>
              <a:rPr lang="pt-BR" sz="3000" spc="-15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cartões postais</a:t>
            </a:r>
            <a:r>
              <a:rPr lang="pt-BR" sz="3000" spc="-150" noProof="0">
                <a:solidFill>
                  <a:schemeClr val="bg1"/>
                </a:solidFill>
                <a:latin typeface="Garet"/>
                <a:ea typeface="Garet"/>
                <a:cs typeface="Garet"/>
                <a:sym typeface="Garet"/>
              </a:rPr>
              <a:t> distribuídos</a:t>
            </a:r>
            <a:endParaRPr lang="pt-BR" sz="3000" spc="-150" noProof="0">
              <a:solidFill>
                <a:schemeClr val="bg1"/>
              </a:solidFill>
              <a:latin typeface="Garet"/>
              <a:ea typeface="Garet"/>
              <a:cs typeface="Gare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/>
          <p:cNvSpPr txBox="1"/>
          <p:nvPr/>
        </p:nvSpPr>
        <p:spPr>
          <a:xfrm>
            <a:off x="0" y="4697224"/>
            <a:ext cx="9144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pt-BR" sz="6000" spc="-150" noProof="0">
                <a:solidFill>
                  <a:schemeClr val="bg1"/>
                </a:solidFill>
                <a:highlight>
                  <a:srgbClr val="5B2B2F"/>
                </a:highlight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Presenças</a:t>
            </a: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0F950054-21F1-2A9E-E636-B2A0D382AD3F}"/>
              </a:ext>
            </a:extLst>
          </p:cNvPr>
          <p:cNvSpPr txBox="1"/>
          <p:nvPr/>
        </p:nvSpPr>
        <p:spPr>
          <a:xfrm>
            <a:off x="10441238" y="2801428"/>
            <a:ext cx="6549521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4500" b="1" spc="-150" noProof="0">
                <a:solidFill>
                  <a:srgbClr val="000000"/>
                </a:solidFill>
                <a:highlight>
                  <a:srgbClr val="41B9C9"/>
                </a:highlight>
                <a:latin typeface="Garet Bold" panose="020B0604020202020204" charset="0"/>
                <a:ea typeface="Garet"/>
                <a:cs typeface="Garet"/>
                <a:sym typeface="Garet"/>
              </a:rPr>
              <a:t>6.407</a:t>
            </a:r>
            <a:endParaRPr lang="pt-BR" sz="6600" b="1" spc="-150">
              <a:solidFill>
                <a:srgbClr val="000000"/>
              </a:solidFill>
              <a:highlight>
                <a:srgbClr val="41B9C9"/>
              </a:highlight>
              <a:latin typeface="Garet" panose="020B0604020202020204" charset="0"/>
              <a:ea typeface="Garet"/>
              <a:cs typeface="Garet"/>
              <a:sym typeface="Garet"/>
            </a:endParaRPr>
          </a:p>
          <a:p>
            <a:pPr algn="ctr"/>
            <a:r>
              <a:rPr lang="pt-BR" sz="3000" spc="-150" noProof="0">
                <a:solidFill>
                  <a:srgbClr val="000000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presenças PCG (programa de comprometimento de gratuidade)</a:t>
            </a:r>
          </a:p>
        </p:txBody>
      </p:sp>
      <p:sp>
        <p:nvSpPr>
          <p:cNvPr id="4" name="TextBox 29">
            <a:extLst>
              <a:ext uri="{FF2B5EF4-FFF2-40B4-BE49-F238E27FC236}">
                <a16:creationId xmlns:a16="http://schemas.microsoft.com/office/drawing/2014/main" id="{C511EDE2-9A5A-C628-030F-920FA69F9F3F}"/>
              </a:ext>
            </a:extLst>
          </p:cNvPr>
          <p:cNvSpPr txBox="1"/>
          <p:nvPr/>
        </p:nvSpPr>
        <p:spPr>
          <a:xfrm>
            <a:off x="10777724" y="6546138"/>
            <a:ext cx="5876551" cy="212365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4500" b="1" spc="-150" noProof="0">
                <a:solidFill>
                  <a:srgbClr val="000000"/>
                </a:solidFill>
                <a:highlight>
                  <a:srgbClr val="41B9C9"/>
                </a:highlight>
                <a:latin typeface="Garet Bold" panose="020B0604020202020204" charset="0"/>
                <a:ea typeface="Garet Bold"/>
                <a:cs typeface="Garet Bold"/>
                <a:sym typeface="Garet Bold"/>
              </a:rPr>
              <a:t>120</a:t>
            </a:r>
            <a:r>
              <a:rPr lang="pt-BR" sz="4800" b="1" spc="-150" noProof="0">
                <a:solidFill>
                  <a:srgbClr val="000000"/>
                </a:solidFill>
                <a:highlight>
                  <a:srgbClr val="FF00FF"/>
                </a:highlight>
                <a:latin typeface="Garet Bold" panose="020B0604020202020204" charset="0"/>
                <a:ea typeface="Garet Bold"/>
                <a:cs typeface="Garet Bold"/>
                <a:sym typeface="Garet Bold"/>
              </a:rPr>
              <a:t> </a:t>
            </a:r>
          </a:p>
          <a:p>
            <a:pPr algn="ctr"/>
            <a:r>
              <a:rPr lang="pt-BR" sz="3000" spc="-150" noProof="0">
                <a:solidFill>
                  <a:srgbClr val="000000"/>
                </a:solidFill>
                <a:latin typeface="Garet"/>
                <a:ea typeface="Garet Bold"/>
                <a:cs typeface="Garet Bold"/>
                <a:sym typeface="Garet Bold"/>
              </a:rPr>
              <a:t>Professores em </a:t>
            </a:r>
            <a:r>
              <a:rPr lang="pt-BR" sz="3000" spc="-150" noProof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formação em parceria com a Secretaria de Educação</a:t>
            </a:r>
            <a:endParaRPr lang="pt-BR" sz="3200" spc="-150" noProof="0">
              <a:solidFill>
                <a:srgbClr val="000000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6BDC1E-7D4C-DCB8-9A56-77B68FFAD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1">
            <a:extLst>
              <a:ext uri="{FF2B5EF4-FFF2-40B4-BE49-F238E27FC236}">
                <a16:creationId xmlns:a16="http://schemas.microsoft.com/office/drawing/2014/main" id="{2469874A-1C6A-2C88-74AC-9DD75A0FC754}"/>
              </a:ext>
            </a:extLst>
          </p:cNvPr>
          <p:cNvSpPr txBox="1"/>
          <p:nvPr/>
        </p:nvSpPr>
        <p:spPr>
          <a:xfrm>
            <a:off x="0" y="4681835"/>
            <a:ext cx="9144000" cy="923330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pt-BR" sz="6000" spc="-150" noProof="0">
                <a:highlight>
                  <a:srgbClr val="FFD300"/>
                </a:highlight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Ação educativa</a:t>
            </a:r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8C802B50-79C0-7376-C196-62BDDDD9F7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901165"/>
              </p:ext>
            </p:extLst>
          </p:nvPr>
        </p:nvGraphicFramePr>
        <p:xfrm>
          <a:off x="10012634" y="6032500"/>
          <a:ext cx="7450881" cy="330200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38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763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pt-BR" sz="3000" b="1" spc="-150" noProof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Equipe</a:t>
                      </a:r>
                      <a:endParaRPr lang="pt-BR" sz="3000" spc="-150" noProof="0"/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82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pt-BR" sz="3000" spc="-150" noProof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01 Coordenadora</a:t>
                      </a:r>
                    </a:p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pt-BR" sz="3000" spc="-150" noProof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01 Facilitadora I </a:t>
                      </a:r>
                    </a:p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pt-BR" sz="3000" spc="-150" noProof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01 Facilitadora II </a:t>
                      </a:r>
                    </a:p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pt-BR" sz="3000" spc="-150" noProof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05 Estagiárias(os)</a:t>
                      </a:r>
                    </a:p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pt-BR" sz="3000" spc="-150" noProof="0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03 Programadoras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82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pt-BR" sz="3000" b="1" spc="-150" noProof="0">
                          <a:solidFill>
                            <a:srgbClr val="000000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Formação</a:t>
                      </a:r>
                      <a:endParaRPr lang="pt-BR" sz="3000" spc="-150" noProof="0"/>
                    </a:p>
                  </a:txBody>
                  <a:tcPr marL="190500" marR="190500" marT="190500" marB="1905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82BD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pt-BR" sz="3000" kern="1200" spc="-150" noProof="0">
                          <a:solidFill>
                            <a:srgbClr val="000000"/>
                          </a:solidFill>
                          <a:latin typeface="Garet"/>
                          <a:ea typeface="+mn-ea"/>
                          <a:cs typeface="+mn-cs"/>
                        </a:rPr>
                        <a:t>Presencial</a:t>
                      </a:r>
                    </a:p>
                    <a:p>
                      <a:pPr algn="l">
                        <a:lnSpc>
                          <a:spcPts val="2799"/>
                        </a:lnSpc>
                        <a:defRPr/>
                      </a:pPr>
                      <a:r>
                        <a:rPr lang="pt-BR" sz="3000" kern="1200" spc="-150" noProof="0">
                          <a:solidFill>
                            <a:srgbClr val="000000"/>
                          </a:solidFill>
                          <a:latin typeface="Garet"/>
                          <a:ea typeface="+mn-ea"/>
                          <a:cs typeface="+mn-cs"/>
                        </a:rPr>
                        <a:t>8 dias - 40h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82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TextBox 12"/>
          <p:cNvSpPr txBox="1"/>
          <p:nvPr/>
        </p:nvSpPr>
        <p:spPr>
          <a:xfrm>
            <a:off x="11155635" y="3755574"/>
            <a:ext cx="5120729" cy="1415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6000" b="1" spc="-150">
                <a:latin typeface="Garet"/>
              </a:rPr>
              <a:t>279</a:t>
            </a:r>
          </a:p>
          <a:p>
            <a:pPr algn="ctr"/>
            <a:r>
              <a:rPr lang="pt-BR" sz="3200" b="1" spc="-150">
                <a:solidFill>
                  <a:srgbClr val="000000"/>
                </a:solidFill>
                <a:latin typeface="Garet"/>
                <a:sym typeface="Garet"/>
              </a:rPr>
              <a:t>mediações</a:t>
            </a:r>
            <a:endParaRPr lang="pt-BR" sz="3200" b="1" spc="-150">
              <a:latin typeface="Garet"/>
            </a:endParaRPr>
          </a:p>
        </p:txBody>
      </p:sp>
      <p:sp>
        <p:nvSpPr>
          <p:cNvPr id="10" name="TextBox 12">
            <a:extLst>
              <a:ext uri="{FF2B5EF4-FFF2-40B4-BE49-F238E27FC236}">
                <a16:creationId xmlns:a16="http://schemas.microsoft.com/office/drawing/2014/main" id="{B91B0A8B-3920-EB9C-1AD7-10C024DB4608}"/>
              </a:ext>
            </a:extLst>
          </p:cNvPr>
          <p:cNvSpPr txBox="1"/>
          <p:nvPr/>
        </p:nvSpPr>
        <p:spPr>
          <a:xfrm>
            <a:off x="11155636" y="1243445"/>
            <a:ext cx="5120728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6000" b="1" spc="-150">
                <a:latin typeface="Garet"/>
                <a:sym typeface="Garet"/>
              </a:rPr>
              <a:t>7634</a:t>
            </a:r>
            <a:r>
              <a:rPr lang="pt-BR" sz="6000" b="1" spc="-150" noProof="0">
                <a:solidFill>
                  <a:srgbClr val="000000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 </a:t>
            </a:r>
          </a:p>
          <a:p>
            <a:pPr algn="ctr"/>
            <a:r>
              <a:rPr lang="pt-BR" sz="3000" spc="-150" noProof="0">
                <a:solidFill>
                  <a:srgbClr val="000000"/>
                </a:solidFill>
                <a:latin typeface="Garet" panose="020B0604020202020204" charset="0"/>
                <a:ea typeface="Garet"/>
                <a:cs typeface="Garet"/>
                <a:sym typeface="Garet"/>
              </a:rPr>
              <a:t>Presenças em </a:t>
            </a:r>
            <a:r>
              <a:rPr lang="pt-BR" sz="3000" spc="-150" noProof="0">
                <a:solidFill>
                  <a:srgbClr val="000000"/>
                </a:solidFill>
                <a:latin typeface="Garet" panose="020B0604020202020204" charset="0"/>
                <a:ea typeface="Garet Bold"/>
                <a:cs typeface="Garet Bold"/>
                <a:sym typeface="Garet Bold"/>
              </a:rPr>
              <a:t>visitas mediadas</a:t>
            </a:r>
          </a:p>
        </p:txBody>
      </p:sp>
    </p:spTree>
    <p:extLst>
      <p:ext uri="{BB962C8B-B14F-4D97-AF65-F5344CB8AC3E}">
        <p14:creationId xmlns:p14="http://schemas.microsoft.com/office/powerpoint/2010/main" val="2205436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857250" y="967154"/>
            <a:ext cx="166497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6000" spc="-150" noProof="0">
                <a:solidFill>
                  <a:srgbClr val="000000"/>
                </a:solidFill>
                <a:highlight>
                  <a:srgbClr val="FFD300"/>
                </a:highlight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Quantidade de público agendado/mês</a:t>
            </a:r>
          </a:p>
        </p:txBody>
      </p:sp>
      <p:graphicFrame>
        <p:nvGraphicFramePr>
          <p:cNvPr id="12" name="Gráfico 11">
            <a:extLst>
              <a:ext uri="{FF2B5EF4-FFF2-40B4-BE49-F238E27FC236}">
                <a16:creationId xmlns:a16="http://schemas.microsoft.com/office/drawing/2014/main" id="{CFEC77CF-962E-5A9D-DB93-3865E19132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4866512"/>
              </p:ext>
            </p:extLst>
          </p:nvPr>
        </p:nvGraphicFramePr>
        <p:xfrm>
          <a:off x="1752600" y="2075918"/>
          <a:ext cx="14859000" cy="66489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6A14646A-884E-22E6-D9E0-F91CFD86EA02}"/>
              </a:ext>
            </a:extLst>
          </p:cNvPr>
          <p:cNvSpPr txBox="1"/>
          <p:nvPr/>
        </p:nvSpPr>
        <p:spPr>
          <a:xfrm>
            <a:off x="7315200" y="8724900"/>
            <a:ext cx="2438400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200">
                <a:highlight>
                  <a:srgbClr val="41B9C9"/>
                </a:highlight>
              </a:rPr>
              <a:t>* INÍCIO DO FORNECIMENTO DE ÔNIBUS PELO SESC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7EA60-6476-430C-A81E-BE7F58FF8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62B92E23-8C18-1BE1-04EF-13E982335B54}"/>
              </a:ext>
            </a:extLst>
          </p:cNvPr>
          <p:cNvSpPr txBox="1"/>
          <p:nvPr/>
        </p:nvSpPr>
        <p:spPr>
          <a:xfrm>
            <a:off x="857250" y="967154"/>
            <a:ext cx="16649700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4800" spc="-150" noProof="0">
                <a:solidFill>
                  <a:srgbClr val="000000"/>
                </a:solidFill>
                <a:highlight>
                  <a:srgbClr val="FFD300"/>
                </a:highlight>
                <a:latin typeface="Garet Bold"/>
                <a:ea typeface="Archivo Black"/>
                <a:cs typeface="Archivo Black"/>
                <a:sym typeface="Archivo Black"/>
              </a:rPr>
              <a:t>Quantidade de </a:t>
            </a:r>
            <a:r>
              <a:rPr lang="pt-BR" sz="4800" spc="-150">
                <a:solidFill>
                  <a:srgbClr val="000000"/>
                </a:solidFill>
                <a:highlight>
                  <a:srgbClr val="FFD300"/>
                </a:highlight>
                <a:latin typeface="Garet Bold"/>
                <a:ea typeface="Archivo Black"/>
                <a:cs typeface="Archivo Black"/>
                <a:sym typeface="Archivo Black"/>
              </a:rPr>
              <a:t>Instituições com transporte próprio e com ônibus oferecido pelo Sesc Piracicaba</a:t>
            </a:r>
            <a:endParaRPr lang="pt-BR" sz="4800" spc="-150" noProof="0">
              <a:solidFill>
                <a:srgbClr val="000000"/>
              </a:solidFill>
              <a:highlight>
                <a:srgbClr val="FFD300"/>
              </a:highlight>
              <a:latin typeface="Garet Bold" panose="020B0604020202020204" charset="0"/>
              <a:ea typeface="Archivo Black"/>
              <a:cs typeface="Archivo Black"/>
            </a:endParaRP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60356FD0-D72F-8C00-AA2C-46478A857E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6587085"/>
              </p:ext>
            </p:extLst>
          </p:nvPr>
        </p:nvGraphicFramePr>
        <p:xfrm>
          <a:off x="3493698" y="2674188"/>
          <a:ext cx="12539569" cy="603258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61515">
                  <a:extLst>
                    <a:ext uri="{9D8B030D-6E8A-4147-A177-3AD203B41FA5}">
                      <a16:colId xmlns:a16="http://schemas.microsoft.com/office/drawing/2014/main" val="2238630549"/>
                    </a:ext>
                  </a:extLst>
                </a:gridCol>
                <a:gridCol w="4778334">
                  <a:extLst>
                    <a:ext uri="{9D8B030D-6E8A-4147-A177-3AD203B41FA5}">
                      <a16:colId xmlns:a16="http://schemas.microsoft.com/office/drawing/2014/main" val="2030797396"/>
                    </a:ext>
                  </a:extLst>
                </a:gridCol>
                <a:gridCol w="5099720">
                  <a:extLst>
                    <a:ext uri="{9D8B030D-6E8A-4147-A177-3AD203B41FA5}">
                      <a16:colId xmlns:a16="http://schemas.microsoft.com/office/drawing/2014/main" val="725961185"/>
                    </a:ext>
                  </a:extLst>
                </a:gridCol>
              </a:tblGrid>
              <a:tr h="621382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Mês</a:t>
                      </a:r>
                    </a:p>
                  </a:txBody>
                  <a:tcPr marL="9525" marR="9525" marT="9525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Instituições nas visitas mediadas</a:t>
                      </a:r>
                    </a:p>
                  </a:txBody>
                  <a:tcPr marL="9525" marR="9525" marT="9525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9440525"/>
                  </a:ext>
                </a:extLst>
              </a:tr>
              <a:tr h="106153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transporte próprio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ônibus disponibilizado pelo Sesc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9882"/>
                  </a:ext>
                </a:extLst>
              </a:tr>
              <a:tr h="62138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Junho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5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1659921"/>
                  </a:ext>
                </a:extLst>
              </a:tr>
              <a:tr h="62138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Julho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8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8745356"/>
                  </a:ext>
                </a:extLst>
              </a:tr>
              <a:tr h="62138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Agosto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19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1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7152033"/>
                  </a:ext>
                </a:extLst>
              </a:tr>
              <a:tr h="62138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Setembro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20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17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2117040"/>
                  </a:ext>
                </a:extLst>
              </a:tr>
              <a:tr h="62138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Outubro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30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16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059464"/>
                  </a:ext>
                </a:extLst>
              </a:tr>
              <a:tr h="62138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Novembro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18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8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683425"/>
                  </a:ext>
                </a:extLst>
              </a:tr>
              <a:tr h="621382">
                <a:tc>
                  <a:txBody>
                    <a:bodyPr/>
                    <a:lstStyle/>
                    <a:p>
                      <a:pPr fontAlgn="b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Total</a:t>
                      </a:r>
                    </a:p>
                  </a:txBody>
                  <a:tcPr marL="9525" marR="9525" marT="9525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100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3200" b="1">
                          <a:effectLst/>
                          <a:latin typeface="Garet Bold"/>
                        </a:rPr>
                        <a:t>42</a:t>
                      </a:r>
                    </a:p>
                  </a:txBody>
                  <a:tcPr marL="9525" marR="9525" marT="9525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96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6973861"/>
                  </a:ext>
                </a:extLst>
              </a:tr>
            </a:tbl>
          </a:graphicData>
        </a:graphic>
      </p:graphicFrame>
      <p:sp>
        <p:nvSpPr>
          <p:cNvPr id="4" name="CaixaDeTexto 3">
            <a:extLst>
              <a:ext uri="{FF2B5EF4-FFF2-40B4-BE49-F238E27FC236}">
                <a16:creationId xmlns:a16="http://schemas.microsoft.com/office/drawing/2014/main" id="{149D8249-7F23-2CE9-E157-836F86E647E1}"/>
              </a:ext>
            </a:extLst>
          </p:cNvPr>
          <p:cNvSpPr txBox="1"/>
          <p:nvPr/>
        </p:nvSpPr>
        <p:spPr>
          <a:xfrm>
            <a:off x="12048208" y="8925875"/>
            <a:ext cx="5992116" cy="1077218"/>
          </a:xfrm>
          <a:prstGeom prst="rect">
            <a:avLst/>
          </a:prstGeom>
          <a:solidFill>
            <a:srgbClr val="FFC000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600">
                <a:latin typeface="Garet Bold"/>
                <a:ea typeface="Calibri"/>
                <a:cs typeface="Calibri"/>
              </a:rPr>
              <a:t>Foram utilizadas 37 diárias de ônibus disponibilizadas pelo Sesc. Em média, cada diária transportava 2-3 turmas. Em 5 diárias, houve mais de uma instituição visitando a exposição</a:t>
            </a:r>
          </a:p>
        </p:txBody>
      </p:sp>
    </p:spTree>
    <p:extLst>
      <p:ext uri="{BB962C8B-B14F-4D97-AF65-F5344CB8AC3E}">
        <p14:creationId xmlns:p14="http://schemas.microsoft.com/office/powerpoint/2010/main" val="3670191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D65D9A-13DA-E312-80E5-E7518DB31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0A95DBF5-E5B4-A834-351A-BE5A38901568}"/>
              </a:ext>
            </a:extLst>
          </p:cNvPr>
          <p:cNvSpPr txBox="1"/>
          <p:nvPr/>
        </p:nvSpPr>
        <p:spPr>
          <a:xfrm>
            <a:off x="1752600" y="995152"/>
            <a:ext cx="147828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6000" spc="-150" noProof="0">
                <a:solidFill>
                  <a:srgbClr val="000000"/>
                </a:solidFill>
                <a:highlight>
                  <a:srgbClr val="41B9C9"/>
                </a:highlight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Ações integradas da exposição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A62D77F-B482-385C-9EF7-783605BCDFF4}"/>
              </a:ext>
            </a:extLst>
          </p:cNvPr>
          <p:cNvSpPr txBox="1"/>
          <p:nvPr/>
        </p:nvSpPr>
        <p:spPr>
          <a:xfrm>
            <a:off x="15186804" y="6223240"/>
            <a:ext cx="2740324" cy="36317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300">
                <a:highlight>
                  <a:srgbClr val="41B9C9"/>
                </a:highlight>
              </a:rPr>
              <a:t>No mês de julho as ações integradas da exposição compuseram com a programação de férias e fizemos mediações de leitura em 3 horários diariamente com a equipe educativa.</a:t>
            </a:r>
            <a:endParaRPr lang="pt-BR" sz="2300">
              <a:highlight>
                <a:srgbClr val="41B9C9"/>
              </a:highlight>
              <a:ea typeface="Calibri"/>
              <a:cs typeface="Calibri"/>
            </a:endParaRPr>
          </a:p>
        </p:txBody>
      </p:sp>
      <p:pic>
        <p:nvPicPr>
          <p:cNvPr id="12" name="Imagem 11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083714DC-5BEC-6AFD-16D0-6EB09BD30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3673" y="2572020"/>
            <a:ext cx="11700652" cy="7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1623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959795"/>
              </p:ext>
            </p:extLst>
          </p:nvPr>
        </p:nvGraphicFramePr>
        <p:xfrm>
          <a:off x="9601200" y="3162300"/>
          <a:ext cx="8305800" cy="670560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endParaRPr lang="pt-BR" sz="3000" spc="-150" noProof="0">
                        <a:solidFill>
                          <a:schemeClr val="tx1"/>
                        </a:solidFill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  <a:ea typeface="Garet"/>
                          <a:cs typeface="Garet"/>
                          <a:sym typeface="Garet"/>
                        </a:rPr>
                        <a:t>presenças</a:t>
                      </a:r>
                      <a:endParaRPr lang="pt-BR" sz="3000" spc="-150" noProof="0">
                        <a:solidFill>
                          <a:schemeClr val="tx1"/>
                        </a:solidFill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  <a:ea typeface="Garet"/>
                          <a:cs typeface="Garet"/>
                          <a:sym typeface="Garet"/>
                        </a:rPr>
                        <a:t>ações</a:t>
                      </a:r>
                      <a:endParaRPr lang="pt-BR" sz="3000" spc="-150" noProof="0">
                        <a:solidFill>
                          <a:schemeClr val="tx1"/>
                        </a:solidFill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pt-BR" sz="3000" b="1" spc="-150" noProof="0">
                          <a:solidFill>
                            <a:schemeClr val="tx1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Oficinas</a:t>
                      </a:r>
                      <a:endParaRPr lang="pt-BR" sz="3000" spc="-150" noProof="0">
                        <a:solidFill>
                          <a:schemeClr val="tx1"/>
                        </a:solidFill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51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tabLst/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5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pt-BR" sz="3000" b="1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Debate</a:t>
                      </a:r>
                      <a:endParaRPr lang="pt-BR" sz="3000" spc="-150" noProof="0">
                        <a:solidFill>
                          <a:schemeClr val="tx1"/>
                        </a:solidFill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8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1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pt-BR" sz="3000" b="1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Curso</a:t>
                      </a:r>
                      <a:endParaRPr lang="pt-BR" sz="3000" spc="-150" noProof="0">
                        <a:solidFill>
                          <a:schemeClr val="tx1"/>
                        </a:solidFill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12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1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5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pt-BR" sz="3000" b="1" spc="-150" noProof="0">
                          <a:solidFill>
                            <a:schemeClr val="tx1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Mediação</a:t>
                      </a:r>
                      <a:endParaRPr lang="pt-BR" sz="3000" spc="-150" noProof="0">
                        <a:solidFill>
                          <a:schemeClr val="tx1"/>
                        </a:solidFill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255</a:t>
                      </a:r>
                      <a:endParaRPr lang="pt-BR">
                        <a:solidFill>
                          <a:schemeClr val="tx1"/>
                        </a:solidFill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3</a:t>
                      </a:r>
                      <a:endParaRPr lang="pt-BR">
                        <a:solidFill>
                          <a:schemeClr val="tx1"/>
                        </a:solidFill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pt-BR" sz="3000" b="1" spc="-150" noProof="0">
                          <a:solidFill>
                            <a:schemeClr val="tx1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Roda de conversa</a:t>
                      </a:r>
                      <a:endParaRPr lang="pt-BR" sz="3000" spc="-150" noProof="0">
                        <a:solidFill>
                          <a:schemeClr val="tx1"/>
                        </a:solidFill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15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1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9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pt-BR" sz="3000" b="1" spc="-150" noProof="0">
                          <a:solidFill>
                            <a:schemeClr val="tx1"/>
                          </a:solidFill>
                          <a:latin typeface="Garet Bold"/>
                          <a:ea typeface="Garet Bold"/>
                          <a:cs typeface="Garet Bold"/>
                          <a:sym typeface="Garet Bold"/>
                        </a:rPr>
                        <a:t>Apresentação</a:t>
                      </a:r>
                      <a:endParaRPr lang="pt-BR" sz="3000" spc="-150" noProof="0">
                        <a:solidFill>
                          <a:schemeClr val="tx1"/>
                        </a:solidFill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225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buNone/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2</a:t>
                      </a:r>
                      <a:endParaRPr lang="pt-BR">
                        <a:solidFill>
                          <a:schemeClr val="tx1"/>
                        </a:solidFill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21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pt-BR" sz="3000" b="1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Mediação de Leitura</a:t>
                      </a:r>
                      <a:endParaRPr lang="pt-BR" sz="3000" spc="-150" noProof="0">
                        <a:solidFill>
                          <a:schemeClr val="tx1"/>
                        </a:solidFill>
                        <a:latin typeface="Garet Bold"/>
                      </a:endParaRPr>
                    </a:p>
                  </a:txBody>
                  <a:tcPr marL="190500" marR="190500" marT="190500" marB="19050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252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/>
                      </a:pPr>
                      <a:r>
                        <a:rPr lang="pt-BR" sz="3000" spc="-150" noProof="0">
                          <a:solidFill>
                            <a:schemeClr val="tx1"/>
                          </a:solidFill>
                          <a:latin typeface="Garet Bold"/>
                        </a:rPr>
                        <a:t>64</a:t>
                      </a:r>
                    </a:p>
                  </a:txBody>
                  <a:tcPr marL="190500" marR="190500" marT="190500" marB="190500" anchor="ctr">
                    <a:lnL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B9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Box 11">
            <a:extLst>
              <a:ext uri="{FF2B5EF4-FFF2-40B4-BE49-F238E27FC236}">
                <a16:creationId xmlns:a16="http://schemas.microsoft.com/office/drawing/2014/main" id="{79A31098-639A-3778-D1DB-C199CAD3F36C}"/>
              </a:ext>
            </a:extLst>
          </p:cNvPr>
          <p:cNvSpPr txBox="1"/>
          <p:nvPr/>
        </p:nvSpPr>
        <p:spPr>
          <a:xfrm>
            <a:off x="10668000" y="913737"/>
            <a:ext cx="6172200" cy="18675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4500" b="1" spc="-150" noProof="0">
                <a:solidFill>
                  <a:schemeClr val="bg1"/>
                </a:solidFill>
                <a:highlight>
                  <a:srgbClr val="006041"/>
                </a:highlight>
                <a:latin typeface="Garet Bold" panose="020B0604020202020204" charset="0"/>
                <a:ea typeface="Garet"/>
                <a:cs typeface="Garet"/>
                <a:sym typeface="Garet"/>
              </a:rPr>
              <a:t>818</a:t>
            </a:r>
            <a:r>
              <a:rPr lang="pt-BR" sz="6000" spc="-150" noProof="0">
                <a:solidFill>
                  <a:schemeClr val="bg1"/>
                </a:solidFill>
                <a:latin typeface="Garet Bold" panose="020B0604020202020204" charset="0"/>
                <a:ea typeface="Garet"/>
                <a:cs typeface="Garet"/>
                <a:sym typeface="Garet"/>
              </a:rPr>
              <a:t> </a:t>
            </a:r>
          </a:p>
          <a:p>
            <a:pPr algn="ctr"/>
            <a:r>
              <a:rPr lang="pt-BR" sz="3000" spc="-150" noProof="0">
                <a:latin typeface="Garet"/>
                <a:ea typeface="Garet"/>
                <a:cs typeface="Garet"/>
                <a:sym typeface="Garet"/>
              </a:rPr>
              <a:t>presenças em ações integradas à exposição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705505FE-A759-11FD-8A1A-C3CA65F20B6D}"/>
              </a:ext>
            </a:extLst>
          </p:cNvPr>
          <p:cNvSpPr txBox="1"/>
          <p:nvPr/>
        </p:nvSpPr>
        <p:spPr>
          <a:xfrm>
            <a:off x="0" y="4220170"/>
            <a:ext cx="91440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6000" spc="-150" noProof="0">
                <a:solidFill>
                  <a:srgbClr val="000000"/>
                </a:solidFill>
                <a:highlight>
                  <a:srgbClr val="41B9C9"/>
                </a:highlight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Ações integradas da exposição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D43CC4-F571-48F2-7C39-28DD692DF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BA6CCAD3-0318-EEA0-4095-B7D4CDE78877}"/>
              </a:ext>
            </a:extLst>
          </p:cNvPr>
          <p:cNvSpPr txBox="1"/>
          <p:nvPr/>
        </p:nvSpPr>
        <p:spPr>
          <a:xfrm>
            <a:off x="10763250" y="1790700"/>
            <a:ext cx="5905500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spcBef>
                <a:spcPct val="0"/>
              </a:spcBef>
            </a:pPr>
            <a:r>
              <a:rPr lang="pt-BR" sz="4500" b="1" spc="-150">
                <a:solidFill>
                  <a:srgbClr val="000000"/>
                </a:solidFill>
                <a:highlight>
                  <a:srgbClr val="FFD300"/>
                </a:highlight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9</a:t>
            </a:r>
            <a:r>
              <a:rPr lang="pt-BR" sz="4500" b="1" spc="-150" noProof="0">
                <a:solidFill>
                  <a:srgbClr val="000000"/>
                </a:solidFill>
                <a:highlight>
                  <a:srgbClr val="FFD300"/>
                </a:highlight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 cidades</a:t>
            </a:r>
          </a:p>
          <a:p>
            <a:pPr algn="ctr">
              <a:spcBef>
                <a:spcPct val="0"/>
              </a:spcBef>
            </a:pPr>
            <a:r>
              <a:rPr lang="pt-BR" sz="3000" spc="-150" noProof="0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abrangência dos municípios  da região atendidos em visitação de grupos agenda</a:t>
            </a:r>
            <a:r>
              <a:rPr lang="pt-BR" sz="3000" spc="-150">
                <a:solidFill>
                  <a:srgbClr val="000000"/>
                </a:solidFill>
                <a:latin typeface="Garet" panose="020B0604020202020204" charset="0"/>
                <a:ea typeface="Archivo Black"/>
                <a:cs typeface="Archivo Black"/>
                <a:sym typeface="Archivo Black"/>
              </a:rPr>
              <a:t>dos</a:t>
            </a:r>
            <a:endParaRPr lang="pt-BR" sz="3000" spc="-150" noProof="0">
              <a:solidFill>
                <a:srgbClr val="000000"/>
              </a:solidFill>
              <a:latin typeface="Garet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2638323E-3606-ADDD-D1C1-97B3732AAB25}"/>
              </a:ext>
            </a:extLst>
          </p:cNvPr>
          <p:cNvSpPr txBox="1"/>
          <p:nvPr/>
        </p:nvSpPr>
        <p:spPr>
          <a:xfrm>
            <a:off x="10763250" y="4669047"/>
            <a:ext cx="5905500" cy="4431983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 algn="ctr"/>
            <a:r>
              <a:rPr lang="pt-BR" sz="3200" spc="-150">
                <a:highlight>
                  <a:srgbClr val="FFD300"/>
                </a:highlight>
                <a:latin typeface="Garet Bold"/>
              </a:rPr>
              <a:t>Piracicaba</a:t>
            </a:r>
          </a:p>
          <a:p>
            <a:pPr algn="ctr"/>
            <a:r>
              <a:rPr lang="pt-BR" sz="3200" spc="-150" noProof="0">
                <a:highlight>
                  <a:srgbClr val="FFD300"/>
                </a:highlight>
                <a:latin typeface="Garet Bold"/>
              </a:rPr>
              <a:t>Americana</a:t>
            </a:r>
          </a:p>
          <a:p>
            <a:pPr algn="ctr"/>
            <a:r>
              <a:rPr lang="pt-BR" sz="3200" spc="-150">
                <a:highlight>
                  <a:srgbClr val="FFD300"/>
                </a:highlight>
                <a:latin typeface="Garet Bold"/>
              </a:rPr>
              <a:t>Rio das Pedras</a:t>
            </a:r>
          </a:p>
          <a:p>
            <a:pPr algn="ctr"/>
            <a:r>
              <a:rPr lang="pt-BR" sz="3200" spc="-150" noProof="0">
                <a:highlight>
                  <a:srgbClr val="FFD300"/>
                </a:highlight>
                <a:latin typeface="Garet Bold"/>
              </a:rPr>
              <a:t>Limeira</a:t>
            </a:r>
          </a:p>
          <a:p>
            <a:pPr algn="ctr"/>
            <a:r>
              <a:rPr lang="pt-BR" sz="3200" spc="-150">
                <a:highlight>
                  <a:srgbClr val="FFD300"/>
                </a:highlight>
                <a:latin typeface="Garet Bold"/>
              </a:rPr>
              <a:t>Rio Claro</a:t>
            </a:r>
          </a:p>
          <a:p>
            <a:pPr algn="ctr"/>
            <a:r>
              <a:rPr lang="pt-BR" sz="3200" spc="-150" noProof="0">
                <a:highlight>
                  <a:srgbClr val="FFD300"/>
                </a:highlight>
                <a:latin typeface="Garet Bold"/>
              </a:rPr>
              <a:t>Charqueada</a:t>
            </a:r>
          </a:p>
          <a:p>
            <a:pPr algn="ctr"/>
            <a:r>
              <a:rPr lang="pt-BR" sz="3200" spc="-150" noProof="0">
                <a:highlight>
                  <a:srgbClr val="FFD300"/>
                </a:highlight>
                <a:latin typeface="Garet Bold"/>
              </a:rPr>
              <a:t>Santa Bárbara D’Oeste</a:t>
            </a:r>
          </a:p>
          <a:p>
            <a:pPr algn="ctr"/>
            <a:r>
              <a:rPr lang="pt-BR" sz="3200" spc="-150">
                <a:highlight>
                  <a:srgbClr val="FFD300"/>
                </a:highlight>
                <a:latin typeface="Garet Bold"/>
              </a:rPr>
              <a:t>Sorocaba</a:t>
            </a:r>
          </a:p>
          <a:p>
            <a:pPr algn="ctr"/>
            <a:r>
              <a:rPr lang="pt-BR" sz="3200" spc="-150" noProof="0">
                <a:highlight>
                  <a:srgbClr val="FFD300"/>
                </a:highlight>
                <a:latin typeface="Garet Bold"/>
              </a:rPr>
              <a:t>Araras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AAEB936E-FE1D-E6D3-A313-6D72F3E4A0BF}"/>
              </a:ext>
            </a:extLst>
          </p:cNvPr>
          <p:cNvSpPr txBox="1"/>
          <p:nvPr/>
        </p:nvSpPr>
        <p:spPr>
          <a:xfrm>
            <a:off x="0" y="4697224"/>
            <a:ext cx="9144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6000" spc="-150" noProof="0">
                <a:solidFill>
                  <a:schemeClr val="bg1"/>
                </a:solidFill>
                <a:highlight>
                  <a:srgbClr val="8882BD"/>
                </a:highlight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Cidades</a:t>
            </a:r>
          </a:p>
        </p:txBody>
      </p:sp>
    </p:spTree>
    <p:extLst>
      <p:ext uri="{BB962C8B-B14F-4D97-AF65-F5344CB8AC3E}">
        <p14:creationId xmlns:p14="http://schemas.microsoft.com/office/powerpoint/2010/main" val="36002827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20FDA7-B291-C22D-9667-DA9A5DD4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0">
            <a:extLst>
              <a:ext uri="{FF2B5EF4-FFF2-40B4-BE49-F238E27FC236}">
                <a16:creationId xmlns:a16="http://schemas.microsoft.com/office/drawing/2014/main" id="{D7F082A3-D60F-1AAB-1517-60689FB4FD8C}"/>
              </a:ext>
            </a:extLst>
          </p:cNvPr>
          <p:cNvSpPr txBox="1"/>
          <p:nvPr/>
        </p:nvSpPr>
        <p:spPr>
          <a:xfrm>
            <a:off x="9437832" y="588753"/>
            <a:ext cx="8468616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4000" b="1" spc="-150">
                <a:solidFill>
                  <a:srgbClr val="000000"/>
                </a:solidFill>
                <a:highlight>
                  <a:srgbClr val="41B9C9"/>
                </a:highlight>
                <a:latin typeface="Garet Bold"/>
                <a:ea typeface="Archivo Black"/>
                <a:cs typeface="Archivo Black"/>
                <a:sym typeface="Archivo Black"/>
              </a:rPr>
              <a:t>142 </a:t>
            </a:r>
            <a:r>
              <a:rPr lang="pt-BR" sz="4000" b="1" spc="-150" noProof="0">
                <a:solidFill>
                  <a:srgbClr val="000000"/>
                </a:solidFill>
                <a:highlight>
                  <a:srgbClr val="41B9C9"/>
                </a:highlight>
                <a:latin typeface="Garet Bold"/>
                <a:ea typeface="Archivo Black"/>
                <a:cs typeface="Archivo Black"/>
                <a:sym typeface="Archivo Black"/>
              </a:rPr>
              <a:t>instituições</a:t>
            </a:r>
            <a:r>
              <a:rPr lang="pt-BR" sz="4000" b="1" spc="-150">
                <a:solidFill>
                  <a:srgbClr val="000000"/>
                </a:solidFill>
                <a:highlight>
                  <a:srgbClr val="41B9C9"/>
                </a:highlight>
                <a:latin typeface="Garet Bold"/>
                <a:ea typeface="Archivo Black"/>
                <a:cs typeface="Archivo Black"/>
                <a:sym typeface="Archivo Black"/>
              </a:rPr>
              <a:t> visitantes</a:t>
            </a:r>
            <a:endParaRPr lang="pt-BR" sz="4000" b="1" spc="-150" noProof="0">
              <a:solidFill>
                <a:srgbClr val="000000"/>
              </a:solidFill>
              <a:highlight>
                <a:srgbClr val="41B9C9"/>
              </a:highlight>
              <a:latin typeface="Garet Bold"/>
              <a:ea typeface="Archivo Black"/>
              <a:cs typeface="Archivo Black"/>
            </a:endParaRPr>
          </a:p>
          <a:p>
            <a:pPr algn="ctr">
              <a:spcBef>
                <a:spcPct val="0"/>
              </a:spcBef>
            </a:pPr>
            <a:r>
              <a:rPr lang="pt-BR" sz="3000" spc="-150" noProof="0">
                <a:solidFill>
                  <a:schemeClr val="bg1"/>
                </a:solidFill>
                <a:latin typeface="Garet"/>
                <a:ea typeface="Archivo Black"/>
                <a:cs typeface="Archivo Black"/>
                <a:sym typeface="Archivo Black"/>
              </a:rPr>
              <a:t>destaques entre as instituições recebidas</a:t>
            </a:r>
            <a:r>
              <a:rPr lang="pt-BR" sz="3000" spc="-150">
                <a:solidFill>
                  <a:schemeClr val="bg1"/>
                </a:solidFill>
                <a:latin typeface="Garet"/>
                <a:ea typeface="Archivo Black"/>
                <a:cs typeface="Archivo Black"/>
                <a:sym typeface="Archivo Black"/>
              </a:rPr>
              <a:t>:</a:t>
            </a:r>
            <a:endParaRPr lang="pt-BR" sz="3000" spc="-150" noProof="0">
              <a:solidFill>
                <a:schemeClr val="bg1"/>
              </a:solidFill>
              <a:latin typeface="Garet" panose="020B0604020202020204" charset="0"/>
              <a:ea typeface="Archivo Black"/>
              <a:cs typeface="Archivo Black"/>
            </a:endParaRPr>
          </a:p>
        </p:txBody>
      </p:sp>
      <p:sp>
        <p:nvSpPr>
          <p:cNvPr id="3" name="TextBox 13">
            <a:extLst>
              <a:ext uri="{FF2B5EF4-FFF2-40B4-BE49-F238E27FC236}">
                <a16:creationId xmlns:a16="http://schemas.microsoft.com/office/drawing/2014/main" id="{443776A8-5BF1-5C6C-FDAB-3F0211A9B258}"/>
              </a:ext>
            </a:extLst>
          </p:cNvPr>
          <p:cNvSpPr txBox="1"/>
          <p:nvPr/>
        </p:nvSpPr>
        <p:spPr>
          <a:xfrm>
            <a:off x="7186499" y="1120383"/>
            <a:ext cx="11095038" cy="8802410"/>
          </a:xfrm>
          <a:prstGeom prst="rect">
            <a:avLst/>
          </a:prstGeom>
        </p:spPr>
        <p:txBody>
          <a:bodyPr wrap="square" lIns="0" tIns="0" rIns="0" bIns="0" numCol="1" rtlCol="0" anchor="t">
            <a:spAutoFit/>
          </a:bodyPr>
          <a:lstStyle/>
          <a:p>
            <a:pPr>
              <a:lnSpc>
                <a:spcPct val="150000"/>
              </a:lnSpc>
            </a:pPr>
            <a:endParaRPr lang="pt-BR" sz="3200" spc="-150">
              <a:highlight>
                <a:srgbClr val="FFFF00"/>
              </a:highlight>
              <a:latin typeface="Garet Bold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spc="-150">
                <a:highlight>
                  <a:srgbClr val="FFFF00"/>
                </a:highlight>
                <a:latin typeface="Garet Bold"/>
              </a:rPr>
              <a:t>Escolas Públicas;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spc="-150">
                <a:highlight>
                  <a:srgbClr val="FFFF00"/>
                </a:highlight>
                <a:latin typeface="Garet Bold"/>
              </a:rPr>
              <a:t>Escolas Privadas;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spc="-150">
                <a:highlight>
                  <a:srgbClr val="FFFF00"/>
                </a:highlight>
                <a:latin typeface="Garet Bold"/>
              </a:rPr>
              <a:t>Senac;</a:t>
            </a:r>
            <a:endParaRPr lang="pt-BR" sz="3200" spc="-150" noProof="0">
              <a:highlight>
                <a:srgbClr val="FFFF00"/>
              </a:highlight>
              <a:latin typeface="Garet Bold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>
                <a:highlight>
                  <a:srgbClr val="FFFF00"/>
                </a:highlight>
                <a:latin typeface="Garet Bold"/>
                <a:cs typeface="Hind Vadodara"/>
              </a:rPr>
              <a:t>FUNJAPE - Fundação Jaime Pereira;</a:t>
            </a:r>
            <a:endParaRPr lang="pt-BR" sz="3200">
              <a:highlight>
                <a:srgbClr val="FFFF00"/>
              </a:highlight>
              <a:latin typeface="Garet Bold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spc="-150">
                <a:highlight>
                  <a:srgbClr val="FFFF00"/>
                </a:highlight>
                <a:latin typeface="Garet Bold"/>
              </a:rPr>
              <a:t>Estação Idoso;</a:t>
            </a:r>
            <a:endParaRPr lang="pt-BR" sz="3200" spc="-150" noProof="0">
              <a:highlight>
                <a:srgbClr val="FFFF00"/>
              </a:highlight>
              <a:latin typeface="Garet Bold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spc="-150">
                <a:highlight>
                  <a:srgbClr val="FFFF00"/>
                </a:highlight>
                <a:latin typeface="Garet Bold"/>
                <a:ea typeface="Roboto"/>
                <a:cs typeface="Roboto"/>
              </a:rPr>
              <a:t>Centros de Atenção Psicossocial (</a:t>
            </a:r>
            <a:r>
              <a:rPr lang="pt-BR" sz="3200" spc="-150" noProof="0">
                <a:highlight>
                  <a:srgbClr val="FFFF00"/>
                </a:highlight>
                <a:latin typeface="Garet Bold"/>
                <a:ea typeface="Roboto"/>
                <a:cs typeface="Roboto"/>
              </a:rPr>
              <a:t>CAPS</a:t>
            </a:r>
            <a:r>
              <a:rPr lang="pt-BR" sz="3200" spc="-150">
                <a:highlight>
                  <a:srgbClr val="FFFF00"/>
                </a:highlight>
                <a:latin typeface="Garet Bold"/>
                <a:ea typeface="Roboto"/>
                <a:cs typeface="Roboto"/>
              </a:rPr>
              <a:t>);</a:t>
            </a:r>
            <a:endParaRPr lang="pt-BR" sz="3200" spc="-150" noProof="0">
              <a:highlight>
                <a:srgbClr val="FFFF00"/>
              </a:highlight>
              <a:latin typeface="Garet Bold"/>
              <a:ea typeface="Roboto"/>
              <a:cs typeface="Roboto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spc="-150">
                <a:highlight>
                  <a:srgbClr val="FFFF00"/>
                </a:highlight>
                <a:latin typeface="Garet Bold"/>
              </a:rPr>
              <a:t>Fundação Romi;</a:t>
            </a:r>
            <a:endParaRPr lang="pt-BR" sz="3200" spc="-150" noProof="0">
              <a:highlight>
                <a:srgbClr val="FFFF00"/>
              </a:highlight>
              <a:latin typeface="Garet Bold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spc="-150">
                <a:solidFill>
                  <a:srgbClr val="000000"/>
                </a:solidFill>
                <a:highlight>
                  <a:srgbClr val="FFFF00"/>
                </a:highlight>
                <a:latin typeface="Garet Bold"/>
                <a:ea typeface="+mn-lt"/>
                <a:cs typeface="+mn-lt"/>
              </a:rPr>
              <a:t>Centro de Referência da Assistência Social (</a:t>
            </a:r>
            <a:r>
              <a:rPr lang="pt-BR" sz="3200" spc="-150" noProof="0">
                <a:solidFill>
                  <a:srgbClr val="000000"/>
                </a:solidFill>
                <a:highlight>
                  <a:srgbClr val="FFFF00"/>
                </a:highlight>
                <a:latin typeface="Garet Bold"/>
                <a:ea typeface="+mn-lt"/>
                <a:cs typeface="+mn-lt"/>
              </a:rPr>
              <a:t>CRAS</a:t>
            </a:r>
            <a:r>
              <a:rPr lang="pt-BR" sz="3200" spc="-150">
                <a:solidFill>
                  <a:srgbClr val="000000"/>
                </a:solidFill>
                <a:highlight>
                  <a:srgbClr val="FFFF00"/>
                </a:highlight>
                <a:latin typeface="Garet Bold"/>
                <a:ea typeface="+mn-lt"/>
                <a:cs typeface="+mn-lt"/>
              </a:rPr>
              <a:t>);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spc="-150">
                <a:highlight>
                  <a:srgbClr val="FFFF00"/>
                </a:highlight>
                <a:latin typeface="Garet Bold"/>
                <a:ea typeface="Roboto"/>
                <a:cs typeface="Roboto"/>
              </a:rPr>
              <a:t>Centro de Reabilitação Piracicaba (CRP);</a:t>
            </a:r>
            <a:endParaRPr lang="pt-BR" sz="3200" spc="-150" noProof="0">
              <a:highlight>
                <a:srgbClr val="FFFF00"/>
              </a:highlight>
              <a:latin typeface="Garet Bold"/>
              <a:ea typeface="Roboto"/>
              <a:cs typeface="Roboto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 spc="-150">
                <a:solidFill>
                  <a:srgbClr val="000000"/>
                </a:solidFill>
                <a:highlight>
                  <a:srgbClr val="FFFF00"/>
                </a:highlight>
                <a:latin typeface="Garet Bold"/>
              </a:rPr>
              <a:t>Centro de Convivência Intergeracional (</a:t>
            </a:r>
            <a:r>
              <a:rPr lang="pt-BR" sz="3200" spc="-150" err="1">
                <a:solidFill>
                  <a:srgbClr val="000000"/>
                </a:solidFill>
                <a:highlight>
                  <a:srgbClr val="FFFF00"/>
                </a:highlight>
                <a:latin typeface="Garet Bold"/>
              </a:rPr>
              <a:t>CCInter</a:t>
            </a:r>
            <a:r>
              <a:rPr lang="pt-BR" sz="3200" spc="-150">
                <a:solidFill>
                  <a:srgbClr val="000000"/>
                </a:solidFill>
                <a:highlight>
                  <a:srgbClr val="FFFF00"/>
                </a:highlight>
                <a:latin typeface="Garet Bold"/>
              </a:rPr>
              <a:t>);</a:t>
            </a:r>
            <a:endParaRPr lang="pt-BR" sz="3200">
              <a:solidFill>
                <a:srgbClr val="000000"/>
              </a:solidFill>
              <a:highlight>
                <a:srgbClr val="FFFF00"/>
              </a:highlight>
              <a:latin typeface="Garet Bold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3200">
                <a:highlight>
                  <a:srgbClr val="FFFF00"/>
                </a:highlight>
                <a:latin typeface="Garet Bold"/>
              </a:rPr>
              <a:t>UNESP .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8D253024-78F4-A8A5-CE0D-84A04DC1A36F}"/>
              </a:ext>
            </a:extLst>
          </p:cNvPr>
          <p:cNvSpPr txBox="1"/>
          <p:nvPr/>
        </p:nvSpPr>
        <p:spPr>
          <a:xfrm>
            <a:off x="0" y="4761216"/>
            <a:ext cx="9144000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pt-BR" sz="6000" spc="-150" noProof="0">
                <a:solidFill>
                  <a:schemeClr val="bg1"/>
                </a:solidFill>
                <a:highlight>
                  <a:srgbClr val="8882BD"/>
                </a:highlight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Instituições</a:t>
            </a:r>
          </a:p>
        </p:txBody>
      </p:sp>
    </p:spTree>
    <p:extLst>
      <p:ext uri="{BB962C8B-B14F-4D97-AF65-F5344CB8AC3E}">
        <p14:creationId xmlns:p14="http://schemas.microsoft.com/office/powerpoint/2010/main" val="5118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3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9BB09A-BBDD-765C-292F-C98A59CF8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5DDDC600-3378-3C6D-CFF4-ABF2674C3B7F}"/>
              </a:ext>
            </a:extLst>
          </p:cNvPr>
          <p:cNvSpPr/>
          <p:nvPr/>
        </p:nvSpPr>
        <p:spPr>
          <a:xfrm>
            <a:off x="15647984" y="0"/>
            <a:ext cx="2646799" cy="2960595"/>
          </a:xfrm>
          <a:custGeom>
            <a:avLst/>
            <a:gdLst/>
            <a:ahLst/>
            <a:cxnLst/>
            <a:rect l="l" t="t" r="r" b="b"/>
            <a:pathLst>
              <a:path w="2646799" h="2960595">
                <a:moveTo>
                  <a:pt x="0" y="0"/>
                </a:moveTo>
                <a:lnTo>
                  <a:pt x="2646799" y="0"/>
                </a:lnTo>
                <a:lnTo>
                  <a:pt x="2646799" y="2960595"/>
                </a:lnTo>
                <a:lnTo>
                  <a:pt x="0" y="29605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BR" noProof="0"/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814A0184-C623-BF3A-37FB-BB9809E6408F}"/>
              </a:ext>
            </a:extLst>
          </p:cNvPr>
          <p:cNvSpPr txBox="1"/>
          <p:nvPr/>
        </p:nvSpPr>
        <p:spPr>
          <a:xfrm>
            <a:off x="496019" y="4782782"/>
            <a:ext cx="17295962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4800" spc="-150" dirty="0">
                <a:solidFill>
                  <a:schemeClr val="bg1"/>
                </a:solidFill>
                <a:highlight>
                  <a:srgbClr val="8882BD"/>
                </a:highlight>
                <a:latin typeface="Garet Bold"/>
                <a:ea typeface="Archivo Black"/>
                <a:cs typeface="Archivo Black"/>
                <a:sym typeface="Archivo Black"/>
              </a:rPr>
              <a:t>Investimento real em </a:t>
            </a:r>
            <a:r>
              <a:rPr lang="pt-BR" sz="4800" spc="-150" dirty="0" err="1">
                <a:solidFill>
                  <a:schemeClr val="bg1"/>
                </a:solidFill>
                <a:highlight>
                  <a:srgbClr val="8882BD"/>
                </a:highlight>
                <a:latin typeface="Garet Bold"/>
                <a:ea typeface="Archivo Black"/>
                <a:cs typeface="Archivo Black"/>
                <a:sym typeface="Archivo Black"/>
              </a:rPr>
              <a:t>Karingana</a:t>
            </a:r>
            <a:r>
              <a:rPr lang="pt-BR" sz="4800" spc="-150" dirty="0">
                <a:solidFill>
                  <a:schemeClr val="bg1"/>
                </a:solidFill>
                <a:highlight>
                  <a:srgbClr val="8882BD"/>
                </a:highlight>
                <a:latin typeface="Garet Bold"/>
                <a:ea typeface="Archivo Black"/>
                <a:cs typeface="Archivo Black"/>
                <a:sym typeface="Archivo Black"/>
              </a:rPr>
              <a:t> (</a:t>
            </a:r>
            <a:r>
              <a:rPr lang="pt-BR" sz="4800" spc="-150" dirty="0" err="1">
                <a:solidFill>
                  <a:schemeClr val="bg1"/>
                </a:solidFill>
                <a:highlight>
                  <a:srgbClr val="8882BD"/>
                </a:highlight>
                <a:latin typeface="Garet Bold"/>
                <a:ea typeface="Archivo Black"/>
                <a:cs typeface="Archivo Black"/>
                <a:sym typeface="Archivo Black"/>
              </a:rPr>
              <a:t>powerbi</a:t>
            </a:r>
            <a:r>
              <a:rPr lang="pt-BR" sz="4800" spc="-150" dirty="0">
                <a:solidFill>
                  <a:schemeClr val="bg1"/>
                </a:solidFill>
                <a:highlight>
                  <a:srgbClr val="8882BD"/>
                </a:highlight>
                <a:latin typeface="Garet Bold"/>
                <a:ea typeface="Archivo Black"/>
                <a:cs typeface="Archivo Black"/>
                <a:sym typeface="Archivo Black"/>
              </a:rPr>
              <a:t>): R$ 903.899 (6 meses)</a:t>
            </a:r>
            <a:endParaRPr lang="pt-BR" sz="4800" spc="-150" noProof="0" dirty="0">
              <a:solidFill>
                <a:schemeClr val="bg1"/>
              </a:solidFill>
              <a:highlight>
                <a:srgbClr val="8882BD"/>
              </a:highlight>
              <a:latin typeface="Garet Bold" panose="020B0604020202020204" charset="0"/>
              <a:ea typeface="Archivo Black"/>
              <a:cs typeface="Archivo Black"/>
              <a:sym typeface="Archivo Black"/>
            </a:endParaRP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53DBCDDD-F9B7-64B0-81B7-8AD171872DCA}"/>
              </a:ext>
            </a:extLst>
          </p:cNvPr>
          <p:cNvSpPr txBox="1"/>
          <p:nvPr/>
        </p:nvSpPr>
        <p:spPr>
          <a:xfrm>
            <a:off x="496019" y="1267518"/>
            <a:ext cx="14578641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4800" spc="-150">
                <a:solidFill>
                  <a:schemeClr val="bg1"/>
                </a:solidFill>
                <a:highlight>
                  <a:srgbClr val="8882BD"/>
                </a:highlight>
                <a:latin typeface="Garet Bold"/>
                <a:cs typeface="Arial"/>
                <a:sym typeface="Archivo Black"/>
              </a:rPr>
              <a:t>Custo total aproximado previsto: </a:t>
            </a:r>
            <a:endParaRPr lang="pt-BR">
              <a:solidFill>
                <a:schemeClr val="bg1"/>
              </a:solidFill>
              <a:sym typeface="Archivo Black"/>
            </a:endParaRPr>
          </a:p>
          <a:p>
            <a:r>
              <a:rPr lang="pt-BR" sz="4800" spc="-150">
                <a:solidFill>
                  <a:schemeClr val="bg1"/>
                </a:solidFill>
                <a:highlight>
                  <a:srgbClr val="8882BD"/>
                </a:highlight>
                <a:latin typeface="Garet Bold"/>
                <a:cs typeface="Arial"/>
                <a:sym typeface="Archivo Black"/>
              </a:rPr>
              <a:t>R$ 1.399.149,80 (6 meses, conforme </a:t>
            </a:r>
            <a:endParaRPr lang="pt-BR">
              <a:solidFill>
                <a:schemeClr val="bg1"/>
              </a:solidFill>
            </a:endParaRPr>
          </a:p>
          <a:p>
            <a:r>
              <a:rPr lang="pt-BR" sz="4800" spc="-150">
                <a:solidFill>
                  <a:schemeClr val="bg1"/>
                </a:solidFill>
                <a:highlight>
                  <a:srgbClr val="8882BD"/>
                </a:highlight>
                <a:latin typeface="Garet Bold"/>
                <a:cs typeface="Arial"/>
                <a:sym typeface="Archivo Black"/>
              </a:rPr>
              <a:t>DCA Nº 83 00059/2025)</a:t>
            </a:r>
            <a:endParaRPr lang="pt-BR" sz="4800" spc="-150">
              <a:solidFill>
                <a:schemeClr val="bg1"/>
              </a:solidFill>
              <a:highlight>
                <a:srgbClr val="8882BD"/>
              </a:highlight>
              <a:latin typeface="Garet Bold"/>
              <a:cs typeface="Arial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35F23CA-82A3-36D3-98C3-60E3E504411D}"/>
              </a:ext>
            </a:extLst>
          </p:cNvPr>
          <p:cNvSpPr txBox="1"/>
          <p:nvPr/>
        </p:nvSpPr>
        <p:spPr>
          <a:xfrm>
            <a:off x="496018" y="6655649"/>
            <a:ext cx="17295962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pt-BR" sz="4800" spc="-150" dirty="0">
                <a:solidFill>
                  <a:schemeClr val="bg1"/>
                </a:solidFill>
                <a:highlight>
                  <a:srgbClr val="8882BD"/>
                </a:highlight>
                <a:latin typeface="Garet Bold"/>
                <a:ea typeface="Archivo Black"/>
                <a:cs typeface="Archivo Black"/>
                <a:sym typeface="Archivo Black"/>
              </a:rPr>
              <a:t>R$ 903.899 / 29.687 atendimentos (slide 2)</a:t>
            </a:r>
          </a:p>
          <a:p>
            <a:endParaRPr lang="pt-BR" sz="4800" spc="-150">
              <a:solidFill>
                <a:schemeClr val="bg1"/>
              </a:solidFill>
              <a:highlight>
                <a:srgbClr val="8882BD"/>
              </a:highlight>
              <a:latin typeface="Garet Bold"/>
              <a:ea typeface="Archivo Black"/>
              <a:cs typeface="Archivo Black"/>
            </a:endParaRPr>
          </a:p>
          <a:p>
            <a:r>
              <a:rPr lang="pt-BR" sz="4800" spc="-150" dirty="0">
                <a:solidFill>
                  <a:srgbClr val="00B0F0"/>
                </a:solidFill>
                <a:highlight>
                  <a:srgbClr val="8882BD"/>
                </a:highlight>
                <a:latin typeface="Garet Bold"/>
                <a:ea typeface="Archivo Black"/>
                <a:cs typeface="Archivo Black"/>
              </a:rPr>
              <a:t>Per capita: R$ 30,44 / atendimento</a:t>
            </a:r>
            <a:endParaRPr lang="pt-BR" sz="4800" spc="-150" dirty="0">
              <a:solidFill>
                <a:srgbClr val="00B0F0"/>
              </a:solidFill>
              <a:highlight>
                <a:srgbClr val="8882BD"/>
              </a:highlight>
              <a:latin typeface="Garet Bold" panose="020B0604020202020204" charset="0"/>
              <a:ea typeface="Archivo Black"/>
              <a:cs typeface="Archivo Black"/>
            </a:endParaRPr>
          </a:p>
        </p:txBody>
      </p:sp>
    </p:spTree>
    <p:extLst>
      <p:ext uri="{BB962C8B-B14F-4D97-AF65-F5344CB8AC3E}">
        <p14:creationId xmlns:p14="http://schemas.microsoft.com/office/powerpoint/2010/main" val="2398353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78CCE2-E305-C8FD-6565-4BD621ABA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>
            <a:extLst>
              <a:ext uri="{FF2B5EF4-FFF2-40B4-BE49-F238E27FC236}">
                <a16:creationId xmlns:a16="http://schemas.microsoft.com/office/drawing/2014/main" id="{FFCC4CE1-9A99-AC19-04E4-B1FCEF0982B2}"/>
              </a:ext>
            </a:extLst>
          </p:cNvPr>
          <p:cNvSpPr txBox="1"/>
          <p:nvPr/>
        </p:nvSpPr>
        <p:spPr>
          <a:xfrm>
            <a:off x="1" y="4752880"/>
            <a:ext cx="9144000" cy="781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pt-BR" sz="6000" spc="-458" noProof="0">
                <a:solidFill>
                  <a:schemeClr val="bg1"/>
                </a:solidFill>
                <a:highlight>
                  <a:srgbClr val="5B2B2F"/>
                </a:highlight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Registros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A6AAB1D-6FEE-07E3-0395-97D5F5C9B40E}"/>
              </a:ext>
            </a:extLst>
          </p:cNvPr>
          <p:cNvSpPr txBox="1"/>
          <p:nvPr/>
        </p:nvSpPr>
        <p:spPr>
          <a:xfrm>
            <a:off x="7782302" y="9795705"/>
            <a:ext cx="8503093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100" noProof="0"/>
              <a:t>legenda: </a:t>
            </a:r>
            <a:r>
              <a:rPr lang="pt-BR" sz="1100"/>
              <a:t>Alunos de Escola Municipal de Piracicaba na instalação abraço. Créditos: educadores</a:t>
            </a:r>
            <a:endParaRPr lang="pt-BR" sz="1100" noProof="0">
              <a:ea typeface="Calibri"/>
              <a:cs typeface="Calibri"/>
            </a:endParaRPr>
          </a:p>
        </p:txBody>
      </p:sp>
      <p:pic>
        <p:nvPicPr>
          <p:cNvPr id="3" name="Imagem 2" descr="Grupo de pessoas posando para foto com máscara&#10;&#10;O conteúdo gerado por IA pode estar incorreto.">
            <a:extLst>
              <a:ext uri="{FF2B5EF4-FFF2-40B4-BE49-F238E27FC236}">
                <a16:creationId xmlns:a16="http://schemas.microsoft.com/office/drawing/2014/main" id="{98FCD493-80F0-ECDC-0567-41B800CF3E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72" b="11111"/>
          <a:stretch>
            <a:fillRect/>
          </a:stretch>
        </p:blipFill>
        <p:spPr>
          <a:xfrm>
            <a:off x="10520857" y="560717"/>
            <a:ext cx="5764930" cy="914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445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5B77E1-CBE0-0FEB-7DD8-9FA235934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 descr="Uma imagem contendo no interior, mesa, edifício, pendurado&#10;&#10;O conteúdo gerado por IA pode estar incorreto.">
            <a:extLst>
              <a:ext uri="{FF2B5EF4-FFF2-40B4-BE49-F238E27FC236}">
                <a16:creationId xmlns:a16="http://schemas.microsoft.com/office/drawing/2014/main" id="{4BA47690-1C4C-EE67-06FC-050344D27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9341690" y="1574319"/>
            <a:ext cx="9417169" cy="7138358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DD7B9E3C-15FA-601D-7E36-3B9A0AAFBC14}"/>
              </a:ext>
            </a:extLst>
          </p:cNvPr>
          <p:cNvSpPr txBox="1"/>
          <p:nvPr/>
        </p:nvSpPr>
        <p:spPr>
          <a:xfrm>
            <a:off x="9140962" y="9860403"/>
            <a:ext cx="8503093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100" noProof="0"/>
              <a:t>legenda: </a:t>
            </a:r>
            <a:r>
              <a:rPr lang="pt-BR" sz="1100"/>
              <a:t>Apresentação e abertura de </a:t>
            </a:r>
            <a:r>
              <a:rPr lang="pt-BR" sz="1100" err="1"/>
              <a:t>Karingana</a:t>
            </a:r>
            <a:r>
              <a:rPr lang="pt-BR" sz="1100"/>
              <a:t> em maio. Créditos: equipe Sesc Piracicaba.</a:t>
            </a:r>
            <a:endParaRPr lang="pt-BR" sz="1100" noProof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75216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04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1F8883-5E3E-6EC0-F421-D25AE086B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911A7524-0C46-DD4A-000B-188137A007B7}"/>
              </a:ext>
            </a:extLst>
          </p:cNvPr>
          <p:cNvGrpSpPr/>
          <p:nvPr/>
        </p:nvGrpSpPr>
        <p:grpSpPr>
          <a:xfrm>
            <a:off x="0" y="-2931"/>
            <a:ext cx="18288000" cy="2207268"/>
            <a:chOff x="0" y="-2931"/>
            <a:chExt cx="18288000" cy="2207268"/>
          </a:xfrm>
        </p:grpSpPr>
        <p:pic>
          <p:nvPicPr>
            <p:cNvPr id="13" name="Imagem 12" descr="Seta&#10;&#10;O conteúdo gerado por IA pode estar incorreto.">
              <a:extLst>
                <a:ext uri="{FF2B5EF4-FFF2-40B4-BE49-F238E27FC236}">
                  <a16:creationId xmlns:a16="http://schemas.microsoft.com/office/drawing/2014/main" id="{FAC7DFF0-C478-7E92-9F3B-3F8A779271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803" b="76427"/>
            <a:stretch>
              <a:fillRect/>
            </a:stretch>
          </p:blipFill>
          <p:spPr>
            <a:xfrm>
              <a:off x="0" y="-2931"/>
              <a:ext cx="7772400" cy="2207268"/>
            </a:xfrm>
            <a:prstGeom prst="rect">
              <a:avLst/>
            </a:prstGeom>
          </p:spPr>
        </p:pic>
        <p:pic>
          <p:nvPicPr>
            <p:cNvPr id="14" name="Imagem 13" descr="Seta&#10;&#10;O conteúdo gerado por IA pode estar incorreto.">
              <a:extLst>
                <a:ext uri="{FF2B5EF4-FFF2-40B4-BE49-F238E27FC236}">
                  <a16:creationId xmlns:a16="http://schemas.microsoft.com/office/drawing/2014/main" id="{44A94C8A-98A3-1F85-2A1F-27A7B5EF93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0" t="73261" r="56694" b="3166"/>
            <a:stretch>
              <a:fillRect/>
            </a:stretch>
          </p:blipFill>
          <p:spPr>
            <a:xfrm>
              <a:off x="7620000" y="-2931"/>
              <a:ext cx="6324600" cy="2207268"/>
            </a:xfrm>
            <a:prstGeom prst="rect">
              <a:avLst/>
            </a:prstGeom>
          </p:spPr>
        </p:pic>
        <p:pic>
          <p:nvPicPr>
            <p:cNvPr id="17" name="Imagem 16" descr="Seta&#10;&#10;O conteúdo gerado por IA pode estar incorreto.">
              <a:extLst>
                <a:ext uri="{FF2B5EF4-FFF2-40B4-BE49-F238E27FC236}">
                  <a16:creationId xmlns:a16="http://schemas.microsoft.com/office/drawing/2014/main" id="{76D4A297-F5D5-61B2-784E-C0F4C931E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" t="22817" r="70279" b="53610"/>
            <a:stretch>
              <a:fillRect/>
            </a:stretch>
          </p:blipFill>
          <p:spPr>
            <a:xfrm>
              <a:off x="13698417" y="-2931"/>
              <a:ext cx="4589583" cy="2207268"/>
            </a:xfrm>
            <a:prstGeom prst="rect">
              <a:avLst/>
            </a:prstGeom>
          </p:spPr>
        </p:pic>
      </p:grpSp>
      <p:pic>
        <p:nvPicPr>
          <p:cNvPr id="2" name="Imagem 1" descr="Uma imagem contendo pessoa, no interior, edifício, mesa&#10;&#10;O conteúdo gerado por IA pode estar incorreto.">
            <a:extLst>
              <a:ext uri="{FF2B5EF4-FFF2-40B4-BE49-F238E27FC236}">
                <a16:creationId xmlns:a16="http://schemas.microsoft.com/office/drawing/2014/main" id="{1CFC35EE-A91E-48D5-9EEA-49D1D3D9C1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1" t="12040" r="6195" b="10692"/>
          <a:stretch>
            <a:fillRect/>
          </a:stretch>
        </p:blipFill>
        <p:spPr>
          <a:xfrm>
            <a:off x="8006619" y="3335804"/>
            <a:ext cx="9850908" cy="4702256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5C3D437-B976-F83E-CCD3-3EA488597786}"/>
              </a:ext>
            </a:extLst>
          </p:cNvPr>
          <p:cNvSpPr txBox="1"/>
          <p:nvPr/>
        </p:nvSpPr>
        <p:spPr>
          <a:xfrm>
            <a:off x="9357015" y="8217071"/>
            <a:ext cx="8503093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100" noProof="0"/>
              <a:t>legenda: </a:t>
            </a:r>
            <a:r>
              <a:rPr lang="pt-BR" sz="1100"/>
              <a:t>Alunos de Escola Municipal de Piracicaba em </a:t>
            </a:r>
            <a:r>
              <a:rPr lang="pt-BR" sz="1100" err="1"/>
              <a:t>Karingana</a:t>
            </a:r>
            <a:r>
              <a:rPr lang="pt-BR" sz="1100"/>
              <a:t>. Créditos: educadores</a:t>
            </a:r>
            <a:endParaRPr lang="pt-BR" sz="1100" noProof="0">
              <a:ea typeface="Calibri"/>
              <a:cs typeface="Calibri"/>
            </a:endParaRPr>
          </a:p>
        </p:txBody>
      </p:sp>
      <p:pic>
        <p:nvPicPr>
          <p:cNvPr id="3" name="Imagem 2" descr="Grupo de pessoas em pé posando para foto&#10;&#10;O conteúdo gerado por IA pode estar incorreto.">
            <a:extLst>
              <a:ext uri="{FF2B5EF4-FFF2-40B4-BE49-F238E27FC236}">
                <a16:creationId xmlns:a16="http://schemas.microsoft.com/office/drawing/2014/main" id="{15889714-1287-A18F-23B7-219185DF58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568" y="3341298"/>
            <a:ext cx="6888731" cy="470427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77CFCE2-7983-FB50-8772-A8C45B35EBD9}"/>
              </a:ext>
            </a:extLst>
          </p:cNvPr>
          <p:cNvSpPr txBox="1"/>
          <p:nvPr/>
        </p:nvSpPr>
        <p:spPr>
          <a:xfrm>
            <a:off x="432823" y="8085186"/>
            <a:ext cx="6905824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100" noProof="0"/>
              <a:t>legenda: </a:t>
            </a:r>
            <a:r>
              <a:rPr lang="pt-BR" sz="1100"/>
              <a:t>Equipe do Educativo de </a:t>
            </a:r>
            <a:r>
              <a:rPr lang="pt-BR" sz="1100" err="1"/>
              <a:t>Karingana</a:t>
            </a:r>
            <a:r>
              <a:rPr lang="pt-BR" sz="1100"/>
              <a:t> em 2025. Créditos: Andrea Mendes</a:t>
            </a:r>
            <a:endParaRPr lang="pt-BR" sz="1100" noProof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307273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882B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B5BED3-5ED9-4238-7A51-9560FFEFC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DF491E2-F14E-69C3-D5C2-B2333E72AE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850" r="-3152" b="23832"/>
          <a:stretch>
            <a:fillRect/>
          </a:stretch>
        </p:blipFill>
        <p:spPr>
          <a:xfrm>
            <a:off x="745008" y="1537853"/>
            <a:ext cx="5441593" cy="6089087"/>
          </a:xfrm>
          <a:prstGeom prst="rect">
            <a:avLst/>
          </a:prstGeom>
        </p:spPr>
      </p:pic>
      <p:pic>
        <p:nvPicPr>
          <p:cNvPr id="3" name="Imagem 2" descr="Grupo de pessoas sentadas em volta de uma loja&#10;&#10;O conteúdo gerado por IA pode estar incorreto.">
            <a:extLst>
              <a:ext uri="{FF2B5EF4-FFF2-40B4-BE49-F238E27FC236}">
                <a16:creationId xmlns:a16="http://schemas.microsoft.com/office/drawing/2014/main" id="{19DAEB04-8959-63D2-CD8A-CA4750D4CC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2151" b="8791"/>
          <a:stretch>
            <a:fillRect/>
          </a:stretch>
        </p:blipFill>
        <p:spPr>
          <a:xfrm>
            <a:off x="6193309" y="1541317"/>
            <a:ext cx="5450149" cy="6089076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690614B-E2C4-F8AD-1A4C-0280EFC179B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000" r="1887"/>
          <a:stretch>
            <a:fillRect/>
          </a:stretch>
        </p:blipFill>
        <p:spPr>
          <a:xfrm>
            <a:off x="11645610" y="1532658"/>
            <a:ext cx="5948706" cy="6094269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9F7266C6-ACFF-9751-E2F4-10E86F30D4F5}"/>
              </a:ext>
            </a:extLst>
          </p:cNvPr>
          <p:cNvSpPr txBox="1"/>
          <p:nvPr/>
        </p:nvSpPr>
        <p:spPr>
          <a:xfrm>
            <a:off x="11647191" y="7625943"/>
            <a:ext cx="5945873" cy="2712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100" noProof="0"/>
              <a:t>legenda:</a:t>
            </a:r>
            <a:r>
              <a:rPr lang="pt-BR" sz="1100"/>
              <a:t> jovens fazem atividade sobre memórias em </a:t>
            </a:r>
            <a:r>
              <a:rPr lang="pt-BR" sz="1100" err="1"/>
              <a:t>Karingana</a:t>
            </a:r>
            <a:r>
              <a:rPr lang="pt-BR" sz="1100"/>
              <a:t>. Créditos: educadores</a:t>
            </a:r>
            <a:endParaRPr lang="pt-BR" sz="1100" noProof="0">
              <a:ea typeface="Calibri"/>
              <a:cs typeface="Calibri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9295DC3-A458-5559-BB82-B69BCD97FD65}"/>
              </a:ext>
            </a:extLst>
          </p:cNvPr>
          <p:cNvSpPr txBox="1"/>
          <p:nvPr/>
        </p:nvSpPr>
        <p:spPr>
          <a:xfrm>
            <a:off x="6184037" y="7625943"/>
            <a:ext cx="5355001" cy="2712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100" noProof="0"/>
              <a:t>legenda</a:t>
            </a:r>
            <a:r>
              <a:rPr lang="pt-BR" sz="1100"/>
              <a:t>: acolhimento com grupos de professores da rede municipal. Créditos: educadores</a:t>
            </a:r>
            <a:endParaRPr lang="pt-BR" sz="1100" noProof="0">
              <a:ea typeface="Calibri"/>
              <a:cs typeface="Calibri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1B1D64F-4333-325E-A98D-61AAAFB6C631}"/>
              </a:ext>
            </a:extLst>
          </p:cNvPr>
          <p:cNvSpPr txBox="1"/>
          <p:nvPr/>
        </p:nvSpPr>
        <p:spPr>
          <a:xfrm>
            <a:off x="740258" y="7625943"/>
            <a:ext cx="5258136" cy="2712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100" noProof="0"/>
              <a:t>legenda:</a:t>
            </a:r>
            <a:r>
              <a:rPr lang="pt-BR" sz="1100"/>
              <a:t> Crianças fazem roda de música em </a:t>
            </a:r>
            <a:r>
              <a:rPr lang="pt-BR" sz="1100" err="1"/>
              <a:t>Karingana</a:t>
            </a:r>
            <a:r>
              <a:rPr lang="pt-BR" sz="1100"/>
              <a:t>. Créditos: educadores</a:t>
            </a:r>
            <a:endParaRPr lang="pt-BR" sz="1100" noProof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576552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C2C822-282D-4377-4746-5795C33AF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C48D272-2EA1-93D2-40A1-E1864C77B578}"/>
              </a:ext>
            </a:extLst>
          </p:cNvPr>
          <p:cNvSpPr txBox="1"/>
          <p:nvPr/>
        </p:nvSpPr>
        <p:spPr>
          <a:xfrm>
            <a:off x="9548755" y="8299415"/>
            <a:ext cx="8253712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100" noProof="0"/>
              <a:t>legenda: </a:t>
            </a:r>
            <a:r>
              <a:rPr lang="pt-BR" sz="1100"/>
              <a:t>Alunos de Escola Municipal de Piracicaba desenham os </a:t>
            </a:r>
            <a:r>
              <a:rPr lang="pt-BR" sz="1100" err="1"/>
              <a:t>sankofas</a:t>
            </a:r>
            <a:r>
              <a:rPr lang="pt-BR" sz="1100"/>
              <a:t> coletivamente. Créditos: educadores</a:t>
            </a:r>
            <a:endParaRPr lang="pt-BR" sz="1100" noProof="0">
              <a:ea typeface="Calibri"/>
              <a:cs typeface="Calibri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A44119C9-F57D-D745-15E3-5DCEBE58D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2708" y="2026227"/>
            <a:ext cx="8285019" cy="623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5500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882B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7229F8-E897-FB22-2B1F-552284782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9946DA9-B2B1-9C1D-9A98-F5174FE47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913" y="1013547"/>
            <a:ext cx="5205844" cy="7075342"/>
          </a:xfrm>
          <a:prstGeom prst="rect">
            <a:avLst/>
          </a:prstGeom>
        </p:spPr>
      </p:pic>
      <p:pic>
        <p:nvPicPr>
          <p:cNvPr id="6" name="Imagem 5" descr="Mulher em pé ao lado de homem&#10;&#10;O conteúdo gerado por IA pode estar incorreto.">
            <a:extLst>
              <a:ext uri="{FF2B5EF4-FFF2-40B4-BE49-F238E27FC236}">
                <a16:creationId xmlns:a16="http://schemas.microsoft.com/office/drawing/2014/main" id="{0681CD07-1C8C-E275-58AD-31CBCED75C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566" r="1075"/>
          <a:stretch>
            <a:fillRect/>
          </a:stretch>
        </p:blipFill>
        <p:spPr>
          <a:xfrm>
            <a:off x="6354690" y="1018310"/>
            <a:ext cx="4622786" cy="7065826"/>
          </a:xfrm>
          <a:prstGeom prst="rect">
            <a:avLst/>
          </a:prstGeom>
        </p:spPr>
      </p:pic>
      <p:pic>
        <p:nvPicPr>
          <p:cNvPr id="8" name="Imagem 7" descr="Uma imagem contendo pessoa, homem, mulher, foto&#10;&#10;O conteúdo gerado por IA pode estar incorreto.">
            <a:extLst>
              <a:ext uri="{FF2B5EF4-FFF2-40B4-BE49-F238E27FC236}">
                <a16:creationId xmlns:a16="http://schemas.microsoft.com/office/drawing/2014/main" id="{7058C0A1-45B4-25FB-E513-A46AB03451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6369" y="1007919"/>
            <a:ext cx="6203372" cy="7065817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0B8463D9-30D1-7B5C-2D0B-5BD409D5CF70}"/>
              </a:ext>
            </a:extLst>
          </p:cNvPr>
          <p:cNvSpPr txBox="1"/>
          <p:nvPr/>
        </p:nvSpPr>
        <p:spPr>
          <a:xfrm>
            <a:off x="11366285" y="8081206"/>
            <a:ext cx="6391448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100" noProof="0"/>
              <a:t>legenda:</a:t>
            </a:r>
            <a:r>
              <a:rPr lang="pt-BR" sz="1100"/>
              <a:t> Crianças brincam de encontrar o livro e o respectivo ilustrador no </a:t>
            </a:r>
            <a:r>
              <a:rPr lang="pt-BR" sz="1100" err="1"/>
              <a:t>carômetro</a:t>
            </a:r>
            <a:r>
              <a:rPr lang="pt-BR" sz="1100"/>
              <a:t>. Créditos: educadores</a:t>
            </a:r>
            <a:endParaRPr lang="pt-BR" sz="1100" noProof="0">
              <a:ea typeface="Calibri"/>
              <a:cs typeface="Calibri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2CA9C658-F0EF-25DA-0D93-64B4CA3782F0}"/>
              </a:ext>
            </a:extLst>
          </p:cNvPr>
          <p:cNvSpPr txBox="1"/>
          <p:nvPr/>
        </p:nvSpPr>
        <p:spPr>
          <a:xfrm>
            <a:off x="6358394" y="8129637"/>
            <a:ext cx="4618831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100" noProof="0"/>
              <a:t>legenda:</a:t>
            </a:r>
            <a:r>
              <a:rPr lang="pt-BR" sz="1100"/>
              <a:t> Facilitadoras desenvolvem tintas naturais para oficina de ilustração. Créditos: educadores</a:t>
            </a:r>
            <a:endParaRPr lang="pt-BR" sz="1100" noProof="0">
              <a:ea typeface="Calibri"/>
              <a:cs typeface="Calibri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DFDAC76-0996-01B4-0E28-97446D238BC7}"/>
              </a:ext>
            </a:extLst>
          </p:cNvPr>
          <p:cNvSpPr txBox="1"/>
          <p:nvPr/>
        </p:nvSpPr>
        <p:spPr>
          <a:xfrm>
            <a:off x="527157" y="8090893"/>
            <a:ext cx="5238763" cy="4308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pt-BR" sz="1100" noProof="0"/>
              <a:t>legenda:</a:t>
            </a:r>
            <a:r>
              <a:rPr lang="pt-BR" sz="1100"/>
              <a:t> alunos experimentam com a instalação "Penteados" em </a:t>
            </a:r>
            <a:r>
              <a:rPr lang="pt-BR" sz="1100" err="1"/>
              <a:t>Karingana</a:t>
            </a:r>
            <a:r>
              <a:rPr lang="pt-BR" sz="1100"/>
              <a:t>. </a:t>
            </a:r>
          </a:p>
          <a:p>
            <a:pPr algn="r"/>
            <a:r>
              <a:rPr lang="pt-BR" sz="1100"/>
              <a:t>Créditos: educadores</a:t>
            </a:r>
            <a:endParaRPr lang="pt-BR" sz="1100" noProof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225005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04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51254F-3734-91C7-4DFB-3C09D9B65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64C626B-57B8-6F60-99B6-01C7BA550CC4}"/>
              </a:ext>
            </a:extLst>
          </p:cNvPr>
          <p:cNvGrpSpPr/>
          <p:nvPr/>
        </p:nvGrpSpPr>
        <p:grpSpPr>
          <a:xfrm>
            <a:off x="0" y="-2931"/>
            <a:ext cx="18288000" cy="2207268"/>
            <a:chOff x="0" y="-2931"/>
            <a:chExt cx="18288000" cy="2207268"/>
          </a:xfrm>
        </p:grpSpPr>
        <p:pic>
          <p:nvPicPr>
            <p:cNvPr id="13" name="Imagem 12" descr="Seta&#10;&#10;O conteúdo gerado por IA pode estar incorreto.">
              <a:extLst>
                <a:ext uri="{FF2B5EF4-FFF2-40B4-BE49-F238E27FC236}">
                  <a16:creationId xmlns:a16="http://schemas.microsoft.com/office/drawing/2014/main" id="{09C7170D-61B6-FA65-9F12-A056817DB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9803" b="76427"/>
            <a:stretch>
              <a:fillRect/>
            </a:stretch>
          </p:blipFill>
          <p:spPr>
            <a:xfrm>
              <a:off x="0" y="-2931"/>
              <a:ext cx="7772400" cy="2207268"/>
            </a:xfrm>
            <a:prstGeom prst="rect">
              <a:avLst/>
            </a:prstGeom>
          </p:spPr>
        </p:pic>
        <p:pic>
          <p:nvPicPr>
            <p:cNvPr id="14" name="Imagem 13" descr="Seta&#10;&#10;O conteúdo gerado por IA pode estar incorreto.">
              <a:extLst>
                <a:ext uri="{FF2B5EF4-FFF2-40B4-BE49-F238E27FC236}">
                  <a16:creationId xmlns:a16="http://schemas.microsoft.com/office/drawing/2014/main" id="{E37455A9-2CB3-9C3C-12F0-4836107714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460" t="73261" r="56694" b="3166"/>
            <a:stretch>
              <a:fillRect/>
            </a:stretch>
          </p:blipFill>
          <p:spPr>
            <a:xfrm>
              <a:off x="7620000" y="-2931"/>
              <a:ext cx="6324600" cy="2207268"/>
            </a:xfrm>
            <a:prstGeom prst="rect">
              <a:avLst/>
            </a:prstGeom>
          </p:spPr>
        </p:pic>
        <p:pic>
          <p:nvPicPr>
            <p:cNvPr id="17" name="Imagem 16" descr="Seta&#10;&#10;O conteúdo gerado por IA pode estar incorreto.">
              <a:extLst>
                <a:ext uri="{FF2B5EF4-FFF2-40B4-BE49-F238E27FC236}">
                  <a16:creationId xmlns:a16="http://schemas.microsoft.com/office/drawing/2014/main" id="{681EF430-2B66-2A65-B3A2-544ACB20A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0" t="22817" r="70279" b="53610"/>
            <a:stretch>
              <a:fillRect/>
            </a:stretch>
          </p:blipFill>
          <p:spPr>
            <a:xfrm>
              <a:off x="13698417" y="-2931"/>
              <a:ext cx="4589583" cy="2207268"/>
            </a:xfrm>
            <a:prstGeom prst="rect">
              <a:avLst/>
            </a:prstGeom>
          </p:spPr>
        </p:pic>
      </p:grpSp>
      <p:sp>
        <p:nvSpPr>
          <p:cNvPr id="9" name="TextBox 7">
            <a:extLst>
              <a:ext uri="{FF2B5EF4-FFF2-40B4-BE49-F238E27FC236}">
                <a16:creationId xmlns:a16="http://schemas.microsoft.com/office/drawing/2014/main" id="{1495C8A6-94EE-FFF7-8E56-F6C0CAFD7FE0}"/>
              </a:ext>
            </a:extLst>
          </p:cNvPr>
          <p:cNvSpPr txBox="1"/>
          <p:nvPr/>
        </p:nvSpPr>
        <p:spPr>
          <a:xfrm>
            <a:off x="4536831" y="876300"/>
            <a:ext cx="9144000" cy="781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08"/>
              </a:lnSpc>
            </a:pPr>
            <a:r>
              <a:rPr lang="pt-BR" sz="6000" spc="-458" noProof="0">
                <a:solidFill>
                  <a:schemeClr val="bg1"/>
                </a:solidFill>
                <a:highlight>
                  <a:srgbClr val="41B9C9"/>
                </a:highlight>
                <a:latin typeface="Garet Bold" panose="020B0604020202020204" charset="0"/>
                <a:ea typeface="Archivo Black"/>
                <a:cs typeface="Archivo Black"/>
                <a:sym typeface="Archivo Black"/>
              </a:rPr>
              <a:t>Ficha técnica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C305F122-C69B-BDF6-8A4A-7FFBF3C278F2}"/>
              </a:ext>
            </a:extLst>
          </p:cNvPr>
          <p:cNvSpPr txBox="1"/>
          <p:nvPr/>
        </p:nvSpPr>
        <p:spPr>
          <a:xfrm>
            <a:off x="498231" y="2626459"/>
            <a:ext cx="80772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>
                <a:solidFill>
                  <a:schemeClr val="bg1"/>
                </a:solidFill>
              </a:rPr>
              <a:t>Sesc – Serviço Social do Comércio</a:t>
            </a:r>
          </a:p>
          <a:p>
            <a:r>
              <a:rPr lang="pt-BR" sz="2000">
                <a:solidFill>
                  <a:schemeClr val="bg1"/>
                </a:solidFill>
              </a:rPr>
              <a:t>Administração Regional no Estado de São Paulo</a:t>
            </a:r>
          </a:p>
          <a:p>
            <a:endParaRPr lang="pt-BR" sz="2000">
              <a:solidFill>
                <a:schemeClr val="bg1"/>
              </a:solidFill>
            </a:endParaRPr>
          </a:p>
          <a:p>
            <a:r>
              <a:rPr lang="pt-BR" sz="2000">
                <a:solidFill>
                  <a:schemeClr val="bg1"/>
                </a:solidFill>
              </a:rPr>
              <a:t>Presidente do Conselho Regional Abram Szajman</a:t>
            </a:r>
          </a:p>
          <a:p>
            <a:r>
              <a:rPr lang="pt-BR" sz="2000">
                <a:solidFill>
                  <a:schemeClr val="bg1"/>
                </a:solidFill>
              </a:rPr>
              <a:t>Diretor do Departamento Regional Luiz </a:t>
            </a:r>
            <a:r>
              <a:rPr lang="pt-BR" sz="2000" err="1">
                <a:solidFill>
                  <a:schemeClr val="bg1"/>
                </a:solidFill>
              </a:rPr>
              <a:t>Deoclecio</a:t>
            </a:r>
            <a:r>
              <a:rPr lang="pt-BR" sz="2000">
                <a:solidFill>
                  <a:schemeClr val="bg1"/>
                </a:solidFill>
              </a:rPr>
              <a:t> Massaro Galina</a:t>
            </a:r>
          </a:p>
          <a:p>
            <a:endParaRPr lang="pt-BR" sz="2000">
              <a:solidFill>
                <a:schemeClr val="bg1"/>
              </a:solidFill>
            </a:endParaRPr>
          </a:p>
          <a:p>
            <a:r>
              <a:rPr lang="pt-BR" sz="2000" b="1">
                <a:solidFill>
                  <a:schemeClr val="bg1"/>
                </a:solidFill>
              </a:rPr>
              <a:t>Superintendências</a:t>
            </a:r>
          </a:p>
          <a:p>
            <a:r>
              <a:rPr lang="pt-BR" sz="2000">
                <a:solidFill>
                  <a:schemeClr val="bg1"/>
                </a:solidFill>
              </a:rPr>
              <a:t>Técnico-Social Rosana Paulo da Cunha</a:t>
            </a:r>
          </a:p>
          <a:p>
            <a:r>
              <a:rPr lang="pt-BR" sz="2000">
                <a:solidFill>
                  <a:schemeClr val="bg1"/>
                </a:solidFill>
              </a:rPr>
              <a:t>Comunicação Social Ricardo Gentil</a:t>
            </a:r>
          </a:p>
          <a:p>
            <a:r>
              <a:rPr lang="pt-BR" sz="2000">
                <a:solidFill>
                  <a:schemeClr val="bg1"/>
                </a:solidFill>
              </a:rPr>
              <a:t>Administração Jackson Andrade de Matos</a:t>
            </a:r>
          </a:p>
          <a:p>
            <a:r>
              <a:rPr lang="pt-BR" sz="2000">
                <a:solidFill>
                  <a:schemeClr val="bg1"/>
                </a:solidFill>
              </a:rPr>
              <a:t>Assessoria Técnica e de Planejamento Marta Raquel </a:t>
            </a:r>
            <a:r>
              <a:rPr lang="pt-BR" sz="2000" err="1">
                <a:solidFill>
                  <a:schemeClr val="bg1"/>
                </a:solidFill>
              </a:rPr>
              <a:t>Colabone</a:t>
            </a:r>
            <a:endParaRPr lang="pt-BR" sz="2000">
              <a:solidFill>
                <a:schemeClr val="bg1"/>
              </a:solidFill>
            </a:endParaRPr>
          </a:p>
          <a:p>
            <a:r>
              <a:rPr lang="pt-BR" sz="2000">
                <a:solidFill>
                  <a:schemeClr val="bg1"/>
                </a:solidFill>
              </a:rPr>
              <a:t>Assessoria Jurídica Carla Bertucci Barbieri</a:t>
            </a:r>
          </a:p>
          <a:p>
            <a:endParaRPr lang="pt-BR" sz="2000">
              <a:solidFill>
                <a:schemeClr val="bg1"/>
              </a:solidFill>
            </a:endParaRPr>
          </a:p>
          <a:p>
            <a:r>
              <a:rPr lang="pt-BR" sz="2000" b="1">
                <a:solidFill>
                  <a:schemeClr val="bg1"/>
                </a:solidFill>
              </a:rPr>
              <a:t>Gerências</a:t>
            </a:r>
          </a:p>
          <a:p>
            <a:r>
              <a:rPr lang="pt-BR" sz="2000">
                <a:solidFill>
                  <a:schemeClr val="bg1"/>
                </a:solidFill>
              </a:rPr>
              <a:t>Artes Visuais e Tecnologias Juliana Braga de Mattos</a:t>
            </a:r>
          </a:p>
          <a:p>
            <a:r>
              <a:rPr lang="pt-BR" sz="2000">
                <a:solidFill>
                  <a:schemeClr val="bg1"/>
                </a:solidFill>
              </a:rPr>
              <a:t>Ação Cultural Érika Mourão Trindade Dutra</a:t>
            </a:r>
          </a:p>
          <a:p>
            <a:r>
              <a:rPr lang="pt-BR" sz="2000">
                <a:solidFill>
                  <a:schemeClr val="bg1"/>
                </a:solidFill>
              </a:rPr>
              <a:t>Estudos e Programas Sociais Flávia Carvalho</a:t>
            </a:r>
          </a:p>
          <a:p>
            <a:r>
              <a:rPr lang="pt-BR" sz="2000">
                <a:solidFill>
                  <a:schemeClr val="bg1"/>
                </a:solidFill>
              </a:rPr>
              <a:t>Estudos e Desenvolvimento João Paulo </a:t>
            </a:r>
            <a:r>
              <a:rPr lang="pt-BR" sz="2000" err="1">
                <a:solidFill>
                  <a:schemeClr val="bg1"/>
                </a:solidFill>
              </a:rPr>
              <a:t>Guadanucci</a:t>
            </a:r>
            <a:endParaRPr lang="pt-BR" sz="2000">
              <a:solidFill>
                <a:schemeClr val="bg1"/>
              </a:solidFill>
            </a:endParaRPr>
          </a:p>
          <a:p>
            <a:r>
              <a:rPr lang="pt-BR" sz="2000">
                <a:solidFill>
                  <a:schemeClr val="bg1"/>
                </a:solidFill>
              </a:rPr>
              <a:t>Educação para Sustentabilidade e Cidadania Denise de Souza Baena Segura</a:t>
            </a:r>
          </a:p>
          <a:p>
            <a:r>
              <a:rPr lang="pt-BR" sz="2000">
                <a:solidFill>
                  <a:schemeClr val="bg1"/>
                </a:solidFill>
              </a:rPr>
              <a:t>Artes Gráficas Rogério </a:t>
            </a:r>
            <a:r>
              <a:rPr lang="pt-BR" sz="2000" err="1">
                <a:solidFill>
                  <a:schemeClr val="bg1"/>
                </a:solidFill>
              </a:rPr>
              <a:t>lanelli</a:t>
            </a:r>
            <a:endParaRPr lang="pt-BR" sz="2000">
              <a:solidFill>
                <a:schemeClr val="bg1"/>
              </a:solidFill>
            </a:endParaRPr>
          </a:p>
          <a:p>
            <a:r>
              <a:rPr lang="pt-BR" sz="2000">
                <a:solidFill>
                  <a:schemeClr val="bg1"/>
                </a:solidFill>
              </a:rPr>
              <a:t>Sesc Piracicaba Fábio José Rodrigues Lopes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97DFA92-38CC-D346-60D6-4906B3E90100}"/>
              </a:ext>
            </a:extLst>
          </p:cNvPr>
          <p:cNvSpPr txBox="1"/>
          <p:nvPr/>
        </p:nvSpPr>
        <p:spPr>
          <a:xfrm>
            <a:off x="9642231" y="2584062"/>
            <a:ext cx="80772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>
                <a:solidFill>
                  <a:schemeClr val="bg1"/>
                </a:solidFill>
              </a:rPr>
              <a:t>Karingana - Presenças Negras no Livro para as Infâncias</a:t>
            </a:r>
          </a:p>
          <a:p>
            <a:r>
              <a:rPr lang="pt-BR" sz="2000">
                <a:solidFill>
                  <a:schemeClr val="bg1"/>
                </a:solidFill>
              </a:rPr>
              <a:t>Curadoria Ananda Luz</a:t>
            </a:r>
          </a:p>
          <a:p>
            <a:r>
              <a:rPr lang="pt-BR" sz="2000">
                <a:solidFill>
                  <a:schemeClr val="bg1"/>
                </a:solidFill>
              </a:rPr>
              <a:t>Equipe Sesc Adriano Alves Pinto, Aline Almeida, André Dias, Cesar Albornoz, Fabio Vasconcelos, Fabíola Tavares Milan, Fabricio Floro, Francisco Galvão de França, Gabriela Borsoi, Joice de Lorena Carvalho, Juliana </a:t>
            </a:r>
            <a:r>
              <a:rPr lang="pt-BR" sz="2000" err="1">
                <a:solidFill>
                  <a:schemeClr val="bg1"/>
                </a:solidFill>
              </a:rPr>
              <a:t>Defavari</a:t>
            </a:r>
            <a:r>
              <a:rPr lang="pt-BR" sz="2000">
                <a:solidFill>
                  <a:schemeClr val="bg1"/>
                </a:solidFill>
              </a:rPr>
              <a:t>, Karina Camargo Leal, Laís de Jesus, Luciane Motta, Marcela </a:t>
            </a:r>
            <a:r>
              <a:rPr lang="pt-BR" sz="2000" err="1">
                <a:solidFill>
                  <a:schemeClr val="bg1"/>
                </a:solidFill>
              </a:rPr>
              <a:t>Perencin</a:t>
            </a:r>
            <a:r>
              <a:rPr lang="pt-BR" sz="2000">
                <a:solidFill>
                  <a:schemeClr val="bg1"/>
                </a:solidFill>
              </a:rPr>
              <a:t>, Mariana Benatti, Pollyanna </a:t>
            </a:r>
            <a:r>
              <a:rPr lang="pt-BR" sz="2000" err="1">
                <a:solidFill>
                  <a:schemeClr val="bg1"/>
                </a:solidFill>
              </a:rPr>
              <a:t>Asbahr</a:t>
            </a:r>
            <a:r>
              <a:rPr lang="pt-BR" sz="2000">
                <a:solidFill>
                  <a:schemeClr val="bg1"/>
                </a:solidFill>
              </a:rPr>
              <a:t>, Renato Oliani, Robson Fabrizio Bonilha, Silvia </a:t>
            </a:r>
            <a:r>
              <a:rPr lang="pt-BR" sz="2000" err="1">
                <a:solidFill>
                  <a:schemeClr val="bg1"/>
                </a:solidFill>
              </a:rPr>
              <a:t>Eri</a:t>
            </a:r>
            <a:r>
              <a:rPr lang="pt-BR" sz="2000">
                <a:solidFill>
                  <a:schemeClr val="bg1"/>
                </a:solidFill>
              </a:rPr>
              <a:t> </a:t>
            </a:r>
            <a:r>
              <a:rPr lang="pt-BR" sz="2000" err="1">
                <a:solidFill>
                  <a:schemeClr val="bg1"/>
                </a:solidFill>
              </a:rPr>
              <a:t>Hirao</a:t>
            </a:r>
            <a:r>
              <a:rPr lang="pt-BR" sz="2000">
                <a:solidFill>
                  <a:schemeClr val="bg1"/>
                </a:solidFill>
              </a:rPr>
              <a:t> e Vivian Marina </a:t>
            </a:r>
            <a:r>
              <a:rPr lang="pt-BR" sz="2000" err="1">
                <a:solidFill>
                  <a:schemeClr val="bg1"/>
                </a:solidFill>
              </a:rPr>
              <a:t>Pontin</a:t>
            </a:r>
            <a:endParaRPr lang="pt-BR" sz="2000">
              <a:solidFill>
                <a:schemeClr val="bg1"/>
              </a:solidFill>
            </a:endParaRPr>
          </a:p>
          <a:p>
            <a:endParaRPr lang="pt-BR" sz="2000">
              <a:solidFill>
                <a:schemeClr val="bg1"/>
              </a:solidFill>
            </a:endParaRPr>
          </a:p>
          <a:p>
            <a:r>
              <a:rPr lang="pt-BR" sz="2000">
                <a:solidFill>
                  <a:schemeClr val="bg1"/>
                </a:solidFill>
              </a:rPr>
              <a:t>Equipe de Pesquisa Sesc Aline Tafner, Ana Luísa </a:t>
            </a:r>
            <a:r>
              <a:rPr lang="pt-BR" sz="2000" err="1">
                <a:solidFill>
                  <a:schemeClr val="bg1"/>
                </a:solidFill>
              </a:rPr>
              <a:t>Sirota</a:t>
            </a:r>
            <a:r>
              <a:rPr lang="pt-BR" sz="2000">
                <a:solidFill>
                  <a:schemeClr val="bg1"/>
                </a:solidFill>
              </a:rPr>
              <a:t>, Ana Paula </a:t>
            </a:r>
            <a:r>
              <a:rPr lang="pt-BR" sz="2000" err="1">
                <a:solidFill>
                  <a:schemeClr val="bg1"/>
                </a:solidFill>
              </a:rPr>
              <a:t>Cechinel</a:t>
            </a:r>
            <a:r>
              <a:rPr lang="pt-BR" sz="2000">
                <a:solidFill>
                  <a:schemeClr val="bg1"/>
                </a:solidFill>
              </a:rPr>
              <a:t>, Ketty Valencio, Larissa Meneses, Ligia </a:t>
            </a:r>
            <a:r>
              <a:rPr lang="pt-BR" sz="2000" err="1">
                <a:solidFill>
                  <a:schemeClr val="bg1"/>
                </a:solidFill>
              </a:rPr>
              <a:t>Zamaro</a:t>
            </a:r>
            <a:r>
              <a:rPr lang="pt-BR" sz="2000">
                <a:solidFill>
                  <a:schemeClr val="bg1"/>
                </a:solidFill>
              </a:rPr>
              <a:t>, Michael </a:t>
            </a:r>
            <a:r>
              <a:rPr lang="pt-BR" sz="2000" err="1">
                <a:solidFill>
                  <a:schemeClr val="bg1"/>
                </a:solidFill>
              </a:rPr>
              <a:t>Anielewicz</a:t>
            </a:r>
            <a:r>
              <a:rPr lang="pt-BR" sz="2000">
                <a:solidFill>
                  <a:schemeClr val="bg1"/>
                </a:solidFill>
              </a:rPr>
              <a:t>, Otávio Weber, Paulo Henrique Cavalcante, Suellen Barbosa e Thais </a:t>
            </a:r>
            <a:r>
              <a:rPr lang="pt-BR" sz="2000" err="1">
                <a:solidFill>
                  <a:schemeClr val="bg1"/>
                </a:solidFill>
              </a:rPr>
              <a:t>Heinisch</a:t>
            </a:r>
            <a:endParaRPr lang="pt-BR" sz="2000">
              <a:solidFill>
                <a:schemeClr val="bg1"/>
              </a:solidFill>
            </a:endParaRPr>
          </a:p>
          <a:p>
            <a:endParaRPr lang="pt-BR" sz="2000">
              <a:solidFill>
                <a:schemeClr val="bg1"/>
              </a:solidFill>
            </a:endParaRPr>
          </a:p>
          <a:p>
            <a:r>
              <a:rPr lang="pt-BR" sz="2000">
                <a:solidFill>
                  <a:schemeClr val="bg1"/>
                </a:solidFill>
              </a:rPr>
              <a:t>Produção Zeferina Produções Artísticas</a:t>
            </a:r>
          </a:p>
          <a:p>
            <a:r>
              <a:rPr lang="pt-BR" sz="2000">
                <a:solidFill>
                  <a:schemeClr val="bg1"/>
                </a:solidFill>
              </a:rPr>
              <a:t>Projeto Expográfico Francine Moura, Pati Nogueira e Amanda Albino Projeto Luminotécnico Danielle Meireles de Almeida Identidade Visual e Projeto Gráfico Will Nunes, Rodrigo Andrade e Giulia Lacava Projeto de Acessibilidade AKA Projetos Culturais e Janela Produtora Coordenação Educativa Andrea Aparecida de Jesus Mendes Revisão Textual </a:t>
            </a:r>
            <a:r>
              <a:rPr lang="pt-BR" sz="2000" err="1">
                <a:solidFill>
                  <a:schemeClr val="bg1"/>
                </a:solidFill>
              </a:rPr>
              <a:t>Layne</a:t>
            </a:r>
            <a:r>
              <a:rPr lang="pt-BR" sz="2000">
                <a:solidFill>
                  <a:schemeClr val="bg1"/>
                </a:solidFill>
              </a:rPr>
              <a:t> Gabriele da Silva Pintura Artística Amauri Ribeiro dos Santos e Tutano Nômade Montagem Cenográfica Castelo Serralheria Projetos das Instalações Marcelo Dionísio Execução Catavento </a:t>
            </a:r>
            <a:r>
              <a:rPr lang="pt-BR" sz="2000" err="1">
                <a:solidFill>
                  <a:schemeClr val="bg1"/>
                </a:solidFill>
              </a:rPr>
              <a:t>SuperArte</a:t>
            </a:r>
            <a:r>
              <a:rPr lang="pt-BR" sz="2000">
                <a:solidFill>
                  <a:schemeClr val="bg1"/>
                </a:solidFill>
              </a:rPr>
              <a:t> Produções Transporte de Obras Millenium Fine </a:t>
            </a:r>
            <a:r>
              <a:rPr lang="pt-BR" sz="2000" err="1">
                <a:solidFill>
                  <a:schemeClr val="bg1"/>
                </a:solidFill>
              </a:rPr>
              <a:t>Arts</a:t>
            </a:r>
            <a:r>
              <a:rPr lang="pt-BR" sz="2000">
                <a:solidFill>
                  <a:schemeClr val="bg1"/>
                </a:solidFill>
              </a:rPr>
              <a:t> Serviços e Transportes Iluminação Cênica KL Produções e Eventos</a:t>
            </a:r>
          </a:p>
        </p:txBody>
      </p:sp>
    </p:spTree>
    <p:extLst>
      <p:ext uri="{BB962C8B-B14F-4D97-AF65-F5344CB8AC3E}">
        <p14:creationId xmlns:p14="http://schemas.microsoft.com/office/powerpoint/2010/main" val="2389850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0f1dc7-e081-4ee5-8ddc-4eb9cb678d23">
      <Terms xmlns="http://schemas.microsoft.com/office/infopath/2007/PartnerControls"/>
    </lcf76f155ced4ddcb4097134ff3c332f>
    <TaxCatchAll xmlns="0c3ae786-5e4f-419c-8a3f-0eb5f2beec7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6F4AA543F6DF343AE125287C7372420" ma:contentTypeVersion="19" ma:contentTypeDescription="Crie um novo documento." ma:contentTypeScope="" ma:versionID="5c156ee47157b23bbb4d74133864e0c7">
  <xsd:schema xmlns:xsd="http://www.w3.org/2001/XMLSchema" xmlns:xs="http://www.w3.org/2001/XMLSchema" xmlns:p="http://schemas.microsoft.com/office/2006/metadata/properties" xmlns:ns2="2f0f1dc7-e081-4ee5-8ddc-4eb9cb678d23" xmlns:ns3="0c3ae786-5e4f-419c-8a3f-0eb5f2beec71" targetNamespace="http://schemas.microsoft.com/office/2006/metadata/properties" ma:root="true" ma:fieldsID="e2d2199643eb1e463aea5ecf1739fc3c" ns2:_="" ns3:_="">
    <xsd:import namespace="2f0f1dc7-e081-4ee5-8ddc-4eb9cb678d23"/>
    <xsd:import namespace="0c3ae786-5e4f-419c-8a3f-0eb5f2beec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0f1dc7-e081-4ee5-8ddc-4eb9cb678d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Marcações de imagem" ma:readOnly="false" ma:fieldId="{5cf76f15-5ced-4ddc-b409-7134ff3c332f}" ma:taxonomyMulti="true" ma:sspId="5a3e1715-c84c-4513-8882-6ca9fbd4fec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3ae786-5e4f-419c-8a3f-0eb5f2beec7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b1bef07-5750-4eca-98f1-e07cb21896cd}" ma:internalName="TaxCatchAll" ma:showField="CatchAllData" ma:web="0c3ae786-5e4f-419c-8a3f-0eb5f2beec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216E51-BF42-4DF3-BB5F-F92C4A17FB27}">
  <ds:schemaRefs>
    <ds:schemaRef ds:uri="0c3ae786-5e4f-419c-8a3f-0eb5f2beec71"/>
    <ds:schemaRef ds:uri="2f0f1dc7-e081-4ee5-8ddc-4eb9cb678d23"/>
    <ds:schemaRef ds:uri="40f41c9f-bf8f-465f-8663-63edec55144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F9332E8-2F93-47AF-BBA2-1CD20165E74A}"/>
</file>

<file path=customXml/itemProps3.xml><?xml version="1.0" encoding="utf-8"?>
<ds:datastoreItem xmlns:ds="http://schemas.openxmlformats.org/officeDocument/2006/customXml" ds:itemID="{BED3F7AE-B181-44B9-BCBD-181EE60B04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890</Words>
  <Application>Microsoft Office PowerPoint</Application>
  <PresentationFormat>Personalizar</PresentationFormat>
  <Paragraphs>171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Garet Bold</vt:lpstr>
      <vt:lpstr>Archivo Black</vt:lpstr>
      <vt:lpstr>Garet</vt:lpstr>
      <vt:lpstr>Calibri</vt:lpstr>
      <vt:lpstr>Arial</vt:lpstr>
      <vt:lpstr>Aptos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Assojaba Tupinamba</dc:title>
  <dc:creator>Francisco Galvao De Franca</dc:creator>
  <cp:lastModifiedBy>Francisco Galvao De Franca</cp:lastModifiedBy>
  <cp:revision>7</cp:revision>
  <dcterms:created xsi:type="dcterms:W3CDTF">2006-08-16T00:00:00Z</dcterms:created>
  <dcterms:modified xsi:type="dcterms:W3CDTF">2026-01-27T22:44:37Z</dcterms:modified>
  <dc:identifier>DAG38scdCyg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0x01010026F4AA543F6DF343AE125287C7372420</vt:lpwstr>
  </property>
  <property fmtid="{D5CDD505-2E9C-101B-9397-08002B2CF9AE}" pid="3" name="MediaServiceImageTags">
    <vt:lpwstr/>
  </property>
</Properties>
</file>
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9"/>
  </p:notesMasterIdLst>
  <p:sldIdLst>
    <p:sldId id="256" r:id="rId5"/>
    <p:sldId id="257" r:id="rId6"/>
    <p:sldId id="258" r:id="rId7"/>
    <p:sldId id="259" r:id="rId8"/>
    <p:sldId id="260" r:id="rId9"/>
    <p:sldId id="261" r:id="rId10"/>
    <p:sldId id="262" r:id="rId11"/>
    <p:sldId id="263" r:id="rId12"/>
    <p:sldId id="265" r:id="rId13"/>
    <p:sldId id="264"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8288000" cy="10287000"/>
  <p:notesSz cx="6858000" cy="9144000"/>
  <p:embeddedFontLst>
    <p:embeddedFont>
      <p:font typeface="Clear Sans" panose="020B0604020202020204" charset="0"/>
      <p:regular r:id="rId30"/>
    </p:embeddedFont>
    <p:embeddedFont>
      <p:font typeface="Clear Sans Bold" panose="020B0604020202020204" charset="0"/>
      <p:regular r:id="rId31"/>
    </p:embeddedFont>
    <p:embeddedFont>
      <p:font typeface="Open Sans" panose="020B0606030504020204" pitchFamily="34" charset="0"/>
      <p:regular r:id="rId32"/>
      <p:bold r:id="rId33"/>
      <p:italic r:id="rId34"/>
      <p:boldItalic r:id="rId35"/>
    </p:embeddedFont>
    <p:embeddedFont>
      <p:font typeface="Open Sans Bold" panose="020B0806030504020204" pitchFamily="34" charset="0"/>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E947CF-3BA7-C093-EED3-AC656725B917}" v="1" dt="2026-04-28T22:27:11.812"/>
    <p1510:client id="{5EA22604-45A3-4AEA-8FF3-9C4E5144D873}" v="30" dt="2026-04-28T18:08:33.569"/>
    <p1510:client id="{9D979A41-CE02-4FA0-125C-12DC89ECD975}" v="2" dt="2026-04-28T18:04:37.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5.fntdata"/><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ana Braga de Mattos" userId="S::juliana.braga@sescsp.org.br::a46ca90e-3306-424f-b086-f43b8463bba5" providerId="AD" clId="Web-{5BE947CF-3BA7-C093-EED3-AC656725B917}"/>
    <pc:docChg chg="modSld">
      <pc:chgData name="Juliana Braga de Mattos" userId="S::juliana.braga@sescsp.org.br::a46ca90e-3306-424f-b086-f43b8463bba5" providerId="AD" clId="Web-{5BE947CF-3BA7-C093-EED3-AC656725B917}" dt="2026-04-28T22:27:11.812" v="0"/>
      <pc:docMkLst>
        <pc:docMk/>
      </pc:docMkLst>
      <pc:sldChg chg="delSp">
        <pc:chgData name="Juliana Braga de Mattos" userId="S::juliana.braga@sescsp.org.br::a46ca90e-3306-424f-b086-f43b8463bba5" providerId="AD" clId="Web-{5BE947CF-3BA7-C093-EED3-AC656725B917}" dt="2026-04-28T22:27:11.812" v="0"/>
        <pc:sldMkLst>
          <pc:docMk/>
          <pc:sldMk cId="0" sldId="258"/>
        </pc:sldMkLst>
        <pc:spChg chg="del">
          <ac:chgData name="Juliana Braga de Mattos" userId="S::juliana.braga@sescsp.org.br::a46ca90e-3306-424f-b086-f43b8463bba5" providerId="AD" clId="Web-{5BE947CF-3BA7-C093-EED3-AC656725B917}" dt="2026-04-28T22:27:11.812" v="0"/>
          <ac:spMkLst>
            <pc:docMk/>
            <pc:sldMk cId="0" sldId="258"/>
            <ac:spMk id="6" creationId="{00000000-0000-0000-0000-000000000000}"/>
          </ac:spMkLst>
        </pc:spChg>
      </pc:sldChg>
    </pc:docChg>
  </pc:docChgLst>
  <pc:docChgLst>
    <pc:chgData name="Carolina Barbosa de Melo" userId="faed3217-556f-4326-a110-3be8cd89edd9" providerId="ADAL" clId="{EE13A5FF-5000-4168-93D9-56C83F664890}"/>
    <pc:docChg chg="undo custSel modSld sldOrd">
      <pc:chgData name="Carolina Barbosa de Melo" userId="faed3217-556f-4326-a110-3be8cd89edd9" providerId="ADAL" clId="{EE13A5FF-5000-4168-93D9-56C83F664890}" dt="2026-04-28T18:08:33.569" v="30" actId="1076"/>
      <pc:docMkLst>
        <pc:docMk/>
      </pc:docMkLst>
      <pc:sldChg chg="modSp mod">
        <pc:chgData name="Carolina Barbosa de Melo" userId="faed3217-556f-4326-a110-3be8cd89edd9" providerId="ADAL" clId="{EE13A5FF-5000-4168-93D9-56C83F664890}" dt="2026-04-28T18:05:51.595" v="5" actId="20577"/>
        <pc:sldMkLst>
          <pc:docMk/>
          <pc:sldMk cId="0" sldId="260"/>
        </pc:sldMkLst>
        <pc:spChg chg="mod">
          <ac:chgData name="Carolina Barbosa de Melo" userId="faed3217-556f-4326-a110-3be8cd89edd9" providerId="ADAL" clId="{EE13A5FF-5000-4168-93D9-56C83F664890}" dt="2026-04-28T18:05:51.595" v="5" actId="20577"/>
          <ac:spMkLst>
            <pc:docMk/>
            <pc:sldMk cId="0" sldId="260"/>
            <ac:spMk id="5" creationId="{00000000-0000-0000-0000-000000000000}"/>
          </ac:spMkLst>
        </pc:spChg>
      </pc:sldChg>
      <pc:sldChg chg="modSp mod">
        <pc:chgData name="Carolina Barbosa de Melo" userId="faed3217-556f-4326-a110-3be8cd89edd9" providerId="ADAL" clId="{EE13A5FF-5000-4168-93D9-56C83F664890}" dt="2026-04-28T18:05:40.701" v="2" actId="1076"/>
        <pc:sldMkLst>
          <pc:docMk/>
          <pc:sldMk cId="0" sldId="261"/>
        </pc:sldMkLst>
        <pc:spChg chg="mod">
          <ac:chgData name="Carolina Barbosa de Melo" userId="faed3217-556f-4326-a110-3be8cd89edd9" providerId="ADAL" clId="{EE13A5FF-5000-4168-93D9-56C83F664890}" dt="2026-04-28T18:05:40.701" v="2" actId="1076"/>
          <ac:spMkLst>
            <pc:docMk/>
            <pc:sldMk cId="0" sldId="261"/>
            <ac:spMk id="5" creationId="{00000000-0000-0000-0000-000000000000}"/>
          </ac:spMkLst>
        </pc:spChg>
        <pc:grpChg chg="mod">
          <ac:chgData name="Carolina Barbosa de Melo" userId="faed3217-556f-4326-a110-3be8cd89edd9" providerId="ADAL" clId="{EE13A5FF-5000-4168-93D9-56C83F664890}" dt="2026-04-28T18:05:33.814" v="0" actId="14100"/>
          <ac:grpSpMkLst>
            <pc:docMk/>
            <pc:sldMk cId="0" sldId="261"/>
            <ac:grpSpMk id="2" creationId="{00000000-0000-0000-0000-000000000000}"/>
          </ac:grpSpMkLst>
        </pc:grpChg>
      </pc:sldChg>
      <pc:sldChg chg="modSp mod">
        <pc:chgData name="Carolina Barbosa de Melo" userId="faed3217-556f-4326-a110-3be8cd89edd9" providerId="ADAL" clId="{EE13A5FF-5000-4168-93D9-56C83F664890}" dt="2026-04-28T18:06:23.698" v="10" actId="1076"/>
        <pc:sldMkLst>
          <pc:docMk/>
          <pc:sldMk cId="0" sldId="262"/>
        </pc:sldMkLst>
        <pc:spChg chg="mod">
          <ac:chgData name="Carolina Barbosa de Melo" userId="faed3217-556f-4326-a110-3be8cd89edd9" providerId="ADAL" clId="{EE13A5FF-5000-4168-93D9-56C83F664890}" dt="2026-04-28T18:06:22.729" v="9" actId="403"/>
          <ac:spMkLst>
            <pc:docMk/>
            <pc:sldMk cId="0" sldId="262"/>
            <ac:spMk id="7" creationId="{00000000-0000-0000-0000-000000000000}"/>
          </ac:spMkLst>
        </pc:spChg>
        <pc:picChg chg="mod">
          <ac:chgData name="Carolina Barbosa de Melo" userId="faed3217-556f-4326-a110-3be8cd89edd9" providerId="ADAL" clId="{EE13A5FF-5000-4168-93D9-56C83F664890}" dt="2026-04-28T18:06:23.698" v="10" actId="1076"/>
          <ac:picMkLst>
            <pc:docMk/>
            <pc:sldMk cId="0" sldId="262"/>
            <ac:picMk id="2" creationId="{00000000-0000-0000-0000-000000000000}"/>
          </ac:picMkLst>
        </pc:picChg>
      </pc:sldChg>
      <pc:sldChg chg="modSp mod">
        <pc:chgData name="Carolina Barbosa de Melo" userId="faed3217-556f-4326-a110-3be8cd89edd9" providerId="ADAL" clId="{EE13A5FF-5000-4168-93D9-56C83F664890}" dt="2026-04-28T18:06:31.296" v="11" actId="14100"/>
        <pc:sldMkLst>
          <pc:docMk/>
          <pc:sldMk cId="0" sldId="263"/>
        </pc:sldMkLst>
        <pc:spChg chg="mod">
          <ac:chgData name="Carolina Barbosa de Melo" userId="faed3217-556f-4326-a110-3be8cd89edd9" providerId="ADAL" clId="{EE13A5FF-5000-4168-93D9-56C83F664890}" dt="2026-04-28T18:06:31.296" v="11" actId="14100"/>
          <ac:spMkLst>
            <pc:docMk/>
            <pc:sldMk cId="0" sldId="263"/>
            <ac:spMk id="4" creationId="{00000000-0000-0000-0000-000000000000}"/>
          </ac:spMkLst>
        </pc:spChg>
      </pc:sldChg>
      <pc:sldChg chg="ord">
        <pc:chgData name="Carolina Barbosa de Melo" userId="faed3217-556f-4326-a110-3be8cd89edd9" providerId="ADAL" clId="{EE13A5FF-5000-4168-93D9-56C83F664890}" dt="2026-04-28T18:06:45.871" v="13"/>
        <pc:sldMkLst>
          <pc:docMk/>
          <pc:sldMk cId="0" sldId="265"/>
        </pc:sldMkLst>
      </pc:sldChg>
      <pc:sldChg chg="modSp mod">
        <pc:chgData name="Carolina Barbosa de Melo" userId="faed3217-556f-4326-a110-3be8cd89edd9" providerId="ADAL" clId="{EE13A5FF-5000-4168-93D9-56C83F664890}" dt="2026-04-28T18:06:55.491" v="14" actId="14100"/>
        <pc:sldMkLst>
          <pc:docMk/>
          <pc:sldMk cId="0" sldId="266"/>
        </pc:sldMkLst>
        <pc:spChg chg="mod">
          <ac:chgData name="Carolina Barbosa de Melo" userId="faed3217-556f-4326-a110-3be8cd89edd9" providerId="ADAL" clId="{EE13A5FF-5000-4168-93D9-56C83F664890}" dt="2026-04-28T18:06:55.491" v="14" actId="14100"/>
          <ac:spMkLst>
            <pc:docMk/>
            <pc:sldMk cId="0" sldId="266"/>
            <ac:spMk id="8" creationId="{00000000-0000-0000-0000-000000000000}"/>
          </ac:spMkLst>
        </pc:spChg>
      </pc:sldChg>
      <pc:sldChg chg="modSp mod">
        <pc:chgData name="Carolina Barbosa de Melo" userId="faed3217-556f-4326-a110-3be8cd89edd9" providerId="ADAL" clId="{EE13A5FF-5000-4168-93D9-56C83F664890}" dt="2026-04-28T18:07:52.059" v="19" actId="1076"/>
        <pc:sldMkLst>
          <pc:docMk/>
          <pc:sldMk cId="0" sldId="276"/>
        </pc:sldMkLst>
        <pc:spChg chg="mod">
          <ac:chgData name="Carolina Barbosa de Melo" userId="faed3217-556f-4326-a110-3be8cd89edd9" providerId="ADAL" clId="{EE13A5FF-5000-4168-93D9-56C83F664890}" dt="2026-04-28T18:07:46.646" v="18" actId="14100"/>
          <ac:spMkLst>
            <pc:docMk/>
            <pc:sldMk cId="0" sldId="276"/>
            <ac:spMk id="7" creationId="{00000000-0000-0000-0000-000000000000}"/>
          </ac:spMkLst>
        </pc:spChg>
        <pc:spChg chg="mod">
          <ac:chgData name="Carolina Barbosa de Melo" userId="faed3217-556f-4326-a110-3be8cd89edd9" providerId="ADAL" clId="{EE13A5FF-5000-4168-93D9-56C83F664890}" dt="2026-04-28T18:07:52.059" v="19" actId="1076"/>
          <ac:spMkLst>
            <pc:docMk/>
            <pc:sldMk cId="0" sldId="276"/>
            <ac:spMk id="11" creationId="{00000000-0000-0000-0000-000000000000}"/>
          </ac:spMkLst>
        </pc:spChg>
      </pc:sldChg>
      <pc:sldChg chg="addSp delSp modSp mod">
        <pc:chgData name="Carolina Barbosa de Melo" userId="faed3217-556f-4326-a110-3be8cd89edd9" providerId="ADAL" clId="{EE13A5FF-5000-4168-93D9-56C83F664890}" dt="2026-04-28T18:08:33.569" v="30" actId="1076"/>
        <pc:sldMkLst>
          <pc:docMk/>
          <pc:sldMk cId="0" sldId="277"/>
        </pc:sldMkLst>
        <pc:spChg chg="del topLvl">
          <ac:chgData name="Carolina Barbosa de Melo" userId="faed3217-556f-4326-a110-3be8cd89edd9" providerId="ADAL" clId="{EE13A5FF-5000-4168-93D9-56C83F664890}" dt="2026-04-28T18:08:29.671" v="29" actId="478"/>
          <ac:spMkLst>
            <pc:docMk/>
            <pc:sldMk cId="0" sldId="277"/>
            <ac:spMk id="7" creationId="{00000000-0000-0000-0000-000000000000}"/>
          </ac:spMkLst>
        </pc:spChg>
        <pc:spChg chg="del">
          <ac:chgData name="Carolina Barbosa de Melo" userId="faed3217-556f-4326-a110-3be8cd89edd9" providerId="ADAL" clId="{EE13A5FF-5000-4168-93D9-56C83F664890}" dt="2026-04-28T18:08:27.102" v="28" actId="478"/>
          <ac:spMkLst>
            <pc:docMk/>
            <pc:sldMk cId="0" sldId="277"/>
            <ac:spMk id="8" creationId="{00000000-0000-0000-0000-000000000000}"/>
          </ac:spMkLst>
        </pc:spChg>
        <pc:spChg chg="mod">
          <ac:chgData name="Carolina Barbosa de Melo" userId="faed3217-556f-4326-a110-3be8cd89edd9" providerId="ADAL" clId="{EE13A5FF-5000-4168-93D9-56C83F664890}" dt="2026-04-28T18:08:33.569" v="30" actId="1076"/>
          <ac:spMkLst>
            <pc:docMk/>
            <pc:sldMk cId="0" sldId="277"/>
            <ac:spMk id="9" creationId="{00000000-0000-0000-0000-000000000000}"/>
          </ac:spMkLst>
        </pc:spChg>
        <pc:spChg chg="mod">
          <ac:chgData name="Carolina Barbosa de Melo" userId="faed3217-556f-4326-a110-3be8cd89edd9" providerId="ADAL" clId="{EE13A5FF-5000-4168-93D9-56C83F664890}" dt="2026-04-28T18:08:05.920" v="22" actId="1076"/>
          <ac:spMkLst>
            <pc:docMk/>
            <pc:sldMk cId="0" sldId="277"/>
            <ac:spMk id="18" creationId="{00000000-0000-0000-0000-000000000000}"/>
          </ac:spMkLst>
        </pc:spChg>
        <pc:grpChg chg="add del mod">
          <ac:chgData name="Carolina Barbosa de Melo" userId="faed3217-556f-4326-a110-3be8cd89edd9" providerId="ADAL" clId="{EE13A5FF-5000-4168-93D9-56C83F664890}" dt="2026-04-28T18:08:29.671" v="29" actId="478"/>
          <ac:grpSpMkLst>
            <pc:docMk/>
            <pc:sldMk cId="0" sldId="277"/>
            <ac:grpSpMk id="3" creationId="{00000000-0000-0000-0000-000000000000}"/>
          </ac:grpSpMkLst>
        </pc:grpChg>
        <pc:grpChg chg="topLvl">
          <ac:chgData name="Carolina Barbosa de Melo" userId="faed3217-556f-4326-a110-3be8cd89edd9" providerId="ADAL" clId="{EE13A5FF-5000-4168-93D9-56C83F664890}" dt="2026-04-28T18:08:29.671" v="29" actId="478"/>
          <ac:grpSpMkLst>
            <pc:docMk/>
            <pc:sldMk cId="0" sldId="277"/>
            <ac:grpSpMk id="4" creationId="{00000000-0000-0000-0000-000000000000}"/>
          </ac:grpSpMkLst>
        </pc:grpChg>
      </pc:sldChg>
    </pc:docChg>
  </pc:docChgLst>
  <pc:docChgLst>
    <pc:chgData name="Carolina Barbosa de Melo" userId="S::carolina.barmell@sescsp.org.br::faed3217-556f-4326-a110-3be8cd89edd9" providerId="AD" clId="Web-{9D979A41-CE02-4FA0-125C-12DC89ECD975}"/>
    <pc:docChg chg="modSld">
      <pc:chgData name="Carolina Barbosa de Melo" userId="S::carolina.barmell@sescsp.org.br::faed3217-556f-4326-a110-3be8cd89edd9" providerId="AD" clId="Web-{9D979A41-CE02-4FA0-125C-12DC89ECD975}" dt="2026-04-28T18:04:37.150" v="1" actId="14100"/>
      <pc:docMkLst>
        <pc:docMk/>
      </pc:docMkLst>
      <pc:sldChg chg="modSp">
        <pc:chgData name="Carolina Barbosa de Melo" userId="S::carolina.barmell@sescsp.org.br::faed3217-556f-4326-a110-3be8cd89edd9" providerId="AD" clId="Web-{9D979A41-CE02-4FA0-125C-12DC89ECD975}" dt="2026-04-28T18:04:37.150" v="1" actId="14100"/>
        <pc:sldMkLst>
          <pc:docMk/>
          <pc:sldMk cId="0" sldId="259"/>
        </pc:sldMkLst>
        <pc:spChg chg="mod">
          <ac:chgData name="Carolina Barbosa de Melo" userId="S::carolina.barmell@sescsp.org.br::faed3217-556f-4326-a110-3be8cd89edd9" providerId="AD" clId="Web-{9D979A41-CE02-4FA0-125C-12DC89ECD975}" dt="2026-04-28T18:04:37.150" v="1" actId="14100"/>
          <ac:spMkLst>
            <pc:docMk/>
            <pc:sldMk cId="0" sldId="25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8F2559-B0F0-41A1-B95D-D6C321308EC0}" type="datetimeFigureOut">
              <a:rPr lang="pt-BR" smtClean="0"/>
              <a:t>28/04/2026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3CD5ED-7126-4C83-9244-6B40DA15F5A7}" type="slidenum">
              <a:rPr lang="pt-BR" smtClean="0"/>
              <a:t>‹nº›</a:t>
            </a:fld>
            <a:endParaRPr lang="pt-BR"/>
          </a:p>
        </p:txBody>
      </p:sp>
    </p:spTree>
    <p:extLst>
      <p:ext uri="{BB962C8B-B14F-4D97-AF65-F5344CB8AC3E}">
        <p14:creationId xmlns:p14="http://schemas.microsoft.com/office/powerpoint/2010/main" val="2294532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8F3CD5ED-7126-4C83-9244-6B40DA15F5A7}" type="slidenum">
              <a:rPr lang="pt-BR" smtClean="0"/>
              <a:t>1</a:t>
            </a:fld>
            <a:endParaRPr lang="pt-BR"/>
          </a:p>
        </p:txBody>
      </p:sp>
    </p:spTree>
    <p:extLst>
      <p:ext uri="{BB962C8B-B14F-4D97-AF65-F5344CB8AC3E}">
        <p14:creationId xmlns:p14="http://schemas.microsoft.com/office/powerpoint/2010/main" val="1525827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sp>
        <p:nvSpPr>
          <p:cNvPr id="2" name="Freeform 2"/>
          <p:cNvSpPr/>
          <p:nvPr/>
        </p:nvSpPr>
        <p:spPr>
          <a:xfrm>
            <a:off x="0" y="-1284128"/>
            <a:ext cx="18288000" cy="12412031"/>
          </a:xfrm>
          <a:custGeom>
            <a:avLst/>
            <a:gdLst/>
            <a:ahLst/>
            <a:cxnLst/>
            <a:rect l="l" t="t" r="r" b="b"/>
            <a:pathLst>
              <a:path w="18288000" h="12412031">
                <a:moveTo>
                  <a:pt x="0" y="0"/>
                </a:moveTo>
                <a:lnTo>
                  <a:pt x="18288000" y="0"/>
                </a:lnTo>
                <a:lnTo>
                  <a:pt x="18288000" y="12412031"/>
                </a:lnTo>
                <a:lnTo>
                  <a:pt x="0" y="12412031"/>
                </a:lnTo>
                <a:lnTo>
                  <a:pt x="0" y="0"/>
                </a:lnTo>
                <a:close/>
              </a:path>
            </a:pathLst>
          </a:custGeom>
          <a:blipFill>
            <a:blip r:embed="rId3"/>
            <a:stretch>
              <a:fillRect l="-16849" t="-13657" r="-19383" b="-20160"/>
            </a:stretch>
          </a:blipFill>
        </p:spPr>
        <p:txBody>
          <a:bodyPr/>
          <a:lstStyle/>
          <a:p>
            <a:endParaRPr lang="pt-BR"/>
          </a:p>
        </p:txBody>
      </p:sp>
      <p:grpSp>
        <p:nvGrpSpPr>
          <p:cNvPr id="3" name="Group 3"/>
          <p:cNvGrpSpPr/>
          <p:nvPr/>
        </p:nvGrpSpPr>
        <p:grpSpPr>
          <a:xfrm>
            <a:off x="0" y="4097980"/>
            <a:ext cx="18288000" cy="6189020"/>
            <a:chOff x="0" y="0"/>
            <a:chExt cx="4816593" cy="1630030"/>
          </a:xfrm>
        </p:grpSpPr>
        <p:sp>
          <p:nvSpPr>
            <p:cNvPr id="4" name="Freeform 4"/>
            <p:cNvSpPr/>
            <p:nvPr/>
          </p:nvSpPr>
          <p:spPr>
            <a:xfrm>
              <a:off x="0" y="0"/>
              <a:ext cx="4816592" cy="1630030"/>
            </a:xfrm>
            <a:custGeom>
              <a:avLst/>
              <a:gdLst/>
              <a:ahLst/>
              <a:cxnLst/>
              <a:rect l="l" t="t" r="r" b="b"/>
              <a:pathLst>
                <a:path w="4816592" h="1630030">
                  <a:moveTo>
                    <a:pt x="0" y="0"/>
                  </a:moveTo>
                  <a:lnTo>
                    <a:pt x="4816592" y="0"/>
                  </a:lnTo>
                  <a:lnTo>
                    <a:pt x="4816592" y="1630030"/>
                  </a:lnTo>
                  <a:lnTo>
                    <a:pt x="0" y="1630030"/>
                  </a:lnTo>
                  <a:close/>
                </a:path>
              </a:pathLst>
            </a:custGeom>
            <a:solidFill>
              <a:srgbClr val="DB6313"/>
            </a:solidFill>
          </p:spPr>
          <p:txBody>
            <a:bodyPr/>
            <a:lstStyle/>
            <a:p>
              <a:endParaRPr lang="pt-BR"/>
            </a:p>
          </p:txBody>
        </p:sp>
        <p:sp>
          <p:nvSpPr>
            <p:cNvPr id="5" name="TextBox 5"/>
            <p:cNvSpPr txBox="1"/>
            <p:nvPr/>
          </p:nvSpPr>
          <p:spPr>
            <a:xfrm>
              <a:off x="0" y="-38100"/>
              <a:ext cx="4816593" cy="166813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4989489" y="4445123"/>
            <a:ext cx="12269811" cy="3245213"/>
          </a:xfrm>
          <a:custGeom>
            <a:avLst/>
            <a:gdLst/>
            <a:ahLst/>
            <a:cxnLst/>
            <a:rect l="l" t="t" r="r" b="b"/>
            <a:pathLst>
              <a:path w="12269811" h="3245213">
                <a:moveTo>
                  <a:pt x="0" y="0"/>
                </a:moveTo>
                <a:lnTo>
                  <a:pt x="12269811" y="0"/>
                </a:lnTo>
                <a:lnTo>
                  <a:pt x="12269811" y="3245213"/>
                </a:lnTo>
                <a:lnTo>
                  <a:pt x="0" y="3245213"/>
                </a:lnTo>
                <a:lnTo>
                  <a:pt x="0" y="0"/>
                </a:lnTo>
                <a:close/>
              </a:path>
            </a:pathLst>
          </a:custGeom>
          <a:blipFill>
            <a:blip r:embed="rId4"/>
            <a:stretch>
              <a:fillRect l="-2694" t="-60048" r="-2245" b="-52255"/>
            </a:stretch>
          </a:blipFill>
        </p:spPr>
        <p:txBody>
          <a:bodyPr/>
          <a:lstStyle/>
          <a:p>
            <a:endParaRPr lang="pt-BR"/>
          </a:p>
        </p:txBody>
      </p:sp>
      <p:sp>
        <p:nvSpPr>
          <p:cNvPr id="7" name="Freeform 7"/>
          <p:cNvSpPr/>
          <p:nvPr/>
        </p:nvSpPr>
        <p:spPr>
          <a:xfrm>
            <a:off x="813100" y="4496440"/>
            <a:ext cx="1619049" cy="1571290"/>
          </a:xfrm>
          <a:custGeom>
            <a:avLst/>
            <a:gdLst/>
            <a:ahLst/>
            <a:cxnLst/>
            <a:rect l="l" t="t" r="r" b="b"/>
            <a:pathLst>
              <a:path w="1619049" h="1571290">
                <a:moveTo>
                  <a:pt x="0" y="0"/>
                </a:moveTo>
                <a:lnTo>
                  <a:pt x="1619049" y="0"/>
                </a:lnTo>
                <a:lnTo>
                  <a:pt x="1619049" y="1571290"/>
                </a:lnTo>
                <a:lnTo>
                  <a:pt x="0" y="1571290"/>
                </a:lnTo>
                <a:lnTo>
                  <a:pt x="0" y="0"/>
                </a:lnTo>
                <a:close/>
              </a:path>
            </a:pathLst>
          </a:custGeom>
          <a:blipFill>
            <a:blip r:embed="rId5"/>
            <a:stretch>
              <a:fillRect/>
            </a:stretch>
          </a:blipFill>
        </p:spPr>
        <p:txBody>
          <a:bodyPr/>
          <a:lstStyle/>
          <a:p>
            <a:endParaRPr lang="pt-BR"/>
          </a:p>
        </p:txBody>
      </p:sp>
      <p:sp>
        <p:nvSpPr>
          <p:cNvPr id="8" name="TextBox 8"/>
          <p:cNvSpPr txBox="1"/>
          <p:nvPr/>
        </p:nvSpPr>
        <p:spPr>
          <a:xfrm>
            <a:off x="11897023" y="8172145"/>
            <a:ext cx="5362277" cy="1144905"/>
          </a:xfrm>
          <a:prstGeom prst="rect">
            <a:avLst/>
          </a:prstGeom>
        </p:spPr>
        <p:txBody>
          <a:bodyPr lIns="0" tIns="0" rIns="0" bIns="0" rtlCol="0" anchor="t">
            <a:spAutoFit/>
          </a:bodyPr>
          <a:lstStyle/>
          <a:p>
            <a:pPr algn="r">
              <a:lnSpc>
                <a:spcPts val="4620"/>
              </a:lnSpc>
            </a:pPr>
            <a:r>
              <a:rPr lang="en-US" sz="3300">
                <a:solidFill>
                  <a:srgbClr val="FFFFFF"/>
                </a:solidFill>
                <a:latin typeface="Clear Sans"/>
                <a:ea typeface="Clear Sans"/>
                <a:cs typeface="Clear Sans"/>
                <a:sym typeface="Clear Sans"/>
              </a:rPr>
              <a:t>26 JUN - 24 NOV 2024</a:t>
            </a:r>
          </a:p>
          <a:p>
            <a:pPr algn="r">
              <a:lnSpc>
                <a:spcPts val="4620"/>
              </a:lnSpc>
            </a:pPr>
            <a:r>
              <a:rPr lang="en-US" sz="3300">
                <a:solidFill>
                  <a:srgbClr val="FFFFFF"/>
                </a:solidFill>
                <a:latin typeface="Clear Sans"/>
                <a:ea typeface="Clear Sans"/>
                <a:cs typeface="Clear Sans"/>
                <a:sym typeface="Clear Sans"/>
              </a:rPr>
              <a:t>Prorrogada até 09 FEV 2025</a:t>
            </a:r>
          </a:p>
        </p:txBody>
      </p:sp>
      <p:sp>
        <p:nvSpPr>
          <p:cNvPr id="9" name="TextBox 9"/>
          <p:cNvSpPr txBox="1"/>
          <p:nvPr/>
        </p:nvSpPr>
        <p:spPr>
          <a:xfrm>
            <a:off x="1028700" y="8753170"/>
            <a:ext cx="2806898" cy="563880"/>
          </a:xfrm>
          <a:prstGeom prst="rect">
            <a:avLst/>
          </a:prstGeom>
        </p:spPr>
        <p:txBody>
          <a:bodyPr lIns="0" tIns="0" rIns="0" bIns="0" rtlCol="0" anchor="t">
            <a:spAutoFit/>
          </a:bodyPr>
          <a:lstStyle/>
          <a:p>
            <a:pPr algn="ctr">
              <a:lnSpc>
                <a:spcPts val="4620"/>
              </a:lnSpc>
            </a:pPr>
            <a:r>
              <a:rPr lang="en-US" sz="3300">
                <a:solidFill>
                  <a:srgbClr val="FFFFFF"/>
                </a:solidFill>
                <a:latin typeface="Clear Sans"/>
                <a:ea typeface="Clear Sans"/>
                <a:cs typeface="Clear Sans"/>
                <a:sym typeface="Clear Sans"/>
              </a:rPr>
              <a:t>Relatório Geral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D8B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479254"/>
            </a:solidFill>
          </p:spPr>
          <p:txBody>
            <a:bodyPr/>
            <a:lstStyle/>
            <a:p>
              <a:endParaRPr lang="pt-BR"/>
            </a:p>
          </p:txBody>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72325" y="8699182"/>
            <a:ext cx="19432649" cy="559118"/>
            <a:chOff x="0" y="0"/>
            <a:chExt cx="25910199" cy="745490"/>
          </a:xfrm>
        </p:grpSpPr>
        <p:grpSp>
          <p:nvGrpSpPr>
            <p:cNvPr id="6" name="Group 6"/>
            <p:cNvGrpSpPr/>
            <p:nvPr/>
          </p:nvGrpSpPr>
          <p:grpSpPr>
            <a:xfrm>
              <a:off x="0" y="0"/>
              <a:ext cx="25910199" cy="706967"/>
              <a:chOff x="0" y="0"/>
              <a:chExt cx="5118064" cy="139648"/>
            </a:xfrm>
          </p:grpSpPr>
          <p:sp>
            <p:nvSpPr>
              <p:cNvPr id="7" name="Freeform 7"/>
              <p:cNvSpPr/>
              <p:nvPr/>
            </p:nvSpPr>
            <p:spPr>
              <a:xfrm>
                <a:off x="0" y="0"/>
                <a:ext cx="5118064" cy="139648"/>
              </a:xfrm>
              <a:custGeom>
                <a:avLst/>
                <a:gdLst/>
                <a:ahLst/>
                <a:cxnLst/>
                <a:rect l="l" t="t" r="r" b="b"/>
                <a:pathLst>
                  <a:path w="5118064" h="139648">
                    <a:moveTo>
                      <a:pt x="0" y="0"/>
                    </a:moveTo>
                    <a:lnTo>
                      <a:pt x="5118064" y="0"/>
                    </a:lnTo>
                    <a:lnTo>
                      <a:pt x="5118064" y="139648"/>
                    </a:lnTo>
                    <a:lnTo>
                      <a:pt x="0" y="139648"/>
                    </a:lnTo>
                    <a:close/>
                  </a:path>
                </a:pathLst>
              </a:custGeom>
              <a:solidFill>
                <a:srgbClr val="ECD8BB"/>
              </a:solidFill>
            </p:spPr>
            <p:txBody>
              <a:bodyPr/>
              <a:lstStyle/>
              <a:p>
                <a:endParaRPr lang="pt-BR"/>
              </a:p>
            </p:txBody>
          </p:sp>
          <p:sp>
            <p:nvSpPr>
              <p:cNvPr id="8" name="TextBox 8"/>
              <p:cNvSpPr txBox="1"/>
              <p:nvPr/>
            </p:nvSpPr>
            <p:spPr>
              <a:xfrm>
                <a:off x="0" y="-38100"/>
                <a:ext cx="5118064" cy="177748"/>
              </a:xfrm>
              <a:prstGeom prst="rect">
                <a:avLst/>
              </a:prstGeom>
            </p:spPr>
            <p:txBody>
              <a:bodyPr lIns="50800" tIns="50800" rIns="50800" bIns="50800" rtlCol="0" anchor="ctr"/>
              <a:lstStyle/>
              <a:p>
                <a:pPr algn="l">
                  <a:lnSpc>
                    <a:spcPts val="2659"/>
                  </a:lnSpc>
                </a:pPr>
                <a:endParaRPr/>
              </a:p>
            </p:txBody>
          </p:sp>
        </p:grpSp>
        <p:sp>
          <p:nvSpPr>
            <p:cNvPr id="9" name="TextBox 9"/>
            <p:cNvSpPr txBox="1"/>
            <p:nvPr/>
          </p:nvSpPr>
          <p:spPr>
            <a:xfrm>
              <a:off x="9160049" y="-28152"/>
              <a:ext cx="7888587" cy="773642"/>
            </a:xfrm>
            <a:prstGeom prst="rect">
              <a:avLst/>
            </a:prstGeom>
          </p:spPr>
          <p:txBody>
            <a:bodyPr lIns="0" tIns="0" rIns="0" bIns="0" rtlCol="0" anchor="t">
              <a:spAutoFit/>
            </a:bodyPr>
            <a:lstStyle/>
            <a:p>
              <a:pPr algn="l">
                <a:lnSpc>
                  <a:spcPts val="4899"/>
                </a:lnSpc>
              </a:pPr>
              <a:r>
                <a:rPr lang="en-US" sz="3499" b="1" spc="265">
                  <a:solidFill>
                    <a:srgbClr val="479254"/>
                  </a:solidFill>
                  <a:latin typeface="Clear Sans Bold"/>
                  <a:ea typeface="Clear Sans Bold"/>
                  <a:cs typeface="Clear Sans Bold"/>
                  <a:sym typeface="Clear Sans Bold"/>
                </a:rPr>
                <a:t>195 DIAS DE VISITAÇÃO</a:t>
              </a:r>
            </a:p>
          </p:txBody>
        </p:sp>
      </p:grpSp>
      <p:grpSp>
        <p:nvGrpSpPr>
          <p:cNvPr id="10" name="Group 10"/>
          <p:cNvGrpSpPr/>
          <p:nvPr/>
        </p:nvGrpSpPr>
        <p:grpSpPr>
          <a:xfrm>
            <a:off x="12632197" y="3891444"/>
            <a:ext cx="4627103" cy="2504112"/>
            <a:chOff x="0" y="0"/>
            <a:chExt cx="6169471" cy="3338816"/>
          </a:xfrm>
        </p:grpSpPr>
        <p:sp>
          <p:nvSpPr>
            <p:cNvPr id="11" name="AutoShape 11"/>
            <p:cNvSpPr/>
            <p:nvPr/>
          </p:nvSpPr>
          <p:spPr>
            <a:xfrm flipV="1">
              <a:off x="57150" y="1254164"/>
              <a:ext cx="6055171" cy="448083"/>
            </a:xfrm>
            <a:prstGeom prst="line">
              <a:avLst/>
            </a:prstGeom>
            <a:ln w="114300" cap="flat">
              <a:solidFill>
                <a:srgbClr val="ECD8BB"/>
              </a:solidFill>
              <a:prstDash val="sysDash"/>
              <a:headEnd type="none" w="sm" len="sm"/>
              <a:tailEnd type="none" w="sm" len="sm"/>
            </a:ln>
          </p:spPr>
          <p:txBody>
            <a:bodyPr/>
            <a:lstStyle/>
            <a:p>
              <a:endParaRPr lang="pt-BR"/>
            </a:p>
          </p:txBody>
        </p:sp>
        <p:sp>
          <p:nvSpPr>
            <p:cNvPr id="12" name="AutoShape 12"/>
            <p:cNvSpPr/>
            <p:nvPr/>
          </p:nvSpPr>
          <p:spPr>
            <a:xfrm flipV="1">
              <a:off x="57150" y="1702247"/>
              <a:ext cx="6055171" cy="73461"/>
            </a:xfrm>
            <a:prstGeom prst="line">
              <a:avLst/>
            </a:prstGeom>
            <a:ln w="114300" cap="flat">
              <a:solidFill>
                <a:srgbClr val="ECD8BB"/>
              </a:solidFill>
              <a:prstDash val="sysDash"/>
              <a:headEnd type="none" w="sm" len="sm"/>
              <a:tailEnd type="none" w="sm" len="sm"/>
            </a:ln>
          </p:spPr>
          <p:txBody>
            <a:bodyPr/>
            <a:lstStyle/>
            <a:p>
              <a:endParaRPr lang="pt-BR"/>
            </a:p>
          </p:txBody>
        </p:sp>
      </p:grpSp>
      <p:sp>
        <p:nvSpPr>
          <p:cNvPr id="13" name="Freeform 13"/>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14" name="Freeform 14"/>
          <p:cNvSpPr/>
          <p:nvPr/>
        </p:nvSpPr>
        <p:spPr>
          <a:xfrm>
            <a:off x="724930" y="1369505"/>
            <a:ext cx="11398376" cy="6168770"/>
          </a:xfrm>
          <a:custGeom>
            <a:avLst/>
            <a:gdLst/>
            <a:ahLst/>
            <a:cxnLst/>
            <a:rect l="l" t="t" r="r" b="b"/>
            <a:pathLst>
              <a:path w="11398376" h="6168770">
                <a:moveTo>
                  <a:pt x="0" y="0"/>
                </a:moveTo>
                <a:lnTo>
                  <a:pt x="11398376" y="0"/>
                </a:lnTo>
                <a:lnTo>
                  <a:pt x="11398376" y="6168770"/>
                </a:lnTo>
                <a:lnTo>
                  <a:pt x="0" y="6168770"/>
                </a:lnTo>
                <a:lnTo>
                  <a:pt x="0" y="0"/>
                </a:lnTo>
                <a:close/>
              </a:path>
            </a:pathLst>
          </a:custGeom>
          <a:blipFill>
            <a:blip r:embed="rId3"/>
            <a:stretch>
              <a:fillRect l="-20266"/>
            </a:stretch>
          </a:blipFill>
        </p:spPr>
        <p:txBody>
          <a:bodyPr/>
          <a:lstStyle/>
          <a:p>
            <a:endParaRPr lang="pt-BR"/>
          </a:p>
        </p:txBody>
      </p:sp>
      <p:sp>
        <p:nvSpPr>
          <p:cNvPr id="15" name="TextBox 15"/>
          <p:cNvSpPr txBox="1"/>
          <p:nvPr/>
        </p:nvSpPr>
        <p:spPr>
          <a:xfrm>
            <a:off x="13421023" y="904875"/>
            <a:ext cx="3838277" cy="1094740"/>
          </a:xfrm>
          <a:prstGeom prst="rect">
            <a:avLst/>
          </a:prstGeom>
        </p:spPr>
        <p:txBody>
          <a:bodyPr lIns="0" tIns="0" rIns="0" bIns="0" rtlCol="0" anchor="t">
            <a:spAutoFit/>
          </a:bodyPr>
          <a:lstStyle/>
          <a:p>
            <a:pPr algn="ctr">
              <a:lnSpc>
                <a:spcPts val="8959"/>
              </a:lnSpc>
            </a:pPr>
            <a:r>
              <a:rPr lang="en-US" sz="6399" b="1" spc="486">
                <a:solidFill>
                  <a:srgbClr val="ECD8BB"/>
                </a:solidFill>
                <a:latin typeface="Clear Sans Bold"/>
                <a:ea typeface="Clear Sans Bold"/>
                <a:cs typeface="Clear Sans Bold"/>
                <a:sym typeface="Clear Sans Bold"/>
              </a:rPr>
              <a:t>PÚBLICO</a:t>
            </a:r>
          </a:p>
        </p:txBody>
      </p:sp>
      <p:sp>
        <p:nvSpPr>
          <p:cNvPr id="16" name="TextBox 16"/>
          <p:cNvSpPr txBox="1"/>
          <p:nvPr/>
        </p:nvSpPr>
        <p:spPr>
          <a:xfrm>
            <a:off x="13335133" y="4377690"/>
            <a:ext cx="3221230" cy="1455420"/>
          </a:xfrm>
          <a:prstGeom prst="rect">
            <a:avLst/>
          </a:prstGeom>
        </p:spPr>
        <p:txBody>
          <a:bodyPr lIns="0" tIns="0" rIns="0" bIns="0" rtlCol="0" anchor="t">
            <a:spAutoFit/>
          </a:bodyPr>
          <a:lstStyle/>
          <a:p>
            <a:pPr algn="ctr">
              <a:lnSpc>
                <a:spcPts val="5880"/>
              </a:lnSpc>
            </a:pPr>
            <a:r>
              <a:rPr lang="en-US" sz="4200" spc="319">
                <a:solidFill>
                  <a:srgbClr val="ECD8BB"/>
                </a:solidFill>
                <a:latin typeface="Clear Sans"/>
                <a:ea typeface="Clear Sans"/>
                <a:cs typeface="Clear Sans"/>
                <a:sym typeface="Clear Sans"/>
              </a:rPr>
              <a:t>94.537</a:t>
            </a:r>
          </a:p>
          <a:p>
            <a:pPr algn="ctr">
              <a:lnSpc>
                <a:spcPts val="5880"/>
              </a:lnSpc>
            </a:pPr>
            <a:r>
              <a:rPr lang="en-US" sz="4200" spc="319">
                <a:solidFill>
                  <a:srgbClr val="ECD8BB"/>
                </a:solidFill>
                <a:latin typeface="Clear Sans"/>
                <a:ea typeface="Clear Sans"/>
                <a:cs typeface="Clear Sans"/>
                <a:sym typeface="Clear Sans"/>
              </a:rPr>
              <a:t>presenças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D8B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479254"/>
            </a:solidFill>
          </p:spPr>
          <p:txBody>
            <a:bodyPr/>
            <a:lstStyle/>
            <a:p>
              <a:endParaRPr lang="pt-BR"/>
            </a:p>
          </p:txBody>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p:txBody>
        </p:sp>
      </p:grpSp>
      <p:pic>
        <p:nvPicPr>
          <p:cNvPr id="5" name="Picture 5"/>
          <p:cNvPicPr>
            <a:picLocks noChangeAspect="1"/>
          </p:cNvPicPr>
          <p:nvPr/>
        </p:nvPicPr>
        <p:blipFill>
          <a:blip r:embed="rId2"/>
          <a:stretch>
            <a:fillRect/>
          </a:stretch>
        </p:blipFill>
        <p:spPr>
          <a:xfrm>
            <a:off x="116910" y="162888"/>
            <a:ext cx="17609742" cy="105650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D8BB"/>
        </a:solidFill>
        <a:effectLst/>
      </p:bgPr>
    </p:bg>
    <p:spTree>
      <p:nvGrpSpPr>
        <p:cNvPr id="1" name=""/>
        <p:cNvGrpSpPr/>
        <p:nvPr/>
      </p:nvGrpSpPr>
      <p:grpSpPr>
        <a:xfrm>
          <a:off x="0" y="0"/>
          <a:ext cx="0" cy="0"/>
          <a:chOff x="0" y="0"/>
          <a:chExt cx="0" cy="0"/>
        </a:xfrm>
      </p:grpSpPr>
      <p:sp>
        <p:nvSpPr>
          <p:cNvPr id="2" name="Freeform 2"/>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3" name="Freeform 3"/>
          <p:cNvSpPr/>
          <p:nvPr/>
        </p:nvSpPr>
        <p:spPr>
          <a:xfrm>
            <a:off x="1028700" y="1459900"/>
            <a:ext cx="11435500" cy="5393070"/>
          </a:xfrm>
          <a:custGeom>
            <a:avLst/>
            <a:gdLst/>
            <a:ahLst/>
            <a:cxnLst/>
            <a:rect l="l" t="t" r="r" b="b"/>
            <a:pathLst>
              <a:path w="11435500" h="5393070">
                <a:moveTo>
                  <a:pt x="0" y="0"/>
                </a:moveTo>
                <a:lnTo>
                  <a:pt x="11435500" y="0"/>
                </a:lnTo>
                <a:lnTo>
                  <a:pt x="11435500" y="5393071"/>
                </a:lnTo>
                <a:lnTo>
                  <a:pt x="0" y="5393071"/>
                </a:lnTo>
                <a:lnTo>
                  <a:pt x="0" y="0"/>
                </a:lnTo>
                <a:close/>
              </a:path>
            </a:pathLst>
          </a:custGeom>
          <a:blipFill>
            <a:blip r:embed="rId3"/>
            <a:stretch>
              <a:fillRect l="-4801"/>
            </a:stretch>
          </a:blipFill>
        </p:spPr>
        <p:txBody>
          <a:bodyPr/>
          <a:lstStyle/>
          <a:p>
            <a:endParaRPr lang="pt-BR"/>
          </a:p>
        </p:txBody>
      </p:sp>
      <p:sp>
        <p:nvSpPr>
          <p:cNvPr id="4" name="TextBox 4"/>
          <p:cNvSpPr txBox="1"/>
          <p:nvPr/>
        </p:nvSpPr>
        <p:spPr>
          <a:xfrm>
            <a:off x="12308502" y="904875"/>
            <a:ext cx="5338986" cy="2228215"/>
          </a:xfrm>
          <a:prstGeom prst="rect">
            <a:avLst/>
          </a:prstGeom>
        </p:spPr>
        <p:txBody>
          <a:bodyPr wrap="square" lIns="0" tIns="0" rIns="0" bIns="0" rtlCol="0" anchor="t">
            <a:spAutoFit/>
          </a:bodyPr>
          <a:lstStyle/>
          <a:p>
            <a:pPr algn="r">
              <a:lnSpc>
                <a:spcPts val="8959"/>
              </a:lnSpc>
            </a:pPr>
            <a:r>
              <a:rPr lang="en-US" sz="6399" b="1" spc="486">
                <a:solidFill>
                  <a:srgbClr val="479254"/>
                </a:solidFill>
                <a:latin typeface="Clear Sans Bold"/>
                <a:ea typeface="Clear Sans Bold"/>
                <a:cs typeface="Clear Sans Bold"/>
                <a:sym typeface="Clear Sans Bold"/>
              </a:rPr>
              <a:t>VISITAS</a:t>
            </a:r>
          </a:p>
          <a:p>
            <a:pPr algn="r">
              <a:lnSpc>
                <a:spcPts val="8959"/>
              </a:lnSpc>
            </a:pPr>
            <a:r>
              <a:rPr lang="en-US" sz="6399" b="1" spc="486">
                <a:solidFill>
                  <a:srgbClr val="479254"/>
                </a:solidFill>
                <a:latin typeface="Clear Sans Bold"/>
                <a:ea typeface="Clear Sans Bold"/>
                <a:cs typeface="Clear Sans Bold"/>
                <a:sym typeface="Clear Sans Bold"/>
              </a:rPr>
              <a:t>MEDIADAS</a:t>
            </a:r>
          </a:p>
        </p:txBody>
      </p:sp>
      <p:sp>
        <p:nvSpPr>
          <p:cNvPr id="5" name="TextBox 5"/>
          <p:cNvSpPr txBox="1"/>
          <p:nvPr/>
        </p:nvSpPr>
        <p:spPr>
          <a:xfrm>
            <a:off x="4077903" y="8010814"/>
            <a:ext cx="9584785" cy="563879"/>
          </a:xfrm>
          <a:prstGeom prst="rect">
            <a:avLst/>
          </a:prstGeom>
        </p:spPr>
        <p:txBody>
          <a:bodyPr lIns="0" tIns="0" rIns="0" bIns="0" rtlCol="0" anchor="t">
            <a:spAutoFit/>
          </a:bodyPr>
          <a:lstStyle/>
          <a:p>
            <a:pPr algn="ctr">
              <a:lnSpc>
                <a:spcPts val="4620"/>
              </a:lnSpc>
            </a:pPr>
            <a:r>
              <a:rPr lang="en-US" sz="3300" spc="250">
                <a:solidFill>
                  <a:srgbClr val="479254"/>
                </a:solidFill>
                <a:latin typeface="Clear Sans"/>
                <a:ea typeface="Clear Sans"/>
                <a:cs typeface="Clear Sans"/>
                <a:sym typeface="Clear Sans"/>
              </a:rPr>
              <a:t>maior frequência: outubro (4075)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D8BB"/>
        </a:solidFill>
        <a:effectLst/>
      </p:bgPr>
    </p:bg>
    <p:spTree>
      <p:nvGrpSpPr>
        <p:cNvPr id="1" name=""/>
        <p:cNvGrpSpPr/>
        <p:nvPr/>
      </p:nvGrpSpPr>
      <p:grpSpPr>
        <a:xfrm>
          <a:off x="0" y="0"/>
          <a:ext cx="0" cy="0"/>
          <a:chOff x="0" y="0"/>
          <a:chExt cx="0" cy="0"/>
        </a:xfrm>
      </p:grpSpPr>
      <p:grpSp>
        <p:nvGrpSpPr>
          <p:cNvPr id="2" name="Group 2"/>
          <p:cNvGrpSpPr/>
          <p:nvPr/>
        </p:nvGrpSpPr>
        <p:grpSpPr>
          <a:xfrm>
            <a:off x="12015320" y="4430912"/>
            <a:ext cx="4627103" cy="2861060"/>
            <a:chOff x="0" y="0"/>
            <a:chExt cx="6169471" cy="3814746"/>
          </a:xfrm>
        </p:grpSpPr>
        <p:sp>
          <p:nvSpPr>
            <p:cNvPr id="3" name="AutoShape 3"/>
            <p:cNvSpPr/>
            <p:nvPr/>
          </p:nvSpPr>
          <p:spPr>
            <a:xfrm flipV="1">
              <a:off x="57150" y="1430840"/>
              <a:ext cx="6055171" cy="514219"/>
            </a:xfrm>
            <a:prstGeom prst="line">
              <a:avLst/>
            </a:prstGeom>
            <a:ln w="114300" cap="flat">
              <a:solidFill>
                <a:srgbClr val="DB6313"/>
              </a:solidFill>
              <a:prstDash val="sysDash"/>
              <a:headEnd type="none" w="sm" len="sm"/>
              <a:tailEnd type="none" w="sm" len="sm"/>
            </a:ln>
          </p:spPr>
          <p:txBody>
            <a:bodyPr/>
            <a:lstStyle/>
            <a:p>
              <a:endParaRPr lang="pt-BR"/>
            </a:p>
          </p:txBody>
        </p:sp>
        <p:sp>
          <p:nvSpPr>
            <p:cNvPr id="4" name="AutoShape 4"/>
            <p:cNvSpPr/>
            <p:nvPr/>
          </p:nvSpPr>
          <p:spPr>
            <a:xfrm flipV="1">
              <a:off x="57150" y="1945059"/>
              <a:ext cx="6055171" cy="84304"/>
            </a:xfrm>
            <a:prstGeom prst="line">
              <a:avLst/>
            </a:prstGeom>
            <a:ln w="114300" cap="flat">
              <a:solidFill>
                <a:srgbClr val="DB6313"/>
              </a:solidFill>
              <a:prstDash val="sysDash"/>
              <a:headEnd type="none" w="sm" len="sm"/>
              <a:tailEnd type="none" w="sm" len="sm"/>
            </a:ln>
          </p:spPr>
          <p:txBody>
            <a:bodyPr/>
            <a:lstStyle/>
            <a:p>
              <a:endParaRPr lang="pt-BR"/>
            </a:p>
          </p:txBody>
        </p:sp>
      </p:grpSp>
      <p:sp>
        <p:nvSpPr>
          <p:cNvPr id="5" name="TextBox 5"/>
          <p:cNvSpPr txBox="1"/>
          <p:nvPr/>
        </p:nvSpPr>
        <p:spPr>
          <a:xfrm>
            <a:off x="12718256" y="4730328"/>
            <a:ext cx="3359944" cy="2968698"/>
          </a:xfrm>
          <a:prstGeom prst="rect">
            <a:avLst/>
          </a:prstGeom>
        </p:spPr>
        <p:txBody>
          <a:bodyPr wrap="square" lIns="0" tIns="0" rIns="0" bIns="0" rtlCol="0" anchor="t">
            <a:spAutoFit/>
          </a:bodyPr>
          <a:lstStyle/>
          <a:p>
            <a:pPr algn="ctr">
              <a:lnSpc>
                <a:spcPts val="5880"/>
              </a:lnSpc>
            </a:pPr>
            <a:r>
              <a:rPr lang="en-US" sz="4200" spc="319">
                <a:solidFill>
                  <a:srgbClr val="479254"/>
                </a:solidFill>
                <a:latin typeface="Clear Sans"/>
                <a:ea typeface="Clear Sans"/>
                <a:cs typeface="Clear Sans"/>
                <a:sym typeface="Clear Sans"/>
              </a:rPr>
              <a:t>11.786</a:t>
            </a:r>
          </a:p>
          <a:p>
            <a:pPr algn="ctr">
              <a:lnSpc>
                <a:spcPts val="5880"/>
              </a:lnSpc>
            </a:pPr>
            <a:endParaRPr lang="en-US" sz="4200" spc="319">
              <a:solidFill>
                <a:srgbClr val="479254"/>
              </a:solidFill>
              <a:latin typeface="Clear Sans"/>
              <a:ea typeface="Clear Sans"/>
              <a:cs typeface="Clear Sans"/>
              <a:sym typeface="Clear Sans"/>
            </a:endParaRPr>
          </a:p>
          <a:p>
            <a:pPr algn="ctr">
              <a:lnSpc>
                <a:spcPts val="5880"/>
              </a:lnSpc>
            </a:pPr>
            <a:r>
              <a:rPr lang="en-US" sz="4200" spc="319">
                <a:solidFill>
                  <a:srgbClr val="479254"/>
                </a:solidFill>
                <a:latin typeface="Clear Sans"/>
                <a:ea typeface="Clear Sans"/>
                <a:cs typeface="Clear Sans"/>
                <a:sym typeface="Clear Sans"/>
              </a:rPr>
              <a:t> </a:t>
            </a:r>
            <a:r>
              <a:rPr lang="en-US" sz="4200" spc="319" err="1">
                <a:solidFill>
                  <a:srgbClr val="479254"/>
                </a:solidFill>
                <a:latin typeface="Clear Sans"/>
                <a:ea typeface="Clear Sans"/>
                <a:cs typeface="Clear Sans"/>
                <a:sym typeface="Clear Sans"/>
              </a:rPr>
              <a:t>pessoas</a:t>
            </a:r>
            <a:r>
              <a:rPr lang="en-US" sz="4200" spc="319">
                <a:solidFill>
                  <a:srgbClr val="479254"/>
                </a:solidFill>
                <a:latin typeface="Clear Sans"/>
                <a:ea typeface="Clear Sans"/>
                <a:cs typeface="Clear Sans"/>
                <a:sym typeface="Clear Sans"/>
              </a:rPr>
              <a:t> </a:t>
            </a:r>
            <a:r>
              <a:rPr lang="en-US" sz="4200" spc="319" err="1">
                <a:solidFill>
                  <a:srgbClr val="479254"/>
                </a:solidFill>
                <a:latin typeface="Clear Sans"/>
                <a:ea typeface="Clear Sans"/>
                <a:cs typeface="Clear Sans"/>
                <a:sym typeface="Clear Sans"/>
              </a:rPr>
              <a:t>atendidas</a:t>
            </a:r>
            <a:endParaRPr lang="en-US" sz="4200" spc="319">
              <a:solidFill>
                <a:srgbClr val="479254"/>
              </a:solidFill>
              <a:latin typeface="Clear Sans"/>
              <a:ea typeface="Clear Sans"/>
              <a:cs typeface="Clear Sans"/>
              <a:sym typeface="Clear Sans"/>
            </a:endParaRPr>
          </a:p>
        </p:txBody>
      </p:sp>
      <p:pic>
        <p:nvPicPr>
          <p:cNvPr id="6" name="Picture 6"/>
          <p:cNvPicPr>
            <a:picLocks noChangeAspect="1"/>
          </p:cNvPicPr>
          <p:nvPr/>
        </p:nvPicPr>
        <p:blipFill>
          <a:blip r:embed="rId2"/>
          <a:stretch>
            <a:fillRect/>
          </a:stretch>
        </p:blipFill>
        <p:spPr>
          <a:xfrm>
            <a:off x="-780752" y="-71812"/>
            <a:ext cx="13206145" cy="9561838"/>
          </a:xfrm>
          <a:prstGeom prst="rect">
            <a:avLst/>
          </a:prstGeom>
        </p:spPr>
      </p:pic>
      <p:sp>
        <p:nvSpPr>
          <p:cNvPr id="7" name="Freeform 7"/>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3"/>
            <a:stretch>
              <a:fillRect/>
            </a:stretch>
          </a:blipFill>
        </p:spPr>
        <p:txBody>
          <a:bodyPr/>
          <a:lstStyle/>
          <a:p>
            <a:endParaRPr lang="pt-B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8B1A7"/>
        </a:solidFill>
        <a:effectLst/>
      </p:bgPr>
    </p:bg>
    <p:spTree>
      <p:nvGrpSpPr>
        <p:cNvPr id="1" name=""/>
        <p:cNvGrpSpPr/>
        <p:nvPr/>
      </p:nvGrpSpPr>
      <p:grpSpPr>
        <a:xfrm>
          <a:off x="0" y="0"/>
          <a:ext cx="0" cy="0"/>
          <a:chOff x="0" y="0"/>
          <a:chExt cx="0" cy="0"/>
        </a:xfrm>
      </p:grpSpPr>
      <p:grpSp>
        <p:nvGrpSpPr>
          <p:cNvPr id="2" name="Group 2"/>
          <p:cNvGrpSpPr/>
          <p:nvPr/>
        </p:nvGrpSpPr>
        <p:grpSpPr>
          <a:xfrm>
            <a:off x="12563418" y="4305300"/>
            <a:ext cx="5083089" cy="2212080"/>
            <a:chOff x="57150" y="-119493"/>
            <a:chExt cx="7165909" cy="3137327"/>
          </a:xfrm>
        </p:grpSpPr>
        <p:sp>
          <p:nvSpPr>
            <p:cNvPr id="3" name="AutoShape 3"/>
            <p:cNvSpPr/>
            <p:nvPr/>
          </p:nvSpPr>
          <p:spPr>
            <a:xfrm flipV="1">
              <a:off x="57150" y="1254164"/>
              <a:ext cx="7165909" cy="448083"/>
            </a:xfrm>
            <a:prstGeom prst="line">
              <a:avLst/>
            </a:prstGeom>
            <a:ln w="114300" cap="flat">
              <a:solidFill>
                <a:srgbClr val="479254"/>
              </a:solidFill>
              <a:prstDash val="sysDash"/>
              <a:headEnd type="none" w="sm" len="sm"/>
              <a:tailEnd type="none" w="sm" len="sm"/>
            </a:ln>
          </p:spPr>
          <p:txBody>
            <a:bodyPr/>
            <a:lstStyle/>
            <a:p>
              <a:endParaRPr lang="pt-BR"/>
            </a:p>
          </p:txBody>
        </p:sp>
        <p:sp>
          <p:nvSpPr>
            <p:cNvPr id="4" name="AutoShape 4"/>
            <p:cNvSpPr/>
            <p:nvPr/>
          </p:nvSpPr>
          <p:spPr>
            <a:xfrm flipV="1">
              <a:off x="57150" y="1702247"/>
              <a:ext cx="7165909" cy="73461"/>
            </a:xfrm>
            <a:prstGeom prst="line">
              <a:avLst/>
            </a:prstGeom>
            <a:ln w="114300" cap="flat">
              <a:solidFill>
                <a:srgbClr val="479254"/>
              </a:solidFill>
              <a:prstDash val="sysDash"/>
              <a:headEnd type="none" w="sm" len="sm"/>
              <a:tailEnd type="none" w="sm" len="sm"/>
            </a:ln>
          </p:spPr>
          <p:txBody>
            <a:bodyPr/>
            <a:lstStyle/>
            <a:p>
              <a:endParaRPr lang="pt-BR"/>
            </a:p>
          </p:txBody>
        </p:sp>
        <p:sp>
          <p:nvSpPr>
            <p:cNvPr id="5" name="TextBox 5"/>
            <p:cNvSpPr txBox="1"/>
            <p:nvPr/>
          </p:nvSpPr>
          <p:spPr>
            <a:xfrm>
              <a:off x="643952" y="-119493"/>
              <a:ext cx="6054725" cy="3137327"/>
            </a:xfrm>
            <a:prstGeom prst="rect">
              <a:avLst/>
            </a:prstGeom>
          </p:spPr>
          <p:txBody>
            <a:bodyPr lIns="0" tIns="0" rIns="0" bIns="0" rtlCol="0" anchor="t">
              <a:spAutoFit/>
            </a:bodyPr>
            <a:lstStyle/>
            <a:p>
              <a:pPr algn="ctr">
                <a:lnSpc>
                  <a:spcPts val="5880"/>
                </a:lnSpc>
              </a:pPr>
              <a:r>
                <a:rPr lang="en-US" sz="4200" spc="319">
                  <a:solidFill>
                    <a:srgbClr val="DB6313"/>
                  </a:solidFill>
                  <a:latin typeface="Clear Sans"/>
                  <a:ea typeface="Clear Sans"/>
                  <a:cs typeface="Clear Sans"/>
                  <a:sym typeface="Clear Sans"/>
                </a:rPr>
                <a:t>59 </a:t>
              </a:r>
              <a:r>
                <a:rPr lang="en-US" sz="4200" spc="319" err="1">
                  <a:solidFill>
                    <a:srgbClr val="DB6313"/>
                  </a:solidFill>
                  <a:latin typeface="Clear Sans"/>
                  <a:ea typeface="Clear Sans"/>
                  <a:cs typeface="Clear Sans"/>
                  <a:sym typeface="Clear Sans"/>
                </a:rPr>
                <a:t>ações</a:t>
              </a:r>
              <a:endParaRPr lang="en-US" sz="4200" spc="319">
                <a:solidFill>
                  <a:srgbClr val="DB6313"/>
                </a:solidFill>
                <a:latin typeface="Clear Sans"/>
                <a:ea typeface="Clear Sans"/>
                <a:cs typeface="Clear Sans"/>
                <a:sym typeface="Clear Sans"/>
              </a:endParaRPr>
            </a:p>
            <a:p>
              <a:pPr algn="ctr">
                <a:lnSpc>
                  <a:spcPts val="5880"/>
                </a:lnSpc>
              </a:pPr>
              <a:endParaRPr lang="en-US" sz="4200" spc="319">
                <a:solidFill>
                  <a:srgbClr val="DB6313"/>
                </a:solidFill>
                <a:latin typeface="Clear Sans"/>
                <a:ea typeface="Clear Sans"/>
                <a:cs typeface="Clear Sans"/>
                <a:sym typeface="Clear Sans"/>
              </a:endParaRPr>
            </a:p>
            <a:p>
              <a:pPr algn="ctr">
                <a:lnSpc>
                  <a:spcPts val="5880"/>
                </a:lnSpc>
              </a:pPr>
              <a:r>
                <a:rPr lang="en-US" sz="4200" spc="319">
                  <a:solidFill>
                    <a:srgbClr val="DB6313"/>
                  </a:solidFill>
                  <a:latin typeface="Clear Sans"/>
                  <a:ea typeface="Clear Sans"/>
                  <a:cs typeface="Clear Sans"/>
                  <a:sym typeface="Clear Sans"/>
                </a:rPr>
                <a:t>139 </a:t>
              </a:r>
              <a:r>
                <a:rPr lang="en-US" sz="4200" spc="319" err="1">
                  <a:solidFill>
                    <a:srgbClr val="DB6313"/>
                  </a:solidFill>
                  <a:latin typeface="Clear Sans"/>
                  <a:ea typeface="Clear Sans"/>
                  <a:cs typeface="Clear Sans"/>
                  <a:sym typeface="Clear Sans"/>
                </a:rPr>
                <a:t>sessões</a:t>
              </a:r>
              <a:endParaRPr lang="en-US" sz="4200" spc="319">
                <a:solidFill>
                  <a:srgbClr val="DB6313"/>
                </a:solidFill>
                <a:latin typeface="Clear Sans"/>
                <a:ea typeface="Clear Sans"/>
                <a:cs typeface="Clear Sans"/>
                <a:sym typeface="Clear Sans"/>
              </a:endParaRPr>
            </a:p>
          </p:txBody>
        </p:sp>
      </p:grpSp>
      <p:pic>
        <p:nvPicPr>
          <p:cNvPr id="6" name="Picture 6"/>
          <p:cNvPicPr>
            <a:picLocks noChangeAspect="1"/>
          </p:cNvPicPr>
          <p:nvPr/>
        </p:nvPicPr>
        <p:blipFill>
          <a:blip r:embed="rId2"/>
          <a:stretch>
            <a:fillRect/>
          </a:stretch>
        </p:blipFill>
        <p:spPr>
          <a:xfrm>
            <a:off x="-889420" y="-88992"/>
            <a:ext cx="13412299" cy="10035252"/>
          </a:xfrm>
          <a:prstGeom prst="rect">
            <a:avLst/>
          </a:prstGeom>
        </p:spPr>
      </p:pic>
      <p:sp>
        <p:nvSpPr>
          <p:cNvPr id="7" name="Freeform 7"/>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3"/>
            <a:stretch>
              <a:fillRect/>
            </a:stretch>
          </a:blipFill>
        </p:spPr>
        <p:txBody>
          <a:bodyPr/>
          <a:lstStyle/>
          <a:p>
            <a:endParaRPr lang="pt-BR"/>
          </a:p>
        </p:txBody>
      </p:sp>
      <p:sp>
        <p:nvSpPr>
          <p:cNvPr id="8" name="TextBox 8"/>
          <p:cNvSpPr txBox="1"/>
          <p:nvPr/>
        </p:nvSpPr>
        <p:spPr>
          <a:xfrm>
            <a:off x="11660535" y="904875"/>
            <a:ext cx="5598765" cy="2228215"/>
          </a:xfrm>
          <a:prstGeom prst="rect">
            <a:avLst/>
          </a:prstGeom>
        </p:spPr>
        <p:txBody>
          <a:bodyPr lIns="0" tIns="0" rIns="0" bIns="0" rtlCol="0" anchor="t">
            <a:spAutoFit/>
          </a:bodyPr>
          <a:lstStyle/>
          <a:p>
            <a:pPr algn="r">
              <a:lnSpc>
                <a:spcPts val="8959"/>
              </a:lnSpc>
            </a:pPr>
            <a:r>
              <a:rPr lang="en-US" sz="6399" b="1" spc="486">
                <a:solidFill>
                  <a:srgbClr val="DB6313"/>
                </a:solidFill>
                <a:latin typeface="Clear Sans Bold"/>
                <a:ea typeface="Clear Sans Bold"/>
                <a:cs typeface="Clear Sans Bold"/>
                <a:sym typeface="Clear Sans Bold"/>
              </a:rPr>
              <a:t>AÇÕES</a:t>
            </a:r>
          </a:p>
          <a:p>
            <a:pPr algn="r">
              <a:lnSpc>
                <a:spcPts val="8959"/>
              </a:lnSpc>
            </a:pPr>
            <a:r>
              <a:rPr lang="en-US" sz="6399" b="1" spc="486">
                <a:solidFill>
                  <a:srgbClr val="DB6313"/>
                </a:solidFill>
                <a:latin typeface="Clear Sans Bold"/>
                <a:ea typeface="Clear Sans Bold"/>
                <a:cs typeface="Clear Sans Bold"/>
                <a:sym typeface="Clear Sans Bold"/>
              </a:rPr>
              <a:t>INTEGRADAS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8B1A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85800" y="-800170"/>
            <a:ext cx="20188745" cy="11887339"/>
          </a:xfrm>
          <a:prstGeom prst="rect">
            <a:avLst/>
          </a:prstGeom>
        </p:spPr>
      </p:pic>
      <p:sp>
        <p:nvSpPr>
          <p:cNvPr id="3" name="TextBox 3"/>
          <p:cNvSpPr txBox="1"/>
          <p:nvPr/>
        </p:nvSpPr>
        <p:spPr>
          <a:xfrm>
            <a:off x="1409624" y="272944"/>
            <a:ext cx="3838277" cy="1094740"/>
          </a:xfrm>
          <a:prstGeom prst="rect">
            <a:avLst/>
          </a:prstGeom>
        </p:spPr>
        <p:txBody>
          <a:bodyPr lIns="0" tIns="0" rIns="0" bIns="0" rtlCol="0" anchor="t">
            <a:spAutoFit/>
          </a:bodyPr>
          <a:lstStyle/>
          <a:p>
            <a:pPr algn="r">
              <a:lnSpc>
                <a:spcPts val="8959"/>
              </a:lnSpc>
            </a:pPr>
            <a:r>
              <a:rPr lang="en-US" sz="6399" b="1" spc="486">
                <a:solidFill>
                  <a:srgbClr val="DB6313"/>
                </a:solidFill>
                <a:latin typeface="Clear Sans Bold"/>
                <a:ea typeface="Clear Sans Bold"/>
                <a:cs typeface="Clear Sans Bold"/>
                <a:sym typeface="Clear Sans Bold"/>
              </a:rPr>
              <a:t>PÚBLICO</a:t>
            </a:r>
          </a:p>
        </p:txBody>
      </p:sp>
      <p:grpSp>
        <p:nvGrpSpPr>
          <p:cNvPr id="4" name="Group 4"/>
          <p:cNvGrpSpPr/>
          <p:nvPr/>
        </p:nvGrpSpPr>
        <p:grpSpPr>
          <a:xfrm>
            <a:off x="12015320" y="3201834"/>
            <a:ext cx="4627103" cy="2504112"/>
            <a:chOff x="0" y="0"/>
            <a:chExt cx="6169471" cy="3338816"/>
          </a:xfrm>
        </p:grpSpPr>
        <p:sp>
          <p:nvSpPr>
            <p:cNvPr id="5" name="AutoShape 5"/>
            <p:cNvSpPr/>
            <p:nvPr/>
          </p:nvSpPr>
          <p:spPr>
            <a:xfrm flipV="1">
              <a:off x="57150" y="1254164"/>
              <a:ext cx="6055171" cy="448083"/>
            </a:xfrm>
            <a:prstGeom prst="line">
              <a:avLst/>
            </a:prstGeom>
            <a:ln w="114300" cap="flat">
              <a:solidFill>
                <a:srgbClr val="479254"/>
              </a:solidFill>
              <a:prstDash val="sysDash"/>
              <a:headEnd type="none" w="sm" len="sm"/>
              <a:tailEnd type="none" w="sm" len="sm"/>
            </a:ln>
          </p:spPr>
          <p:txBody>
            <a:bodyPr/>
            <a:lstStyle/>
            <a:p>
              <a:endParaRPr lang="pt-BR"/>
            </a:p>
          </p:txBody>
        </p:sp>
        <p:sp>
          <p:nvSpPr>
            <p:cNvPr id="6" name="AutoShape 6"/>
            <p:cNvSpPr/>
            <p:nvPr/>
          </p:nvSpPr>
          <p:spPr>
            <a:xfrm flipV="1">
              <a:off x="57150" y="1702247"/>
              <a:ext cx="6055171" cy="73461"/>
            </a:xfrm>
            <a:prstGeom prst="line">
              <a:avLst/>
            </a:prstGeom>
            <a:ln w="114300" cap="flat">
              <a:solidFill>
                <a:srgbClr val="479254"/>
              </a:solidFill>
              <a:prstDash val="sysDash"/>
              <a:headEnd type="none" w="sm" len="sm"/>
              <a:tailEnd type="none" w="sm" len="sm"/>
            </a:ln>
          </p:spPr>
          <p:txBody>
            <a:bodyPr/>
            <a:lstStyle/>
            <a:p>
              <a:endParaRPr lang="pt-BR"/>
            </a:p>
          </p:txBody>
        </p:sp>
      </p:grpSp>
      <p:sp>
        <p:nvSpPr>
          <p:cNvPr id="7" name="TextBox 7"/>
          <p:cNvSpPr txBox="1"/>
          <p:nvPr/>
        </p:nvSpPr>
        <p:spPr>
          <a:xfrm>
            <a:off x="12718256" y="3204448"/>
            <a:ext cx="3221230" cy="2212080"/>
          </a:xfrm>
          <a:prstGeom prst="rect">
            <a:avLst/>
          </a:prstGeom>
        </p:spPr>
        <p:txBody>
          <a:bodyPr lIns="0" tIns="0" rIns="0" bIns="0" rtlCol="0" anchor="t">
            <a:spAutoFit/>
          </a:bodyPr>
          <a:lstStyle/>
          <a:p>
            <a:pPr algn="ctr">
              <a:lnSpc>
                <a:spcPts val="5880"/>
              </a:lnSpc>
            </a:pPr>
            <a:r>
              <a:rPr lang="en-US" sz="4400" spc="319">
                <a:solidFill>
                  <a:srgbClr val="DB6313"/>
                </a:solidFill>
                <a:latin typeface="Clear Sans"/>
                <a:ea typeface="Clear Sans"/>
                <a:cs typeface="Clear Sans"/>
                <a:sym typeface="Clear Sans"/>
              </a:rPr>
              <a:t>13.632</a:t>
            </a:r>
          </a:p>
          <a:p>
            <a:pPr algn="ctr">
              <a:lnSpc>
                <a:spcPts val="5880"/>
              </a:lnSpc>
            </a:pPr>
            <a:endParaRPr lang="en-US" sz="4400" spc="319">
              <a:solidFill>
                <a:srgbClr val="DB6313"/>
              </a:solidFill>
              <a:latin typeface="Clear Sans"/>
              <a:ea typeface="Clear Sans"/>
              <a:cs typeface="Clear Sans"/>
              <a:sym typeface="Clear Sans"/>
            </a:endParaRPr>
          </a:p>
          <a:p>
            <a:pPr algn="ctr">
              <a:lnSpc>
                <a:spcPts val="5880"/>
              </a:lnSpc>
            </a:pPr>
            <a:r>
              <a:rPr lang="en-US" sz="4400" spc="319" err="1">
                <a:solidFill>
                  <a:srgbClr val="DB6313"/>
                </a:solidFill>
                <a:latin typeface="Clear Sans"/>
                <a:ea typeface="Clear Sans"/>
                <a:cs typeface="Clear Sans"/>
                <a:sym typeface="Clear Sans"/>
              </a:rPr>
              <a:t>presenças</a:t>
            </a:r>
            <a:r>
              <a:rPr lang="en-US" sz="4400" spc="319">
                <a:solidFill>
                  <a:srgbClr val="DB6313"/>
                </a:solidFill>
                <a:latin typeface="Clear Sans"/>
                <a:ea typeface="Clear Sans"/>
                <a:cs typeface="Clear Sans"/>
                <a:sym typeface="Clear Sans"/>
              </a:rPr>
              <a:t> </a:t>
            </a:r>
          </a:p>
        </p:txBody>
      </p:sp>
      <p:sp>
        <p:nvSpPr>
          <p:cNvPr id="8" name="Freeform 8"/>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3"/>
            <a:stretch>
              <a:fillRect/>
            </a:stretch>
          </a:blipFill>
        </p:spPr>
        <p:txBody>
          <a:bodyPr/>
          <a:lstStyle/>
          <a:p>
            <a:endParaRPr lang="pt-B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8B1A7"/>
        </a:solidFill>
        <a:effectLst/>
      </p:bgPr>
    </p:bg>
    <p:spTree>
      <p:nvGrpSpPr>
        <p:cNvPr id="1" name=""/>
        <p:cNvGrpSpPr/>
        <p:nvPr/>
      </p:nvGrpSpPr>
      <p:grpSpPr>
        <a:xfrm>
          <a:off x="0" y="0"/>
          <a:ext cx="0" cy="0"/>
          <a:chOff x="0" y="0"/>
          <a:chExt cx="0" cy="0"/>
        </a:xfrm>
      </p:grpSpPr>
      <p:sp>
        <p:nvSpPr>
          <p:cNvPr id="2" name="Freeform 2"/>
          <p:cNvSpPr/>
          <p:nvPr/>
        </p:nvSpPr>
        <p:spPr>
          <a:xfrm>
            <a:off x="11067812" y="1028700"/>
            <a:ext cx="6191488" cy="8229600"/>
          </a:xfrm>
          <a:custGeom>
            <a:avLst/>
            <a:gdLst/>
            <a:ahLst/>
            <a:cxnLst/>
            <a:rect l="l" t="t" r="r" b="b"/>
            <a:pathLst>
              <a:path w="6191488" h="8229600">
                <a:moveTo>
                  <a:pt x="0" y="0"/>
                </a:moveTo>
                <a:lnTo>
                  <a:pt x="6191488" y="0"/>
                </a:lnTo>
                <a:lnTo>
                  <a:pt x="6191488" y="8229600"/>
                </a:lnTo>
                <a:lnTo>
                  <a:pt x="0" y="8229600"/>
                </a:lnTo>
                <a:lnTo>
                  <a:pt x="0" y="0"/>
                </a:lnTo>
                <a:close/>
              </a:path>
            </a:pathLst>
          </a:custGeom>
          <a:blipFill>
            <a:blip r:embed="rId2"/>
            <a:stretch>
              <a:fillRect/>
            </a:stretch>
          </a:blipFill>
        </p:spPr>
        <p:txBody>
          <a:bodyPr/>
          <a:lstStyle/>
          <a:p>
            <a:endParaRPr lang="pt-BR"/>
          </a:p>
        </p:txBody>
      </p:sp>
      <p:sp>
        <p:nvSpPr>
          <p:cNvPr id="3" name="TextBox 3"/>
          <p:cNvSpPr txBox="1"/>
          <p:nvPr/>
        </p:nvSpPr>
        <p:spPr>
          <a:xfrm>
            <a:off x="1028700" y="2460400"/>
            <a:ext cx="9278332" cy="6273562"/>
          </a:xfrm>
          <a:prstGeom prst="rect">
            <a:avLst/>
          </a:prstGeom>
        </p:spPr>
        <p:txBody>
          <a:bodyPr lIns="0" tIns="0" rIns="0" bIns="0" rtlCol="0" anchor="t">
            <a:spAutoFit/>
          </a:bodyPr>
          <a:lstStyle/>
          <a:p>
            <a:pPr algn="ctr">
              <a:lnSpc>
                <a:spcPts val="4169"/>
              </a:lnSpc>
              <a:spcBef>
                <a:spcPct val="0"/>
              </a:spcBef>
            </a:pPr>
            <a:r>
              <a:rPr lang="en-US" sz="2978" spc="226">
                <a:solidFill>
                  <a:srgbClr val="000000"/>
                </a:solidFill>
                <a:latin typeface="Open Sans"/>
                <a:ea typeface="Open Sans"/>
                <a:cs typeface="Open Sans"/>
                <a:sym typeface="Open Sans"/>
              </a:rPr>
              <a:t>Maior volume de sessões: Oficina (59 sessões) </a:t>
            </a:r>
          </a:p>
          <a:p>
            <a:pPr algn="ctr">
              <a:lnSpc>
                <a:spcPts val="4169"/>
              </a:lnSpc>
              <a:spcBef>
                <a:spcPct val="0"/>
              </a:spcBef>
            </a:pPr>
            <a:r>
              <a:rPr lang="en-US" sz="2978" spc="226">
                <a:solidFill>
                  <a:srgbClr val="000000"/>
                </a:solidFill>
                <a:latin typeface="Open Sans"/>
                <a:ea typeface="Open Sans"/>
                <a:cs typeface="Open Sans"/>
                <a:sym typeface="Open Sans"/>
              </a:rPr>
              <a:t> </a:t>
            </a:r>
          </a:p>
          <a:p>
            <a:pPr algn="ctr">
              <a:lnSpc>
                <a:spcPts val="4169"/>
              </a:lnSpc>
              <a:spcBef>
                <a:spcPct val="0"/>
              </a:spcBef>
            </a:pPr>
            <a:r>
              <a:rPr lang="en-US" sz="2978" spc="226">
                <a:solidFill>
                  <a:srgbClr val="000000"/>
                </a:solidFill>
                <a:latin typeface="Open Sans"/>
                <a:ea typeface="Open Sans"/>
                <a:cs typeface="Open Sans"/>
                <a:sym typeface="Open Sans"/>
              </a:rPr>
              <a:t>Bloco intermediário (4–6 ações): Bate-papo, intervenção, vivência, exibição — juntos somam 18 ações (aprox. 30% do total), compondo boa parte da diversidade de formatos. </a:t>
            </a:r>
          </a:p>
          <a:p>
            <a:pPr algn="ctr">
              <a:lnSpc>
                <a:spcPts val="4169"/>
              </a:lnSpc>
              <a:spcBef>
                <a:spcPct val="0"/>
              </a:spcBef>
            </a:pPr>
            <a:endParaRPr lang="en-US" sz="2978" spc="226">
              <a:solidFill>
                <a:srgbClr val="000000"/>
              </a:solidFill>
              <a:latin typeface="Open Sans"/>
              <a:ea typeface="Open Sans"/>
              <a:cs typeface="Open Sans"/>
              <a:sym typeface="Open Sans"/>
            </a:endParaRPr>
          </a:p>
          <a:p>
            <a:pPr algn="ctr">
              <a:lnSpc>
                <a:spcPts val="4169"/>
              </a:lnSpc>
              <a:spcBef>
                <a:spcPct val="0"/>
              </a:spcBef>
            </a:pPr>
            <a:r>
              <a:rPr lang="en-US" sz="2978" spc="226">
                <a:solidFill>
                  <a:srgbClr val="000000"/>
                </a:solidFill>
                <a:latin typeface="Open Sans"/>
                <a:ea typeface="Open Sans"/>
                <a:cs typeface="Open Sans"/>
                <a:sym typeface="Open Sans"/>
              </a:rPr>
              <a:t>Demais formatos (espetáculo, show, performance, curso, etc.) aparecem de forma pontual, mas com alto alcance por sessão. </a:t>
            </a:r>
          </a:p>
        </p:txBody>
      </p:sp>
      <p:sp>
        <p:nvSpPr>
          <p:cNvPr id="4" name="TextBox 4"/>
          <p:cNvSpPr txBox="1"/>
          <p:nvPr/>
        </p:nvSpPr>
        <p:spPr>
          <a:xfrm>
            <a:off x="1078751" y="419417"/>
            <a:ext cx="5398249" cy="1094740"/>
          </a:xfrm>
          <a:prstGeom prst="rect">
            <a:avLst/>
          </a:prstGeom>
        </p:spPr>
        <p:txBody>
          <a:bodyPr wrap="square" lIns="0" tIns="0" rIns="0" bIns="0" rtlCol="0" anchor="t">
            <a:spAutoFit/>
          </a:bodyPr>
          <a:lstStyle/>
          <a:p>
            <a:pPr algn="r">
              <a:lnSpc>
                <a:spcPts val="8959"/>
              </a:lnSpc>
            </a:pPr>
            <a:r>
              <a:rPr lang="en-US" sz="6399" b="1" spc="486">
                <a:solidFill>
                  <a:srgbClr val="DB6313"/>
                </a:solidFill>
                <a:latin typeface="Clear Sans Bold"/>
                <a:ea typeface="Clear Sans Bold"/>
                <a:cs typeface="Clear Sans Bold"/>
                <a:sym typeface="Clear Sans Bold"/>
              </a:rPr>
              <a:t>FORMATOS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grpSp>
        <p:nvGrpSpPr>
          <p:cNvPr id="2" name="Group 2"/>
          <p:cNvGrpSpPr/>
          <p:nvPr/>
        </p:nvGrpSpPr>
        <p:grpSpPr>
          <a:xfrm>
            <a:off x="6924679" y="3790479"/>
            <a:ext cx="11363321" cy="3628564"/>
            <a:chOff x="0" y="0"/>
            <a:chExt cx="2992809" cy="955671"/>
          </a:xfrm>
        </p:grpSpPr>
        <p:sp>
          <p:nvSpPr>
            <p:cNvPr id="3" name="Freeform 3"/>
            <p:cNvSpPr/>
            <p:nvPr/>
          </p:nvSpPr>
          <p:spPr>
            <a:xfrm>
              <a:off x="0" y="0"/>
              <a:ext cx="2992809" cy="955671"/>
            </a:xfrm>
            <a:custGeom>
              <a:avLst/>
              <a:gdLst/>
              <a:ahLst/>
              <a:cxnLst/>
              <a:rect l="l" t="t" r="r" b="b"/>
              <a:pathLst>
                <a:path w="2992809" h="955671">
                  <a:moveTo>
                    <a:pt x="0" y="0"/>
                  </a:moveTo>
                  <a:lnTo>
                    <a:pt x="2992809" y="0"/>
                  </a:lnTo>
                  <a:lnTo>
                    <a:pt x="2992809" y="955671"/>
                  </a:lnTo>
                  <a:lnTo>
                    <a:pt x="0" y="955671"/>
                  </a:lnTo>
                  <a:close/>
                </a:path>
              </a:pathLst>
            </a:custGeom>
            <a:solidFill>
              <a:srgbClr val="DB6313"/>
            </a:solidFill>
          </p:spPr>
          <p:txBody>
            <a:bodyPr/>
            <a:lstStyle/>
            <a:p>
              <a:endParaRPr lang="pt-BR"/>
            </a:p>
          </p:txBody>
        </p:sp>
        <p:sp>
          <p:nvSpPr>
            <p:cNvPr id="4" name="TextBox 4"/>
            <p:cNvSpPr txBox="1"/>
            <p:nvPr/>
          </p:nvSpPr>
          <p:spPr>
            <a:xfrm>
              <a:off x="0" y="-38100"/>
              <a:ext cx="2992809" cy="993771"/>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flipV="1">
            <a:off x="9859095" y="3246714"/>
            <a:ext cx="33825" cy="4606511"/>
          </a:xfrm>
          <a:prstGeom prst="line">
            <a:avLst/>
          </a:prstGeom>
          <a:ln w="161925" cap="flat">
            <a:solidFill>
              <a:srgbClr val="ECD8BB"/>
            </a:solidFill>
            <a:prstDash val="sysDash"/>
            <a:headEnd type="none" w="sm" len="sm"/>
            <a:tailEnd type="none" w="sm" len="sm"/>
          </a:ln>
        </p:spPr>
        <p:txBody>
          <a:bodyPr/>
          <a:lstStyle/>
          <a:p>
            <a:endParaRPr lang="pt-BR"/>
          </a:p>
        </p:txBody>
      </p:sp>
      <p:sp>
        <p:nvSpPr>
          <p:cNvPr id="6" name="Freeform 6"/>
          <p:cNvSpPr/>
          <p:nvPr/>
        </p:nvSpPr>
        <p:spPr>
          <a:xfrm>
            <a:off x="-157428" y="168052"/>
            <a:ext cx="9108433" cy="8389347"/>
          </a:xfrm>
          <a:custGeom>
            <a:avLst/>
            <a:gdLst/>
            <a:ahLst/>
            <a:cxnLst/>
            <a:rect l="l" t="t" r="r" b="b"/>
            <a:pathLst>
              <a:path w="9108433" h="8389347">
                <a:moveTo>
                  <a:pt x="0" y="0"/>
                </a:moveTo>
                <a:lnTo>
                  <a:pt x="9108434" y="0"/>
                </a:lnTo>
                <a:lnTo>
                  <a:pt x="9108434" y="8389347"/>
                </a:lnTo>
                <a:lnTo>
                  <a:pt x="0" y="8389347"/>
                </a:lnTo>
                <a:lnTo>
                  <a:pt x="0" y="0"/>
                </a:lnTo>
                <a:close/>
              </a:path>
            </a:pathLst>
          </a:custGeom>
          <a:blipFill>
            <a:blip r:embed="rId2"/>
            <a:stretch>
              <a:fillRect/>
            </a:stretch>
          </a:blipFill>
        </p:spPr>
        <p:txBody>
          <a:bodyPr/>
          <a:lstStyle/>
          <a:p>
            <a:endParaRPr lang="pt-BR"/>
          </a:p>
        </p:txBody>
      </p:sp>
      <p:sp>
        <p:nvSpPr>
          <p:cNvPr id="7" name="TextBox 7"/>
          <p:cNvSpPr txBox="1"/>
          <p:nvPr/>
        </p:nvSpPr>
        <p:spPr>
          <a:xfrm>
            <a:off x="10524843" y="3939543"/>
            <a:ext cx="7122749" cy="3179572"/>
          </a:xfrm>
          <a:prstGeom prst="rect">
            <a:avLst/>
          </a:prstGeom>
        </p:spPr>
        <p:txBody>
          <a:bodyPr lIns="0" tIns="0" rIns="0" bIns="0" rtlCol="0" anchor="t">
            <a:spAutoFit/>
          </a:bodyPr>
          <a:lstStyle/>
          <a:p>
            <a:pPr algn="just">
              <a:lnSpc>
                <a:spcPts val="6523"/>
              </a:lnSpc>
            </a:pPr>
            <a:r>
              <a:rPr lang="en-US" sz="2799" spc="212">
                <a:solidFill>
                  <a:srgbClr val="ECD8BB"/>
                </a:solidFill>
                <a:latin typeface="Clear Sans"/>
                <a:ea typeface="Clear Sans"/>
                <a:cs typeface="Clear Sans"/>
                <a:sym typeface="Clear Sans"/>
              </a:rPr>
              <a:t>1 Coordenadora</a:t>
            </a:r>
          </a:p>
          <a:p>
            <a:pPr algn="just">
              <a:lnSpc>
                <a:spcPts val="6523"/>
              </a:lnSpc>
            </a:pPr>
            <a:r>
              <a:rPr lang="en-US" sz="2799" spc="212">
                <a:solidFill>
                  <a:srgbClr val="ECD8BB"/>
                </a:solidFill>
                <a:latin typeface="Clear Sans"/>
                <a:ea typeface="Clear Sans"/>
                <a:cs typeface="Clear Sans"/>
                <a:sym typeface="Clear Sans"/>
              </a:rPr>
              <a:t>2 Supervisores</a:t>
            </a:r>
          </a:p>
          <a:p>
            <a:pPr algn="just">
              <a:lnSpc>
                <a:spcPts val="6523"/>
              </a:lnSpc>
            </a:pPr>
            <a:r>
              <a:rPr lang="en-US" sz="2799" spc="212">
                <a:solidFill>
                  <a:srgbClr val="ECD8BB"/>
                </a:solidFill>
                <a:latin typeface="Clear Sans"/>
                <a:ea typeface="Clear Sans"/>
                <a:cs typeface="Clear Sans"/>
                <a:sym typeface="Clear Sans"/>
              </a:rPr>
              <a:t>4 Facilitadores/educadores formados</a:t>
            </a:r>
          </a:p>
          <a:p>
            <a:pPr algn="just">
              <a:lnSpc>
                <a:spcPts val="6523"/>
              </a:lnSpc>
            </a:pPr>
            <a:r>
              <a:rPr lang="en-US" sz="2799" spc="212">
                <a:solidFill>
                  <a:srgbClr val="ECD8BB"/>
                </a:solidFill>
                <a:latin typeface="Clear Sans"/>
                <a:ea typeface="Clear Sans"/>
                <a:cs typeface="Clear Sans"/>
                <a:sym typeface="Clear Sans"/>
              </a:rPr>
              <a:t>6 Estagiários</a:t>
            </a:r>
          </a:p>
        </p:txBody>
      </p:sp>
      <p:sp>
        <p:nvSpPr>
          <p:cNvPr id="8" name="TextBox 8"/>
          <p:cNvSpPr txBox="1"/>
          <p:nvPr/>
        </p:nvSpPr>
        <p:spPr>
          <a:xfrm>
            <a:off x="12248108" y="904875"/>
            <a:ext cx="5011192" cy="2228215"/>
          </a:xfrm>
          <a:prstGeom prst="rect">
            <a:avLst/>
          </a:prstGeom>
        </p:spPr>
        <p:txBody>
          <a:bodyPr lIns="0" tIns="0" rIns="0" bIns="0" rtlCol="0" anchor="t">
            <a:spAutoFit/>
          </a:bodyPr>
          <a:lstStyle/>
          <a:p>
            <a:pPr algn="r">
              <a:lnSpc>
                <a:spcPts val="8959"/>
              </a:lnSpc>
            </a:pPr>
            <a:r>
              <a:rPr lang="en-US" sz="6399" b="1" spc="486">
                <a:solidFill>
                  <a:srgbClr val="479254"/>
                </a:solidFill>
                <a:latin typeface="Clear Sans Bold"/>
                <a:ea typeface="Clear Sans Bold"/>
                <a:cs typeface="Clear Sans Bold"/>
                <a:sym typeface="Clear Sans Bold"/>
              </a:rPr>
              <a:t>EQUIPE</a:t>
            </a:r>
          </a:p>
          <a:p>
            <a:pPr algn="r">
              <a:lnSpc>
                <a:spcPts val="8959"/>
              </a:lnSpc>
            </a:pPr>
            <a:r>
              <a:rPr lang="en-US" sz="6399" b="1" spc="486">
                <a:solidFill>
                  <a:srgbClr val="479254"/>
                </a:solidFill>
                <a:latin typeface="Clear Sans Bold"/>
                <a:ea typeface="Clear Sans Bold"/>
                <a:cs typeface="Clear Sans Bold"/>
                <a:sym typeface="Clear Sans Bold"/>
              </a:rPr>
              <a:t>EDUCATIVA</a:t>
            </a:r>
          </a:p>
        </p:txBody>
      </p:sp>
      <p:sp>
        <p:nvSpPr>
          <p:cNvPr id="9" name="TextBox 9"/>
          <p:cNvSpPr txBox="1"/>
          <p:nvPr/>
        </p:nvSpPr>
        <p:spPr>
          <a:xfrm>
            <a:off x="1247401" y="9052699"/>
            <a:ext cx="15793197" cy="878335"/>
          </a:xfrm>
          <a:prstGeom prst="rect">
            <a:avLst/>
          </a:prstGeom>
        </p:spPr>
        <p:txBody>
          <a:bodyPr lIns="0" tIns="0" rIns="0" bIns="0" rtlCol="0" anchor="t">
            <a:spAutoFit/>
          </a:bodyPr>
          <a:lstStyle/>
          <a:p>
            <a:pPr algn="ctr">
              <a:lnSpc>
                <a:spcPts val="3562"/>
              </a:lnSpc>
            </a:pPr>
            <a:r>
              <a:rPr lang="en-US" sz="2544" b="1" spc="193">
                <a:solidFill>
                  <a:srgbClr val="479254"/>
                </a:solidFill>
                <a:latin typeface="Clear Sans Bold"/>
                <a:ea typeface="Clear Sans Bold"/>
                <a:cs typeface="Clear Sans Bold"/>
                <a:sym typeface="Clear Sans Bold"/>
              </a:rPr>
              <a:t>FORMAÇÃO EDUCATIVA INICIAL</a:t>
            </a:r>
          </a:p>
          <a:p>
            <a:pPr algn="ctr">
              <a:lnSpc>
                <a:spcPts val="3562"/>
              </a:lnSpc>
            </a:pPr>
            <a:r>
              <a:rPr lang="en-US" sz="2544" spc="193">
                <a:solidFill>
                  <a:srgbClr val="479254"/>
                </a:solidFill>
                <a:latin typeface="Clear Sans"/>
                <a:ea typeface="Clear Sans"/>
                <a:cs typeface="Clear Sans"/>
                <a:sym typeface="Clear Sans"/>
              </a:rPr>
              <a:t> Coordenação 15 dias | 75 horas Sesc 7 dias | 35 horas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Freeform 2"/>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3" name="Freeform 3"/>
          <p:cNvSpPr/>
          <p:nvPr/>
        </p:nvSpPr>
        <p:spPr>
          <a:xfrm>
            <a:off x="611557" y="994116"/>
            <a:ext cx="10003046" cy="7502284"/>
          </a:xfrm>
          <a:custGeom>
            <a:avLst/>
            <a:gdLst/>
            <a:ahLst/>
            <a:cxnLst/>
            <a:rect l="l" t="t" r="r" b="b"/>
            <a:pathLst>
              <a:path w="10003046" h="7502284">
                <a:moveTo>
                  <a:pt x="0" y="0"/>
                </a:moveTo>
                <a:lnTo>
                  <a:pt x="10003046" y="0"/>
                </a:lnTo>
                <a:lnTo>
                  <a:pt x="10003046" y="7502285"/>
                </a:lnTo>
                <a:lnTo>
                  <a:pt x="0" y="7502285"/>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12710368" y="904875"/>
            <a:ext cx="4548932"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AÇÕES</a:t>
            </a:r>
          </a:p>
          <a:p>
            <a:pPr algn="r">
              <a:lnSpc>
                <a:spcPts val="8959"/>
              </a:lnSpc>
            </a:pPr>
            <a:r>
              <a:rPr lang="en-US" sz="6399" b="1" spc="486">
                <a:solidFill>
                  <a:srgbClr val="ECD8BB"/>
                </a:solidFill>
                <a:latin typeface="Clear Sans Bold"/>
                <a:ea typeface="Clear Sans Bold"/>
                <a:cs typeface="Clear Sans Bold"/>
                <a:sym typeface="Clear Sans Bold"/>
              </a:rPr>
              <a:t>MEDIADAS</a:t>
            </a:r>
          </a:p>
        </p:txBody>
      </p:sp>
      <p:sp>
        <p:nvSpPr>
          <p:cNvPr id="5" name="TextBox 5"/>
          <p:cNvSpPr txBox="1"/>
          <p:nvPr/>
        </p:nvSpPr>
        <p:spPr>
          <a:xfrm>
            <a:off x="11505987" y="4440926"/>
            <a:ext cx="5872142" cy="2980690"/>
          </a:xfrm>
          <a:prstGeom prst="rect">
            <a:avLst/>
          </a:prstGeom>
        </p:spPr>
        <p:txBody>
          <a:bodyPr lIns="0" tIns="0" rIns="0" bIns="0" rtlCol="0" anchor="t">
            <a:spAutoFit/>
          </a:bodyPr>
          <a:lstStyle/>
          <a:p>
            <a:pPr algn="ctr">
              <a:lnSpc>
                <a:spcPts val="4759"/>
              </a:lnSpc>
            </a:pPr>
            <a:r>
              <a:rPr lang="en-US" sz="3399">
                <a:solidFill>
                  <a:srgbClr val="ECD8BB"/>
                </a:solidFill>
                <a:latin typeface="Open Sans"/>
                <a:ea typeface="Open Sans"/>
                <a:cs typeface="Open Sans"/>
                <a:sym typeface="Open Sans"/>
              </a:rPr>
              <a:t>Maior volume de ações: Ações mediadas (28,8% do total) realizadas predominantemente pela equipe do educativa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8307814" y="1783535"/>
            <a:ext cx="11763721" cy="8196652"/>
            <a:chOff x="0" y="0"/>
            <a:chExt cx="3098264" cy="2158789"/>
          </a:xfrm>
        </p:grpSpPr>
        <p:sp>
          <p:nvSpPr>
            <p:cNvPr id="3" name="Freeform 3"/>
            <p:cNvSpPr/>
            <p:nvPr/>
          </p:nvSpPr>
          <p:spPr>
            <a:xfrm>
              <a:off x="0" y="0"/>
              <a:ext cx="3098264" cy="2158789"/>
            </a:xfrm>
            <a:custGeom>
              <a:avLst/>
              <a:gdLst/>
              <a:ahLst/>
              <a:cxnLst/>
              <a:rect l="l" t="t" r="r" b="b"/>
              <a:pathLst>
                <a:path w="3098264" h="2158789">
                  <a:moveTo>
                    <a:pt x="0" y="0"/>
                  </a:moveTo>
                  <a:lnTo>
                    <a:pt x="3098264" y="0"/>
                  </a:lnTo>
                  <a:lnTo>
                    <a:pt x="3098264" y="2158789"/>
                  </a:lnTo>
                  <a:lnTo>
                    <a:pt x="0" y="2158789"/>
                  </a:lnTo>
                  <a:close/>
                </a:path>
              </a:pathLst>
            </a:custGeom>
            <a:solidFill>
              <a:srgbClr val="DB6313"/>
            </a:solidFill>
          </p:spPr>
          <p:txBody>
            <a:bodyPr/>
            <a:lstStyle/>
            <a:p>
              <a:endParaRPr lang="pt-BR"/>
            </a:p>
          </p:txBody>
        </p:sp>
        <p:sp>
          <p:nvSpPr>
            <p:cNvPr id="4" name="TextBox 4"/>
            <p:cNvSpPr txBox="1"/>
            <p:nvPr/>
          </p:nvSpPr>
          <p:spPr>
            <a:xfrm>
              <a:off x="0" y="-38100"/>
              <a:ext cx="3098264" cy="219688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586930" y="941314"/>
            <a:ext cx="8671259" cy="3594249"/>
          </a:xfrm>
          <a:custGeom>
            <a:avLst/>
            <a:gdLst/>
            <a:ahLst/>
            <a:cxnLst/>
            <a:rect l="l" t="t" r="r" b="b"/>
            <a:pathLst>
              <a:path w="8671259" h="3594249">
                <a:moveTo>
                  <a:pt x="0" y="0"/>
                </a:moveTo>
                <a:lnTo>
                  <a:pt x="8671259" y="0"/>
                </a:lnTo>
                <a:lnTo>
                  <a:pt x="8671259" y="3594249"/>
                </a:lnTo>
                <a:lnTo>
                  <a:pt x="0" y="3594249"/>
                </a:lnTo>
                <a:lnTo>
                  <a:pt x="0" y="0"/>
                </a:lnTo>
                <a:close/>
              </a:path>
            </a:pathLst>
          </a:custGeom>
          <a:blipFill>
            <a:blip r:embed="rId2"/>
            <a:stretch>
              <a:fillRect l="-13710" t="-10169" r="-10823" b="-24153"/>
            </a:stretch>
          </a:blipFill>
        </p:spPr>
        <p:txBody>
          <a:bodyPr/>
          <a:lstStyle/>
          <a:p>
            <a:endParaRPr lang="pt-BR"/>
          </a:p>
        </p:txBody>
      </p:sp>
      <p:sp>
        <p:nvSpPr>
          <p:cNvPr id="6" name="Freeform 6"/>
          <p:cNvSpPr/>
          <p:nvPr/>
        </p:nvSpPr>
        <p:spPr>
          <a:xfrm>
            <a:off x="586930" y="5413540"/>
            <a:ext cx="8671259" cy="3678716"/>
          </a:xfrm>
          <a:custGeom>
            <a:avLst/>
            <a:gdLst/>
            <a:ahLst/>
            <a:cxnLst/>
            <a:rect l="l" t="t" r="r" b="b"/>
            <a:pathLst>
              <a:path w="8671259" h="3678716">
                <a:moveTo>
                  <a:pt x="0" y="0"/>
                </a:moveTo>
                <a:lnTo>
                  <a:pt x="8671259" y="0"/>
                </a:lnTo>
                <a:lnTo>
                  <a:pt x="8671259" y="3678716"/>
                </a:lnTo>
                <a:lnTo>
                  <a:pt x="0" y="3678716"/>
                </a:lnTo>
                <a:lnTo>
                  <a:pt x="0" y="0"/>
                </a:lnTo>
                <a:close/>
              </a:path>
            </a:pathLst>
          </a:custGeom>
          <a:blipFill>
            <a:blip r:embed="rId3"/>
            <a:stretch>
              <a:fillRect/>
            </a:stretch>
          </a:blipFill>
        </p:spPr>
        <p:txBody>
          <a:bodyPr/>
          <a:lstStyle/>
          <a:p>
            <a:endParaRPr lang="pt-BR"/>
          </a:p>
        </p:txBody>
      </p:sp>
      <p:sp>
        <p:nvSpPr>
          <p:cNvPr id="7" name="Freeform 7"/>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4"/>
            <a:stretch>
              <a:fillRect/>
            </a:stretch>
          </a:blipFill>
        </p:spPr>
        <p:txBody>
          <a:bodyPr/>
          <a:lstStyle/>
          <a:p>
            <a:endParaRPr lang="pt-BR"/>
          </a:p>
        </p:txBody>
      </p:sp>
      <p:sp>
        <p:nvSpPr>
          <p:cNvPr id="8" name="TextBox 8"/>
          <p:cNvSpPr txBox="1"/>
          <p:nvPr/>
        </p:nvSpPr>
        <p:spPr>
          <a:xfrm>
            <a:off x="12241758" y="904875"/>
            <a:ext cx="5017542" cy="2228215"/>
          </a:xfrm>
          <a:prstGeom prst="rect">
            <a:avLst/>
          </a:prstGeom>
        </p:spPr>
        <p:txBody>
          <a:bodyPr wrap="square"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PROCESSO</a:t>
            </a:r>
          </a:p>
          <a:p>
            <a:pPr algn="r">
              <a:lnSpc>
                <a:spcPts val="8959"/>
              </a:lnSpc>
            </a:pPr>
            <a:r>
              <a:rPr lang="en-US" sz="6399" b="1" spc="486">
                <a:solidFill>
                  <a:srgbClr val="ECD8BB"/>
                </a:solidFill>
                <a:latin typeface="Clear Sans Bold"/>
                <a:ea typeface="Clear Sans Bold"/>
                <a:cs typeface="Clear Sans Bold"/>
                <a:sym typeface="Clear Sans Bold"/>
              </a:rPr>
              <a:t>SELETIVO</a:t>
            </a:r>
          </a:p>
        </p:txBody>
      </p:sp>
      <p:sp>
        <p:nvSpPr>
          <p:cNvPr id="9" name="TextBox 9"/>
          <p:cNvSpPr txBox="1"/>
          <p:nvPr/>
        </p:nvSpPr>
        <p:spPr>
          <a:xfrm>
            <a:off x="11207783" y="4160679"/>
            <a:ext cx="5963782" cy="4612640"/>
          </a:xfrm>
          <a:prstGeom prst="rect">
            <a:avLst/>
          </a:prstGeom>
        </p:spPr>
        <p:txBody>
          <a:bodyPr lIns="0" tIns="0" rIns="0" bIns="0" rtlCol="0" anchor="t">
            <a:spAutoFit/>
          </a:bodyPr>
          <a:lstStyle/>
          <a:p>
            <a:pPr algn="ctr">
              <a:lnSpc>
                <a:spcPts val="4060"/>
              </a:lnSpc>
            </a:pPr>
            <a:r>
              <a:rPr lang="en-US" sz="2900">
                <a:solidFill>
                  <a:srgbClr val="000000"/>
                </a:solidFill>
                <a:latin typeface="Open Sans"/>
                <a:ea typeface="Open Sans"/>
                <a:cs typeface="Open Sans"/>
                <a:sym typeface="Open Sans"/>
              </a:rPr>
              <a:t>Mais de 800 currículos recebidos </a:t>
            </a:r>
          </a:p>
          <a:p>
            <a:pPr algn="ctr">
              <a:lnSpc>
                <a:spcPts val="4060"/>
              </a:lnSpc>
            </a:pPr>
            <a:endParaRPr lang="en-US" sz="2900">
              <a:solidFill>
                <a:srgbClr val="000000"/>
              </a:solidFill>
              <a:latin typeface="Open Sans"/>
              <a:ea typeface="Open Sans"/>
              <a:cs typeface="Open Sans"/>
              <a:sym typeface="Open Sans"/>
            </a:endParaRPr>
          </a:p>
          <a:p>
            <a:pPr algn="ctr">
              <a:lnSpc>
                <a:spcPts val="4060"/>
              </a:lnSpc>
            </a:pPr>
            <a:r>
              <a:rPr lang="en-US" sz="2900" b="1">
                <a:solidFill>
                  <a:srgbClr val="000000"/>
                </a:solidFill>
                <a:latin typeface="Open Sans Bold"/>
                <a:ea typeface="Open Sans Bold"/>
                <a:cs typeface="Open Sans Bold"/>
                <a:sym typeface="Open Sans Bold"/>
              </a:rPr>
              <a:t>1ª fase: Avaliação Escrita</a:t>
            </a:r>
          </a:p>
          <a:p>
            <a:pPr algn="ctr">
              <a:lnSpc>
                <a:spcPts val="4060"/>
              </a:lnSpc>
            </a:pPr>
            <a:r>
              <a:rPr lang="en-US" sz="2900">
                <a:solidFill>
                  <a:srgbClr val="000000"/>
                </a:solidFill>
                <a:latin typeface="Open Sans"/>
                <a:ea typeface="Open Sans"/>
                <a:cs typeface="Open Sans"/>
                <a:sym typeface="Open Sans"/>
              </a:rPr>
              <a:t>100 candidatos convocados</a:t>
            </a:r>
          </a:p>
          <a:p>
            <a:pPr algn="ctr">
              <a:lnSpc>
                <a:spcPts val="4060"/>
              </a:lnSpc>
            </a:pPr>
            <a:endParaRPr lang="en-US" sz="2900">
              <a:solidFill>
                <a:srgbClr val="000000"/>
              </a:solidFill>
              <a:latin typeface="Open Sans"/>
              <a:ea typeface="Open Sans"/>
              <a:cs typeface="Open Sans"/>
              <a:sym typeface="Open Sans"/>
            </a:endParaRPr>
          </a:p>
          <a:p>
            <a:pPr algn="ctr">
              <a:lnSpc>
                <a:spcPts val="4060"/>
              </a:lnSpc>
            </a:pPr>
            <a:r>
              <a:rPr lang="en-US" sz="2900" b="1">
                <a:solidFill>
                  <a:srgbClr val="000000"/>
                </a:solidFill>
                <a:latin typeface="Open Sans Bold"/>
                <a:ea typeface="Open Sans Bold"/>
                <a:cs typeface="Open Sans Bold"/>
                <a:sym typeface="Open Sans Bold"/>
              </a:rPr>
              <a:t>2ª fase: Dinâmica e Entrevistas</a:t>
            </a:r>
          </a:p>
          <a:p>
            <a:pPr algn="ctr">
              <a:lnSpc>
                <a:spcPts val="4060"/>
              </a:lnSpc>
            </a:pPr>
            <a:r>
              <a:rPr lang="en-US" sz="2900">
                <a:solidFill>
                  <a:srgbClr val="000000"/>
                </a:solidFill>
                <a:latin typeface="Open Sans"/>
                <a:ea typeface="Open Sans"/>
                <a:cs typeface="Open Sans"/>
                <a:sym typeface="Open Sans"/>
              </a:rPr>
              <a:t>28 candidatos convocados</a:t>
            </a:r>
          </a:p>
          <a:p>
            <a:pPr algn="ctr">
              <a:lnSpc>
                <a:spcPts val="4060"/>
              </a:lnSpc>
            </a:pPr>
            <a:endParaRPr lang="en-US" sz="2900">
              <a:solidFill>
                <a:srgbClr val="000000"/>
              </a:solidFill>
              <a:latin typeface="Open Sans"/>
              <a:ea typeface="Open Sans"/>
              <a:cs typeface="Open Sans"/>
              <a:sym typeface="Open Sans"/>
            </a:endParaRPr>
          </a:p>
          <a:p>
            <a:pPr algn="ctr">
              <a:lnSpc>
                <a:spcPts val="4060"/>
              </a:lnSpc>
            </a:pPr>
            <a:r>
              <a:rPr lang="en-US" sz="2900">
                <a:solidFill>
                  <a:srgbClr val="000000"/>
                </a:solidFill>
                <a:latin typeface="Open Sans"/>
                <a:ea typeface="Open Sans"/>
                <a:cs typeface="Open Sans"/>
                <a:sym typeface="Open Sans"/>
              </a:rPr>
              <a:t>6 aprovados + 6 suplentes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783535" y="1541483"/>
            <a:ext cx="11763721" cy="8196652"/>
            <a:chOff x="0" y="0"/>
            <a:chExt cx="3098264" cy="2158789"/>
          </a:xfrm>
        </p:grpSpPr>
        <p:sp>
          <p:nvSpPr>
            <p:cNvPr id="3" name="Freeform 3"/>
            <p:cNvSpPr/>
            <p:nvPr/>
          </p:nvSpPr>
          <p:spPr>
            <a:xfrm>
              <a:off x="0" y="0"/>
              <a:ext cx="3098264" cy="2158789"/>
            </a:xfrm>
            <a:custGeom>
              <a:avLst/>
              <a:gdLst/>
              <a:ahLst/>
              <a:cxnLst/>
              <a:rect l="l" t="t" r="r" b="b"/>
              <a:pathLst>
                <a:path w="3098264" h="2158789">
                  <a:moveTo>
                    <a:pt x="0" y="0"/>
                  </a:moveTo>
                  <a:lnTo>
                    <a:pt x="3098264" y="0"/>
                  </a:lnTo>
                  <a:lnTo>
                    <a:pt x="3098264" y="2158789"/>
                  </a:lnTo>
                  <a:lnTo>
                    <a:pt x="0" y="2158789"/>
                  </a:lnTo>
                  <a:close/>
                </a:path>
              </a:pathLst>
            </a:custGeom>
            <a:solidFill>
              <a:srgbClr val="DB6313"/>
            </a:solidFill>
          </p:spPr>
          <p:txBody>
            <a:bodyPr/>
            <a:lstStyle/>
            <a:p>
              <a:endParaRPr lang="pt-BR"/>
            </a:p>
          </p:txBody>
        </p:sp>
        <p:sp>
          <p:nvSpPr>
            <p:cNvPr id="4" name="TextBox 4"/>
            <p:cNvSpPr txBox="1"/>
            <p:nvPr/>
          </p:nvSpPr>
          <p:spPr>
            <a:xfrm>
              <a:off x="0" y="-38100"/>
              <a:ext cx="3098264" cy="219688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6" name="Freeform 6"/>
          <p:cNvSpPr/>
          <p:nvPr/>
        </p:nvSpPr>
        <p:spPr>
          <a:xfrm>
            <a:off x="13151575" y="3698225"/>
            <a:ext cx="4347356" cy="5560075"/>
          </a:xfrm>
          <a:custGeom>
            <a:avLst/>
            <a:gdLst/>
            <a:ahLst/>
            <a:cxnLst/>
            <a:rect l="l" t="t" r="r" b="b"/>
            <a:pathLst>
              <a:path w="4347356" h="5560075">
                <a:moveTo>
                  <a:pt x="0" y="0"/>
                </a:moveTo>
                <a:lnTo>
                  <a:pt x="4347355" y="0"/>
                </a:lnTo>
                <a:lnTo>
                  <a:pt x="4347355" y="5560075"/>
                </a:lnTo>
                <a:lnTo>
                  <a:pt x="0" y="5560075"/>
                </a:lnTo>
                <a:lnTo>
                  <a:pt x="0" y="0"/>
                </a:lnTo>
                <a:close/>
              </a:path>
            </a:pathLst>
          </a:custGeom>
          <a:blipFill>
            <a:blip r:embed="rId3"/>
            <a:stretch>
              <a:fillRect t="-17835" r="-7603" b="-31706"/>
            </a:stretch>
          </a:blipFill>
        </p:spPr>
        <p:txBody>
          <a:bodyPr/>
          <a:lstStyle/>
          <a:p>
            <a:endParaRPr lang="pt-BR"/>
          </a:p>
        </p:txBody>
      </p:sp>
      <p:sp>
        <p:nvSpPr>
          <p:cNvPr id="7" name="Freeform 7"/>
          <p:cNvSpPr/>
          <p:nvPr/>
        </p:nvSpPr>
        <p:spPr>
          <a:xfrm>
            <a:off x="481296" y="640035"/>
            <a:ext cx="11983320" cy="5392494"/>
          </a:xfrm>
          <a:custGeom>
            <a:avLst/>
            <a:gdLst/>
            <a:ahLst/>
            <a:cxnLst/>
            <a:rect l="l" t="t" r="r" b="b"/>
            <a:pathLst>
              <a:path w="11983320" h="5392494">
                <a:moveTo>
                  <a:pt x="0" y="0"/>
                </a:moveTo>
                <a:lnTo>
                  <a:pt x="11983320" y="0"/>
                </a:lnTo>
                <a:lnTo>
                  <a:pt x="11983320" y="5392494"/>
                </a:lnTo>
                <a:lnTo>
                  <a:pt x="0" y="5392494"/>
                </a:lnTo>
                <a:lnTo>
                  <a:pt x="0" y="0"/>
                </a:lnTo>
                <a:close/>
              </a:path>
            </a:pathLst>
          </a:custGeom>
          <a:blipFill>
            <a:blip r:embed="rId4"/>
            <a:stretch>
              <a:fillRect/>
            </a:stretch>
          </a:blipFill>
        </p:spPr>
        <p:txBody>
          <a:bodyPr/>
          <a:lstStyle/>
          <a:p>
            <a:endParaRPr lang="pt-BR"/>
          </a:p>
        </p:txBody>
      </p:sp>
      <p:sp>
        <p:nvSpPr>
          <p:cNvPr id="8" name="TextBox 8"/>
          <p:cNvSpPr txBox="1"/>
          <p:nvPr/>
        </p:nvSpPr>
        <p:spPr>
          <a:xfrm>
            <a:off x="720700" y="6857110"/>
            <a:ext cx="8115300" cy="2597149"/>
          </a:xfrm>
          <a:prstGeom prst="rect">
            <a:avLst/>
          </a:prstGeom>
        </p:spPr>
        <p:txBody>
          <a:bodyPr lIns="0" tIns="0" rIns="0" bIns="0" rtlCol="0" anchor="t">
            <a:spAutoFit/>
          </a:bodyPr>
          <a:lstStyle/>
          <a:p>
            <a:pPr algn="just">
              <a:lnSpc>
                <a:spcPts val="7000"/>
              </a:lnSpc>
            </a:pPr>
            <a:r>
              <a:rPr lang="en-US" sz="5000" b="1" spc="380">
                <a:solidFill>
                  <a:srgbClr val="ECD8BB"/>
                </a:solidFill>
                <a:latin typeface="Clear Sans Bold"/>
                <a:ea typeface="Clear Sans Bold"/>
                <a:cs typeface="Clear Sans Bold"/>
                <a:sym typeface="Clear Sans Bold"/>
              </a:rPr>
              <a:t>PUBLICAÇÃO</a:t>
            </a:r>
          </a:p>
          <a:p>
            <a:pPr algn="just">
              <a:lnSpc>
                <a:spcPts val="6720"/>
              </a:lnSpc>
            </a:pPr>
            <a:r>
              <a:rPr lang="en-US" sz="4800" b="1" spc="364">
                <a:solidFill>
                  <a:srgbClr val="ECD8BB"/>
                </a:solidFill>
                <a:latin typeface="Clear Sans Bold"/>
                <a:ea typeface="Clear Sans Bold"/>
                <a:cs typeface="Clear Sans Bold"/>
                <a:sym typeface="Clear Sans Bold"/>
              </a:rPr>
              <a:t>TEORIAS E PRÁTICAS </a:t>
            </a:r>
          </a:p>
          <a:p>
            <a:pPr algn="just">
              <a:lnSpc>
                <a:spcPts val="7000"/>
              </a:lnSpc>
            </a:pPr>
            <a:r>
              <a:rPr lang="en-US" sz="5000" b="1" spc="380">
                <a:solidFill>
                  <a:srgbClr val="ECD8BB"/>
                </a:solidFill>
                <a:latin typeface="Clear Sans Bold"/>
                <a:ea typeface="Clear Sans Bold"/>
                <a:cs typeface="Clear Sans Bold"/>
                <a:sym typeface="Clear Sans Bold"/>
              </a:rPr>
              <a:t>EDUCATIVAS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Freeform 2"/>
          <p:cNvSpPr/>
          <p:nvPr/>
        </p:nvSpPr>
        <p:spPr>
          <a:xfrm>
            <a:off x="3117939" y="1132393"/>
            <a:ext cx="4537048" cy="7034184"/>
          </a:xfrm>
          <a:custGeom>
            <a:avLst/>
            <a:gdLst/>
            <a:ahLst/>
            <a:cxnLst/>
            <a:rect l="l" t="t" r="r" b="b"/>
            <a:pathLst>
              <a:path w="4537048" h="7034184">
                <a:moveTo>
                  <a:pt x="0" y="0"/>
                </a:moveTo>
                <a:lnTo>
                  <a:pt x="4537049" y="0"/>
                </a:lnTo>
                <a:lnTo>
                  <a:pt x="4537049" y="7034183"/>
                </a:lnTo>
                <a:lnTo>
                  <a:pt x="0" y="70341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pt-BR"/>
          </a:p>
        </p:txBody>
      </p:sp>
      <p:grpSp>
        <p:nvGrpSpPr>
          <p:cNvPr id="3" name="Group 3"/>
          <p:cNvGrpSpPr/>
          <p:nvPr/>
        </p:nvGrpSpPr>
        <p:grpSpPr>
          <a:xfrm>
            <a:off x="3724150" y="5591212"/>
            <a:ext cx="1146136" cy="114613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579979" y="3652314"/>
            <a:ext cx="580613" cy="334624"/>
          </a:xfrm>
          <a:custGeom>
            <a:avLst/>
            <a:gdLst/>
            <a:ahLst/>
            <a:cxnLst/>
            <a:rect l="l" t="t" r="r" b="b"/>
            <a:pathLst>
              <a:path w="580613" h="334624">
                <a:moveTo>
                  <a:pt x="0" y="0"/>
                </a:moveTo>
                <a:lnTo>
                  <a:pt x="580613" y="0"/>
                </a:lnTo>
                <a:lnTo>
                  <a:pt x="580613" y="334624"/>
                </a:lnTo>
                <a:lnTo>
                  <a:pt x="0" y="334624"/>
                </a:lnTo>
                <a:lnTo>
                  <a:pt x="0" y="0"/>
                </a:lnTo>
                <a:close/>
              </a:path>
            </a:pathLst>
          </a:custGeom>
          <a:blipFill>
            <a:blip r:embed="rId3"/>
            <a:stretch>
              <a:fillRect b="-68393"/>
            </a:stretch>
          </a:blipFill>
        </p:spPr>
        <p:txBody>
          <a:bodyPr/>
          <a:lstStyle/>
          <a:p>
            <a:endParaRPr lang="pt-BR"/>
          </a:p>
        </p:txBody>
      </p:sp>
      <p:sp>
        <p:nvSpPr>
          <p:cNvPr id="7" name="TextBox 7"/>
          <p:cNvSpPr txBox="1"/>
          <p:nvPr/>
        </p:nvSpPr>
        <p:spPr>
          <a:xfrm>
            <a:off x="10966996" y="904875"/>
            <a:ext cx="6292304"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ABRANGÊNCIA</a:t>
            </a:r>
          </a:p>
          <a:p>
            <a:pPr algn="r">
              <a:lnSpc>
                <a:spcPts val="8959"/>
              </a:lnSpc>
            </a:pPr>
            <a:r>
              <a:rPr lang="en-US" sz="6399" b="1" spc="486">
                <a:solidFill>
                  <a:srgbClr val="ECD8BB"/>
                </a:solidFill>
                <a:latin typeface="Clear Sans Bold"/>
                <a:ea typeface="Clear Sans Bold"/>
                <a:cs typeface="Clear Sans Bold"/>
                <a:sym typeface="Clear Sans Bold"/>
              </a:rPr>
              <a:t>TERRITORIAL</a:t>
            </a:r>
          </a:p>
        </p:txBody>
      </p:sp>
      <p:sp>
        <p:nvSpPr>
          <p:cNvPr id="8" name="Freeform 8"/>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4"/>
            <a:stretch>
              <a:fillRect/>
            </a:stretch>
          </a:blipFill>
        </p:spPr>
        <p:txBody>
          <a:bodyPr/>
          <a:lstStyle/>
          <a:p>
            <a:endParaRPr lang="pt-BR"/>
          </a:p>
        </p:txBody>
      </p:sp>
      <p:sp>
        <p:nvSpPr>
          <p:cNvPr id="9" name="TextBox 9"/>
          <p:cNvSpPr txBox="1"/>
          <p:nvPr/>
        </p:nvSpPr>
        <p:spPr>
          <a:xfrm>
            <a:off x="3724150" y="5849003"/>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31%</a:t>
            </a:r>
          </a:p>
        </p:txBody>
      </p:sp>
      <p:grpSp>
        <p:nvGrpSpPr>
          <p:cNvPr id="10" name="Group 10"/>
          <p:cNvGrpSpPr/>
          <p:nvPr/>
        </p:nvGrpSpPr>
        <p:grpSpPr>
          <a:xfrm>
            <a:off x="5726779" y="2738200"/>
            <a:ext cx="1010469" cy="101046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5658673" y="2928157"/>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26%</a:t>
            </a:r>
          </a:p>
        </p:txBody>
      </p:sp>
      <p:grpSp>
        <p:nvGrpSpPr>
          <p:cNvPr id="14" name="Group 14"/>
          <p:cNvGrpSpPr/>
          <p:nvPr/>
        </p:nvGrpSpPr>
        <p:grpSpPr>
          <a:xfrm>
            <a:off x="3159872" y="3128805"/>
            <a:ext cx="858133" cy="85813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3015598" y="3242594"/>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20%</a:t>
            </a:r>
          </a:p>
        </p:txBody>
      </p:sp>
      <p:grpSp>
        <p:nvGrpSpPr>
          <p:cNvPr id="18" name="Group 18"/>
          <p:cNvGrpSpPr/>
          <p:nvPr/>
        </p:nvGrpSpPr>
        <p:grpSpPr>
          <a:xfrm>
            <a:off x="4297218" y="2080895"/>
            <a:ext cx="545989" cy="54598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4162278" y="2014220"/>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9%</a:t>
            </a:r>
          </a:p>
        </p:txBody>
      </p:sp>
      <p:grpSp>
        <p:nvGrpSpPr>
          <p:cNvPr id="22" name="Group 22"/>
          <p:cNvGrpSpPr/>
          <p:nvPr/>
        </p:nvGrpSpPr>
        <p:grpSpPr>
          <a:xfrm>
            <a:off x="4637481" y="3106325"/>
            <a:ext cx="545989" cy="54598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4511993" y="2993992"/>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8%</a:t>
            </a:r>
          </a:p>
        </p:txBody>
      </p:sp>
      <p:sp>
        <p:nvSpPr>
          <p:cNvPr id="26" name="TextBox 26"/>
          <p:cNvSpPr txBox="1"/>
          <p:nvPr/>
        </p:nvSpPr>
        <p:spPr>
          <a:xfrm>
            <a:off x="6232013" y="5386226"/>
            <a:ext cx="2585258" cy="1144904"/>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6% outras regiões</a:t>
            </a:r>
          </a:p>
        </p:txBody>
      </p:sp>
      <p:grpSp>
        <p:nvGrpSpPr>
          <p:cNvPr id="27" name="Group 27"/>
          <p:cNvGrpSpPr/>
          <p:nvPr/>
        </p:nvGrpSpPr>
        <p:grpSpPr>
          <a:xfrm>
            <a:off x="7299148" y="5001913"/>
            <a:ext cx="450988" cy="450988"/>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11174890" y="3739799"/>
            <a:ext cx="3146152" cy="563879"/>
          </a:xfrm>
          <a:prstGeom prst="rect">
            <a:avLst/>
          </a:prstGeom>
        </p:spPr>
        <p:txBody>
          <a:bodyPr lIns="0" tIns="0" rIns="0" bIns="0" rtlCol="0" anchor="t">
            <a:spAutoFit/>
          </a:bodyPr>
          <a:lstStyle/>
          <a:p>
            <a:pPr algn="ctr">
              <a:lnSpc>
                <a:spcPts val="4620"/>
              </a:lnSpc>
            </a:pPr>
            <a:r>
              <a:rPr lang="en-US" sz="3300" spc="250">
                <a:solidFill>
                  <a:srgbClr val="ECD8BB"/>
                </a:solidFill>
                <a:latin typeface="Clear Sans"/>
                <a:ea typeface="Clear Sans"/>
                <a:cs typeface="Clear Sans"/>
                <a:sym typeface="Clear Sans"/>
              </a:rPr>
              <a:t>SP - BAIRROS</a:t>
            </a:r>
          </a:p>
        </p:txBody>
      </p:sp>
      <p:sp>
        <p:nvSpPr>
          <p:cNvPr id="31" name="TextBox 31"/>
          <p:cNvSpPr txBox="1"/>
          <p:nvPr/>
        </p:nvSpPr>
        <p:spPr>
          <a:xfrm>
            <a:off x="16465478" y="3739799"/>
            <a:ext cx="793822"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44</a:t>
            </a:r>
          </a:p>
        </p:txBody>
      </p:sp>
      <p:sp>
        <p:nvSpPr>
          <p:cNvPr id="32" name="TextBox 32"/>
          <p:cNvSpPr txBox="1"/>
          <p:nvPr/>
        </p:nvSpPr>
        <p:spPr>
          <a:xfrm>
            <a:off x="11174890" y="4369653"/>
            <a:ext cx="3146152" cy="4578350"/>
          </a:xfrm>
          <a:prstGeom prst="rect">
            <a:avLst/>
          </a:prstGeom>
        </p:spPr>
        <p:txBody>
          <a:bodyPr lIns="0" tIns="0" rIns="0" bIns="0" rtlCol="0" anchor="t">
            <a:spAutoFit/>
          </a:bodyPr>
          <a:lstStyle/>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Aclimação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Agua funda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Belenzinho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Bela vista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Bom retiro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Butanta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Campo limpo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Campos eliseos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Capela do socorro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Chacara inglesa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Cidade tiradentes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Fazenda da juta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Freguesia</a:t>
            </a:r>
          </a:p>
        </p:txBody>
      </p:sp>
      <p:sp>
        <p:nvSpPr>
          <p:cNvPr id="33" name="TextBox 33"/>
          <p:cNvSpPr txBox="1"/>
          <p:nvPr/>
        </p:nvSpPr>
        <p:spPr>
          <a:xfrm>
            <a:off x="14321043" y="4369653"/>
            <a:ext cx="3146152" cy="4578350"/>
          </a:xfrm>
          <a:prstGeom prst="rect">
            <a:avLst/>
          </a:prstGeom>
        </p:spPr>
        <p:txBody>
          <a:bodyPr lIns="0" tIns="0" rIns="0" bIns="0" rtlCol="0" anchor="t">
            <a:spAutoFit/>
          </a:bodyPr>
          <a:lstStyle/>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Grajau</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Guaianases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Higienopolis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Ibirapuera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Interlagos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Ipiranga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Itaquera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Jabaquara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Jacana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Jaguare</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Jaragua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Jardim da Saúde</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Jardim Rizzo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Freeform 2"/>
          <p:cNvSpPr/>
          <p:nvPr/>
        </p:nvSpPr>
        <p:spPr>
          <a:xfrm>
            <a:off x="3117939" y="1132393"/>
            <a:ext cx="4537048" cy="7034184"/>
          </a:xfrm>
          <a:custGeom>
            <a:avLst/>
            <a:gdLst/>
            <a:ahLst/>
            <a:cxnLst/>
            <a:rect l="l" t="t" r="r" b="b"/>
            <a:pathLst>
              <a:path w="4537048" h="7034184">
                <a:moveTo>
                  <a:pt x="0" y="0"/>
                </a:moveTo>
                <a:lnTo>
                  <a:pt x="4537049" y="0"/>
                </a:lnTo>
                <a:lnTo>
                  <a:pt x="4537049" y="7034183"/>
                </a:lnTo>
                <a:lnTo>
                  <a:pt x="0" y="70341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pt-BR"/>
          </a:p>
        </p:txBody>
      </p:sp>
      <p:grpSp>
        <p:nvGrpSpPr>
          <p:cNvPr id="3" name="Group 3"/>
          <p:cNvGrpSpPr/>
          <p:nvPr/>
        </p:nvGrpSpPr>
        <p:grpSpPr>
          <a:xfrm>
            <a:off x="3724150" y="5591212"/>
            <a:ext cx="1146136" cy="114613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579979" y="3652314"/>
            <a:ext cx="580613" cy="334624"/>
          </a:xfrm>
          <a:custGeom>
            <a:avLst/>
            <a:gdLst/>
            <a:ahLst/>
            <a:cxnLst/>
            <a:rect l="l" t="t" r="r" b="b"/>
            <a:pathLst>
              <a:path w="580613" h="334624">
                <a:moveTo>
                  <a:pt x="0" y="0"/>
                </a:moveTo>
                <a:lnTo>
                  <a:pt x="580613" y="0"/>
                </a:lnTo>
                <a:lnTo>
                  <a:pt x="580613" y="334624"/>
                </a:lnTo>
                <a:lnTo>
                  <a:pt x="0" y="334624"/>
                </a:lnTo>
                <a:lnTo>
                  <a:pt x="0" y="0"/>
                </a:lnTo>
                <a:close/>
              </a:path>
            </a:pathLst>
          </a:custGeom>
          <a:blipFill>
            <a:blip r:embed="rId3"/>
            <a:stretch>
              <a:fillRect b="-68393"/>
            </a:stretch>
          </a:blipFill>
        </p:spPr>
        <p:txBody>
          <a:bodyPr/>
          <a:lstStyle/>
          <a:p>
            <a:endParaRPr lang="pt-BR"/>
          </a:p>
        </p:txBody>
      </p:sp>
      <p:sp>
        <p:nvSpPr>
          <p:cNvPr id="7" name="TextBox 7"/>
          <p:cNvSpPr txBox="1"/>
          <p:nvPr/>
        </p:nvSpPr>
        <p:spPr>
          <a:xfrm>
            <a:off x="10966996" y="904875"/>
            <a:ext cx="6292304"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ABRANGÊNCIA</a:t>
            </a:r>
          </a:p>
          <a:p>
            <a:pPr algn="r">
              <a:lnSpc>
                <a:spcPts val="8959"/>
              </a:lnSpc>
            </a:pPr>
            <a:r>
              <a:rPr lang="en-US" sz="6399" b="1" spc="486">
                <a:solidFill>
                  <a:srgbClr val="ECD8BB"/>
                </a:solidFill>
                <a:latin typeface="Clear Sans Bold"/>
                <a:ea typeface="Clear Sans Bold"/>
                <a:cs typeface="Clear Sans Bold"/>
                <a:sym typeface="Clear Sans Bold"/>
              </a:rPr>
              <a:t>TERRITORIAL</a:t>
            </a:r>
          </a:p>
        </p:txBody>
      </p:sp>
      <p:sp>
        <p:nvSpPr>
          <p:cNvPr id="8" name="Freeform 8"/>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4"/>
            <a:stretch>
              <a:fillRect/>
            </a:stretch>
          </a:blipFill>
        </p:spPr>
        <p:txBody>
          <a:bodyPr/>
          <a:lstStyle/>
          <a:p>
            <a:endParaRPr lang="pt-BR"/>
          </a:p>
        </p:txBody>
      </p:sp>
      <p:sp>
        <p:nvSpPr>
          <p:cNvPr id="9" name="TextBox 9"/>
          <p:cNvSpPr txBox="1"/>
          <p:nvPr/>
        </p:nvSpPr>
        <p:spPr>
          <a:xfrm>
            <a:off x="3724150" y="5849003"/>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31%</a:t>
            </a:r>
          </a:p>
        </p:txBody>
      </p:sp>
      <p:grpSp>
        <p:nvGrpSpPr>
          <p:cNvPr id="10" name="Group 10"/>
          <p:cNvGrpSpPr/>
          <p:nvPr/>
        </p:nvGrpSpPr>
        <p:grpSpPr>
          <a:xfrm>
            <a:off x="5726779" y="2738200"/>
            <a:ext cx="1010469" cy="101046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5658673" y="2928157"/>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26%</a:t>
            </a:r>
          </a:p>
        </p:txBody>
      </p:sp>
      <p:grpSp>
        <p:nvGrpSpPr>
          <p:cNvPr id="14" name="Group 14"/>
          <p:cNvGrpSpPr/>
          <p:nvPr/>
        </p:nvGrpSpPr>
        <p:grpSpPr>
          <a:xfrm>
            <a:off x="3159872" y="3128805"/>
            <a:ext cx="858133" cy="85813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3015598" y="3242594"/>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20%</a:t>
            </a:r>
          </a:p>
        </p:txBody>
      </p:sp>
      <p:grpSp>
        <p:nvGrpSpPr>
          <p:cNvPr id="18" name="Group 18"/>
          <p:cNvGrpSpPr/>
          <p:nvPr/>
        </p:nvGrpSpPr>
        <p:grpSpPr>
          <a:xfrm>
            <a:off x="4297218" y="2080895"/>
            <a:ext cx="545989" cy="54598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4162278" y="2014220"/>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9%</a:t>
            </a:r>
          </a:p>
        </p:txBody>
      </p:sp>
      <p:grpSp>
        <p:nvGrpSpPr>
          <p:cNvPr id="22" name="Group 22"/>
          <p:cNvGrpSpPr/>
          <p:nvPr/>
        </p:nvGrpSpPr>
        <p:grpSpPr>
          <a:xfrm>
            <a:off x="4637481" y="3106325"/>
            <a:ext cx="545989" cy="54598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4511993" y="2993992"/>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8%</a:t>
            </a:r>
          </a:p>
        </p:txBody>
      </p:sp>
      <p:sp>
        <p:nvSpPr>
          <p:cNvPr id="26" name="TextBox 26"/>
          <p:cNvSpPr txBox="1"/>
          <p:nvPr/>
        </p:nvSpPr>
        <p:spPr>
          <a:xfrm>
            <a:off x="6232013" y="5386226"/>
            <a:ext cx="2585258" cy="1144904"/>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6% outras regiões</a:t>
            </a:r>
          </a:p>
        </p:txBody>
      </p:sp>
      <p:grpSp>
        <p:nvGrpSpPr>
          <p:cNvPr id="27" name="Group 27"/>
          <p:cNvGrpSpPr/>
          <p:nvPr/>
        </p:nvGrpSpPr>
        <p:grpSpPr>
          <a:xfrm>
            <a:off x="7299148" y="5001913"/>
            <a:ext cx="450988" cy="450988"/>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11174890" y="3739799"/>
            <a:ext cx="3146152" cy="563879"/>
          </a:xfrm>
          <a:prstGeom prst="rect">
            <a:avLst/>
          </a:prstGeom>
        </p:spPr>
        <p:txBody>
          <a:bodyPr lIns="0" tIns="0" rIns="0" bIns="0" rtlCol="0" anchor="t">
            <a:spAutoFit/>
          </a:bodyPr>
          <a:lstStyle/>
          <a:p>
            <a:pPr algn="ctr">
              <a:lnSpc>
                <a:spcPts val="4620"/>
              </a:lnSpc>
            </a:pPr>
            <a:r>
              <a:rPr lang="en-US" sz="3300" spc="250">
                <a:solidFill>
                  <a:srgbClr val="ECD8BB"/>
                </a:solidFill>
                <a:latin typeface="Clear Sans"/>
                <a:ea typeface="Clear Sans"/>
                <a:cs typeface="Clear Sans"/>
                <a:sym typeface="Clear Sans"/>
              </a:rPr>
              <a:t>SP - BAIRROS</a:t>
            </a:r>
          </a:p>
        </p:txBody>
      </p:sp>
      <p:sp>
        <p:nvSpPr>
          <p:cNvPr id="31" name="TextBox 31"/>
          <p:cNvSpPr txBox="1"/>
          <p:nvPr/>
        </p:nvSpPr>
        <p:spPr>
          <a:xfrm>
            <a:off x="11174890" y="4369653"/>
            <a:ext cx="2666828" cy="4578350"/>
          </a:xfrm>
          <a:prstGeom prst="rect">
            <a:avLst/>
          </a:prstGeom>
        </p:spPr>
        <p:txBody>
          <a:bodyPr lIns="0" tIns="0" rIns="0" bIns="0" rtlCol="0" anchor="t">
            <a:spAutoFit/>
          </a:bodyPr>
          <a:lstStyle/>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Lajeado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Paraiso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Parque Santa Madalena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Parelheiros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Penha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Perus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Pinheiros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Pirituba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Pompeia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Rio Pequeno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Santana</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Sapopemba</a:t>
            </a:r>
          </a:p>
        </p:txBody>
      </p:sp>
      <p:sp>
        <p:nvSpPr>
          <p:cNvPr id="32" name="TextBox 32"/>
          <p:cNvSpPr txBox="1"/>
          <p:nvPr/>
        </p:nvSpPr>
        <p:spPr>
          <a:xfrm>
            <a:off x="14321043" y="4369653"/>
            <a:ext cx="3146152" cy="2463800"/>
          </a:xfrm>
          <a:prstGeom prst="rect">
            <a:avLst/>
          </a:prstGeom>
        </p:spPr>
        <p:txBody>
          <a:bodyPr lIns="0" tIns="0" rIns="0" bIns="0" rtlCol="0" anchor="t">
            <a:spAutoFit/>
          </a:bodyPr>
          <a:lstStyle/>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Santo Amaro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Socorro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São Matheus</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São Miguel</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Tatuapé</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Vila Clementino</a:t>
            </a:r>
          </a:p>
          <a:p>
            <a:pPr marL="431801" lvl="1" indent="-215900" algn="just">
              <a:lnSpc>
                <a:spcPts val="2800"/>
              </a:lnSpc>
              <a:buFont typeface="Arial"/>
              <a:buChar char="•"/>
            </a:pPr>
            <a:r>
              <a:rPr lang="en-US" sz="2000" spc="152">
                <a:solidFill>
                  <a:srgbClr val="ECD8BB"/>
                </a:solidFill>
                <a:latin typeface="Clear Sans"/>
                <a:ea typeface="Clear Sans"/>
                <a:cs typeface="Clear Sans"/>
                <a:sym typeface="Clear Sans"/>
              </a:rPr>
              <a:t>Vila Mariana</a:t>
            </a:r>
          </a:p>
        </p:txBody>
      </p:sp>
      <p:sp>
        <p:nvSpPr>
          <p:cNvPr id="33" name="TextBox 33"/>
          <p:cNvSpPr txBox="1"/>
          <p:nvPr/>
        </p:nvSpPr>
        <p:spPr>
          <a:xfrm>
            <a:off x="16465478" y="3739799"/>
            <a:ext cx="793822"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44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Freeform 2"/>
          <p:cNvSpPr/>
          <p:nvPr/>
        </p:nvSpPr>
        <p:spPr>
          <a:xfrm>
            <a:off x="3117939" y="1132393"/>
            <a:ext cx="4537048" cy="7034184"/>
          </a:xfrm>
          <a:custGeom>
            <a:avLst/>
            <a:gdLst/>
            <a:ahLst/>
            <a:cxnLst/>
            <a:rect l="l" t="t" r="r" b="b"/>
            <a:pathLst>
              <a:path w="4537048" h="7034184">
                <a:moveTo>
                  <a:pt x="0" y="0"/>
                </a:moveTo>
                <a:lnTo>
                  <a:pt x="4537049" y="0"/>
                </a:lnTo>
                <a:lnTo>
                  <a:pt x="4537049" y="7034183"/>
                </a:lnTo>
                <a:lnTo>
                  <a:pt x="0" y="70341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pt-BR"/>
          </a:p>
        </p:txBody>
      </p:sp>
      <p:grpSp>
        <p:nvGrpSpPr>
          <p:cNvPr id="3" name="Group 3"/>
          <p:cNvGrpSpPr/>
          <p:nvPr/>
        </p:nvGrpSpPr>
        <p:grpSpPr>
          <a:xfrm>
            <a:off x="3724150" y="5591212"/>
            <a:ext cx="1146136" cy="114613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579979" y="3652314"/>
            <a:ext cx="580613" cy="334624"/>
          </a:xfrm>
          <a:custGeom>
            <a:avLst/>
            <a:gdLst/>
            <a:ahLst/>
            <a:cxnLst/>
            <a:rect l="l" t="t" r="r" b="b"/>
            <a:pathLst>
              <a:path w="580613" h="334624">
                <a:moveTo>
                  <a:pt x="0" y="0"/>
                </a:moveTo>
                <a:lnTo>
                  <a:pt x="580613" y="0"/>
                </a:lnTo>
                <a:lnTo>
                  <a:pt x="580613" y="334624"/>
                </a:lnTo>
                <a:lnTo>
                  <a:pt x="0" y="334624"/>
                </a:lnTo>
                <a:lnTo>
                  <a:pt x="0" y="0"/>
                </a:lnTo>
                <a:close/>
              </a:path>
            </a:pathLst>
          </a:custGeom>
          <a:blipFill>
            <a:blip r:embed="rId3"/>
            <a:stretch>
              <a:fillRect b="-68393"/>
            </a:stretch>
          </a:blipFill>
        </p:spPr>
        <p:txBody>
          <a:bodyPr/>
          <a:lstStyle/>
          <a:p>
            <a:endParaRPr lang="pt-BR"/>
          </a:p>
        </p:txBody>
      </p:sp>
      <p:sp>
        <p:nvSpPr>
          <p:cNvPr id="7" name="TextBox 7"/>
          <p:cNvSpPr txBox="1"/>
          <p:nvPr/>
        </p:nvSpPr>
        <p:spPr>
          <a:xfrm>
            <a:off x="10966996" y="904875"/>
            <a:ext cx="6292304"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ABRANGÊNCIA</a:t>
            </a:r>
          </a:p>
          <a:p>
            <a:pPr algn="r">
              <a:lnSpc>
                <a:spcPts val="8959"/>
              </a:lnSpc>
            </a:pPr>
            <a:r>
              <a:rPr lang="en-US" sz="6399" b="1" spc="486">
                <a:solidFill>
                  <a:srgbClr val="ECD8BB"/>
                </a:solidFill>
                <a:latin typeface="Clear Sans Bold"/>
                <a:ea typeface="Clear Sans Bold"/>
                <a:cs typeface="Clear Sans Bold"/>
                <a:sym typeface="Clear Sans Bold"/>
              </a:rPr>
              <a:t>TERRITORIAL</a:t>
            </a:r>
          </a:p>
        </p:txBody>
      </p:sp>
      <p:sp>
        <p:nvSpPr>
          <p:cNvPr id="8" name="Freeform 8"/>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4"/>
            <a:stretch>
              <a:fillRect/>
            </a:stretch>
          </a:blipFill>
        </p:spPr>
        <p:txBody>
          <a:bodyPr/>
          <a:lstStyle/>
          <a:p>
            <a:endParaRPr lang="pt-BR"/>
          </a:p>
        </p:txBody>
      </p:sp>
      <p:sp>
        <p:nvSpPr>
          <p:cNvPr id="9" name="TextBox 9"/>
          <p:cNvSpPr txBox="1"/>
          <p:nvPr/>
        </p:nvSpPr>
        <p:spPr>
          <a:xfrm>
            <a:off x="3724150" y="5849003"/>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31%</a:t>
            </a:r>
          </a:p>
        </p:txBody>
      </p:sp>
      <p:grpSp>
        <p:nvGrpSpPr>
          <p:cNvPr id="10" name="Group 10"/>
          <p:cNvGrpSpPr/>
          <p:nvPr/>
        </p:nvGrpSpPr>
        <p:grpSpPr>
          <a:xfrm>
            <a:off x="5726779" y="2738200"/>
            <a:ext cx="1010469" cy="101046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5658673" y="2928157"/>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26%</a:t>
            </a:r>
          </a:p>
        </p:txBody>
      </p:sp>
      <p:grpSp>
        <p:nvGrpSpPr>
          <p:cNvPr id="14" name="Group 14"/>
          <p:cNvGrpSpPr/>
          <p:nvPr/>
        </p:nvGrpSpPr>
        <p:grpSpPr>
          <a:xfrm>
            <a:off x="3159872" y="3128805"/>
            <a:ext cx="858133" cy="85813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3015598" y="3242594"/>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20%</a:t>
            </a:r>
          </a:p>
        </p:txBody>
      </p:sp>
      <p:grpSp>
        <p:nvGrpSpPr>
          <p:cNvPr id="18" name="Group 18"/>
          <p:cNvGrpSpPr/>
          <p:nvPr/>
        </p:nvGrpSpPr>
        <p:grpSpPr>
          <a:xfrm>
            <a:off x="4297218" y="2080895"/>
            <a:ext cx="545989" cy="54598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4162278" y="2014220"/>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9%</a:t>
            </a:r>
          </a:p>
        </p:txBody>
      </p:sp>
      <p:grpSp>
        <p:nvGrpSpPr>
          <p:cNvPr id="22" name="Group 22"/>
          <p:cNvGrpSpPr/>
          <p:nvPr/>
        </p:nvGrpSpPr>
        <p:grpSpPr>
          <a:xfrm>
            <a:off x="4637481" y="3106325"/>
            <a:ext cx="545989" cy="54598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4511993" y="2993992"/>
            <a:ext cx="114668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8%</a:t>
            </a:r>
          </a:p>
        </p:txBody>
      </p:sp>
      <p:sp>
        <p:nvSpPr>
          <p:cNvPr id="26" name="TextBox 26"/>
          <p:cNvSpPr txBox="1"/>
          <p:nvPr/>
        </p:nvSpPr>
        <p:spPr>
          <a:xfrm>
            <a:off x="6232013" y="5386226"/>
            <a:ext cx="2585258" cy="1144904"/>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6% outras regiões</a:t>
            </a:r>
          </a:p>
        </p:txBody>
      </p:sp>
      <p:grpSp>
        <p:nvGrpSpPr>
          <p:cNvPr id="27" name="Group 27"/>
          <p:cNvGrpSpPr/>
          <p:nvPr/>
        </p:nvGrpSpPr>
        <p:grpSpPr>
          <a:xfrm>
            <a:off x="7299148" y="5001913"/>
            <a:ext cx="450988" cy="450988"/>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6313"/>
            </a:solidFill>
          </p:spPr>
          <p:txBody>
            <a:bodyPr/>
            <a:lstStyle/>
            <a:p>
              <a:endParaRPr lang="pt-BR"/>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11246146" y="3752951"/>
            <a:ext cx="2040908" cy="563879"/>
          </a:xfrm>
          <a:prstGeom prst="rect">
            <a:avLst/>
          </a:prstGeom>
        </p:spPr>
        <p:txBody>
          <a:bodyPr lIns="0" tIns="0" rIns="0" bIns="0" rtlCol="0" anchor="t">
            <a:spAutoFit/>
          </a:bodyPr>
          <a:lstStyle/>
          <a:p>
            <a:pPr algn="ctr">
              <a:lnSpc>
                <a:spcPts val="4620"/>
              </a:lnSpc>
            </a:pPr>
            <a:r>
              <a:rPr lang="en-US" sz="3300" spc="250">
                <a:solidFill>
                  <a:srgbClr val="ECD8BB"/>
                </a:solidFill>
                <a:latin typeface="Clear Sans"/>
                <a:ea typeface="Clear Sans"/>
                <a:cs typeface="Clear Sans"/>
                <a:sym typeface="Clear Sans"/>
              </a:rPr>
              <a:t>EXTERNO</a:t>
            </a:r>
          </a:p>
        </p:txBody>
      </p:sp>
      <p:sp>
        <p:nvSpPr>
          <p:cNvPr id="31" name="TextBox 31"/>
          <p:cNvSpPr txBox="1"/>
          <p:nvPr/>
        </p:nvSpPr>
        <p:spPr>
          <a:xfrm>
            <a:off x="16744629" y="3752951"/>
            <a:ext cx="585927"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5</a:t>
            </a:r>
          </a:p>
        </p:txBody>
      </p:sp>
      <p:sp>
        <p:nvSpPr>
          <p:cNvPr id="32" name="TextBox 32"/>
          <p:cNvSpPr txBox="1"/>
          <p:nvPr/>
        </p:nvSpPr>
        <p:spPr>
          <a:xfrm>
            <a:off x="11246146" y="4330214"/>
            <a:ext cx="6084410" cy="17589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Bauru</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Araraquara</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Guarulhos</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São Bernardo do Campo</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Diadema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Freeform 2"/>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3" name="Freeform 3"/>
          <p:cNvSpPr/>
          <p:nvPr/>
        </p:nvSpPr>
        <p:spPr>
          <a:xfrm>
            <a:off x="1301919" y="3696247"/>
            <a:ext cx="15684162" cy="3875523"/>
          </a:xfrm>
          <a:custGeom>
            <a:avLst/>
            <a:gdLst/>
            <a:ahLst/>
            <a:cxnLst/>
            <a:rect l="l" t="t" r="r" b="b"/>
            <a:pathLst>
              <a:path w="15684162" h="3875523">
                <a:moveTo>
                  <a:pt x="0" y="0"/>
                </a:moveTo>
                <a:lnTo>
                  <a:pt x="15684162" y="0"/>
                </a:lnTo>
                <a:lnTo>
                  <a:pt x="15684162" y="3875522"/>
                </a:lnTo>
                <a:lnTo>
                  <a:pt x="0" y="3875522"/>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11623625" y="904875"/>
            <a:ext cx="5635675"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TRANSPORTE</a:t>
            </a:r>
          </a:p>
          <a:p>
            <a:pPr algn="r">
              <a:lnSpc>
                <a:spcPts val="8959"/>
              </a:lnSpc>
            </a:pPr>
            <a:r>
              <a:rPr lang="en-US" sz="6399" b="1" spc="486">
                <a:solidFill>
                  <a:srgbClr val="ECD8BB"/>
                </a:solidFill>
                <a:latin typeface="Clear Sans Bold"/>
                <a:ea typeface="Clear Sans Bold"/>
                <a:cs typeface="Clear Sans Bold"/>
                <a:sym typeface="Clear Sans Bold"/>
              </a:rPr>
              <a:t>ESPECÍFICO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TextBox 2"/>
          <p:cNvSpPr txBox="1"/>
          <p:nvPr/>
        </p:nvSpPr>
        <p:spPr>
          <a:xfrm>
            <a:off x="10891689" y="904875"/>
            <a:ext cx="6367611"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INSTITUIÇÕES</a:t>
            </a:r>
          </a:p>
          <a:p>
            <a:pPr algn="r">
              <a:lnSpc>
                <a:spcPts val="8959"/>
              </a:lnSpc>
            </a:pPr>
            <a:r>
              <a:rPr lang="en-US" sz="6399" b="1" spc="486">
                <a:solidFill>
                  <a:srgbClr val="ECD8BB"/>
                </a:solidFill>
                <a:latin typeface="Clear Sans Bold"/>
                <a:ea typeface="Clear Sans Bold"/>
                <a:cs typeface="Clear Sans Bold"/>
                <a:sym typeface="Clear Sans Bold"/>
              </a:rPr>
              <a:t>ATENDIDAS</a:t>
            </a:r>
          </a:p>
        </p:txBody>
      </p:sp>
      <p:sp>
        <p:nvSpPr>
          <p:cNvPr id="3" name="TextBox 3"/>
          <p:cNvSpPr txBox="1"/>
          <p:nvPr/>
        </p:nvSpPr>
        <p:spPr>
          <a:xfrm>
            <a:off x="1028700" y="1670175"/>
            <a:ext cx="8115300" cy="73977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ADVOCACIA MATTOS FILHO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ASSOCIAÇÃO DE INVESTIDORES SOCIAIS PRIVADOS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CAAP ASA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CAISM - CENTRO DE ATENÇÃO INTEGRADA A SAÚDE MENTAL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CAPS ALCOOL E DROGAS PENHA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CASA SUELI CARNEIRO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CASA VIVIANE CENTRO DE DEFESA E CONVIVÊNCIA DA MULHER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CCA AMAI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CCA SANTA MADALENA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CEDEI SESCSP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CEDESP CIAP SÃO PATRICIO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CEDESP DANIEL COMBONI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CEI ARTE E CULTURA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CEI INFANCIA FELIZ II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CEI JARDIM SANTA MARIA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CEI VILA PROGRESSO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CEMEI CASA BLANCA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CENTRO PAULA SOUZA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CEU CEMEI HORIZONTE AZUL </a:t>
            </a:r>
          </a:p>
        </p:txBody>
      </p:sp>
      <p:sp>
        <p:nvSpPr>
          <p:cNvPr id="4" name="TextBox 4"/>
          <p:cNvSpPr txBox="1"/>
          <p:nvPr/>
        </p:nvSpPr>
        <p:spPr>
          <a:xfrm>
            <a:off x="15591989" y="241281"/>
            <a:ext cx="2040908" cy="563879"/>
          </a:xfrm>
          <a:prstGeom prst="rect">
            <a:avLst/>
          </a:prstGeom>
        </p:spPr>
        <p:txBody>
          <a:bodyPr lIns="0" tIns="0" rIns="0" bIns="0" rtlCol="0" anchor="t">
            <a:spAutoFit/>
          </a:bodyPr>
          <a:lstStyle/>
          <a:p>
            <a:pPr algn="ctr">
              <a:lnSpc>
                <a:spcPts val="4620"/>
              </a:lnSpc>
            </a:pPr>
            <a:r>
              <a:rPr lang="en-US" sz="3300" spc="250">
                <a:solidFill>
                  <a:srgbClr val="ECD8BB"/>
                </a:solidFill>
                <a:latin typeface="Clear Sans"/>
                <a:ea typeface="Clear Sans"/>
                <a:cs typeface="Clear Sans"/>
                <a:sym typeface="Clear Sans"/>
              </a:rPr>
              <a:t>EXTERNO</a:t>
            </a:r>
          </a:p>
        </p:txBody>
      </p:sp>
      <p:sp>
        <p:nvSpPr>
          <p:cNvPr id="5" name="Freeform 5"/>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6" name="TextBox 6"/>
          <p:cNvSpPr txBox="1"/>
          <p:nvPr/>
        </p:nvSpPr>
        <p:spPr>
          <a:xfrm>
            <a:off x="9144000" y="3432300"/>
            <a:ext cx="8115300" cy="528320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CEU EMEF HERMES FERREIRA DE SOUZA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CEU EMEF MANOEL VIEIRA DE QUEIROZ FILHO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CEU EMEF TRES LAGOS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CIAP CEDESP SAPOPEMBA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CIEJA ALUNA JESSICA NUNES HERCULANO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CIEJA CLOVIS CAITANO MIQUELAZZO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CIEJA FRANCISCO HERNANI ALVERNE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CIEJA ITAQUERA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CIEJA LELIA GONZALEZ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CIEJA PERUS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CIEJA PROFESSORA ROSE MARY FRASSON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COLEGIO OFELIA FONSECA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COLÉGIO SÃO DOMINGOS (PERDIZES)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CRAS SAPOPEMBA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CRECHES E PRÉ-ESCOLAS CENTRAL E SAÚDE USP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TextBox 2"/>
          <p:cNvSpPr txBox="1"/>
          <p:nvPr/>
        </p:nvSpPr>
        <p:spPr>
          <a:xfrm>
            <a:off x="10891689" y="904875"/>
            <a:ext cx="6367611"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INSTITUIÇÕES</a:t>
            </a:r>
          </a:p>
          <a:p>
            <a:pPr algn="r">
              <a:lnSpc>
                <a:spcPts val="8959"/>
              </a:lnSpc>
            </a:pPr>
            <a:r>
              <a:rPr lang="en-US" sz="6399" b="1" spc="486">
                <a:solidFill>
                  <a:srgbClr val="ECD8BB"/>
                </a:solidFill>
                <a:latin typeface="Clear Sans Bold"/>
                <a:ea typeface="Clear Sans Bold"/>
                <a:cs typeface="Clear Sans Bold"/>
                <a:sym typeface="Clear Sans Bold"/>
              </a:rPr>
              <a:t>ATENDIDAS</a:t>
            </a:r>
          </a:p>
        </p:txBody>
      </p:sp>
      <p:sp>
        <p:nvSpPr>
          <p:cNvPr id="3" name="TextBox 3"/>
          <p:cNvSpPr txBox="1"/>
          <p:nvPr/>
        </p:nvSpPr>
        <p:spPr>
          <a:xfrm>
            <a:off x="1028700" y="1670175"/>
            <a:ext cx="8115300" cy="73977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 DEFENSORIA PÚBLICA DO ESTADO DE SÃO PAULO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DRE SANTO AMARO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DRE CAPELA SOCORRO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EE PROFESSOR RENATO ARRUDA PENTEADO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EE RAUL FONSECA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EE ROLDAO LOPES DE BARROS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EE SOLON BORGES DOS REIS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EMEBE ROLANDO RAMACCIOTTI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EMEBS ANNE SULLIVAN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A HEBRAICA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ÁGUAS DE MARCO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ALMIRANTE SYLVIO HECK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ANTENOR NASCENTES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ARTHUR ALVIM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ARTHUR AZEVEDO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AURELIO ARROBAS MARTINS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BADRA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BRIGADEIRO FARIA LIMA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CACILDA BECKER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CARLOS CHAGAS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CEU BUTANTA </a:t>
            </a:r>
          </a:p>
        </p:txBody>
      </p:sp>
      <p:sp>
        <p:nvSpPr>
          <p:cNvPr id="4" name="TextBox 4"/>
          <p:cNvSpPr txBox="1"/>
          <p:nvPr/>
        </p:nvSpPr>
        <p:spPr>
          <a:xfrm>
            <a:off x="15591989" y="241281"/>
            <a:ext cx="2040908" cy="563879"/>
          </a:xfrm>
          <a:prstGeom prst="rect">
            <a:avLst/>
          </a:prstGeom>
        </p:spPr>
        <p:txBody>
          <a:bodyPr lIns="0" tIns="0" rIns="0" bIns="0" rtlCol="0" anchor="t">
            <a:spAutoFit/>
          </a:bodyPr>
          <a:lstStyle/>
          <a:p>
            <a:pPr algn="ctr">
              <a:lnSpc>
                <a:spcPts val="4620"/>
              </a:lnSpc>
            </a:pPr>
            <a:r>
              <a:rPr lang="en-US" sz="3300" spc="250">
                <a:solidFill>
                  <a:srgbClr val="ECD8BB"/>
                </a:solidFill>
                <a:latin typeface="Clear Sans"/>
                <a:ea typeface="Clear Sans"/>
                <a:cs typeface="Clear Sans"/>
                <a:sym typeface="Clear Sans"/>
              </a:rPr>
              <a:t>EXTERNO</a:t>
            </a:r>
          </a:p>
        </p:txBody>
      </p:sp>
      <p:sp>
        <p:nvSpPr>
          <p:cNvPr id="5" name="Freeform 5"/>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6" name="TextBox 6"/>
          <p:cNvSpPr txBox="1"/>
          <p:nvPr/>
        </p:nvSpPr>
        <p:spPr>
          <a:xfrm>
            <a:off x="9144000" y="3432300"/>
            <a:ext cx="8115300" cy="59880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CEU FEITIÇO DA VILA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DEPUTADO CYRO ALBUQUERQUE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DEPUTADO FLORES DA CUNHA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DIRCE GENESIO DOS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DOUTOR MIGUEL VIEIRA FERREIRA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EDUCANDARIO DOM DUARTE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EUCLIDES CUSTODIO DA SILVEIRA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GABRYEL SYLVESTRE T. DE CARVALHO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GENERAL OTHELO FRANCO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HERBERT DE SOUZA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ILEUSA CAETANO DA SILVA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JACKSON DE FIGUEIREDO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JEAN MERMOZ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JENNY GOMES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JOÃO CARLOS DA SILVA BORGES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JORNALISTA MILLOR FERNANDES</a:t>
            </a:r>
          </a:p>
          <a:p>
            <a:pPr algn="l">
              <a:lnSpc>
                <a:spcPts val="2800"/>
              </a:lnSpc>
            </a:pPr>
            <a:endParaRPr lang="en-US" sz="2000" spc="152">
              <a:solidFill>
                <a:srgbClr val="ECD8BB"/>
              </a:solidFill>
              <a:latin typeface="Clear Sans"/>
              <a:ea typeface="Clear Sans"/>
              <a:cs typeface="Clear Sans"/>
              <a:sym typeface="Clear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TextBox 2"/>
          <p:cNvSpPr txBox="1"/>
          <p:nvPr/>
        </p:nvSpPr>
        <p:spPr>
          <a:xfrm>
            <a:off x="10891689" y="904875"/>
            <a:ext cx="6367611"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INSTITUIÇÕES</a:t>
            </a:r>
          </a:p>
          <a:p>
            <a:pPr algn="r">
              <a:lnSpc>
                <a:spcPts val="8959"/>
              </a:lnSpc>
            </a:pPr>
            <a:r>
              <a:rPr lang="en-US" sz="6399" b="1" spc="486">
                <a:solidFill>
                  <a:srgbClr val="ECD8BB"/>
                </a:solidFill>
                <a:latin typeface="Clear Sans Bold"/>
                <a:ea typeface="Clear Sans Bold"/>
                <a:cs typeface="Clear Sans Bold"/>
                <a:sym typeface="Clear Sans Bold"/>
              </a:rPr>
              <a:t>ATENDIDAS</a:t>
            </a:r>
          </a:p>
        </p:txBody>
      </p:sp>
      <p:sp>
        <p:nvSpPr>
          <p:cNvPr id="3" name="TextBox 3"/>
          <p:cNvSpPr txBox="1"/>
          <p:nvPr/>
        </p:nvSpPr>
        <p:spPr>
          <a:xfrm>
            <a:off x="1028700" y="1670175"/>
            <a:ext cx="8115300" cy="73977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JOSE DO PATROCINIO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JOSE MARIA LISBOA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JOSE MARIA PINTO DUARTE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JOSE PEDRO LEITE CORDEIRO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JULIO DE GRAMMONT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JULIO DE OLIVEIRA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LICEU CORACAO JESUS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LILIAN MASO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MADRE JOANA ANGELICA DE JESUS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MANOEL VIEIRA DE QUEIROZ FILHO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MANUEL BORBA GATO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MARECHAL ESPIRIDIAO ROSAS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MARIA APARECIDA MAGNAELLI FERNANDES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MILTON PEREIRA COSTA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MILTON PEREIRA COSTA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MONTEIRO LOBATO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OCTÁVIO PEREIRA LOPES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OLAVO FONTOURA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PAULO COLOMBO PEREIRA DE QUEIROZ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PAULO PRADO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PEDRO NAVA </a:t>
            </a:r>
          </a:p>
        </p:txBody>
      </p:sp>
      <p:sp>
        <p:nvSpPr>
          <p:cNvPr id="4" name="TextBox 4"/>
          <p:cNvSpPr txBox="1"/>
          <p:nvPr/>
        </p:nvSpPr>
        <p:spPr>
          <a:xfrm>
            <a:off x="15591989" y="241281"/>
            <a:ext cx="2040908" cy="563879"/>
          </a:xfrm>
          <a:prstGeom prst="rect">
            <a:avLst/>
          </a:prstGeom>
        </p:spPr>
        <p:txBody>
          <a:bodyPr lIns="0" tIns="0" rIns="0" bIns="0" rtlCol="0" anchor="t">
            <a:spAutoFit/>
          </a:bodyPr>
          <a:lstStyle/>
          <a:p>
            <a:pPr algn="ctr">
              <a:lnSpc>
                <a:spcPts val="4620"/>
              </a:lnSpc>
            </a:pPr>
            <a:r>
              <a:rPr lang="en-US" sz="3300" spc="250">
                <a:solidFill>
                  <a:srgbClr val="ECD8BB"/>
                </a:solidFill>
                <a:latin typeface="Clear Sans"/>
                <a:ea typeface="Clear Sans"/>
                <a:cs typeface="Clear Sans"/>
                <a:sym typeface="Clear Sans"/>
              </a:rPr>
              <a:t>EXTERNO</a:t>
            </a:r>
          </a:p>
        </p:txBody>
      </p:sp>
      <p:sp>
        <p:nvSpPr>
          <p:cNvPr id="5" name="Freeform 5"/>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6" name="TextBox 6"/>
          <p:cNvSpPr txBox="1"/>
          <p:nvPr/>
        </p:nvSpPr>
        <p:spPr>
          <a:xfrm>
            <a:off x="9144000" y="3432300"/>
            <a:ext cx="8115300" cy="59880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PRESES MAIA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PROCOPIO FERREIRA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PROFESSOR ENZO ANTONIO SILVESTRIN</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PROFESSOR FRANCISCO DA SILVEIRA BUENO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PROFESSOR JAIO DE ALMEIDA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PROFESSOR QUEIROZ FILHO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PROFESSORA ANA MARIA ALVES BENETTI]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PROFESSORA DAISY AMADIO FUJIWARA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RAUL POMPEIA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RUBENS PAIVA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SEBASTIÃO FRANCISCO O NEGRO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TENENTE ALIPIO ANDRADA SERPA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TENENTE MOISES ELIAS DE SOUZA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TEOFILO BENEDITO OTTONI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TEREZA SETUKO KOSHIMAE HATORI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VICENTE DE PAULO DALE COUTINHO </a:t>
            </a:r>
          </a:p>
          <a:p>
            <a:pPr algn="l">
              <a:lnSpc>
                <a:spcPts val="2800"/>
              </a:lnSpc>
            </a:pPr>
            <a:endParaRPr lang="en-US" sz="2000" spc="152">
              <a:solidFill>
                <a:srgbClr val="ECD8BB"/>
              </a:solidFill>
              <a:latin typeface="Clear Sans"/>
              <a:ea typeface="Clear Sans"/>
              <a:cs typeface="Clear Sans"/>
              <a:sym typeface="Clear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TextBox 2"/>
          <p:cNvSpPr txBox="1"/>
          <p:nvPr/>
        </p:nvSpPr>
        <p:spPr>
          <a:xfrm>
            <a:off x="10891689" y="904875"/>
            <a:ext cx="6367611"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INSTITUIÇÕES</a:t>
            </a:r>
          </a:p>
          <a:p>
            <a:pPr algn="r">
              <a:lnSpc>
                <a:spcPts val="8959"/>
              </a:lnSpc>
            </a:pPr>
            <a:r>
              <a:rPr lang="en-US" sz="6399" b="1" spc="486">
                <a:solidFill>
                  <a:srgbClr val="ECD8BB"/>
                </a:solidFill>
                <a:latin typeface="Clear Sans Bold"/>
                <a:ea typeface="Clear Sans Bold"/>
                <a:cs typeface="Clear Sans Bold"/>
                <a:sym typeface="Clear Sans Bold"/>
              </a:rPr>
              <a:t>ATENDIDAS</a:t>
            </a:r>
          </a:p>
        </p:txBody>
      </p:sp>
      <p:sp>
        <p:nvSpPr>
          <p:cNvPr id="3" name="TextBox 3"/>
          <p:cNvSpPr txBox="1"/>
          <p:nvPr/>
        </p:nvSpPr>
        <p:spPr>
          <a:xfrm>
            <a:off x="1028700" y="1670175"/>
            <a:ext cx="8115300" cy="7750175"/>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 VIRGILIO DE MELLO FRANCO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EMEFM ANTONIO ALVES VERISSIMO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EMEFM DARCY RIBEIRO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EMEFM OSWALDO ARANHA BANDEIRA DE MELLO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EMEFM PROFESSOR DERVILLE ALLEGRETTI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BRIGADEIRO EDUCARDO GOMES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CRUZ E SOUZA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HEITOR VILLA LOBOS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JARDIM FELICIDADE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JARDIM IMPERADOR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JARDIM MONTE BELO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JOANA MITSUE ISHII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MARIA APARECIDA VITA PIANTE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MONTE CASTELO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EMEI VANDA COELHO DE MORAES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EMEO CORA CORALINA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ESCOLA DA VILA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ESCOLA MUNICIPAL DE SÁUDE | UNIFESP</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ESPAÇO EKOA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FÁBRICA CULTURA BRASILANDIA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FÁBRICA DE CULTURA PARQUE BELEM</a:t>
            </a:r>
          </a:p>
          <a:p>
            <a:pPr algn="l">
              <a:lnSpc>
                <a:spcPts val="2800"/>
              </a:lnSpc>
            </a:pPr>
            <a:endParaRPr lang="en-US" sz="2000" spc="152">
              <a:solidFill>
                <a:srgbClr val="ECD8BB"/>
              </a:solidFill>
              <a:latin typeface="Clear Sans"/>
              <a:ea typeface="Clear Sans"/>
              <a:cs typeface="Clear Sans"/>
              <a:sym typeface="Clear Sans"/>
            </a:endParaRPr>
          </a:p>
        </p:txBody>
      </p:sp>
      <p:sp>
        <p:nvSpPr>
          <p:cNvPr id="4" name="TextBox 4"/>
          <p:cNvSpPr txBox="1"/>
          <p:nvPr/>
        </p:nvSpPr>
        <p:spPr>
          <a:xfrm>
            <a:off x="15591989" y="241281"/>
            <a:ext cx="2040908" cy="563879"/>
          </a:xfrm>
          <a:prstGeom prst="rect">
            <a:avLst/>
          </a:prstGeom>
        </p:spPr>
        <p:txBody>
          <a:bodyPr lIns="0" tIns="0" rIns="0" bIns="0" rtlCol="0" anchor="t">
            <a:spAutoFit/>
          </a:bodyPr>
          <a:lstStyle/>
          <a:p>
            <a:pPr algn="ctr">
              <a:lnSpc>
                <a:spcPts val="4620"/>
              </a:lnSpc>
            </a:pPr>
            <a:r>
              <a:rPr lang="en-US" sz="3300" spc="250">
                <a:solidFill>
                  <a:srgbClr val="ECD8BB"/>
                </a:solidFill>
                <a:latin typeface="Clear Sans"/>
                <a:ea typeface="Clear Sans"/>
                <a:cs typeface="Clear Sans"/>
                <a:sym typeface="Clear Sans"/>
              </a:rPr>
              <a:t>EXTERNO</a:t>
            </a:r>
          </a:p>
        </p:txBody>
      </p:sp>
      <p:sp>
        <p:nvSpPr>
          <p:cNvPr id="5" name="Freeform 5"/>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6" name="TextBox 6"/>
          <p:cNvSpPr txBox="1"/>
          <p:nvPr/>
        </p:nvSpPr>
        <p:spPr>
          <a:xfrm>
            <a:off x="9144000" y="3432300"/>
            <a:ext cx="8115300" cy="5635625"/>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FATEC SÃO PAULO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FORUM DE PROMOÇÃO DA IGUALDADE RACIAL BENEDITA DA SILVA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FUNDAÇÃO ABRINQ | ASSOCIAÇÃO MÃO NO ARADO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FUNDAÇÃO ABRINQ | EE FLAVIA VIZIBELI PIRRO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FUNDAÇÃO ABRINQ | EE KEIZO ISHIHARA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FUNDAÇÃO ADID JATENE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GEPROS SESCSP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GIFE - GRUPO DE INSTITUTOS, FUNDAÇÕES E EMPRESAS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GRUPO ONJANGO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INSTITUTO DANIEL COMBONI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INSTITUTO FEDERAL DE EDUCAÇÃO, CIÊNCIA E TECNOLOGIA DE SÃO PAULO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INSTITUTO MOREIRA SALLES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MRS LOGISTICA </a:t>
            </a:r>
          </a:p>
          <a:p>
            <a:pPr algn="l">
              <a:lnSpc>
                <a:spcPts val="2800"/>
              </a:lnSpc>
            </a:pPr>
            <a:endParaRPr lang="en-US" sz="2000" spc="152">
              <a:solidFill>
                <a:srgbClr val="ECD8BB"/>
              </a:solidFill>
              <a:latin typeface="Clear Sans"/>
              <a:ea typeface="Clear Sans"/>
              <a:cs typeface="Clear Sans"/>
              <a:sym typeface="Clear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79254"/>
        </a:solidFill>
        <a:effectLst/>
      </p:bgPr>
    </p:bg>
    <p:spTree>
      <p:nvGrpSpPr>
        <p:cNvPr id="1" name=""/>
        <p:cNvGrpSpPr/>
        <p:nvPr/>
      </p:nvGrpSpPr>
      <p:grpSpPr>
        <a:xfrm>
          <a:off x="0" y="0"/>
          <a:ext cx="0" cy="0"/>
          <a:chOff x="0" y="0"/>
          <a:chExt cx="0" cy="0"/>
        </a:xfrm>
      </p:grpSpPr>
      <p:sp>
        <p:nvSpPr>
          <p:cNvPr id="2" name="TextBox 2"/>
          <p:cNvSpPr txBox="1"/>
          <p:nvPr/>
        </p:nvSpPr>
        <p:spPr>
          <a:xfrm>
            <a:off x="10891689" y="904875"/>
            <a:ext cx="6367611"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INSTITUIÇÕES</a:t>
            </a:r>
          </a:p>
          <a:p>
            <a:pPr algn="r">
              <a:lnSpc>
                <a:spcPts val="8959"/>
              </a:lnSpc>
            </a:pPr>
            <a:r>
              <a:rPr lang="en-US" sz="6399" b="1" spc="486">
                <a:solidFill>
                  <a:srgbClr val="ECD8BB"/>
                </a:solidFill>
                <a:latin typeface="Clear Sans Bold"/>
                <a:ea typeface="Clear Sans Bold"/>
                <a:cs typeface="Clear Sans Bold"/>
                <a:sym typeface="Clear Sans Bold"/>
              </a:rPr>
              <a:t>ATENDIDAS</a:t>
            </a:r>
          </a:p>
        </p:txBody>
      </p:sp>
      <p:sp>
        <p:nvSpPr>
          <p:cNvPr id="3" name="TextBox 3"/>
          <p:cNvSpPr txBox="1"/>
          <p:nvPr/>
        </p:nvSpPr>
        <p:spPr>
          <a:xfrm>
            <a:off x="1028700" y="1670175"/>
            <a:ext cx="8115300" cy="6340475"/>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MUSEU DAS FAVELAS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PROGRAMA MENTORIA PARA FUNCIONÁRIOS NEGROS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PROGRAMA PIA SECRETARIA MUNICIPAL DE CULTURA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PROGRAMA VOCACIONAL - SECRETARIA MUNICIPAL DE CULTURA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SECRETARIA MUNICIPAL DE EDUCAÇÃO COORDENADORIA CEUS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SECRETARIA MUNICIPAL DE EDUCAÇÃO COORDENADORIA PEDAGOGICA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SENAC ACLIMAÇÃO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SENAC LAPA FAUSTOLO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SESC CAMPO LIMPO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SESC INTERLAGOS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SESC ITAQUERA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SESC POMPEIA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UNESP BAURU </a:t>
            </a:r>
          </a:p>
          <a:p>
            <a:pPr marL="431801" lvl="1" indent="-215900" algn="l">
              <a:lnSpc>
                <a:spcPts val="2800"/>
              </a:lnSpc>
              <a:buFont typeface="Arial"/>
              <a:buChar char="•"/>
            </a:pPr>
            <a:r>
              <a:rPr lang="en-US" sz="2000" spc="152">
                <a:solidFill>
                  <a:srgbClr val="ECD8BB"/>
                </a:solidFill>
                <a:latin typeface="Clear Sans"/>
                <a:ea typeface="Clear Sans"/>
                <a:cs typeface="Clear Sans"/>
                <a:sym typeface="Clear Sans"/>
              </a:rPr>
              <a:t>UNIFESP GUARULHOS </a:t>
            </a:r>
          </a:p>
          <a:p>
            <a:pPr algn="l">
              <a:lnSpc>
                <a:spcPts val="2800"/>
              </a:lnSpc>
            </a:pPr>
            <a:endParaRPr lang="en-US" sz="2000" spc="152">
              <a:solidFill>
                <a:srgbClr val="ECD8BB"/>
              </a:solidFill>
              <a:latin typeface="Clear Sans"/>
              <a:ea typeface="Clear Sans"/>
              <a:cs typeface="Clear Sans"/>
              <a:sym typeface="Clear Sans"/>
            </a:endParaRPr>
          </a:p>
        </p:txBody>
      </p:sp>
      <p:sp>
        <p:nvSpPr>
          <p:cNvPr id="4" name="Freeform 4"/>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grpSp>
        <p:nvGrpSpPr>
          <p:cNvPr id="5" name="Group 5"/>
          <p:cNvGrpSpPr/>
          <p:nvPr/>
        </p:nvGrpSpPr>
        <p:grpSpPr>
          <a:xfrm>
            <a:off x="10465247" y="4323552"/>
            <a:ext cx="6766041" cy="2027502"/>
            <a:chOff x="17030" y="-2230"/>
            <a:chExt cx="9021387" cy="2703336"/>
          </a:xfrm>
        </p:grpSpPr>
        <p:grpSp>
          <p:nvGrpSpPr>
            <p:cNvPr id="6" name="Group 6"/>
            <p:cNvGrpSpPr/>
            <p:nvPr/>
          </p:nvGrpSpPr>
          <p:grpSpPr>
            <a:xfrm>
              <a:off x="386563" y="-2230"/>
              <a:ext cx="8331586" cy="2703336"/>
              <a:chOff x="0" y="-38100"/>
              <a:chExt cx="1645745" cy="533992"/>
            </a:xfrm>
          </p:grpSpPr>
          <p:sp>
            <p:nvSpPr>
              <p:cNvPr id="7" name="Freeform 7"/>
              <p:cNvSpPr/>
              <p:nvPr/>
            </p:nvSpPr>
            <p:spPr>
              <a:xfrm>
                <a:off x="0" y="0"/>
                <a:ext cx="1645745" cy="495892"/>
              </a:xfrm>
              <a:custGeom>
                <a:avLst/>
                <a:gdLst/>
                <a:ahLst/>
                <a:cxnLst/>
                <a:rect l="l" t="t" r="r" b="b"/>
                <a:pathLst>
                  <a:path w="1645745" h="355707">
                    <a:moveTo>
                      <a:pt x="0" y="0"/>
                    </a:moveTo>
                    <a:lnTo>
                      <a:pt x="1645745" y="0"/>
                    </a:lnTo>
                    <a:lnTo>
                      <a:pt x="1645745" y="355707"/>
                    </a:lnTo>
                    <a:lnTo>
                      <a:pt x="0" y="355707"/>
                    </a:lnTo>
                    <a:close/>
                  </a:path>
                </a:pathLst>
              </a:custGeom>
              <a:solidFill>
                <a:srgbClr val="ECD8BB"/>
              </a:solidFill>
            </p:spPr>
            <p:txBody>
              <a:bodyPr/>
              <a:lstStyle/>
              <a:p>
                <a:endParaRPr lang="pt-BR"/>
              </a:p>
            </p:txBody>
          </p:sp>
          <p:sp>
            <p:nvSpPr>
              <p:cNvPr id="8" name="TextBox 8"/>
              <p:cNvSpPr txBox="1"/>
              <p:nvPr/>
            </p:nvSpPr>
            <p:spPr>
              <a:xfrm>
                <a:off x="0" y="-38100"/>
                <a:ext cx="1645745" cy="393807"/>
              </a:xfrm>
              <a:prstGeom prst="rect">
                <a:avLst/>
              </a:prstGeom>
            </p:spPr>
            <p:txBody>
              <a:bodyPr lIns="77730" tIns="77730" rIns="77730" bIns="77730" rtlCol="0" anchor="ctr"/>
              <a:lstStyle/>
              <a:p>
                <a:pPr algn="ctr">
                  <a:lnSpc>
                    <a:spcPts val="2659"/>
                  </a:lnSpc>
                </a:pPr>
                <a:endParaRPr/>
              </a:p>
            </p:txBody>
          </p:sp>
        </p:grpSp>
        <p:sp>
          <p:nvSpPr>
            <p:cNvPr id="9" name="AutoShape 9"/>
            <p:cNvSpPr/>
            <p:nvPr/>
          </p:nvSpPr>
          <p:spPr>
            <a:xfrm flipV="1">
              <a:off x="37350" y="819654"/>
              <a:ext cx="9001067" cy="292843"/>
            </a:xfrm>
            <a:prstGeom prst="line">
              <a:avLst/>
            </a:prstGeom>
            <a:ln w="74700" cap="flat">
              <a:solidFill>
                <a:srgbClr val="DB6313"/>
              </a:solidFill>
              <a:prstDash val="sysDash"/>
              <a:headEnd type="none" w="sm" len="sm"/>
              <a:tailEnd type="none" w="sm" len="sm"/>
            </a:ln>
          </p:spPr>
          <p:txBody>
            <a:bodyPr/>
            <a:lstStyle/>
            <a:p>
              <a:endParaRPr lang="pt-BR"/>
            </a:p>
          </p:txBody>
        </p:sp>
        <p:sp>
          <p:nvSpPr>
            <p:cNvPr id="10" name="AutoShape 10"/>
            <p:cNvSpPr/>
            <p:nvPr/>
          </p:nvSpPr>
          <p:spPr>
            <a:xfrm flipV="1">
              <a:off x="37350" y="1112497"/>
              <a:ext cx="9001067" cy="48010"/>
            </a:xfrm>
            <a:prstGeom prst="line">
              <a:avLst/>
            </a:prstGeom>
            <a:ln w="74700" cap="flat">
              <a:solidFill>
                <a:srgbClr val="DB6313"/>
              </a:solidFill>
              <a:prstDash val="sysDash"/>
              <a:headEnd type="none" w="sm" len="sm"/>
              <a:tailEnd type="none" w="sm" len="sm"/>
            </a:ln>
          </p:spPr>
          <p:txBody>
            <a:bodyPr/>
            <a:lstStyle/>
            <a:p>
              <a:endParaRPr lang="pt-BR"/>
            </a:p>
          </p:txBody>
        </p:sp>
        <p:sp>
          <p:nvSpPr>
            <p:cNvPr id="11" name="TextBox 11"/>
            <p:cNvSpPr txBox="1"/>
            <p:nvPr/>
          </p:nvSpPr>
          <p:spPr>
            <a:xfrm>
              <a:off x="17030" y="200812"/>
              <a:ext cx="7343581" cy="2300629"/>
            </a:xfrm>
            <a:prstGeom prst="rect">
              <a:avLst/>
            </a:prstGeom>
          </p:spPr>
          <p:txBody>
            <a:bodyPr lIns="0" tIns="0" rIns="0" bIns="0" rtlCol="0" anchor="t">
              <a:spAutoFit/>
            </a:bodyPr>
            <a:lstStyle/>
            <a:p>
              <a:pPr algn="ctr">
                <a:lnSpc>
                  <a:spcPts val="4619"/>
                </a:lnSpc>
              </a:pPr>
              <a:r>
                <a:rPr lang="en-US" sz="3299" spc="250">
                  <a:solidFill>
                    <a:srgbClr val="479254"/>
                  </a:solidFill>
                  <a:latin typeface="Clear Sans"/>
                  <a:ea typeface="Clear Sans"/>
                  <a:cs typeface="Clear Sans"/>
                  <a:sym typeface="Clear Sans"/>
                </a:rPr>
                <a:t>6436 </a:t>
              </a:r>
            </a:p>
            <a:p>
              <a:pPr algn="ctr">
                <a:lnSpc>
                  <a:spcPts val="4619"/>
                </a:lnSpc>
              </a:pPr>
              <a:endParaRPr lang="en-US" sz="3299" spc="250">
                <a:solidFill>
                  <a:srgbClr val="479254"/>
                </a:solidFill>
                <a:latin typeface="Clear Sans"/>
                <a:ea typeface="Clear Sans"/>
                <a:cs typeface="Clear Sans"/>
                <a:sym typeface="Clear Sans"/>
              </a:endParaRPr>
            </a:p>
            <a:p>
              <a:pPr algn="ctr">
                <a:lnSpc>
                  <a:spcPts val="4619"/>
                </a:lnSpc>
              </a:pPr>
              <a:r>
                <a:rPr lang="en-US" sz="3299" spc="250" err="1">
                  <a:solidFill>
                    <a:srgbClr val="479254"/>
                  </a:solidFill>
                  <a:latin typeface="Clear Sans"/>
                  <a:ea typeface="Clear Sans"/>
                  <a:cs typeface="Clear Sans"/>
                  <a:sym typeface="Clear Sans"/>
                </a:rPr>
                <a:t>pessoas</a:t>
              </a:r>
              <a:r>
                <a:rPr lang="en-US" sz="3299" spc="250">
                  <a:solidFill>
                    <a:srgbClr val="479254"/>
                  </a:solidFill>
                  <a:latin typeface="Clear Sans"/>
                  <a:ea typeface="Clear Sans"/>
                  <a:cs typeface="Clear Sans"/>
                  <a:sym typeface="Clear Sans"/>
                </a:rPr>
                <a:t> </a:t>
              </a:r>
              <a:r>
                <a:rPr lang="en-US" sz="3299" spc="250" err="1">
                  <a:solidFill>
                    <a:srgbClr val="479254"/>
                  </a:solidFill>
                  <a:latin typeface="Clear Sans"/>
                  <a:ea typeface="Clear Sans"/>
                  <a:cs typeface="Clear Sans"/>
                  <a:sym typeface="Clear Sans"/>
                </a:rPr>
                <a:t>atendidas</a:t>
              </a:r>
              <a:endParaRPr lang="en-US" sz="3299" spc="250">
                <a:solidFill>
                  <a:srgbClr val="479254"/>
                </a:solidFill>
                <a:latin typeface="Clear Sans"/>
                <a:ea typeface="Clear Sans"/>
                <a:cs typeface="Clear Sans"/>
                <a:sym typeface="Clear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B6313"/>
        </a:solidFill>
        <a:effectLst/>
      </p:bgPr>
    </p:bg>
    <p:spTree>
      <p:nvGrpSpPr>
        <p:cNvPr id="1" name=""/>
        <p:cNvGrpSpPr/>
        <p:nvPr/>
      </p:nvGrpSpPr>
      <p:grpSpPr>
        <a:xfrm>
          <a:off x="0" y="0"/>
          <a:ext cx="0" cy="0"/>
          <a:chOff x="0" y="0"/>
          <a:chExt cx="0" cy="0"/>
        </a:xfrm>
      </p:grpSpPr>
      <p:sp>
        <p:nvSpPr>
          <p:cNvPr id="2" name="TextBox 2"/>
          <p:cNvSpPr txBox="1"/>
          <p:nvPr/>
        </p:nvSpPr>
        <p:spPr>
          <a:xfrm>
            <a:off x="10250537" y="904875"/>
            <a:ext cx="7008763" cy="2228215"/>
          </a:xfrm>
          <a:prstGeom prst="rect">
            <a:avLst/>
          </a:prstGeom>
        </p:spPr>
        <p:txBody>
          <a:bodyPr lIns="0" tIns="0" rIns="0" bIns="0" rtlCol="0" anchor="t">
            <a:spAutoFit/>
          </a:bodyPr>
          <a:lstStyle/>
          <a:p>
            <a:pPr algn="r">
              <a:lnSpc>
                <a:spcPts val="8959"/>
              </a:lnSpc>
            </a:pPr>
            <a:r>
              <a:rPr lang="en-US" sz="6399" b="1" spc="486">
                <a:solidFill>
                  <a:srgbClr val="ECD8BB"/>
                </a:solidFill>
                <a:latin typeface="Clear Sans Bold"/>
                <a:ea typeface="Clear Sans Bold"/>
                <a:cs typeface="Clear Sans Bold"/>
                <a:sym typeface="Clear Sans Bold"/>
              </a:rPr>
              <a:t>PARCERIAS</a:t>
            </a:r>
          </a:p>
          <a:p>
            <a:pPr algn="r">
              <a:lnSpc>
                <a:spcPts val="8959"/>
              </a:lnSpc>
            </a:pPr>
            <a:r>
              <a:rPr lang="en-US" sz="6399" b="1" spc="486">
                <a:solidFill>
                  <a:srgbClr val="ECD8BB"/>
                </a:solidFill>
                <a:latin typeface="Clear Sans Bold"/>
                <a:ea typeface="Clear Sans Bold"/>
                <a:cs typeface="Clear Sans Bold"/>
                <a:sym typeface="Clear Sans Bold"/>
              </a:rPr>
              <a:t>ESTABELECIDAS</a:t>
            </a:r>
          </a:p>
        </p:txBody>
      </p:sp>
      <p:grpSp>
        <p:nvGrpSpPr>
          <p:cNvPr id="4" name="Group 4"/>
          <p:cNvGrpSpPr/>
          <p:nvPr/>
        </p:nvGrpSpPr>
        <p:grpSpPr>
          <a:xfrm>
            <a:off x="1363028" y="2435491"/>
            <a:ext cx="6952636" cy="2203417"/>
            <a:chOff x="0" y="0"/>
            <a:chExt cx="1853591" cy="580324"/>
          </a:xfrm>
        </p:grpSpPr>
        <p:sp>
          <p:nvSpPr>
            <p:cNvPr id="5" name="Freeform 5"/>
            <p:cNvSpPr/>
            <p:nvPr/>
          </p:nvSpPr>
          <p:spPr>
            <a:xfrm>
              <a:off x="0" y="0"/>
              <a:ext cx="1853591" cy="580324"/>
            </a:xfrm>
            <a:custGeom>
              <a:avLst/>
              <a:gdLst/>
              <a:ahLst/>
              <a:cxnLst/>
              <a:rect l="l" t="t" r="r" b="b"/>
              <a:pathLst>
                <a:path w="1853591" h="580324">
                  <a:moveTo>
                    <a:pt x="0" y="0"/>
                  </a:moveTo>
                  <a:lnTo>
                    <a:pt x="1853591" y="0"/>
                  </a:lnTo>
                  <a:lnTo>
                    <a:pt x="1853591" y="580324"/>
                  </a:lnTo>
                  <a:lnTo>
                    <a:pt x="0" y="580324"/>
                  </a:lnTo>
                  <a:close/>
                </a:path>
              </a:pathLst>
            </a:custGeom>
            <a:solidFill>
              <a:srgbClr val="ECD8BB"/>
            </a:solidFill>
          </p:spPr>
          <p:txBody>
            <a:bodyPr/>
            <a:lstStyle/>
            <a:p>
              <a:endParaRPr lang="pt-BR"/>
            </a:p>
          </p:txBody>
        </p:sp>
        <p:sp>
          <p:nvSpPr>
            <p:cNvPr id="6" name="TextBox 6"/>
            <p:cNvSpPr txBox="1"/>
            <p:nvPr/>
          </p:nvSpPr>
          <p:spPr>
            <a:xfrm>
              <a:off x="0" y="-38100"/>
              <a:ext cx="1853591" cy="618424"/>
            </a:xfrm>
            <a:prstGeom prst="rect">
              <a:avLst/>
            </a:prstGeom>
          </p:spPr>
          <p:txBody>
            <a:bodyPr lIns="77730" tIns="77730" rIns="77730" bIns="77730" rtlCol="0" anchor="ctr"/>
            <a:lstStyle/>
            <a:p>
              <a:pPr algn="ctr">
                <a:lnSpc>
                  <a:spcPts val="2659"/>
                </a:lnSpc>
              </a:pPr>
              <a:endParaRPr/>
            </a:p>
          </p:txBody>
        </p:sp>
      </p:grpSp>
      <p:sp>
        <p:nvSpPr>
          <p:cNvPr id="9" name="TextBox 9"/>
          <p:cNvSpPr txBox="1"/>
          <p:nvPr/>
        </p:nvSpPr>
        <p:spPr>
          <a:xfrm>
            <a:off x="1620781" y="2572380"/>
            <a:ext cx="6475240" cy="1929637"/>
          </a:xfrm>
          <a:prstGeom prst="rect">
            <a:avLst/>
          </a:prstGeom>
        </p:spPr>
        <p:txBody>
          <a:bodyPr lIns="0" tIns="0" rIns="0" bIns="0" rtlCol="0" anchor="t">
            <a:spAutoFit/>
          </a:bodyPr>
          <a:lstStyle/>
          <a:p>
            <a:pPr algn="ctr">
              <a:lnSpc>
                <a:spcPts val="3842"/>
              </a:lnSpc>
            </a:pPr>
            <a:r>
              <a:rPr lang="en-US" sz="2744" spc="208" err="1">
                <a:solidFill>
                  <a:srgbClr val="479254"/>
                </a:solidFill>
                <a:latin typeface="Clear Sans"/>
                <a:ea typeface="Clear Sans"/>
                <a:cs typeface="Clear Sans"/>
                <a:sym typeface="Clear Sans"/>
              </a:rPr>
              <a:t>Projeto</a:t>
            </a:r>
            <a:r>
              <a:rPr lang="en-US" sz="2744" spc="208">
                <a:solidFill>
                  <a:srgbClr val="479254"/>
                </a:solidFill>
                <a:latin typeface="Clear Sans"/>
                <a:ea typeface="Clear Sans"/>
                <a:cs typeface="Clear Sans"/>
                <a:sym typeface="Clear Sans"/>
              </a:rPr>
              <a:t> </a:t>
            </a:r>
            <a:r>
              <a:rPr lang="en-US" sz="2744" spc="208" err="1">
                <a:solidFill>
                  <a:srgbClr val="479254"/>
                </a:solidFill>
                <a:latin typeface="Clear Sans"/>
                <a:ea typeface="Clear Sans"/>
                <a:cs typeface="Clear Sans"/>
                <a:sym typeface="Clear Sans"/>
              </a:rPr>
              <a:t>Itinerância</a:t>
            </a:r>
            <a:r>
              <a:rPr lang="en-US" sz="2744" spc="208">
                <a:solidFill>
                  <a:srgbClr val="479254"/>
                </a:solidFill>
                <a:latin typeface="Clear Sans"/>
                <a:ea typeface="Clear Sans"/>
                <a:cs typeface="Clear Sans"/>
                <a:sym typeface="Clear Sans"/>
              </a:rPr>
              <a:t> </a:t>
            </a:r>
            <a:r>
              <a:rPr lang="en-US" sz="2744" spc="208" err="1">
                <a:solidFill>
                  <a:srgbClr val="479254"/>
                </a:solidFill>
                <a:latin typeface="Clear Sans"/>
                <a:ea typeface="Clear Sans"/>
                <a:cs typeface="Clear Sans"/>
                <a:sym typeface="Clear Sans"/>
              </a:rPr>
              <a:t>Antirracista</a:t>
            </a:r>
            <a:r>
              <a:rPr lang="en-US" sz="2744" spc="208">
                <a:solidFill>
                  <a:srgbClr val="479254"/>
                </a:solidFill>
                <a:latin typeface="Clear Sans"/>
                <a:ea typeface="Clear Sans"/>
                <a:cs typeface="Clear Sans"/>
                <a:sym typeface="Clear Sans"/>
              </a:rPr>
              <a:t> do </a:t>
            </a:r>
            <a:r>
              <a:rPr lang="en-US" sz="2744" spc="208" err="1">
                <a:solidFill>
                  <a:srgbClr val="479254"/>
                </a:solidFill>
                <a:latin typeface="Clear Sans"/>
                <a:ea typeface="Clear Sans"/>
                <a:cs typeface="Clear Sans"/>
                <a:sym typeface="Clear Sans"/>
              </a:rPr>
              <a:t>Núcleo</a:t>
            </a:r>
            <a:r>
              <a:rPr lang="en-US" sz="2744" spc="208">
                <a:solidFill>
                  <a:srgbClr val="479254"/>
                </a:solidFill>
                <a:latin typeface="Clear Sans"/>
                <a:ea typeface="Clear Sans"/>
                <a:cs typeface="Clear Sans"/>
                <a:sym typeface="Clear Sans"/>
              </a:rPr>
              <a:t> de </a:t>
            </a:r>
            <a:r>
              <a:rPr lang="en-US" sz="2744" spc="208" err="1">
                <a:solidFill>
                  <a:srgbClr val="479254"/>
                </a:solidFill>
                <a:latin typeface="Clear Sans"/>
                <a:ea typeface="Clear Sans"/>
                <a:cs typeface="Clear Sans"/>
                <a:sym typeface="Clear Sans"/>
              </a:rPr>
              <a:t>Educação</a:t>
            </a:r>
            <a:r>
              <a:rPr lang="en-US" sz="2744" spc="208">
                <a:solidFill>
                  <a:srgbClr val="479254"/>
                </a:solidFill>
                <a:latin typeface="Clear Sans"/>
                <a:ea typeface="Clear Sans"/>
                <a:cs typeface="Clear Sans"/>
                <a:sym typeface="Clear Sans"/>
              </a:rPr>
              <a:t> </a:t>
            </a:r>
            <a:r>
              <a:rPr lang="en-US" sz="2744" spc="208" err="1">
                <a:solidFill>
                  <a:srgbClr val="479254"/>
                </a:solidFill>
                <a:latin typeface="Clear Sans"/>
                <a:ea typeface="Clear Sans"/>
                <a:cs typeface="Clear Sans"/>
                <a:sym typeface="Clear Sans"/>
              </a:rPr>
              <a:t>Étnico</a:t>
            </a:r>
            <a:r>
              <a:rPr lang="en-US" sz="2744" spc="208">
                <a:solidFill>
                  <a:srgbClr val="479254"/>
                </a:solidFill>
                <a:latin typeface="Clear Sans"/>
                <a:ea typeface="Clear Sans"/>
                <a:cs typeface="Clear Sans"/>
                <a:sym typeface="Clear Sans"/>
              </a:rPr>
              <a:t>-Racial NEER - Secretaria Municipal de </a:t>
            </a:r>
            <a:r>
              <a:rPr lang="en-US" sz="2744" spc="208" err="1">
                <a:solidFill>
                  <a:srgbClr val="479254"/>
                </a:solidFill>
                <a:latin typeface="Clear Sans"/>
                <a:ea typeface="Clear Sans"/>
                <a:cs typeface="Clear Sans"/>
                <a:sym typeface="Clear Sans"/>
              </a:rPr>
              <a:t>Educação</a:t>
            </a:r>
            <a:r>
              <a:rPr lang="en-US" sz="2744" spc="208">
                <a:solidFill>
                  <a:srgbClr val="479254"/>
                </a:solidFill>
                <a:latin typeface="Clear Sans"/>
                <a:ea typeface="Clear Sans"/>
                <a:cs typeface="Clear Sans"/>
                <a:sym typeface="Clear Sans"/>
              </a:rPr>
              <a:t> (SME) de São Paulo</a:t>
            </a:r>
          </a:p>
        </p:txBody>
      </p:sp>
      <p:sp>
        <p:nvSpPr>
          <p:cNvPr id="10" name="Freeform 10"/>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
        <p:nvSpPr>
          <p:cNvPr id="11" name="TextBox 11"/>
          <p:cNvSpPr txBox="1"/>
          <p:nvPr/>
        </p:nvSpPr>
        <p:spPr>
          <a:xfrm>
            <a:off x="1620781" y="6030807"/>
            <a:ext cx="6475240" cy="1444085"/>
          </a:xfrm>
          <a:prstGeom prst="rect">
            <a:avLst/>
          </a:prstGeom>
        </p:spPr>
        <p:txBody>
          <a:bodyPr lIns="0" tIns="0" rIns="0" bIns="0" rtlCol="0" anchor="t">
            <a:spAutoFit/>
          </a:bodyPr>
          <a:lstStyle/>
          <a:p>
            <a:pPr algn="ctr">
              <a:lnSpc>
                <a:spcPts val="3842"/>
              </a:lnSpc>
            </a:pPr>
            <a:r>
              <a:rPr lang="en-US" sz="2744" spc="208">
                <a:solidFill>
                  <a:srgbClr val="ECD8BB"/>
                </a:solidFill>
                <a:latin typeface="Clear Sans"/>
                <a:ea typeface="Clear Sans"/>
                <a:cs typeface="Clear Sans"/>
                <a:sym typeface="Clear Sans"/>
              </a:rPr>
              <a:t>*números foram expressivos com a indicações de escolas e viabilização de transporte.</a:t>
            </a:r>
          </a:p>
        </p:txBody>
      </p:sp>
      <p:grpSp>
        <p:nvGrpSpPr>
          <p:cNvPr id="12" name="Group 12"/>
          <p:cNvGrpSpPr/>
          <p:nvPr/>
        </p:nvGrpSpPr>
        <p:grpSpPr>
          <a:xfrm>
            <a:off x="9621945" y="4146826"/>
            <a:ext cx="7659402" cy="2634599"/>
            <a:chOff x="0" y="0"/>
            <a:chExt cx="10212535" cy="3512799"/>
          </a:xfrm>
        </p:grpSpPr>
        <p:grpSp>
          <p:nvGrpSpPr>
            <p:cNvPr id="13" name="Group 13"/>
            <p:cNvGrpSpPr/>
            <p:nvPr/>
          </p:nvGrpSpPr>
          <p:grpSpPr>
            <a:xfrm>
              <a:off x="430666" y="287455"/>
              <a:ext cx="9383803" cy="2937889"/>
              <a:chOff x="0" y="0"/>
              <a:chExt cx="1853591" cy="580324"/>
            </a:xfrm>
          </p:grpSpPr>
          <p:sp>
            <p:nvSpPr>
              <p:cNvPr id="14" name="Freeform 14"/>
              <p:cNvSpPr/>
              <p:nvPr/>
            </p:nvSpPr>
            <p:spPr>
              <a:xfrm>
                <a:off x="0" y="0"/>
                <a:ext cx="1853591" cy="580324"/>
              </a:xfrm>
              <a:custGeom>
                <a:avLst/>
                <a:gdLst/>
                <a:ahLst/>
                <a:cxnLst/>
                <a:rect l="l" t="t" r="r" b="b"/>
                <a:pathLst>
                  <a:path w="1853591" h="580324">
                    <a:moveTo>
                      <a:pt x="0" y="0"/>
                    </a:moveTo>
                    <a:lnTo>
                      <a:pt x="1853591" y="0"/>
                    </a:lnTo>
                    <a:lnTo>
                      <a:pt x="1853591" y="580324"/>
                    </a:lnTo>
                    <a:lnTo>
                      <a:pt x="0" y="580324"/>
                    </a:lnTo>
                    <a:close/>
                  </a:path>
                </a:pathLst>
              </a:custGeom>
              <a:solidFill>
                <a:srgbClr val="ECD8BB"/>
              </a:solidFill>
            </p:spPr>
            <p:txBody>
              <a:bodyPr/>
              <a:lstStyle/>
              <a:p>
                <a:endParaRPr lang="pt-BR"/>
              </a:p>
            </p:txBody>
          </p:sp>
          <p:sp>
            <p:nvSpPr>
              <p:cNvPr id="15" name="TextBox 15"/>
              <p:cNvSpPr txBox="1"/>
              <p:nvPr/>
            </p:nvSpPr>
            <p:spPr>
              <a:xfrm>
                <a:off x="0" y="-38100"/>
                <a:ext cx="1853591" cy="618424"/>
              </a:xfrm>
              <a:prstGeom prst="rect">
                <a:avLst/>
              </a:prstGeom>
            </p:spPr>
            <p:txBody>
              <a:bodyPr lIns="77730" tIns="77730" rIns="77730" bIns="77730" rtlCol="0" anchor="ctr"/>
              <a:lstStyle/>
              <a:p>
                <a:pPr algn="ctr">
                  <a:lnSpc>
                    <a:spcPts val="2659"/>
                  </a:lnSpc>
                </a:pPr>
                <a:endParaRPr/>
              </a:p>
            </p:txBody>
          </p:sp>
        </p:grpSp>
        <p:sp>
          <p:nvSpPr>
            <p:cNvPr id="16" name="AutoShape 16"/>
            <p:cNvSpPr/>
            <p:nvPr/>
          </p:nvSpPr>
          <p:spPr>
            <a:xfrm flipV="1">
              <a:off x="37350" y="1313651"/>
              <a:ext cx="10137835" cy="477763"/>
            </a:xfrm>
            <a:prstGeom prst="line">
              <a:avLst/>
            </a:prstGeom>
            <a:ln w="74700" cap="flat">
              <a:solidFill>
                <a:srgbClr val="479254"/>
              </a:solidFill>
              <a:prstDash val="sysDash"/>
              <a:headEnd type="none" w="sm" len="sm"/>
              <a:tailEnd type="none" w="sm" len="sm"/>
            </a:ln>
          </p:spPr>
          <p:txBody>
            <a:bodyPr/>
            <a:lstStyle/>
            <a:p>
              <a:endParaRPr lang="pt-BR"/>
            </a:p>
          </p:txBody>
        </p:sp>
        <p:sp>
          <p:nvSpPr>
            <p:cNvPr id="17" name="AutoShape 17"/>
            <p:cNvSpPr/>
            <p:nvPr/>
          </p:nvSpPr>
          <p:spPr>
            <a:xfrm flipV="1">
              <a:off x="37350" y="1791414"/>
              <a:ext cx="10137835" cy="78327"/>
            </a:xfrm>
            <a:prstGeom prst="line">
              <a:avLst/>
            </a:prstGeom>
            <a:ln w="74700" cap="flat">
              <a:solidFill>
                <a:srgbClr val="479254"/>
              </a:solidFill>
              <a:prstDash val="sysDash"/>
              <a:headEnd type="none" w="sm" len="sm"/>
              <a:tailEnd type="none" w="sm" len="sm"/>
            </a:ln>
          </p:spPr>
          <p:txBody>
            <a:bodyPr/>
            <a:lstStyle/>
            <a:p>
              <a:endParaRPr lang="pt-BR"/>
            </a:p>
          </p:txBody>
        </p:sp>
      </p:grpSp>
      <p:sp>
        <p:nvSpPr>
          <p:cNvPr id="18" name="TextBox 18"/>
          <p:cNvSpPr txBox="1"/>
          <p:nvPr/>
        </p:nvSpPr>
        <p:spPr>
          <a:xfrm>
            <a:off x="10191979" y="4644624"/>
            <a:ext cx="6475240" cy="1425968"/>
          </a:xfrm>
          <a:prstGeom prst="rect">
            <a:avLst/>
          </a:prstGeom>
        </p:spPr>
        <p:txBody>
          <a:bodyPr lIns="0" tIns="0" rIns="0" bIns="0" rtlCol="0" anchor="t">
            <a:spAutoFit/>
          </a:bodyPr>
          <a:lstStyle/>
          <a:p>
            <a:pPr algn="ctr">
              <a:lnSpc>
                <a:spcPts val="3842"/>
              </a:lnSpc>
            </a:pPr>
            <a:r>
              <a:rPr lang="en-US" sz="2744" spc="208">
                <a:solidFill>
                  <a:srgbClr val="479254"/>
                </a:solidFill>
                <a:latin typeface="Clear Sans"/>
                <a:ea typeface="Clear Sans"/>
                <a:cs typeface="Clear Sans"/>
                <a:sym typeface="Clear Sans"/>
              </a:rPr>
              <a:t>Secretaria de </a:t>
            </a:r>
            <a:r>
              <a:rPr lang="en-US" sz="2744" spc="208" err="1">
                <a:solidFill>
                  <a:srgbClr val="479254"/>
                </a:solidFill>
                <a:latin typeface="Clear Sans"/>
                <a:ea typeface="Clear Sans"/>
                <a:cs typeface="Clear Sans"/>
                <a:sym typeface="Clear Sans"/>
              </a:rPr>
              <a:t>Educação</a:t>
            </a:r>
            <a:r>
              <a:rPr lang="en-US" sz="2744" spc="208">
                <a:solidFill>
                  <a:srgbClr val="479254"/>
                </a:solidFill>
                <a:latin typeface="Clear Sans"/>
                <a:ea typeface="Clear Sans"/>
                <a:cs typeface="Clear Sans"/>
                <a:sym typeface="Clear Sans"/>
              </a:rPr>
              <a:t> de </a:t>
            </a:r>
          </a:p>
          <a:p>
            <a:pPr algn="ctr">
              <a:lnSpc>
                <a:spcPts val="3842"/>
              </a:lnSpc>
            </a:pPr>
            <a:endParaRPr lang="en-US" sz="2744" spc="208">
              <a:solidFill>
                <a:srgbClr val="479254"/>
              </a:solidFill>
              <a:latin typeface="Clear Sans"/>
              <a:ea typeface="Clear Sans"/>
              <a:cs typeface="Clear Sans"/>
              <a:sym typeface="Clear Sans"/>
            </a:endParaRPr>
          </a:p>
          <a:p>
            <a:pPr algn="ctr">
              <a:lnSpc>
                <a:spcPts val="3842"/>
              </a:lnSpc>
            </a:pPr>
            <a:r>
              <a:rPr lang="en-US" sz="2744" spc="208">
                <a:solidFill>
                  <a:srgbClr val="479254"/>
                </a:solidFill>
                <a:latin typeface="Clear Sans"/>
                <a:ea typeface="Clear Sans"/>
                <a:cs typeface="Clear Sans"/>
                <a:sym typeface="Clear Sans"/>
              </a:rPr>
              <a:t>São Bernardo do Campo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CD8BB"/>
        </a:solidFill>
        <a:effectLst/>
      </p:bgPr>
    </p:bg>
    <p:spTree>
      <p:nvGrpSpPr>
        <p:cNvPr id="1" name=""/>
        <p:cNvGrpSpPr/>
        <p:nvPr/>
      </p:nvGrpSpPr>
      <p:grpSpPr>
        <a:xfrm>
          <a:off x="0" y="0"/>
          <a:ext cx="0" cy="0"/>
          <a:chOff x="0" y="0"/>
          <a:chExt cx="0" cy="0"/>
        </a:xfrm>
      </p:grpSpPr>
      <p:sp>
        <p:nvSpPr>
          <p:cNvPr id="2" name="TextBox 2"/>
          <p:cNvSpPr txBox="1"/>
          <p:nvPr/>
        </p:nvSpPr>
        <p:spPr>
          <a:xfrm>
            <a:off x="1028700" y="1095375"/>
            <a:ext cx="7870565" cy="8345046"/>
          </a:xfrm>
          <a:prstGeom prst="rect">
            <a:avLst/>
          </a:prstGeom>
        </p:spPr>
        <p:txBody>
          <a:bodyPr lIns="0" tIns="0" rIns="0" bIns="0" rtlCol="0" anchor="t">
            <a:spAutoFit/>
          </a:bodyPr>
          <a:lstStyle/>
          <a:p>
            <a:pPr algn="l">
              <a:lnSpc>
                <a:spcPts val="1476"/>
              </a:lnSpc>
            </a:pPr>
            <a:r>
              <a:rPr lang="en-US" sz="1800" spc="136">
                <a:solidFill>
                  <a:srgbClr val="479254"/>
                </a:solidFill>
                <a:latin typeface="Clear Sans"/>
                <a:ea typeface="Clear Sans"/>
                <a:cs typeface="Clear Sans"/>
                <a:sym typeface="Clear Sans"/>
              </a:rPr>
              <a:t>SESC – SERVIÇO SOCIAL DO COMÉRCIO: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ADMINISTRAÇÃO REGIONAL NO ESTADO DE SÃO PAULO:</a:t>
            </a:r>
          </a:p>
          <a:p>
            <a:pPr algn="l">
              <a:lnSpc>
                <a:spcPts val="1476"/>
              </a:lnSpc>
            </a:pPr>
            <a:r>
              <a:rPr lang="en-US" sz="1800" spc="136">
                <a:solidFill>
                  <a:srgbClr val="479254"/>
                </a:solidFill>
                <a:latin typeface="Clear Sans"/>
                <a:ea typeface="Clear Sans"/>
                <a:cs typeface="Clear Sans"/>
                <a:sym typeface="Clear Sans"/>
              </a:rPr>
              <a:t> ​</a:t>
            </a:r>
          </a:p>
          <a:p>
            <a:pPr algn="l">
              <a:lnSpc>
                <a:spcPts val="1476"/>
              </a:lnSpc>
            </a:pPr>
            <a:r>
              <a:rPr lang="en-US" sz="1800" spc="136">
                <a:solidFill>
                  <a:srgbClr val="479254"/>
                </a:solidFill>
                <a:latin typeface="Clear Sans"/>
                <a:ea typeface="Clear Sans"/>
                <a:cs typeface="Clear Sans"/>
                <a:sym typeface="Clear Sans"/>
              </a:rPr>
              <a:t>Presidente do Conselho Regional: Abram Szajman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Diretor do Departamento Regional: Luiz Deoclecio Massaro Galina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SUPERINTENDENTES: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Técnico-social: Rosana Paulo da Cunha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Comunicação Social: Ricardo Gentil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Administração: Jackson Andrade de Matos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Assessoria Técnica e de Planejamento: Marta Raquel Colabone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Assessoria Jurídica: Carla Bertucci Barbieri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GERENTES: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Artes Visuais e Tecnologia: Juliana Braga de Mattos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Artes Gráficas: Rogerio Ianelli</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Difusão e Promoção: Ligia Moreira Moreli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Educação para Sustentabilidade e Cidadania: Denise Souza Baena Segura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Estudos e Desenvolvimento: João Paulo Leite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Sesc Vila Mariana: Kelly Adriano de Oliveira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LELIA EM NÓS: FESTAS POPULARES E AMEFRICANIDADE: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Idealização: Boitempo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Curadoria: Glaucea Helena de Britto e Raquel Barreto</a:t>
            </a:r>
          </a:p>
          <a:p>
            <a:pPr algn="l">
              <a:lnSpc>
                <a:spcPts val="1476"/>
              </a:lnSpc>
            </a:pPr>
            <a:r>
              <a:rPr lang="en-US" sz="1800" spc="136">
                <a:solidFill>
                  <a:srgbClr val="479254"/>
                </a:solidFill>
                <a:latin typeface="Clear Sans"/>
                <a:ea typeface="Clear Sans"/>
                <a:cs typeface="Clear Sans"/>
                <a:sym typeface="Clear Sans"/>
              </a:rPr>
              <a:t> ​</a:t>
            </a:r>
          </a:p>
          <a:p>
            <a:pPr algn="l">
              <a:lnSpc>
                <a:spcPts val="1476"/>
              </a:lnSpc>
            </a:pPr>
            <a:r>
              <a:rPr lang="en-US" sz="1800" spc="136">
                <a:solidFill>
                  <a:srgbClr val="479254"/>
                </a:solidFill>
                <a:latin typeface="Clear Sans"/>
                <a:ea typeface="Clear Sans"/>
                <a:cs typeface="Clear Sans"/>
                <a:sym typeface="Clear Sans"/>
              </a:rPr>
              <a:t>Assistentes de Curadoria: Roger Gaspar e Vinicius Sena Mendes ​</a:t>
            </a:r>
          </a:p>
        </p:txBody>
      </p:sp>
      <p:sp>
        <p:nvSpPr>
          <p:cNvPr id="3" name="TextBox 3"/>
          <p:cNvSpPr txBox="1"/>
          <p:nvPr/>
        </p:nvSpPr>
        <p:spPr>
          <a:xfrm>
            <a:off x="9144000" y="940297"/>
            <a:ext cx="8115300" cy="8837676"/>
          </a:xfrm>
          <a:prstGeom prst="rect">
            <a:avLst/>
          </a:prstGeom>
        </p:spPr>
        <p:txBody>
          <a:bodyPr lIns="0" tIns="0" rIns="0" bIns="0" rtlCol="0" anchor="t">
            <a:spAutoFit/>
          </a:bodyPr>
          <a:lstStyle/>
          <a:p>
            <a:pPr algn="l">
              <a:lnSpc>
                <a:spcPts val="1818"/>
              </a:lnSpc>
            </a:pPr>
            <a:r>
              <a:rPr lang="en-US" sz="1800" spc="136">
                <a:solidFill>
                  <a:srgbClr val="479254"/>
                </a:solidFill>
                <a:latin typeface="Clear Sans"/>
                <a:ea typeface="Clear Sans"/>
                <a:cs typeface="Clear Sans"/>
                <a:sym typeface="Clear Sans"/>
              </a:rPr>
              <a:t>Equipe Sesc: Adriana Lazarini Sales, Aline Tafner, Allison Lopes Rocha, Carlos Gustavo Curado, Carolina Barmell, Carolina Paes de Andrade, Claudia Garcia, Melina Barbosa da Silva, Cintia Masil, Estevão Silveira, Fabiana Tardelli, Fabio Luis Vasconcelos, Humberto Vieira Mota, Juliana Okuda Campaneli, Karina Camargo, Laise Guedes, Livia Lima da Silva, Lourdes Aparecida, Mariana Lins Prado, Marina Reis, Maurício Rodrigues, Mirtes Miki, Natália dos Reis, Nathalia Quarz Magalhães, Octavio Weber Neto, Priscila Lourenção, Rachel Sciré, Rafael Nicolas, Ricardo Herculano, Rodney Hermenegildo, Silvia Eri Hirao, Silvio Basílio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Assessoria Técnica: David Ribeiro Produção Executiva: Pink Pineapple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Coordenação de Produção: Adelaide Witzler D’Esposito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Produção: Waléria Dias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Assistente de Produção: Aurize Ribeiro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Projeto de Arquitetura: Carmela Rocha e Sofia Gava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Assistente de Arquitetura: Gabryella Roque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Colaboração: Mirella Schena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Projeto Audiovisual: Mitarte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Desenho de Luz: Danielle Meireles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Assistente de Desenho de Luz: Cristiane Bueno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Identidade Visual: Daó (Giovani Castelucci e Guilherme Vieira) e Laryssa Ramos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Coordenação Editorial: Rafael Zacca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Revisão de Textos: Diana de Abreu Dobránszky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Projeto de Acessibilidade: Mais Diferenças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Plataforma Digital de Acessibilidade: Musea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Projetos de Estrutura, Segurança e Elétrica: Murilo Jarreta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Montagem: Fina Gala </a:t>
            </a:r>
          </a:p>
        </p:txBody>
      </p:sp>
      <p:sp>
        <p:nvSpPr>
          <p:cNvPr id="4" name="Freeform 4"/>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2"/>
            <a:stretch>
              <a:fillRect/>
            </a:stretch>
          </a:blipFill>
        </p:spPr>
        <p:txBody>
          <a:bodyPr/>
          <a:lstStyle/>
          <a:p>
            <a:endParaRPr lang="pt-B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CD8B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0465680" y="3668549"/>
            <a:ext cx="11763721" cy="3880919"/>
            <a:chOff x="0" y="0"/>
            <a:chExt cx="3098264" cy="1022135"/>
          </a:xfrm>
        </p:grpSpPr>
        <p:sp>
          <p:nvSpPr>
            <p:cNvPr id="3" name="Freeform 3"/>
            <p:cNvSpPr/>
            <p:nvPr/>
          </p:nvSpPr>
          <p:spPr>
            <a:xfrm>
              <a:off x="0" y="0"/>
              <a:ext cx="3098264" cy="1022135"/>
            </a:xfrm>
            <a:custGeom>
              <a:avLst/>
              <a:gdLst/>
              <a:ahLst/>
              <a:cxnLst/>
              <a:rect l="l" t="t" r="r" b="b"/>
              <a:pathLst>
                <a:path w="3098264" h="1022135">
                  <a:moveTo>
                    <a:pt x="0" y="0"/>
                  </a:moveTo>
                  <a:lnTo>
                    <a:pt x="3098264" y="0"/>
                  </a:lnTo>
                  <a:lnTo>
                    <a:pt x="3098264" y="1022135"/>
                  </a:lnTo>
                  <a:lnTo>
                    <a:pt x="0" y="1022135"/>
                  </a:lnTo>
                  <a:close/>
                </a:path>
              </a:pathLst>
            </a:custGeom>
            <a:solidFill>
              <a:srgbClr val="F6AF7F"/>
            </a:solidFill>
          </p:spPr>
          <p:txBody>
            <a:bodyPr/>
            <a:lstStyle/>
            <a:p>
              <a:endParaRPr lang="pt-BR"/>
            </a:p>
          </p:txBody>
        </p:sp>
        <p:sp>
          <p:nvSpPr>
            <p:cNvPr id="4" name="TextBox 4"/>
            <p:cNvSpPr txBox="1"/>
            <p:nvPr/>
          </p:nvSpPr>
          <p:spPr>
            <a:xfrm>
              <a:off x="0" y="-38100"/>
              <a:ext cx="3098264" cy="106023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a:off x="11807769" y="3830658"/>
            <a:ext cx="9927433" cy="2625683"/>
          </a:xfrm>
          <a:custGeom>
            <a:avLst/>
            <a:gdLst/>
            <a:ahLst/>
            <a:cxnLst/>
            <a:rect l="l" t="t" r="r" b="b"/>
            <a:pathLst>
              <a:path w="9927433" h="2625683">
                <a:moveTo>
                  <a:pt x="0" y="0"/>
                </a:moveTo>
                <a:lnTo>
                  <a:pt x="9927433" y="0"/>
                </a:lnTo>
                <a:lnTo>
                  <a:pt x="9927433" y="2625684"/>
                </a:lnTo>
                <a:lnTo>
                  <a:pt x="0" y="2625684"/>
                </a:lnTo>
                <a:lnTo>
                  <a:pt x="0" y="0"/>
                </a:lnTo>
                <a:close/>
              </a:path>
            </a:pathLst>
          </a:custGeom>
          <a:blipFill>
            <a:blip r:embed="rId2"/>
            <a:stretch>
              <a:fillRect l="-2694" t="-60048" r="-2245" b="-52255"/>
            </a:stretch>
          </a:blipFill>
        </p:spPr>
        <p:txBody>
          <a:bodyPr/>
          <a:lstStyle/>
          <a:p>
            <a:endParaRPr lang="pt-BR"/>
          </a:p>
        </p:txBody>
      </p:sp>
      <p:sp>
        <p:nvSpPr>
          <p:cNvPr id="6" name="TextBox 6"/>
          <p:cNvSpPr txBox="1"/>
          <p:nvPr/>
        </p:nvSpPr>
        <p:spPr>
          <a:xfrm>
            <a:off x="1028700" y="1095375"/>
            <a:ext cx="7870565" cy="8345046"/>
          </a:xfrm>
          <a:prstGeom prst="rect">
            <a:avLst/>
          </a:prstGeom>
        </p:spPr>
        <p:txBody>
          <a:bodyPr lIns="0" tIns="0" rIns="0" bIns="0" rtlCol="0" anchor="t">
            <a:spAutoFit/>
          </a:bodyPr>
          <a:lstStyle/>
          <a:p>
            <a:pPr algn="l">
              <a:lnSpc>
                <a:spcPts val="1476"/>
              </a:lnSpc>
            </a:pPr>
            <a:r>
              <a:rPr lang="en-US" sz="1800" spc="136">
                <a:solidFill>
                  <a:srgbClr val="479254"/>
                </a:solidFill>
                <a:latin typeface="Clear Sans"/>
                <a:ea typeface="Clear Sans"/>
                <a:cs typeface="Clear Sans"/>
                <a:sym typeface="Clear Sans"/>
              </a:rPr>
              <a:t>Coordenação Educativa: Giselda Perê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Equipe Educativa: Ali Martins, Daniela Rezende, Hellen Nicolau, Henry Castelli, Igor Gervásio, Josefa Rouse, Letícia Castro, Lívia Anjos, Marcella Victória, Mireille Antunes, Ossaiê, Ramo</a:t>
            </a:r>
          </a:p>
          <a:p>
            <a:pPr algn="l">
              <a:lnSpc>
                <a:spcPts val="1476"/>
              </a:lnSpc>
            </a:pPr>
            <a:r>
              <a:rPr lang="en-US" sz="1800" spc="136">
                <a:solidFill>
                  <a:srgbClr val="479254"/>
                </a:solidFill>
                <a:latin typeface="Clear Sans"/>
                <a:ea typeface="Clear Sans"/>
                <a:cs typeface="Clear Sans"/>
                <a:sym typeface="Clear Sans"/>
              </a:rPr>
              <a:t> ​</a:t>
            </a:r>
          </a:p>
          <a:p>
            <a:pPr algn="l">
              <a:lnSpc>
                <a:spcPts val="1476"/>
              </a:lnSpc>
            </a:pPr>
            <a:r>
              <a:rPr lang="en-US" sz="1800" spc="136">
                <a:solidFill>
                  <a:srgbClr val="479254"/>
                </a:solidFill>
                <a:latin typeface="Clear Sans"/>
                <a:ea typeface="Clear Sans"/>
                <a:cs typeface="Clear Sans"/>
                <a:sym typeface="Clear Sans"/>
              </a:rPr>
              <a:t>Assessoria de Imprensa: Baobá Comunicação e Buriti Comunicação</a:t>
            </a:r>
          </a:p>
          <a:p>
            <a:pPr algn="l">
              <a:lnSpc>
                <a:spcPts val="1476"/>
              </a:lnSpc>
            </a:pPr>
            <a:r>
              <a:rPr lang="en-US" sz="1800" spc="136">
                <a:solidFill>
                  <a:srgbClr val="479254"/>
                </a:solidFill>
                <a:latin typeface="Clear Sans"/>
                <a:ea typeface="Clear Sans"/>
                <a:cs typeface="Clear Sans"/>
                <a:sym typeface="Clear Sans"/>
              </a:rPr>
              <a:t> ​</a:t>
            </a:r>
          </a:p>
          <a:p>
            <a:pPr algn="l">
              <a:lnSpc>
                <a:spcPts val="1476"/>
              </a:lnSpc>
            </a:pPr>
            <a:r>
              <a:rPr lang="en-US" sz="1800" spc="136">
                <a:solidFill>
                  <a:srgbClr val="479254"/>
                </a:solidFill>
                <a:latin typeface="Clear Sans"/>
                <a:ea typeface="Clear Sans"/>
                <a:cs typeface="Clear Sans"/>
                <a:sym typeface="Clear Sans"/>
              </a:rPr>
              <a:t>Execução de Cenografia: Cenografia Catanduva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Equipamentos de Iluminação: MLC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Equipamentos de Audiovisual e Multimídia: MTECX</a:t>
            </a:r>
          </a:p>
          <a:p>
            <a:pPr algn="l">
              <a:lnSpc>
                <a:spcPts val="1476"/>
              </a:lnSpc>
            </a:pPr>
            <a:r>
              <a:rPr lang="en-US" sz="1800" spc="136">
                <a:solidFill>
                  <a:srgbClr val="479254"/>
                </a:solidFill>
                <a:latin typeface="Clear Sans"/>
                <a:ea typeface="Clear Sans"/>
                <a:cs typeface="Clear Sans"/>
                <a:sym typeface="Clear Sans"/>
              </a:rPr>
              <a:t> ​</a:t>
            </a:r>
          </a:p>
          <a:p>
            <a:pPr algn="l">
              <a:lnSpc>
                <a:spcPts val="1476"/>
              </a:lnSpc>
            </a:pPr>
            <a:r>
              <a:rPr lang="en-US" sz="1800" spc="136">
                <a:solidFill>
                  <a:srgbClr val="479254"/>
                </a:solidFill>
                <a:latin typeface="Clear Sans"/>
                <a:ea typeface="Clear Sans"/>
                <a:cs typeface="Clear Sans"/>
                <a:sym typeface="Clear Sans"/>
              </a:rPr>
              <a:t>Transporte e Seguro de Obras: ARTQuality </a:t>
            </a:r>
          </a:p>
          <a:p>
            <a:pPr algn="l">
              <a:lnSpc>
                <a:spcPts val="1476"/>
              </a:lnSpc>
            </a:pPr>
            <a:r>
              <a:rPr lang="en-US" sz="1800" spc="136">
                <a:solidFill>
                  <a:srgbClr val="479254"/>
                </a:solidFill>
                <a:latin typeface="Clear Sans"/>
                <a:ea typeface="Clear Sans"/>
                <a:cs typeface="Clear Sans"/>
                <a:sym typeface="Clear Sans"/>
              </a:rPr>
              <a:t>​</a:t>
            </a:r>
          </a:p>
          <a:p>
            <a:pPr algn="l">
              <a:lnSpc>
                <a:spcPts val="1476"/>
              </a:lnSpc>
            </a:pPr>
            <a:r>
              <a:rPr lang="en-US" sz="1800" spc="136">
                <a:solidFill>
                  <a:srgbClr val="479254"/>
                </a:solidFill>
                <a:latin typeface="Clear Sans"/>
                <a:ea typeface="Clear Sans"/>
                <a:cs typeface="Clear Sans"/>
                <a:sym typeface="Clear Sans"/>
              </a:rPr>
              <a:t>Registro Fotográfico para Catálogo: Everton Ballardin e Fabio Souza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Conservação: Adson Carvalho, Alex Costa, Alice Gontijo, Ana Frade, Camilla Ayla, Gil Chaves, Priscilla Moret e Simone Trindade ​</a:t>
            </a:r>
          </a:p>
          <a:p>
            <a:pPr algn="l">
              <a:lnSpc>
                <a:spcPts val="1476"/>
              </a:lnSpc>
            </a:pPr>
            <a:r>
              <a:rPr lang="en-US" sz="1800" spc="136">
                <a:solidFill>
                  <a:srgbClr val="479254"/>
                </a:solidFill>
                <a:latin typeface="Clear Sans"/>
                <a:ea typeface="Clear Sans"/>
                <a:cs typeface="Clear Sans"/>
                <a:sym typeface="Clear Sans"/>
              </a:rPr>
              <a:t>Tratamento de Imagem: Estúdio 321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Impressão Fine Art: Estúdio 321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Adesivagem e Molduras: Artfactory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Impressão em Grande Formato: Fotosfera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Impressão de Comunicação Visual: 2RJ Comunicações e InSign </a:t>
            </a:r>
          </a:p>
          <a:p>
            <a:pPr algn="l">
              <a:lnSpc>
                <a:spcPts val="1476"/>
              </a:lnSpc>
            </a:pPr>
            <a:r>
              <a:rPr lang="en-US" sz="1800" spc="136">
                <a:solidFill>
                  <a:srgbClr val="479254"/>
                </a:solidFill>
                <a:latin typeface="Clear Sans"/>
                <a:ea typeface="Clear Sans"/>
                <a:cs typeface="Clear Sans"/>
                <a:sym typeface="Clear Sans"/>
              </a:rPr>
              <a:t>​</a:t>
            </a:r>
          </a:p>
          <a:p>
            <a:pPr algn="l">
              <a:lnSpc>
                <a:spcPts val="1476"/>
              </a:lnSpc>
            </a:pPr>
            <a:r>
              <a:rPr lang="en-US" sz="1800" spc="136">
                <a:solidFill>
                  <a:srgbClr val="479254"/>
                </a:solidFill>
                <a:latin typeface="Clear Sans"/>
                <a:ea typeface="Clear Sans"/>
                <a:cs typeface="Clear Sans"/>
                <a:sym typeface="Clear Sans"/>
              </a:rPr>
              <a:t>BOITEMPO: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Diretora-Geral: Ivana Jinkings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Gerente de Comunicação: Kim Doria ​</a:t>
            </a:r>
          </a:p>
          <a:p>
            <a:pPr algn="l">
              <a:lnSpc>
                <a:spcPts val="1476"/>
              </a:lnSpc>
            </a:pPr>
            <a:endParaRPr lang="en-US" sz="1800" spc="136">
              <a:solidFill>
                <a:srgbClr val="479254"/>
              </a:solidFill>
              <a:latin typeface="Clear Sans"/>
              <a:ea typeface="Clear Sans"/>
              <a:cs typeface="Clear Sans"/>
              <a:sym typeface="Clear Sans"/>
            </a:endParaRPr>
          </a:p>
          <a:p>
            <a:pPr algn="l">
              <a:lnSpc>
                <a:spcPts val="1476"/>
              </a:lnSpc>
            </a:pPr>
            <a:r>
              <a:rPr lang="en-US" sz="1800" spc="136">
                <a:solidFill>
                  <a:srgbClr val="479254"/>
                </a:solidFill>
                <a:latin typeface="Clear Sans"/>
                <a:ea typeface="Clear Sans"/>
                <a:cs typeface="Clear Sans"/>
                <a:sym typeface="Clear Sans"/>
              </a:rPr>
              <a:t>Equipe: Ana Slade, Artur Renzo, Davi Oliveira, Elaine Ramos, Frank de Oliveira, Frederico Indiani, Higor Alves, Isabella de Oliveira, Isabella Meucci, Ivam Oliveira, Letícia Akutsu, Livia Campos, Livia Viganó, Luciana Capelli, Marcela Sayuri, Marina Valeriano, Mateus Rodrigues, Maurício Barbosa, Pedro Davoglio, Raí Alves, Renata Carnajal, Thais Rimkus e Tulio Candiotto </a:t>
            </a:r>
          </a:p>
          <a:p>
            <a:pPr algn="l">
              <a:lnSpc>
                <a:spcPts val="1476"/>
              </a:lnSpc>
            </a:pPr>
            <a:endParaRPr lang="en-US" sz="1800" spc="136">
              <a:solidFill>
                <a:srgbClr val="479254"/>
              </a:solidFill>
              <a:latin typeface="Clear Sans"/>
              <a:ea typeface="Clear Sans"/>
              <a:cs typeface="Clear Sans"/>
              <a:sym typeface="Clear Sans"/>
            </a:endParaRPr>
          </a:p>
        </p:txBody>
      </p:sp>
      <p:sp>
        <p:nvSpPr>
          <p:cNvPr id="7" name="Freeform 7"/>
          <p:cNvSpPr/>
          <p:nvPr/>
        </p:nvSpPr>
        <p:spPr>
          <a:xfrm>
            <a:off x="6963119" y="9258300"/>
            <a:ext cx="4361762" cy="866900"/>
          </a:xfrm>
          <a:custGeom>
            <a:avLst/>
            <a:gdLst/>
            <a:ahLst/>
            <a:cxnLst/>
            <a:rect l="l" t="t" r="r" b="b"/>
            <a:pathLst>
              <a:path w="4361762" h="866900">
                <a:moveTo>
                  <a:pt x="0" y="0"/>
                </a:moveTo>
                <a:lnTo>
                  <a:pt x="4361762" y="0"/>
                </a:lnTo>
                <a:lnTo>
                  <a:pt x="4361762" y="866900"/>
                </a:lnTo>
                <a:lnTo>
                  <a:pt x="0" y="866900"/>
                </a:lnTo>
                <a:lnTo>
                  <a:pt x="0" y="0"/>
                </a:lnTo>
                <a:close/>
              </a:path>
            </a:pathLst>
          </a:custGeom>
          <a:blipFill>
            <a:blip r:embed="rId3"/>
            <a:stretch>
              <a:fillRect/>
            </a:stretch>
          </a:blipFill>
        </p:spPr>
        <p:txBody>
          <a:bodyPr/>
          <a:lstStyle/>
          <a:p>
            <a:endParaRPr lang="pt-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0f1dc7-e081-4ee5-8ddc-4eb9cb678d23">
      <Terms xmlns="http://schemas.microsoft.com/office/infopath/2007/PartnerControls"/>
    </lcf76f155ced4ddcb4097134ff3c332f>
    <TaxCatchAll xmlns="0c3ae786-5e4f-419c-8a3f-0eb5f2beec7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F4AA543F6DF343AE125287C7372420" ma:contentTypeVersion="19" ma:contentTypeDescription="Create a new document." ma:contentTypeScope="" ma:versionID="80e31c2d4cf67f597e2913233729ac87">
  <xsd:schema xmlns:xsd="http://www.w3.org/2001/XMLSchema" xmlns:xs="http://www.w3.org/2001/XMLSchema" xmlns:p="http://schemas.microsoft.com/office/2006/metadata/properties" xmlns:ns2="2f0f1dc7-e081-4ee5-8ddc-4eb9cb678d23" xmlns:ns3="0c3ae786-5e4f-419c-8a3f-0eb5f2beec71" targetNamespace="http://schemas.microsoft.com/office/2006/metadata/properties" ma:root="true" ma:fieldsID="63c7e8f0b8b92c9c338ade3a17bd240b" ns2:_="" ns3:_="">
    <xsd:import namespace="2f0f1dc7-e081-4ee5-8ddc-4eb9cb678d23"/>
    <xsd:import namespace="0c3ae786-5e4f-419c-8a3f-0eb5f2beec7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0f1dc7-e081-4ee5-8ddc-4eb9cb67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3e1715-c84c-4513-8882-6ca9fbd4fec8"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ae786-5e4f-419c-8a3f-0eb5f2beec7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bef07-5750-4eca-98f1-e07cb21896cd}" ma:internalName="TaxCatchAll" ma:showField="CatchAllData" ma:web="0c3ae786-5e4f-419c-8a3f-0eb5f2beec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C7FA5F-B2B3-4D42-823A-88EA1DECF71E}">
  <ds:schemaRefs>
    <ds:schemaRef ds:uri="0c3ae786-5e4f-419c-8a3f-0eb5f2beec71"/>
    <ds:schemaRef ds:uri="2f0f1dc7-e081-4ee5-8ddc-4eb9cb678d23"/>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741D234-CB4D-4628-A0F9-70101DD943D3}">
  <ds:schemaRefs>
    <ds:schemaRef ds:uri="http://schemas.microsoft.com/sharepoint/v3/contenttype/forms"/>
  </ds:schemaRefs>
</ds:datastoreItem>
</file>

<file path=customXml/itemProps3.xml><?xml version="1.0" encoding="utf-8"?>
<ds:datastoreItem xmlns:ds="http://schemas.openxmlformats.org/officeDocument/2006/customXml" ds:itemID="{54CE71A4-615D-4800-B762-E094E3D103C2}">
  <ds:schemaRefs>
    <ds:schemaRef ds:uri="0c3ae786-5e4f-419c-8a3f-0eb5f2beec71"/>
    <ds:schemaRef ds:uri="2f0f1dc7-e081-4ee5-8ddc-4eb9cb678d2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Personalizar</PresentationFormat>
  <Slides>24</Slides>
  <Notes>1</Notes>
  <HiddenSlides>0</HiddenSlides>
  <ScaleCrop>false</ScaleCrop>
  <HeadingPairs>
    <vt:vector size="4" baseType="variant">
      <vt:variant>
        <vt:lpstr>Tema</vt:lpstr>
      </vt:variant>
      <vt:variant>
        <vt:i4>1</vt:i4>
      </vt:variant>
      <vt:variant>
        <vt:lpstr>Títulos de slides</vt:lpstr>
      </vt:variant>
      <vt:variant>
        <vt:i4>24</vt:i4>
      </vt:variant>
    </vt:vector>
  </HeadingPairs>
  <TitlesOfParts>
    <vt:vector size="25" baseType="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relatório LEN</dc:title>
  <cp:revision>2</cp:revision>
  <dcterms:created xsi:type="dcterms:W3CDTF">2006-08-16T00:00:00Z</dcterms:created>
  <dcterms:modified xsi:type="dcterms:W3CDTF">2026-04-28T22:27:12Z</dcterms:modified>
  <dc:identifier>DAHCRmNaNig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0x01010026F4AA543F6DF343AE125287C7372420</vt:lpwstr>
  </property>
  <property fmtid="{D5CDD505-2E9C-101B-9397-08002B2CF9AE}" pid="3" name="MediaServiceImageTags">
    <vt:lpwstr/>
  </property>
</Properties>
</file>
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0"/>
  </p:notesMasterIdLst>
  <p:sldIdLst>
    <p:sldId id="256" r:id="rId5"/>
    <p:sldId id="259" r:id="rId6"/>
    <p:sldId id="278" r:id="rId7"/>
    <p:sldId id="265" r:id="rId8"/>
    <p:sldId id="273" r:id="rId9"/>
    <p:sldId id="258" r:id="rId10"/>
    <p:sldId id="275" r:id="rId11"/>
    <p:sldId id="266" r:id="rId12"/>
    <p:sldId id="279" r:id="rId13"/>
    <p:sldId id="284" r:id="rId14"/>
    <p:sldId id="271" r:id="rId15"/>
    <p:sldId id="280" r:id="rId16"/>
    <p:sldId id="281" r:id="rId17"/>
    <p:sldId id="282" r:id="rId18"/>
    <p:sldId id="283" r:id="rId19"/>
  </p:sldIdLst>
  <p:sldSz cx="18288000" cy="10287000"/>
  <p:notesSz cx="6858000" cy="9144000"/>
  <p:embeddedFontLst>
    <p:embeddedFont>
      <p:font typeface="Archivo Black" panose="020B0604020202020204" charset="0"/>
      <p:regular r:id="rId21"/>
    </p:embeddedFont>
    <p:embeddedFont>
      <p:font typeface="Garet" panose="020B0604020202020204" charset="0"/>
      <p:regular r:id="rId22"/>
    </p:embeddedFont>
    <p:embeddedFont>
      <p:font typeface="Garet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F4EE86-0D19-4294-9658-161C4649189D}" v="15" dt="2026-04-28T18:03:43.759"/>
    <p1510:client id="{BF6331CD-7355-DD47-AF7B-736EBA104D62}" v="31" dt="2026-04-28T18:00:38.0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1.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ina Barbosa de Melo" userId="S::carolina.barmell@sescsp.org.br::faed3217-556f-4326-a110-3be8cd89edd9" providerId="AD" clId="Web-{BF6331CD-7355-DD47-AF7B-736EBA104D62}"/>
    <pc:docChg chg="modSld">
      <pc:chgData name="Carolina Barbosa de Melo" userId="S::carolina.barmell@sescsp.org.br::faed3217-556f-4326-a110-3be8cd89edd9" providerId="AD" clId="Web-{BF6331CD-7355-DD47-AF7B-736EBA104D62}" dt="2026-04-28T18:00:21.867" v="18" actId="20577"/>
      <pc:docMkLst>
        <pc:docMk/>
      </pc:docMkLst>
      <pc:sldChg chg="modSp">
        <pc:chgData name="Carolina Barbosa de Melo" userId="S::carolina.barmell@sescsp.org.br::faed3217-556f-4326-a110-3be8cd89edd9" providerId="AD" clId="Web-{BF6331CD-7355-DD47-AF7B-736EBA104D62}" dt="2026-04-28T17:59:11.334" v="9" actId="20577"/>
        <pc:sldMkLst>
          <pc:docMk/>
          <pc:sldMk cId="0" sldId="259"/>
        </pc:sldMkLst>
        <pc:spChg chg="mod">
          <ac:chgData name="Carolina Barbosa de Melo" userId="S::carolina.barmell@sescsp.org.br::faed3217-556f-4326-a110-3be8cd89edd9" providerId="AD" clId="Web-{BF6331CD-7355-DD47-AF7B-736EBA104D62}" dt="2026-04-28T17:59:11.334" v="9" actId="20577"/>
          <ac:spMkLst>
            <pc:docMk/>
            <pc:sldMk cId="0" sldId="259"/>
            <ac:spMk id="4" creationId="{C511EDE2-9A5A-C628-030F-920FA69F9F3F}"/>
          </ac:spMkLst>
        </pc:spChg>
      </pc:sldChg>
      <pc:sldChg chg="modSp">
        <pc:chgData name="Carolina Barbosa de Melo" userId="S::carolina.barmell@sescsp.org.br::faed3217-556f-4326-a110-3be8cd89edd9" providerId="AD" clId="Web-{BF6331CD-7355-DD47-AF7B-736EBA104D62}" dt="2026-04-28T18:00:21.867" v="18" actId="20577"/>
        <pc:sldMkLst>
          <pc:docMk/>
          <pc:sldMk cId="5118752" sldId="275"/>
        </pc:sldMkLst>
        <pc:spChg chg="mod">
          <ac:chgData name="Carolina Barbosa de Melo" userId="S::carolina.barmell@sescsp.org.br::faed3217-556f-4326-a110-3be8cd89edd9" providerId="AD" clId="Web-{BF6331CD-7355-DD47-AF7B-736EBA104D62}" dt="2026-04-28T18:00:21.867" v="18" actId="20577"/>
          <ac:spMkLst>
            <pc:docMk/>
            <pc:sldMk cId="5118752" sldId="275"/>
            <ac:spMk id="3" creationId="{443776A8-5BF1-5C6C-FDAB-3F0211A9B258}"/>
          </ac:spMkLst>
        </pc:spChg>
      </pc:sldChg>
      <pc:sldChg chg="modSp">
        <pc:chgData name="Carolina Barbosa de Melo" userId="S::carolina.barmell@sescsp.org.br::faed3217-556f-4326-a110-3be8cd89edd9" providerId="AD" clId="Web-{BF6331CD-7355-DD47-AF7B-736EBA104D62}" dt="2026-04-28T17:59:47.584" v="16" actId="20577"/>
        <pc:sldMkLst>
          <pc:docMk/>
          <pc:sldMk cId="2205436649" sldId="278"/>
        </pc:sldMkLst>
        <pc:spChg chg="mod">
          <ac:chgData name="Carolina Barbosa de Melo" userId="S::carolina.barmell@sescsp.org.br::faed3217-556f-4326-a110-3be8cd89edd9" providerId="AD" clId="Web-{BF6331CD-7355-DD47-AF7B-736EBA104D62}" dt="2026-04-28T17:59:47.584" v="16" actId="20577"/>
          <ac:spMkLst>
            <pc:docMk/>
            <pc:sldMk cId="2205436649" sldId="278"/>
            <ac:spMk id="12" creationId="{00000000-0000-0000-0000-000000000000}"/>
          </ac:spMkLst>
        </pc:spChg>
      </pc:sldChg>
    </pc:docChg>
  </pc:docChgLst>
  <pc:docChgLst>
    <pc:chgData name="Carolina Barbosa de Melo" userId="faed3217-556f-4326-a110-3be8cd89edd9" providerId="ADAL" clId="{EE13A5FF-5000-4168-93D9-56C83F664890}"/>
    <pc:docChg chg="undo custSel modSld">
      <pc:chgData name="Carolina Barbosa de Melo" userId="faed3217-556f-4326-a110-3be8cd89edd9" providerId="ADAL" clId="{EE13A5FF-5000-4168-93D9-56C83F664890}" dt="2026-04-28T18:03:43.759" v="14" actId="1076"/>
      <pc:docMkLst>
        <pc:docMk/>
      </pc:docMkLst>
      <pc:sldChg chg="modSp mod">
        <pc:chgData name="Carolina Barbosa de Melo" userId="faed3217-556f-4326-a110-3be8cd89edd9" providerId="ADAL" clId="{EE13A5FF-5000-4168-93D9-56C83F664890}" dt="2026-04-28T18:03:43.759" v="14" actId="1076"/>
        <pc:sldMkLst>
          <pc:docMk/>
          <pc:sldMk cId="5118752" sldId="275"/>
        </pc:sldMkLst>
        <pc:spChg chg="mod">
          <ac:chgData name="Carolina Barbosa de Melo" userId="faed3217-556f-4326-a110-3be8cd89edd9" providerId="ADAL" clId="{EE13A5FF-5000-4168-93D9-56C83F664890}" dt="2026-04-28T18:03:43.759" v="14" actId="1076"/>
          <ac:spMkLst>
            <pc:docMk/>
            <pc:sldMk cId="5118752" sldId="275"/>
            <ac:spMk id="3" creationId="{443776A8-5BF1-5C6C-FDAB-3F0211A9B258}"/>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09_0.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111_C70792BE.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1.1644832605531296E-2"/>
          <c:y val="2.8651002514369868E-2"/>
          <c:w val="0.98398835516739447"/>
          <c:h val="0.88152186304610236"/>
        </c:manualLayout>
      </c:layout>
      <c:barChart>
        <c:barDir val="col"/>
        <c:grouping val="stacked"/>
        <c:varyColors val="0"/>
        <c:ser>
          <c:idx val="0"/>
          <c:order val="0"/>
          <c:tx>
            <c:strRef>
              <c:f>Planilha1!$B$1</c:f>
              <c:strCache>
                <c:ptCount val="1"/>
                <c:pt idx="0">
                  <c:v>Série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2400" b="0" i="0" u="none" strike="noStrike" kern="1200" baseline="0">
                    <a:solidFill>
                      <a:schemeClr val="lt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Planilha1!$A$2:$A$8</c:f>
              <c:strCache>
                <c:ptCount val="7"/>
                <c:pt idx="0">
                  <c:v>dezembro</c:v>
                </c:pt>
                <c:pt idx="1">
                  <c:v>janeiro</c:v>
                </c:pt>
                <c:pt idx="2">
                  <c:v>fevereiro</c:v>
                </c:pt>
                <c:pt idx="3">
                  <c:v>março</c:v>
                </c:pt>
                <c:pt idx="4">
                  <c:v>abril</c:v>
                </c:pt>
                <c:pt idx="5">
                  <c:v>maio</c:v>
                </c:pt>
                <c:pt idx="6">
                  <c:v>junho</c:v>
                </c:pt>
              </c:strCache>
            </c:strRef>
          </c:cat>
          <c:val>
            <c:numRef>
              <c:f>Planilha1!$B$2:$B$8</c:f>
              <c:numCache>
                <c:formatCode>General</c:formatCode>
                <c:ptCount val="7"/>
                <c:pt idx="0">
                  <c:v>260</c:v>
                </c:pt>
                <c:pt idx="1">
                  <c:v>525</c:v>
                </c:pt>
                <c:pt idx="2">
                  <c:v>1215</c:v>
                </c:pt>
                <c:pt idx="3">
                  <c:v>2003</c:v>
                </c:pt>
                <c:pt idx="4">
                  <c:v>2148</c:v>
                </c:pt>
                <c:pt idx="5">
                  <c:v>1240</c:v>
                </c:pt>
                <c:pt idx="6">
                  <c:v>492</c:v>
                </c:pt>
              </c:numCache>
            </c:numRef>
          </c:val>
          <c:extLst>
            <c:ext xmlns:c16="http://schemas.microsoft.com/office/drawing/2014/chart" uri="{C3380CC4-5D6E-409C-BE32-E72D297353CC}">
              <c16:uniqueId val="{00000000-FE0C-4415-8C53-828AF0FCC669}"/>
            </c:ext>
          </c:extLst>
        </c:ser>
        <c:dLbls>
          <c:showLegendKey val="0"/>
          <c:showVal val="1"/>
          <c:showCatName val="0"/>
          <c:showSerName val="0"/>
          <c:showPercent val="0"/>
          <c:showBubbleSize val="0"/>
        </c:dLbls>
        <c:gapWidth val="95"/>
        <c:overlap val="100"/>
        <c:axId val="758611048"/>
        <c:axId val="758607088"/>
      </c:barChart>
      <c:catAx>
        <c:axId val="758611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cap="all" spc="120" normalizeH="0" baseline="0">
                <a:solidFill>
                  <a:schemeClr val="tx1">
                    <a:lumMod val="65000"/>
                    <a:lumOff val="35000"/>
                  </a:schemeClr>
                </a:solidFill>
                <a:latin typeface="+mn-lt"/>
                <a:ea typeface="+mn-ea"/>
                <a:cs typeface="+mn-cs"/>
              </a:defRPr>
            </a:pPr>
            <a:endParaRPr lang="pt-BR"/>
          </a:p>
        </c:txPr>
        <c:crossAx val="758607088"/>
        <c:crosses val="autoZero"/>
        <c:auto val="1"/>
        <c:lblAlgn val="ctr"/>
        <c:lblOffset val="100"/>
        <c:noMultiLvlLbl val="0"/>
      </c:catAx>
      <c:valAx>
        <c:axId val="758607088"/>
        <c:scaling>
          <c:orientation val="minMax"/>
        </c:scaling>
        <c:delete val="1"/>
        <c:axPos val="l"/>
        <c:numFmt formatCode="General" sourceLinked="1"/>
        <c:majorTickMark val="none"/>
        <c:minorTickMark val="none"/>
        <c:tickLblPos val="nextTo"/>
        <c:crossAx val="758611048"/>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400"/>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Planilha1!$B$1</c:f>
              <c:strCache>
                <c:ptCount val="1"/>
                <c:pt idx="0">
                  <c:v>Série 1</c:v>
                </c:pt>
              </c:strCache>
            </c:strRef>
          </c:tx>
          <c:spPr>
            <a:ln w="19050" cap="rnd" cmpd="sng" algn="ctr">
              <a:solidFill>
                <a:schemeClr val="dk1">
                  <a:tint val="88500"/>
                  <a:shade val="95000"/>
                  <a:satMod val="105000"/>
                </a:schemeClr>
              </a:solidFill>
              <a:round/>
            </a:ln>
            <a:effectLst/>
          </c:spPr>
          <c:marker>
            <c:symbol val="circle"/>
            <c:size val="17"/>
            <c:spPr>
              <a:solidFill>
                <a:schemeClr val="lt1"/>
              </a:solidFill>
              <a:ln>
                <a:noFill/>
              </a:ln>
              <a:effectLst/>
            </c:spPr>
          </c:marker>
          <c:dLbls>
            <c:spPr>
              <a:noFill/>
              <a:ln>
                <a:noFill/>
              </a:ln>
              <a:effectLst/>
            </c:spPr>
            <c:txPr>
              <a:bodyPr rot="0" spcFirstLastPara="1" vertOverflow="ellipsis" vert="horz" wrap="square" anchor="ctr" anchorCtr="1"/>
              <a:lstStyle/>
              <a:p>
                <a:pPr>
                  <a:defRPr sz="2800" b="1" i="0" u="none" strike="noStrike" kern="1200" baseline="0">
                    <a:solidFill>
                      <a:schemeClr val="dk1">
                        <a:tint val="88500"/>
                      </a:schemeClr>
                    </a:solidFill>
                    <a:latin typeface="+mn-lt"/>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Planilha1!$A$2:$A$8</c:f>
              <c:strCache>
                <c:ptCount val="7"/>
                <c:pt idx="0">
                  <c:v>dezembro</c:v>
                </c:pt>
                <c:pt idx="1">
                  <c:v>janeiro</c:v>
                </c:pt>
                <c:pt idx="2">
                  <c:v>fevereiro</c:v>
                </c:pt>
                <c:pt idx="3">
                  <c:v>março</c:v>
                </c:pt>
                <c:pt idx="4">
                  <c:v>abril</c:v>
                </c:pt>
                <c:pt idx="5">
                  <c:v>maio</c:v>
                </c:pt>
                <c:pt idx="6">
                  <c:v>junho</c:v>
                </c:pt>
              </c:strCache>
            </c:strRef>
          </c:cat>
          <c:val>
            <c:numRef>
              <c:f>Planilha1!$B$2:$B$8</c:f>
              <c:numCache>
                <c:formatCode>General</c:formatCode>
                <c:ptCount val="7"/>
                <c:pt idx="0">
                  <c:v>0</c:v>
                </c:pt>
                <c:pt idx="1">
                  <c:v>0</c:v>
                </c:pt>
                <c:pt idx="2">
                  <c:v>0</c:v>
                </c:pt>
                <c:pt idx="3">
                  <c:v>3</c:v>
                </c:pt>
                <c:pt idx="4">
                  <c:v>6</c:v>
                </c:pt>
                <c:pt idx="5">
                  <c:v>7</c:v>
                </c:pt>
                <c:pt idx="6">
                  <c:v>1</c:v>
                </c:pt>
              </c:numCache>
            </c:numRef>
          </c:val>
          <c:smooth val="0"/>
          <c:extLst>
            <c:ext xmlns:c16="http://schemas.microsoft.com/office/drawing/2014/chart" uri="{C3380CC4-5D6E-409C-BE32-E72D297353CC}">
              <c16:uniqueId val="{00000000-FE0C-4415-8C53-828AF0FCC669}"/>
            </c:ext>
          </c:extLst>
        </c:ser>
        <c:dLbls>
          <c:dLblPos val="ctr"/>
          <c:showLegendKey val="0"/>
          <c:showVal val="1"/>
          <c:showCatName val="0"/>
          <c:showSerName val="0"/>
          <c:showPercent val="0"/>
          <c:showBubbleSize val="0"/>
        </c:dLbls>
        <c:marker val="1"/>
        <c:smooth val="0"/>
        <c:axId val="758611048"/>
        <c:axId val="758607088"/>
      </c:lineChart>
      <c:catAx>
        <c:axId val="758611048"/>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800" b="0" i="0" u="none" strike="noStrike" kern="1200" baseline="0">
                <a:solidFill>
                  <a:schemeClr val="dk1">
                    <a:lumMod val="65000"/>
                    <a:lumOff val="35000"/>
                  </a:schemeClr>
                </a:solidFill>
                <a:latin typeface="+mn-lt"/>
                <a:ea typeface="+mn-ea"/>
                <a:cs typeface="+mn-cs"/>
              </a:defRPr>
            </a:pPr>
            <a:endParaRPr lang="pt-BR"/>
          </a:p>
        </c:txPr>
        <c:crossAx val="758607088"/>
        <c:crosses val="autoZero"/>
        <c:auto val="1"/>
        <c:lblAlgn val="ctr"/>
        <c:lblOffset val="100"/>
        <c:noMultiLvlLbl val="0"/>
      </c:catAx>
      <c:valAx>
        <c:axId val="758607088"/>
        <c:scaling>
          <c:orientation val="minMax"/>
        </c:scaling>
        <c:delete val="1"/>
        <c:axPos val="l"/>
        <c:numFmt formatCode="General" sourceLinked="1"/>
        <c:majorTickMark val="none"/>
        <c:minorTickMark val="none"/>
        <c:tickLblPos val="nextTo"/>
        <c:crossAx val="758611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chemeClr val="dk1">
          <a:lumMod val="15000"/>
          <a:lumOff val="85000"/>
        </a:schemeClr>
      </a:solidFill>
      <a:round/>
    </a:ln>
    <a:effectLst/>
  </c:spPr>
  <c:txPr>
    <a:bodyPr/>
    <a:lstStyle/>
    <a:p>
      <a:pPr>
        <a:defRPr sz="2800"/>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1">
  <a:schemeClr val="accent1"/>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4">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330" kern="120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cs:styleClr val="auto"/>
    </cs:fontRef>
    <cs:spPr/>
    <cs:defRPr sz="1197" b="1" i="0" u="none" strike="noStrike" kern="1200" baseline="0"/>
  </cs:dataLabel>
  <cs:dataLabelCallout>
    <cs:lnRef idx="0"/>
    <cs:fillRef idx="0"/>
    <cs:effectRef idx="0"/>
    <cs:fontRef idx="minor">
      <a:schemeClr val="dk1">
        <a:lumMod val="65000"/>
        <a:lumOff val="35000"/>
      </a:schemeClr>
    </cs:fontRef>
    <cs:spPr>
      <a:solidFill>
        <a:schemeClr val="lt1"/>
      </a:solidFill>
      <a:ln w="9575">
        <a:solidFill>
          <a:schemeClr val="lt1">
            <a:lumMod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19050" cap="rnd" cmpd="sng" algn="ctr">
        <a:solidFill>
          <a:schemeClr val="phClr">
            <a:shade val="95000"/>
            <a:satMod val="105000"/>
          </a:schemeClr>
        </a:solidFill>
        <a:round/>
      </a:ln>
    </cs:spPr>
  </cs:dataPointLine>
  <cs:dataPointMarker>
    <cs:lnRef idx="0"/>
    <cs:fillRef idx="0"/>
    <cs:effectRef idx="0"/>
    <cs:fontRef idx="minor">
      <a:schemeClr val="dk1"/>
    </cs:fontRef>
    <cs:spPr>
      <a:solidFill>
        <a:schemeClr val="lt1"/>
      </a:solidFill>
    </cs:spPr>
  </cs:dataPointMarker>
  <cs:dataPointMarkerLayout symbol="circle" size="17"/>
  <cs:dataPointWireframe>
    <cs:lnRef idx="0">
      <cs:styleClr val="auto"/>
    </cs:lnRef>
    <cs:fillRef idx="1"/>
    <cs:effectRef idx="0"/>
    <cs:fontRef idx="minor">
      <a:schemeClr val="dk1"/>
    </cs:fontRef>
    <cs:spPr>
      <a:ln w="9525">
        <a:solidFill>
          <a:schemeClr val="phClr"/>
        </a:solidFill>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35000"/>
            <a:lumOff val="65000"/>
          </a:schemeClr>
        </a:solidFill>
      </a:ln>
    </cs:spPr>
  </cs:dropLine>
  <cs:errorBar>
    <cs:lnRef idx="0"/>
    <cs:fillRef idx="0"/>
    <cs:effectRef idx="0"/>
    <cs:fontRef idx="minor">
      <a:schemeClr val="dk1"/>
    </cs:fontRef>
    <cs:spPr>
      <a:ln w="9525">
        <a:solidFill>
          <a:schemeClr val="dk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ln>
    </cs:spPr>
  </cs:seriesLine>
  <cs:title>
    <cs:lnRef idx="0"/>
    <cs:fillRef idx="0"/>
    <cs:effectRef idx="0"/>
    <cs:fontRef idx="minor">
      <a:schemeClr val="dk1"/>
    </cs:fontRef>
    <cs:defRPr sz="1915" b="0" kern="1200" cap="all" spc="0" baseline="0">
      <a:gradFill>
        <a:gsLst>
          <a:gs pos="0">
            <a:schemeClr val="dk1">
              <a:lumMod val="50000"/>
              <a:lumOff val="50000"/>
            </a:schemeClr>
          </a:gs>
          <a:gs pos="100000">
            <a:schemeClr val="dk1">
              <a:lumMod val="85000"/>
              <a:lumOff val="15000"/>
            </a:schemeClr>
          </a:gs>
        </a:gsLst>
        <a:lin ang="5400000" scaled="0"/>
      </a:gradFill>
    </cs:defRPr>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50000"/>
            <a:lumOff val="50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9462A7-D93D-4585-8DF1-631315E49F5D}" type="datetimeFigureOut">
              <a:rPr lang="pt-BR" smtClean="0"/>
              <a:t>28/04/2026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158A87-E2C5-468E-BCE3-38A907ED00E2}" type="slidenum">
              <a:rPr lang="pt-BR" smtClean="0"/>
              <a:t>‹#›</a:t>
            </a:fld>
            <a:endParaRPr lang="pt-BR"/>
          </a:p>
        </p:txBody>
      </p:sp>
    </p:spTree>
    <p:extLst>
      <p:ext uri="{BB962C8B-B14F-4D97-AF65-F5344CB8AC3E}">
        <p14:creationId xmlns:p14="http://schemas.microsoft.com/office/powerpoint/2010/main" val="1723118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sescsp.org.br/maj-2025/" TargetMode="External"/><Relationship Id="rId7"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www.sescsp.org.br/maj-mostra-de-arte-da-juventude-2024-educativo/#Documentario" TargetMode="External"/><Relationship Id="rId5" Type="http://schemas.openxmlformats.org/officeDocument/2006/relationships/hyperlink" Target="https://www.sescsp.org.br/maj-mostra-de-arte-da-juventude-2024-educativo/" TargetMode="External"/><Relationship Id="rId4" Type="http://schemas.openxmlformats.org/officeDocument/2006/relationships/hyperlink" Target="https://www.sescsp.org.br/maj-mostra-de-arte-da-juventude-2024-juventudes-na-maj/"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5000">
              <a:srgbClr val="E48005">
                <a:alpha val="100000"/>
              </a:srgbClr>
            </a:gs>
            <a:gs pos="50000">
              <a:srgbClr val="8A3300">
                <a:alpha val="100000"/>
              </a:srgbClr>
            </a:gs>
            <a:gs pos="85000">
              <a:srgbClr val="14CC97">
                <a:alpha val="100000"/>
              </a:srgbClr>
            </a:gs>
          </a:gsLst>
          <a:lin ang="18900000"/>
        </a:gradFill>
        <a:effectLst/>
      </p:bgPr>
    </p:bg>
    <p:spTree>
      <p:nvGrpSpPr>
        <p:cNvPr id="1" name=""/>
        <p:cNvGrpSpPr/>
        <p:nvPr/>
      </p:nvGrpSpPr>
      <p:grpSpPr>
        <a:xfrm>
          <a:off x="0" y="0"/>
          <a:ext cx="0" cy="0"/>
          <a:chOff x="0" y="0"/>
          <a:chExt cx="0" cy="0"/>
        </a:xfrm>
      </p:grpSpPr>
      <p:sp>
        <p:nvSpPr>
          <p:cNvPr id="2" name="Freeform 2"/>
          <p:cNvSpPr/>
          <p:nvPr/>
        </p:nvSpPr>
        <p:spPr>
          <a:xfrm>
            <a:off x="15379298" y="8311463"/>
            <a:ext cx="1880002" cy="946837"/>
          </a:xfrm>
          <a:custGeom>
            <a:avLst/>
            <a:gdLst/>
            <a:ahLst/>
            <a:cxnLst/>
            <a:rect l="l" t="t" r="r" b="b"/>
            <a:pathLst>
              <a:path w="1880002" h="946837">
                <a:moveTo>
                  <a:pt x="0" y="0"/>
                </a:moveTo>
                <a:lnTo>
                  <a:pt x="1880002" y="0"/>
                </a:lnTo>
                <a:lnTo>
                  <a:pt x="1880002" y="946837"/>
                </a:lnTo>
                <a:lnTo>
                  <a:pt x="0" y="94683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pt-BR"/>
          </a:p>
        </p:txBody>
      </p:sp>
      <p:sp>
        <p:nvSpPr>
          <p:cNvPr id="3" name="Freeform 3"/>
          <p:cNvSpPr/>
          <p:nvPr/>
        </p:nvSpPr>
        <p:spPr>
          <a:xfrm>
            <a:off x="487060" y="0"/>
            <a:ext cx="2646799" cy="2960595"/>
          </a:xfrm>
          <a:custGeom>
            <a:avLst/>
            <a:gdLst/>
            <a:ahLst/>
            <a:cxnLst/>
            <a:rect l="l" t="t" r="r" b="b"/>
            <a:pathLst>
              <a:path w="2646799" h="2960595">
                <a:moveTo>
                  <a:pt x="0" y="0"/>
                </a:moveTo>
                <a:lnTo>
                  <a:pt x="2646799" y="0"/>
                </a:lnTo>
                <a:lnTo>
                  <a:pt x="2646799" y="2960595"/>
                </a:lnTo>
                <a:lnTo>
                  <a:pt x="0" y="2960595"/>
                </a:lnTo>
                <a:lnTo>
                  <a:pt x="0" y="0"/>
                </a:lnTo>
                <a:close/>
              </a:path>
            </a:pathLst>
          </a:custGeom>
          <a:blipFill>
            <a:blip r:embed="rId3"/>
            <a:stretch>
              <a:fillRect/>
            </a:stretch>
          </a:blipFill>
        </p:spPr>
        <p:txBody>
          <a:bodyPr/>
          <a:lstStyle/>
          <a:p>
            <a:endParaRPr lang="pt-BR"/>
          </a:p>
        </p:txBody>
      </p:sp>
      <p:sp>
        <p:nvSpPr>
          <p:cNvPr id="4" name="TextBox 4"/>
          <p:cNvSpPr txBox="1"/>
          <p:nvPr/>
        </p:nvSpPr>
        <p:spPr>
          <a:xfrm>
            <a:off x="7885470" y="6965576"/>
            <a:ext cx="9373830" cy="370917"/>
          </a:xfrm>
          <a:prstGeom prst="rect">
            <a:avLst/>
          </a:prstGeom>
        </p:spPr>
        <p:txBody>
          <a:bodyPr lIns="0" tIns="0" rIns="0" bIns="0" rtlCol="0" anchor="t">
            <a:spAutoFit/>
          </a:bodyPr>
          <a:lstStyle/>
          <a:p>
            <a:pPr marL="0" lvl="0" indent="0" algn="r">
              <a:lnSpc>
                <a:spcPts val="2748"/>
              </a:lnSpc>
              <a:spcBef>
                <a:spcPct val="0"/>
              </a:spcBef>
            </a:pPr>
            <a:r>
              <a:rPr lang="en-US" sz="2748" spc="-217" err="1">
                <a:solidFill>
                  <a:schemeClr val="bg1"/>
                </a:solidFill>
                <a:latin typeface="Garet" panose="020B0604020202020204" charset="0"/>
                <a:ea typeface="Archivo Black"/>
                <a:cs typeface="Archivo Black"/>
                <a:sym typeface="Archivo Black"/>
              </a:rPr>
              <a:t>Exposição</a:t>
            </a:r>
            <a:r>
              <a:rPr lang="en-US" sz="2748" spc="-217">
                <a:solidFill>
                  <a:schemeClr val="bg1"/>
                </a:solidFill>
                <a:latin typeface="Garet" panose="020B0604020202020204" charset="0"/>
                <a:ea typeface="Archivo Black"/>
                <a:cs typeface="Archivo Black"/>
                <a:sym typeface="Archivo Black"/>
              </a:rPr>
              <a:t> | Sesc Ribeirão Preto</a:t>
            </a:r>
          </a:p>
        </p:txBody>
      </p:sp>
      <p:sp>
        <p:nvSpPr>
          <p:cNvPr id="5" name="TextBox 5"/>
          <p:cNvSpPr txBox="1"/>
          <p:nvPr/>
        </p:nvSpPr>
        <p:spPr>
          <a:xfrm>
            <a:off x="1028700" y="8400999"/>
            <a:ext cx="3100542" cy="483081"/>
          </a:xfrm>
          <a:prstGeom prst="rect">
            <a:avLst/>
          </a:prstGeom>
        </p:spPr>
        <p:txBody>
          <a:bodyPr lIns="0" tIns="0" rIns="0" bIns="0" rtlCol="0" anchor="t">
            <a:spAutoFit/>
          </a:bodyPr>
          <a:lstStyle/>
          <a:p>
            <a:pPr algn="l">
              <a:lnSpc>
                <a:spcPts val="1915"/>
              </a:lnSpc>
            </a:pPr>
            <a:r>
              <a:rPr lang="en-US" sz="1473" b="1">
                <a:solidFill>
                  <a:srgbClr val="2B2B2B"/>
                </a:solidFill>
                <a:latin typeface="Garet Bold"/>
                <a:ea typeface="Garet Bold"/>
                <a:cs typeface="Garet Bold"/>
                <a:sym typeface="Garet Bold"/>
              </a:rPr>
              <a:t>05 DE DEZEMBRO DE 2024 A </a:t>
            </a:r>
          </a:p>
          <a:p>
            <a:pPr marL="0" lvl="0" indent="0" algn="l">
              <a:lnSpc>
                <a:spcPts val="1915"/>
              </a:lnSpc>
              <a:spcBef>
                <a:spcPct val="0"/>
              </a:spcBef>
            </a:pPr>
            <a:r>
              <a:rPr lang="en-US" sz="1473" b="1">
                <a:solidFill>
                  <a:srgbClr val="2B2B2B"/>
                </a:solidFill>
                <a:latin typeface="Garet Bold"/>
                <a:ea typeface="Garet Bold"/>
                <a:cs typeface="Garet Bold"/>
                <a:sym typeface="Garet Bold"/>
              </a:rPr>
              <a:t>08 DE JUNHO DE 2025</a:t>
            </a:r>
          </a:p>
        </p:txBody>
      </p:sp>
      <p:sp>
        <p:nvSpPr>
          <p:cNvPr id="10" name="TextBox 10"/>
          <p:cNvSpPr txBox="1"/>
          <p:nvPr/>
        </p:nvSpPr>
        <p:spPr>
          <a:xfrm>
            <a:off x="12088760" y="954405"/>
            <a:ext cx="5170540" cy="365760"/>
          </a:xfrm>
          <a:prstGeom prst="rect">
            <a:avLst/>
          </a:prstGeom>
        </p:spPr>
        <p:txBody>
          <a:bodyPr lIns="0" tIns="0" rIns="0" bIns="0" rtlCol="0" anchor="t">
            <a:spAutoFit/>
          </a:bodyPr>
          <a:lstStyle/>
          <a:p>
            <a:pPr algn="r">
              <a:lnSpc>
                <a:spcPts val="2939"/>
              </a:lnSpc>
              <a:spcBef>
                <a:spcPct val="0"/>
              </a:spcBef>
            </a:pPr>
            <a:r>
              <a:rPr lang="en-US" sz="2099" b="1" err="1">
                <a:solidFill>
                  <a:schemeClr val="bg1"/>
                </a:solidFill>
                <a:latin typeface="Garet"/>
                <a:ea typeface="Garet"/>
                <a:cs typeface="Garet"/>
                <a:sym typeface="Garet"/>
              </a:rPr>
              <a:t>Relatório</a:t>
            </a:r>
            <a:r>
              <a:rPr lang="en-US" sz="2099" b="1">
                <a:solidFill>
                  <a:schemeClr val="bg1"/>
                </a:solidFill>
                <a:latin typeface="Garet"/>
                <a:ea typeface="Garet"/>
                <a:cs typeface="Garet"/>
                <a:sym typeface="Garet"/>
              </a:rPr>
              <a:t> </a:t>
            </a:r>
            <a:r>
              <a:rPr lang="en-US" sz="2099" b="1" err="1">
                <a:solidFill>
                  <a:schemeClr val="bg1"/>
                </a:solidFill>
                <a:latin typeface="Garet"/>
                <a:ea typeface="Garet"/>
                <a:cs typeface="Garet"/>
                <a:sym typeface="Garet"/>
              </a:rPr>
              <a:t>geral</a:t>
            </a:r>
            <a:r>
              <a:rPr lang="en-US" sz="2099" b="1">
                <a:solidFill>
                  <a:schemeClr val="bg1"/>
                </a:solidFill>
                <a:latin typeface="Garet"/>
                <a:ea typeface="Garet"/>
                <a:cs typeface="Garet"/>
                <a:sym typeface="Garet"/>
              </a:rPr>
              <a:t> </a:t>
            </a:r>
          </a:p>
        </p:txBody>
      </p:sp>
      <p:sp>
        <p:nvSpPr>
          <p:cNvPr id="11" name="TextBox 11"/>
          <p:cNvSpPr txBox="1"/>
          <p:nvPr/>
        </p:nvSpPr>
        <p:spPr>
          <a:xfrm>
            <a:off x="6077844" y="2767344"/>
            <a:ext cx="10927255" cy="1971502"/>
          </a:xfrm>
          <a:prstGeom prst="rect">
            <a:avLst/>
          </a:prstGeom>
        </p:spPr>
        <p:txBody>
          <a:bodyPr lIns="0" tIns="0" rIns="0" bIns="0" rtlCol="0" anchor="t">
            <a:spAutoFit/>
          </a:bodyPr>
          <a:lstStyle/>
          <a:p>
            <a:pPr marL="0" lvl="0" indent="0" algn="r">
              <a:lnSpc>
                <a:spcPts val="7211"/>
              </a:lnSpc>
              <a:spcBef>
                <a:spcPct val="0"/>
              </a:spcBef>
            </a:pPr>
            <a:r>
              <a:rPr lang="en-US" sz="9245" spc="-730">
                <a:solidFill>
                  <a:schemeClr val="bg1"/>
                </a:solidFill>
                <a:latin typeface="Garet Bold" panose="020B0604020202020204" charset="0"/>
                <a:ea typeface="Archivo Black"/>
                <a:cs typeface="Archivo Black"/>
                <a:sym typeface="Archivo Black"/>
              </a:rPr>
              <a:t>31ª MAJ – </a:t>
            </a:r>
            <a:r>
              <a:rPr lang="en-US" sz="9245" spc="-730" err="1">
                <a:solidFill>
                  <a:schemeClr val="bg1"/>
                </a:solidFill>
                <a:latin typeface="Garet Bold" panose="020B0604020202020204" charset="0"/>
                <a:ea typeface="Archivo Black"/>
                <a:cs typeface="Archivo Black"/>
                <a:sym typeface="Archivo Black"/>
              </a:rPr>
              <a:t>Mostra</a:t>
            </a:r>
            <a:r>
              <a:rPr lang="en-US" sz="9245" spc="-730">
                <a:solidFill>
                  <a:schemeClr val="bg1"/>
                </a:solidFill>
                <a:latin typeface="Garet Bold" panose="020B0604020202020204" charset="0"/>
                <a:ea typeface="Archivo Black"/>
                <a:cs typeface="Archivo Black"/>
                <a:sym typeface="Archivo Black"/>
              </a:rPr>
              <a:t> de Arte da </a:t>
            </a:r>
            <a:r>
              <a:rPr lang="en-US" sz="9245" spc="-730" err="1">
                <a:solidFill>
                  <a:schemeClr val="bg1"/>
                </a:solidFill>
                <a:latin typeface="Garet Bold" panose="020B0604020202020204" charset="0"/>
                <a:ea typeface="Archivo Black"/>
                <a:cs typeface="Archivo Black"/>
                <a:sym typeface="Archivo Black"/>
              </a:rPr>
              <a:t>Juventude</a:t>
            </a:r>
            <a:endParaRPr lang="en-US" sz="9245" spc="-730">
              <a:solidFill>
                <a:schemeClr val="bg1"/>
              </a:solidFill>
              <a:latin typeface="Garet Bold" panose="020B0604020202020204" charset="0"/>
              <a:ea typeface="Archivo Black"/>
              <a:cs typeface="Archivo Black"/>
              <a:sym typeface="Archivo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noProof="0"/>
          </a:p>
        </p:txBody>
      </p:sp>
      <p:sp>
        <p:nvSpPr>
          <p:cNvPr id="9" name="Freeform 9"/>
          <p:cNvSpPr/>
          <p:nvPr/>
        </p:nvSpPr>
        <p:spPr>
          <a:xfrm>
            <a:off x="13456423" y="1883102"/>
            <a:ext cx="3802877" cy="1486579"/>
          </a:xfrm>
          <a:custGeom>
            <a:avLst/>
            <a:gdLst/>
            <a:ahLst/>
            <a:cxnLst/>
            <a:rect l="l" t="t" r="r" b="b"/>
            <a:pathLst>
              <a:path w="3802877" h="1486579">
                <a:moveTo>
                  <a:pt x="0" y="0"/>
                </a:moveTo>
                <a:lnTo>
                  <a:pt x="3802877" y="0"/>
                </a:lnTo>
                <a:lnTo>
                  <a:pt x="3802877" y="1486579"/>
                </a:lnTo>
                <a:lnTo>
                  <a:pt x="0" y="148657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noProof="0"/>
          </a:p>
        </p:txBody>
      </p:sp>
      <p:sp>
        <p:nvSpPr>
          <p:cNvPr id="10" name="TextBox 10"/>
          <p:cNvSpPr txBox="1"/>
          <p:nvPr/>
        </p:nvSpPr>
        <p:spPr>
          <a:xfrm>
            <a:off x="11100751" y="3060654"/>
            <a:ext cx="6158549" cy="1519129"/>
          </a:xfrm>
          <a:prstGeom prst="rect">
            <a:avLst/>
          </a:prstGeom>
        </p:spPr>
        <p:txBody>
          <a:bodyPr lIns="0" tIns="0" rIns="0" bIns="0" rtlCol="0" anchor="t">
            <a:spAutoFit/>
          </a:bodyPr>
          <a:lstStyle/>
          <a:p>
            <a:pPr algn="r">
              <a:lnSpc>
                <a:spcPts val="5808"/>
              </a:lnSpc>
            </a:pPr>
            <a:r>
              <a:rPr lang="pt-BR" sz="5808" spc="-458" noProof="0">
                <a:solidFill>
                  <a:srgbClr val="000000"/>
                </a:solidFill>
                <a:latin typeface="Archivo Black"/>
                <a:ea typeface="Archivo Black"/>
                <a:cs typeface="Archivo Black"/>
                <a:sym typeface="Archivo Black"/>
              </a:rPr>
              <a:t> </a:t>
            </a:r>
          </a:p>
          <a:p>
            <a:pPr marL="0" lvl="0" indent="0" algn="r">
              <a:lnSpc>
                <a:spcPts val="5808"/>
              </a:lnSpc>
              <a:spcBef>
                <a:spcPct val="0"/>
              </a:spcBef>
            </a:pPr>
            <a:r>
              <a:rPr lang="pt-BR" sz="5808" spc="-458" noProof="0">
                <a:solidFill>
                  <a:srgbClr val="000000"/>
                </a:solidFill>
                <a:latin typeface="Garet Bold" panose="020B0604020202020204" charset="0"/>
                <a:ea typeface="Archivo Black"/>
                <a:cs typeface="Archivo Black"/>
                <a:sym typeface="Archivo Black"/>
              </a:rPr>
              <a:t>presenças</a:t>
            </a:r>
          </a:p>
        </p:txBody>
      </p:sp>
      <p:sp>
        <p:nvSpPr>
          <p:cNvPr id="3" name="TextBox 13">
            <a:extLst>
              <a:ext uri="{FF2B5EF4-FFF2-40B4-BE49-F238E27FC236}">
                <a16:creationId xmlns:a16="http://schemas.microsoft.com/office/drawing/2014/main" id="{0F950054-21F1-2A9E-E636-B2A0D382AD3F}"/>
              </a:ext>
            </a:extLst>
          </p:cNvPr>
          <p:cNvSpPr txBox="1"/>
          <p:nvPr/>
        </p:nvSpPr>
        <p:spPr>
          <a:xfrm>
            <a:off x="1022838" y="3330572"/>
            <a:ext cx="4530613" cy="2369880"/>
          </a:xfrm>
          <a:prstGeom prst="rect">
            <a:avLst/>
          </a:prstGeom>
        </p:spPr>
        <p:txBody>
          <a:bodyPr wrap="square" lIns="0" tIns="0" rIns="0" bIns="0" rtlCol="0" anchor="t">
            <a:spAutoFit/>
          </a:bodyPr>
          <a:lstStyle/>
          <a:p>
            <a:pPr algn="ctr"/>
            <a:r>
              <a:rPr lang="pt-BR" sz="6600" b="1">
                <a:solidFill>
                  <a:srgbClr val="000000"/>
                </a:solidFill>
                <a:latin typeface="Garet Bold" panose="020B0604020202020204" charset="0"/>
                <a:ea typeface="Garet"/>
                <a:cs typeface="Garet"/>
                <a:sym typeface="Garet"/>
              </a:rPr>
              <a:t>20.241</a:t>
            </a:r>
          </a:p>
          <a:p>
            <a:pPr algn="ctr"/>
            <a:r>
              <a:rPr lang="pt-BR" sz="4400" noProof="0">
                <a:solidFill>
                  <a:srgbClr val="000000"/>
                </a:solidFill>
                <a:latin typeface="Garet" panose="020B0604020202020204" charset="0"/>
                <a:ea typeface="Garet"/>
                <a:cs typeface="Garet"/>
                <a:sym typeface="Garet"/>
              </a:rPr>
              <a:t>presenças</a:t>
            </a:r>
          </a:p>
          <a:p>
            <a:pPr algn="ctr"/>
            <a:r>
              <a:rPr lang="pt-BR" sz="4400" noProof="0">
                <a:solidFill>
                  <a:srgbClr val="000000"/>
                </a:solidFill>
                <a:latin typeface="Garet" panose="020B0604020202020204" charset="0"/>
                <a:ea typeface="Garet Bold"/>
                <a:cs typeface="Garet Bold"/>
                <a:sym typeface="Garet Bold"/>
              </a:rPr>
              <a:t>EXPOSIÇÃO</a:t>
            </a:r>
          </a:p>
        </p:txBody>
      </p:sp>
      <p:sp>
        <p:nvSpPr>
          <p:cNvPr id="6" name="TextBox 12">
            <a:extLst>
              <a:ext uri="{FF2B5EF4-FFF2-40B4-BE49-F238E27FC236}">
                <a16:creationId xmlns:a16="http://schemas.microsoft.com/office/drawing/2014/main" id="{F07F23C8-A2E4-F6C1-89A8-0BA16761324B}"/>
              </a:ext>
            </a:extLst>
          </p:cNvPr>
          <p:cNvSpPr txBox="1"/>
          <p:nvPr/>
        </p:nvSpPr>
        <p:spPr>
          <a:xfrm>
            <a:off x="1" y="8857018"/>
            <a:ext cx="18288000" cy="492443"/>
          </a:xfrm>
          <a:prstGeom prst="rect">
            <a:avLst/>
          </a:prstGeom>
          <a:solidFill>
            <a:schemeClr val="tx2">
              <a:lumMod val="60000"/>
              <a:lumOff val="40000"/>
            </a:schemeClr>
          </a:solidFill>
        </p:spPr>
        <p:txBody>
          <a:bodyPr wrap="square" lIns="0" tIns="0" rIns="0" bIns="0" rtlCol="0" anchor="t">
            <a:spAutoFit/>
          </a:bodyPr>
          <a:lstStyle/>
          <a:p>
            <a:pPr algn="ctr"/>
            <a:r>
              <a:rPr lang="pt-BR" sz="3200">
                <a:solidFill>
                  <a:schemeClr val="bg1"/>
                </a:solidFill>
                <a:latin typeface="Garet Bold" panose="020B0604020202020204" charset="0"/>
                <a:ea typeface="Garet Bold"/>
                <a:cs typeface="Garet Bold"/>
                <a:sym typeface="Garet Bold"/>
              </a:rPr>
              <a:t>155</a:t>
            </a:r>
            <a:r>
              <a:rPr lang="pt-BR" sz="3200" noProof="0">
                <a:solidFill>
                  <a:schemeClr val="bg1"/>
                </a:solidFill>
                <a:latin typeface="Garet Bold" panose="020B0604020202020204" charset="0"/>
                <a:ea typeface="Garet Bold"/>
                <a:cs typeface="Garet Bold"/>
                <a:sym typeface="Garet Bold"/>
              </a:rPr>
              <a:t> dias de visitação</a:t>
            </a:r>
          </a:p>
        </p:txBody>
      </p:sp>
      <p:sp>
        <p:nvSpPr>
          <p:cNvPr id="4" name="TextBox 29">
            <a:extLst>
              <a:ext uri="{FF2B5EF4-FFF2-40B4-BE49-F238E27FC236}">
                <a16:creationId xmlns:a16="http://schemas.microsoft.com/office/drawing/2014/main" id="{C511EDE2-9A5A-C628-030F-920FA69F9F3F}"/>
              </a:ext>
            </a:extLst>
          </p:cNvPr>
          <p:cNvSpPr txBox="1"/>
          <p:nvPr/>
        </p:nvSpPr>
        <p:spPr>
          <a:xfrm>
            <a:off x="6858000" y="1454804"/>
            <a:ext cx="5876551" cy="4924425"/>
          </a:xfrm>
          <a:prstGeom prst="rect">
            <a:avLst/>
          </a:prstGeom>
        </p:spPr>
        <p:txBody>
          <a:bodyPr wrap="square" lIns="0" tIns="0" rIns="0" bIns="0" rtlCol="0" anchor="t">
            <a:spAutoFit/>
          </a:bodyPr>
          <a:lstStyle/>
          <a:p>
            <a:pPr algn="ctr"/>
            <a:endParaRPr lang="pt-BR" sz="3200" noProof="0">
              <a:latin typeface="Garet"/>
              <a:ea typeface="Garet Bold"/>
              <a:cs typeface="Garet Bold"/>
              <a:sym typeface="Garet Bold"/>
            </a:endParaRPr>
          </a:p>
          <a:p>
            <a:pPr algn="ctr"/>
            <a:endParaRPr lang="pt-BR" sz="3200" noProof="0">
              <a:latin typeface="Garet"/>
              <a:ea typeface="Garet Bold"/>
              <a:cs typeface="Garet Bold"/>
              <a:sym typeface="Garet Bold"/>
            </a:endParaRPr>
          </a:p>
          <a:p>
            <a:pPr algn="ctr"/>
            <a:r>
              <a:rPr lang="pt-BR" sz="4800" b="1">
                <a:latin typeface="Garet Bold"/>
                <a:ea typeface="Garet Bold"/>
                <a:cs typeface="Garet Bold"/>
                <a:sym typeface="Garet Bold"/>
              </a:rPr>
              <a:t>2.345 público </a:t>
            </a:r>
            <a:r>
              <a:rPr lang="pt-BR" sz="4000">
                <a:latin typeface="Garet Bold"/>
                <a:ea typeface="Garet Bold"/>
                <a:cs typeface="Garet Bold"/>
                <a:sym typeface="Garet Bold"/>
              </a:rPr>
              <a:t>espontâneo mediado</a:t>
            </a:r>
            <a:endParaRPr lang="pt-BR" sz="4000" noProof="0">
              <a:latin typeface="Garet Bold"/>
              <a:ea typeface="Garet Bold"/>
              <a:cs typeface="Garet Bold"/>
            </a:endParaRPr>
          </a:p>
          <a:p>
            <a:pPr algn="ctr"/>
            <a:endParaRPr lang="pt-BR" sz="4800" b="1" noProof="0">
              <a:latin typeface="Garet Bold"/>
              <a:ea typeface="Garet Bold"/>
              <a:cs typeface="Garet Bold"/>
            </a:endParaRPr>
          </a:p>
          <a:p>
            <a:pPr algn="ctr"/>
            <a:endParaRPr lang="pt-BR" sz="3200">
              <a:latin typeface="Garet" panose="020B0604020202020204" charset="0"/>
              <a:ea typeface="Garet Bold"/>
              <a:cs typeface="Garet Bold"/>
              <a:sym typeface="Garet Bold"/>
            </a:endParaRPr>
          </a:p>
          <a:p>
            <a:pPr algn="ctr"/>
            <a:r>
              <a:rPr lang="pt-BR" sz="4800" noProof="0">
                <a:latin typeface="Garet Bold"/>
                <a:ea typeface="Garet Bold"/>
                <a:cs typeface="Garet Bold"/>
                <a:sym typeface="Garet Bold"/>
              </a:rPr>
              <a:t>6.441 público </a:t>
            </a:r>
            <a:r>
              <a:rPr lang="pt-BR" sz="4000" noProof="0">
                <a:latin typeface="Garet Bold"/>
                <a:ea typeface="Garet Bold"/>
                <a:cs typeface="Garet Bold"/>
                <a:sym typeface="Garet Bold"/>
              </a:rPr>
              <a:t>mediado</a:t>
            </a:r>
            <a:r>
              <a:rPr lang="pt-BR" sz="4000">
                <a:latin typeface="Garet Bold"/>
                <a:ea typeface="Garet Bold"/>
                <a:cs typeface="Garet Bold"/>
                <a:sym typeface="Garet Bold"/>
              </a:rPr>
              <a:t>/</a:t>
            </a:r>
            <a:r>
              <a:rPr lang="pt-BR" sz="4000" noProof="0">
                <a:latin typeface="Garet Bold"/>
                <a:ea typeface="Garet Bold"/>
                <a:cs typeface="Garet Bold"/>
                <a:sym typeface="Garet Bold"/>
              </a:rPr>
              <a:t> agendado</a:t>
            </a:r>
            <a:endParaRPr lang="pt-BR" sz="4000" noProof="0">
              <a:latin typeface="Garet Bold"/>
              <a:ea typeface="Garet Bold"/>
              <a:cs typeface="Garet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BDC1E-7D4C-DCB8-9A56-77B68FFAD36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C60F951-6CE8-7AE0-9C08-6D6757B253B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4" name="Freeform 4">
            <a:extLst>
              <a:ext uri="{FF2B5EF4-FFF2-40B4-BE49-F238E27FC236}">
                <a16:creationId xmlns:a16="http://schemas.microsoft.com/office/drawing/2014/main" id="{225AABD2-EDAE-7537-7126-2BF789A60CEB}"/>
              </a:ext>
            </a:extLst>
          </p:cNvPr>
          <p:cNvSpPr/>
          <p:nvPr/>
        </p:nvSpPr>
        <p:spPr>
          <a:xfrm>
            <a:off x="-609600" y="1559650"/>
            <a:ext cx="9125543" cy="7167700"/>
          </a:xfrm>
          <a:custGeom>
            <a:avLst/>
            <a:gdLst/>
            <a:ahLst/>
            <a:cxnLst/>
            <a:rect l="l" t="t" r="r" b="b"/>
            <a:pathLst>
              <a:path w="9125543" h="7167700">
                <a:moveTo>
                  <a:pt x="0" y="0"/>
                </a:moveTo>
                <a:lnTo>
                  <a:pt x="9125544" y="0"/>
                </a:lnTo>
                <a:lnTo>
                  <a:pt x="9125544" y="7167700"/>
                </a:lnTo>
                <a:lnTo>
                  <a:pt x="0" y="71677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5" name="Freeform 5">
            <a:extLst>
              <a:ext uri="{FF2B5EF4-FFF2-40B4-BE49-F238E27FC236}">
                <a16:creationId xmlns:a16="http://schemas.microsoft.com/office/drawing/2014/main" id="{68CD3464-5DA2-508B-D356-76A61FE7B2A8}"/>
              </a:ext>
            </a:extLst>
          </p:cNvPr>
          <p:cNvSpPr/>
          <p:nvPr/>
        </p:nvSpPr>
        <p:spPr>
          <a:xfrm>
            <a:off x="14799313" y="0"/>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7" name="TextBox 11">
            <a:extLst>
              <a:ext uri="{FF2B5EF4-FFF2-40B4-BE49-F238E27FC236}">
                <a16:creationId xmlns:a16="http://schemas.microsoft.com/office/drawing/2014/main" id="{2469874A-1C6A-2C88-74AC-9DD75A0FC754}"/>
              </a:ext>
            </a:extLst>
          </p:cNvPr>
          <p:cNvSpPr txBox="1"/>
          <p:nvPr/>
        </p:nvSpPr>
        <p:spPr>
          <a:xfrm>
            <a:off x="1295400" y="6124228"/>
            <a:ext cx="6172200" cy="598241"/>
          </a:xfrm>
          <a:prstGeom prst="rect">
            <a:avLst/>
          </a:prstGeom>
        </p:spPr>
        <p:txBody>
          <a:bodyPr wrap="square" lIns="0" tIns="0" rIns="0" bIns="0" rtlCol="0" anchor="t">
            <a:spAutoFit/>
          </a:bodyPr>
          <a:lstStyle/>
          <a:p>
            <a:pPr algn="ctr">
              <a:lnSpc>
                <a:spcPts val="4295"/>
              </a:lnSpc>
            </a:pPr>
            <a:r>
              <a:rPr lang="en-US" sz="4800" spc="-458">
                <a:solidFill>
                  <a:schemeClr val="bg1"/>
                </a:solidFill>
                <a:latin typeface="Garet Bold" panose="020B0604020202020204" charset="0"/>
                <a:ea typeface="Archivo Black"/>
                <a:cs typeface="Archivo Black"/>
                <a:sym typeface="Archivo Black"/>
              </a:rPr>
              <a:t>Equipe </a:t>
            </a:r>
            <a:r>
              <a:rPr lang="en-US" sz="4800" spc="-458" err="1">
                <a:solidFill>
                  <a:schemeClr val="bg1"/>
                </a:solidFill>
                <a:latin typeface="Garet Bold" panose="020B0604020202020204" charset="0"/>
                <a:ea typeface="Archivo Black"/>
                <a:cs typeface="Archivo Black"/>
                <a:sym typeface="Archivo Black"/>
              </a:rPr>
              <a:t>Educativa</a:t>
            </a:r>
            <a:endParaRPr lang="en-US" sz="4800" spc="-458">
              <a:solidFill>
                <a:schemeClr val="bg1"/>
              </a:solidFill>
              <a:latin typeface="Garet Bold" panose="020B0604020202020204" charset="0"/>
              <a:ea typeface="Archivo Black"/>
              <a:cs typeface="Archivo Black"/>
              <a:sym typeface="Archivo Black"/>
            </a:endParaRPr>
          </a:p>
        </p:txBody>
      </p:sp>
      <p:graphicFrame>
        <p:nvGraphicFramePr>
          <p:cNvPr id="8" name="Table 3">
            <a:extLst>
              <a:ext uri="{FF2B5EF4-FFF2-40B4-BE49-F238E27FC236}">
                <a16:creationId xmlns:a16="http://schemas.microsoft.com/office/drawing/2014/main" id="{8C802B50-79C0-7376-C196-62BDDDD9F720}"/>
              </a:ext>
            </a:extLst>
          </p:cNvPr>
          <p:cNvGraphicFramePr>
            <a:graphicFrameLocks noGrp="1"/>
          </p:cNvGraphicFramePr>
          <p:nvPr>
            <p:extLst>
              <p:ext uri="{D42A27DB-BD31-4B8C-83A1-F6EECF244321}">
                <p14:modId xmlns:p14="http://schemas.microsoft.com/office/powerpoint/2010/main" val="1834766635"/>
              </p:ext>
            </p:extLst>
          </p:nvPr>
        </p:nvGraphicFramePr>
        <p:xfrm>
          <a:off x="8978012" y="5143500"/>
          <a:ext cx="9125542" cy="3433300"/>
        </p:xfrm>
        <a:graphic>
          <a:graphicData uri="http://schemas.openxmlformats.org/drawingml/2006/table">
            <a:tbl>
              <a:tblPr/>
              <a:tblGrid>
                <a:gridCol w="2909188">
                  <a:extLst>
                    <a:ext uri="{9D8B030D-6E8A-4147-A177-3AD203B41FA5}">
                      <a16:colId xmlns:a16="http://schemas.microsoft.com/office/drawing/2014/main" val="20000"/>
                    </a:ext>
                  </a:extLst>
                </a:gridCol>
                <a:gridCol w="6216354">
                  <a:extLst>
                    <a:ext uri="{9D8B030D-6E8A-4147-A177-3AD203B41FA5}">
                      <a16:colId xmlns:a16="http://schemas.microsoft.com/office/drawing/2014/main" val="20001"/>
                    </a:ext>
                  </a:extLst>
                </a:gridCol>
              </a:tblGrid>
              <a:tr h="821300">
                <a:tc>
                  <a:txBody>
                    <a:bodyPr/>
                    <a:lstStyle/>
                    <a:p>
                      <a:pPr algn="ctr">
                        <a:lnSpc>
                          <a:spcPts val="2799"/>
                        </a:lnSpc>
                        <a:defRPr/>
                      </a:pPr>
                      <a:endParaRPr lang="en-US" sz="110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1100"/>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876300">
                <a:tc>
                  <a:txBody>
                    <a:bodyPr/>
                    <a:lstStyle/>
                    <a:p>
                      <a:pPr algn="l">
                        <a:lnSpc>
                          <a:spcPts val="2799"/>
                        </a:lnSpc>
                        <a:defRPr/>
                      </a:pPr>
                      <a:r>
                        <a:rPr lang="en-US" sz="1999" b="1">
                          <a:solidFill>
                            <a:srgbClr val="000000"/>
                          </a:solidFill>
                          <a:latin typeface="Garet Bold"/>
                          <a:ea typeface="Garet Bold"/>
                          <a:cs typeface="Garet Bold"/>
                          <a:sym typeface="Garet Bold"/>
                        </a:rPr>
                        <a:t>Equipe</a:t>
                      </a:r>
                      <a:endParaRPr lang="en-US" sz="110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2799"/>
                        </a:lnSpc>
                        <a:defRPr/>
                      </a:pPr>
                      <a:r>
                        <a:rPr lang="en-US" sz="1999">
                          <a:solidFill>
                            <a:srgbClr val="000000"/>
                          </a:solidFill>
                          <a:latin typeface="Garet"/>
                          <a:ea typeface="Garet"/>
                          <a:cs typeface="Garet"/>
                          <a:sym typeface="Garet"/>
                        </a:rPr>
                        <a:t>02 </a:t>
                      </a:r>
                      <a:r>
                        <a:rPr lang="en-US" sz="1999" err="1">
                          <a:solidFill>
                            <a:srgbClr val="000000"/>
                          </a:solidFill>
                          <a:latin typeface="Garet"/>
                          <a:ea typeface="Garet"/>
                          <a:cs typeface="Garet"/>
                          <a:sym typeface="Garet"/>
                        </a:rPr>
                        <a:t>Supervisores</a:t>
                      </a:r>
                      <a:endParaRPr lang="en-US" sz="1999">
                        <a:solidFill>
                          <a:srgbClr val="000000"/>
                        </a:solidFill>
                        <a:latin typeface="Garet"/>
                        <a:ea typeface="Garet"/>
                        <a:cs typeface="Garet"/>
                        <a:sym typeface="Garet"/>
                      </a:endParaRPr>
                    </a:p>
                    <a:p>
                      <a:pPr algn="l">
                        <a:lnSpc>
                          <a:spcPts val="2799"/>
                        </a:lnSpc>
                        <a:defRPr/>
                      </a:pPr>
                      <a:r>
                        <a:rPr lang="en-US" sz="1999">
                          <a:solidFill>
                            <a:srgbClr val="000000"/>
                          </a:solidFill>
                          <a:latin typeface="Garet"/>
                          <a:ea typeface="Garet"/>
                          <a:cs typeface="Garet"/>
                          <a:sym typeface="Garet"/>
                        </a:rPr>
                        <a:t>01 </a:t>
                      </a:r>
                      <a:r>
                        <a:rPr lang="en-US" sz="1999" err="1">
                          <a:solidFill>
                            <a:srgbClr val="000000"/>
                          </a:solidFill>
                          <a:latin typeface="Garet"/>
                          <a:ea typeface="Garet"/>
                          <a:cs typeface="Garet"/>
                          <a:sym typeface="Garet"/>
                        </a:rPr>
                        <a:t>Educador</a:t>
                      </a:r>
                      <a:r>
                        <a:rPr lang="en-US" sz="1999">
                          <a:solidFill>
                            <a:srgbClr val="000000"/>
                          </a:solidFill>
                          <a:latin typeface="Garet"/>
                          <a:ea typeface="Garet"/>
                          <a:cs typeface="Garet"/>
                          <a:sym typeface="Garet"/>
                        </a:rPr>
                        <a:t> </a:t>
                      </a:r>
                      <a:r>
                        <a:rPr lang="en-US" sz="1999" err="1">
                          <a:solidFill>
                            <a:srgbClr val="000000"/>
                          </a:solidFill>
                          <a:latin typeface="Garet"/>
                          <a:ea typeface="Garet"/>
                          <a:cs typeface="Garet"/>
                          <a:sym typeface="Garet"/>
                        </a:rPr>
                        <a:t>Formado</a:t>
                      </a:r>
                      <a:endParaRPr lang="en-US" sz="1999">
                        <a:solidFill>
                          <a:srgbClr val="000000"/>
                        </a:solidFill>
                        <a:latin typeface="Garet"/>
                        <a:ea typeface="Garet"/>
                        <a:cs typeface="Garet"/>
                        <a:sym typeface="Garet"/>
                      </a:endParaRPr>
                    </a:p>
                    <a:p>
                      <a:pPr algn="l">
                        <a:lnSpc>
                          <a:spcPts val="2799"/>
                        </a:lnSpc>
                        <a:defRPr/>
                      </a:pPr>
                      <a:r>
                        <a:rPr lang="en-US" sz="1999">
                          <a:solidFill>
                            <a:srgbClr val="000000"/>
                          </a:solidFill>
                          <a:latin typeface="Garet"/>
                          <a:ea typeface="Garet"/>
                          <a:cs typeface="Garet"/>
                          <a:sym typeface="Garet"/>
                        </a:rPr>
                        <a:t>06 Estagiários</a:t>
                      </a:r>
                    </a:p>
                    <a:p>
                      <a:pPr algn="l">
                        <a:lnSpc>
                          <a:spcPts val="2799"/>
                        </a:lnSpc>
                        <a:defRPr/>
                      </a:pPr>
                      <a:r>
                        <a:rPr lang="en-US" sz="1999">
                          <a:solidFill>
                            <a:srgbClr val="000000"/>
                          </a:solidFill>
                          <a:latin typeface="Garet"/>
                          <a:ea typeface="Garet"/>
                          <a:cs typeface="Garet"/>
                          <a:sym typeface="Garet"/>
                        </a:rPr>
                        <a:t>02 </a:t>
                      </a:r>
                      <a:r>
                        <a:rPr lang="en-US" sz="1999" err="1">
                          <a:solidFill>
                            <a:srgbClr val="000000"/>
                          </a:solidFill>
                          <a:latin typeface="Garet"/>
                          <a:ea typeface="Garet"/>
                          <a:cs typeface="Garet"/>
                          <a:sym typeface="Garet"/>
                        </a:rPr>
                        <a:t>Oficineiras</a:t>
                      </a:r>
                      <a:endParaRPr lang="en-US" sz="1999">
                        <a:solidFill>
                          <a:srgbClr val="000000"/>
                        </a:solidFill>
                        <a:latin typeface="Garet"/>
                        <a:ea typeface="Garet"/>
                        <a:cs typeface="Garet"/>
                        <a:sym typeface="Garet"/>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21300">
                <a:tc>
                  <a:txBody>
                    <a:bodyPr/>
                    <a:lstStyle/>
                    <a:p>
                      <a:pPr algn="l">
                        <a:lnSpc>
                          <a:spcPts val="2799"/>
                        </a:lnSpc>
                        <a:defRPr/>
                      </a:pPr>
                      <a:r>
                        <a:rPr lang="en-US" sz="2000" b="1" err="1">
                          <a:solidFill>
                            <a:srgbClr val="000000"/>
                          </a:solidFill>
                          <a:latin typeface="Garet Bold"/>
                          <a:ea typeface="Garet Bold"/>
                          <a:cs typeface="Garet Bold"/>
                          <a:sym typeface="Garet Bold"/>
                        </a:rPr>
                        <a:t>Formação</a:t>
                      </a:r>
                      <a:endParaRPr lang="en-US" sz="110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2799"/>
                        </a:lnSpc>
                        <a:defRPr/>
                      </a:pPr>
                      <a:r>
                        <a:rPr lang="en-US" sz="1999" kern="1200" err="1">
                          <a:solidFill>
                            <a:srgbClr val="000000"/>
                          </a:solidFill>
                          <a:latin typeface="Garet"/>
                          <a:ea typeface="+mn-ea"/>
                          <a:cs typeface="+mn-cs"/>
                        </a:rPr>
                        <a:t>Presencial</a:t>
                      </a:r>
                      <a:r>
                        <a:rPr lang="en-US" sz="1999" kern="1200">
                          <a:solidFill>
                            <a:srgbClr val="000000"/>
                          </a:solidFill>
                          <a:latin typeface="Garet"/>
                          <a:ea typeface="+mn-ea"/>
                          <a:cs typeface="+mn-cs"/>
                        </a:rPr>
                        <a:t> – 8 dias – 48h</a:t>
                      </a: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12" name="TextBox 12"/>
          <p:cNvSpPr txBox="1"/>
          <p:nvPr/>
        </p:nvSpPr>
        <p:spPr>
          <a:xfrm>
            <a:off x="9372600" y="1557774"/>
            <a:ext cx="8419427" cy="2893100"/>
          </a:xfrm>
          <a:prstGeom prst="rect">
            <a:avLst/>
          </a:prstGeom>
        </p:spPr>
        <p:txBody>
          <a:bodyPr wrap="square" lIns="0" tIns="0" rIns="0" bIns="0" rtlCol="0" anchor="t">
            <a:spAutoFit/>
          </a:bodyPr>
          <a:lstStyle/>
          <a:p>
            <a:pPr algn="ctr"/>
            <a:r>
              <a:rPr lang="en-US" sz="6000" b="1">
                <a:solidFill>
                  <a:srgbClr val="000000"/>
                </a:solidFill>
                <a:latin typeface="Garet Bold" panose="020B0604020202020204" charset="0"/>
                <a:ea typeface="Garet"/>
                <a:cs typeface="Garet"/>
                <a:sym typeface="Garet"/>
              </a:rPr>
              <a:t>8.786</a:t>
            </a:r>
            <a:r>
              <a:rPr lang="en-US" sz="6000" b="1">
                <a:solidFill>
                  <a:srgbClr val="000000"/>
                </a:solidFill>
                <a:latin typeface="Garet" panose="020B0604020202020204" charset="0"/>
                <a:ea typeface="Garet"/>
                <a:cs typeface="Garet"/>
                <a:sym typeface="Garet"/>
              </a:rPr>
              <a:t> </a:t>
            </a:r>
          </a:p>
          <a:p>
            <a:pPr algn="ctr"/>
            <a:r>
              <a:rPr lang="en-US" sz="3200" err="1">
                <a:solidFill>
                  <a:srgbClr val="000000"/>
                </a:solidFill>
                <a:latin typeface="Garet"/>
                <a:ea typeface="Garet"/>
                <a:cs typeface="Garet"/>
                <a:sym typeface="Garet"/>
              </a:rPr>
              <a:t>presenças</a:t>
            </a:r>
            <a:endParaRPr lang="en-US" sz="3200">
              <a:solidFill>
                <a:srgbClr val="000000"/>
              </a:solidFill>
              <a:latin typeface="Garet"/>
              <a:ea typeface="Garet"/>
              <a:cs typeface="Garet"/>
            </a:endParaRPr>
          </a:p>
          <a:p>
            <a:pPr algn="ctr"/>
            <a:r>
              <a:rPr lang="en-US" sz="3200">
                <a:solidFill>
                  <a:srgbClr val="000000"/>
                </a:solidFill>
                <a:latin typeface="Garet"/>
                <a:ea typeface="Garet Bold"/>
                <a:cs typeface="Garet Bold"/>
                <a:sym typeface="Garet Bold"/>
              </a:rPr>
              <a:t>VISITAS MEDIADAS</a:t>
            </a:r>
            <a:endParaRPr lang="en-US" sz="3200">
              <a:solidFill>
                <a:srgbClr val="000000"/>
              </a:solidFill>
              <a:latin typeface="Garet"/>
              <a:ea typeface="Garet Bold"/>
              <a:cs typeface="Garet Bold"/>
            </a:endParaRPr>
          </a:p>
          <a:p>
            <a:pPr algn="ctr"/>
            <a:r>
              <a:rPr lang="en-US" sz="3200">
                <a:solidFill>
                  <a:srgbClr val="000000"/>
                </a:solidFill>
                <a:latin typeface="Garet"/>
                <a:ea typeface="Garet Bold"/>
                <a:cs typeface="Garet Bold"/>
                <a:sym typeface="Garet Bold"/>
              </a:rPr>
              <a:t>(</a:t>
            </a:r>
            <a:r>
              <a:rPr lang="en-US" sz="3200" err="1">
                <a:solidFill>
                  <a:srgbClr val="000000"/>
                </a:solidFill>
                <a:latin typeface="Garet"/>
                <a:ea typeface="Garet Bold"/>
                <a:cs typeface="Garet Bold"/>
                <a:sym typeface="Garet Bold"/>
              </a:rPr>
              <a:t>agendadas</a:t>
            </a:r>
            <a:r>
              <a:rPr lang="en-US" sz="3200">
                <a:solidFill>
                  <a:srgbClr val="000000"/>
                </a:solidFill>
                <a:latin typeface="Garet"/>
                <a:ea typeface="Garet Bold"/>
                <a:cs typeface="Garet Bold"/>
                <a:sym typeface="Garet Bold"/>
              </a:rPr>
              <a:t> e </a:t>
            </a:r>
            <a:r>
              <a:rPr lang="en-US" sz="3200" err="1">
                <a:solidFill>
                  <a:srgbClr val="000000"/>
                </a:solidFill>
                <a:latin typeface="Garet"/>
                <a:ea typeface="Garet Bold"/>
                <a:cs typeface="Garet Bold"/>
                <a:sym typeface="Garet Bold"/>
              </a:rPr>
              <a:t>espontâneas</a:t>
            </a:r>
            <a:r>
              <a:rPr lang="en-US" sz="3200">
                <a:solidFill>
                  <a:srgbClr val="000000"/>
                </a:solidFill>
                <a:latin typeface="Garet"/>
                <a:ea typeface="Garet Bold"/>
                <a:cs typeface="Garet Bold"/>
                <a:sym typeface="Garet Bold"/>
              </a:rPr>
              <a:t>) </a:t>
            </a:r>
            <a:endParaRPr lang="en-US" sz="3200">
              <a:solidFill>
                <a:srgbClr val="000000"/>
              </a:solidFill>
              <a:latin typeface="Garet"/>
              <a:ea typeface="Garet Bold"/>
              <a:cs typeface="Garet Bold"/>
            </a:endParaRPr>
          </a:p>
          <a:p>
            <a:pPr algn="ctr"/>
            <a:r>
              <a:rPr lang="en-US" sz="3200">
                <a:solidFill>
                  <a:srgbClr val="000000"/>
                </a:solidFill>
                <a:latin typeface="Garet"/>
                <a:ea typeface="Garet"/>
                <a:cs typeface="Garet"/>
                <a:sym typeface="Garet"/>
              </a:rPr>
              <a:t>213 </a:t>
            </a:r>
            <a:r>
              <a:rPr lang="en-US" sz="3200" err="1">
                <a:solidFill>
                  <a:srgbClr val="000000"/>
                </a:solidFill>
                <a:latin typeface="Garet"/>
                <a:ea typeface="Garet"/>
                <a:cs typeface="Garet"/>
                <a:sym typeface="Garet"/>
              </a:rPr>
              <a:t>ações</a:t>
            </a:r>
            <a:endParaRPr lang="en-US" sz="3200">
              <a:solidFill>
                <a:srgbClr val="000000"/>
              </a:solidFill>
              <a:latin typeface="Garet"/>
              <a:ea typeface="Garet"/>
              <a:cs typeface="Garet"/>
              <a:sym typeface="Garet"/>
            </a:endParaRPr>
          </a:p>
        </p:txBody>
      </p:sp>
    </p:spTree>
    <p:extLst>
      <p:ext uri="{BB962C8B-B14F-4D97-AF65-F5344CB8AC3E}">
        <p14:creationId xmlns:p14="http://schemas.microsoft.com/office/powerpoint/2010/main" val="2205436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p:cNvSpPr txBox="1"/>
          <p:nvPr/>
        </p:nvSpPr>
        <p:spPr>
          <a:xfrm>
            <a:off x="1447800" y="870351"/>
            <a:ext cx="16383000" cy="711733"/>
          </a:xfrm>
          <a:prstGeom prst="rect">
            <a:avLst/>
          </a:prstGeom>
        </p:spPr>
        <p:txBody>
          <a:bodyPr wrap="square" lIns="0" tIns="0" rIns="0" bIns="0" rtlCol="0" anchor="t">
            <a:spAutoFit/>
          </a:bodyPr>
          <a:lstStyle/>
          <a:p>
            <a:pPr algn="l">
              <a:lnSpc>
                <a:spcPts val="5808"/>
              </a:lnSpc>
            </a:pPr>
            <a:r>
              <a:rPr lang="en-US" sz="4000" spc="-458" err="1">
                <a:solidFill>
                  <a:srgbClr val="000000"/>
                </a:solidFill>
                <a:latin typeface="Garet Bold" panose="020B0604020202020204" charset="0"/>
                <a:ea typeface="Archivo Black"/>
                <a:cs typeface="Archivo Black"/>
                <a:sym typeface="Archivo Black"/>
              </a:rPr>
              <a:t>Visitas</a:t>
            </a:r>
            <a:r>
              <a:rPr lang="en-US" sz="4000" spc="-458">
                <a:solidFill>
                  <a:srgbClr val="000000"/>
                </a:solidFill>
                <a:latin typeface="Garet Bold" panose="020B0604020202020204" charset="0"/>
                <a:ea typeface="Archivo Black"/>
                <a:cs typeface="Archivo Black"/>
                <a:sym typeface="Archivo Black"/>
              </a:rPr>
              <a:t> </a:t>
            </a:r>
            <a:r>
              <a:rPr lang="en-US" sz="4000" spc="-458" err="1">
                <a:solidFill>
                  <a:srgbClr val="000000"/>
                </a:solidFill>
                <a:latin typeface="Garet Bold" panose="020B0604020202020204" charset="0"/>
                <a:ea typeface="Archivo Black"/>
                <a:cs typeface="Archivo Black"/>
                <a:sym typeface="Archivo Black"/>
              </a:rPr>
              <a:t>mediadas</a:t>
            </a:r>
            <a:r>
              <a:rPr lang="en-US" sz="4000" spc="-458">
                <a:solidFill>
                  <a:srgbClr val="000000"/>
                </a:solidFill>
                <a:latin typeface="Garet Bold" panose="020B0604020202020204" charset="0"/>
                <a:ea typeface="Archivo Black"/>
                <a:cs typeface="Archivo Black"/>
                <a:sym typeface="Archivo Black"/>
              </a:rPr>
              <a:t> (</a:t>
            </a:r>
            <a:r>
              <a:rPr lang="en-US" sz="4000" spc="-458" err="1">
                <a:solidFill>
                  <a:srgbClr val="000000"/>
                </a:solidFill>
                <a:latin typeface="Garet Bold" panose="020B0604020202020204" charset="0"/>
                <a:ea typeface="Archivo Black"/>
                <a:cs typeface="Archivo Black"/>
                <a:sym typeface="Archivo Black"/>
              </a:rPr>
              <a:t>espontâneas</a:t>
            </a:r>
            <a:r>
              <a:rPr lang="en-US" sz="4000" spc="-458">
                <a:solidFill>
                  <a:srgbClr val="000000"/>
                </a:solidFill>
                <a:latin typeface="Garet Bold" panose="020B0604020202020204" charset="0"/>
                <a:ea typeface="Archivo Black"/>
                <a:cs typeface="Archivo Black"/>
                <a:sym typeface="Archivo Black"/>
              </a:rPr>
              <a:t> e </a:t>
            </a:r>
            <a:r>
              <a:rPr lang="en-US" sz="4000" spc="-458" err="1">
                <a:solidFill>
                  <a:srgbClr val="000000"/>
                </a:solidFill>
                <a:latin typeface="Garet Bold" panose="020B0604020202020204" charset="0"/>
                <a:ea typeface="Archivo Black"/>
                <a:cs typeface="Archivo Black"/>
                <a:sym typeface="Archivo Black"/>
              </a:rPr>
              <a:t>agendadas</a:t>
            </a:r>
            <a:r>
              <a:rPr lang="en-US" sz="4000" spc="-458">
                <a:solidFill>
                  <a:srgbClr val="000000"/>
                </a:solidFill>
                <a:latin typeface="Garet Bold" panose="020B0604020202020204" charset="0"/>
                <a:ea typeface="Archivo Black"/>
                <a:cs typeface="Archivo Black"/>
                <a:sym typeface="Archivo Black"/>
              </a:rPr>
              <a:t>)  </a:t>
            </a:r>
            <a:r>
              <a:rPr lang="en-US" sz="4000" spc="-458" err="1">
                <a:solidFill>
                  <a:srgbClr val="000000"/>
                </a:solidFill>
                <a:latin typeface="Garet Bold" panose="020B0604020202020204" charset="0"/>
                <a:ea typeface="Archivo Black"/>
                <a:cs typeface="Archivo Black"/>
                <a:sym typeface="Archivo Black"/>
              </a:rPr>
              <a:t>ao</a:t>
            </a:r>
            <a:r>
              <a:rPr lang="en-US" sz="4000" spc="-458">
                <a:solidFill>
                  <a:srgbClr val="000000"/>
                </a:solidFill>
                <a:latin typeface="Garet Bold" panose="020B0604020202020204" charset="0"/>
                <a:ea typeface="Archivo Black"/>
                <a:cs typeface="Archivo Black"/>
                <a:sym typeface="Archivo Black"/>
              </a:rPr>
              <a:t> </a:t>
            </a:r>
            <a:r>
              <a:rPr lang="en-US" sz="4000" spc="-458" err="1">
                <a:solidFill>
                  <a:srgbClr val="000000"/>
                </a:solidFill>
                <a:latin typeface="Garet Bold" panose="020B0604020202020204" charset="0"/>
                <a:ea typeface="Archivo Black"/>
                <a:cs typeface="Archivo Black"/>
                <a:sym typeface="Archivo Black"/>
              </a:rPr>
              <a:t>longo</a:t>
            </a:r>
            <a:r>
              <a:rPr lang="en-US" sz="4000" spc="-458">
                <a:solidFill>
                  <a:srgbClr val="000000"/>
                </a:solidFill>
                <a:latin typeface="Garet Bold" panose="020B0604020202020204" charset="0"/>
                <a:ea typeface="Archivo Black"/>
                <a:cs typeface="Archivo Black"/>
                <a:sym typeface="Archivo Black"/>
              </a:rPr>
              <a:t> da </a:t>
            </a:r>
            <a:r>
              <a:rPr lang="en-US" sz="4000" spc="-458" err="1">
                <a:solidFill>
                  <a:srgbClr val="000000"/>
                </a:solidFill>
                <a:latin typeface="Garet Bold" panose="020B0604020202020204" charset="0"/>
                <a:ea typeface="Archivo Black"/>
                <a:cs typeface="Archivo Black"/>
                <a:sym typeface="Archivo Black"/>
              </a:rPr>
              <a:t>exposição</a:t>
            </a:r>
            <a:endParaRPr lang="en-US" sz="4000" spc="-458">
              <a:solidFill>
                <a:srgbClr val="000000"/>
              </a:solidFill>
              <a:latin typeface="Garet Bold" panose="020B0604020202020204" charset="0"/>
              <a:ea typeface="Archivo Black"/>
              <a:cs typeface="Archivo Black"/>
              <a:sym typeface="Archivo Black"/>
            </a:endParaRPr>
          </a:p>
        </p:txBody>
      </p:sp>
      <p:graphicFrame>
        <p:nvGraphicFramePr>
          <p:cNvPr id="12" name="Gráfico 11">
            <a:extLst>
              <a:ext uri="{FF2B5EF4-FFF2-40B4-BE49-F238E27FC236}">
                <a16:creationId xmlns:a16="http://schemas.microsoft.com/office/drawing/2014/main" id="{CFEC77CF-962E-5A9D-DB93-3865E191326B}"/>
              </a:ext>
            </a:extLst>
          </p:cNvPr>
          <p:cNvGraphicFramePr/>
          <p:nvPr>
            <p:extLst>
              <p:ext uri="{D42A27DB-BD31-4B8C-83A1-F6EECF244321}">
                <p14:modId xmlns:p14="http://schemas.microsoft.com/office/powerpoint/2010/main" val="2876045611"/>
              </p:ext>
            </p:extLst>
          </p:nvPr>
        </p:nvGraphicFramePr>
        <p:xfrm>
          <a:off x="457200" y="1923519"/>
          <a:ext cx="17449800" cy="664898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65D9A-13DA-E312-80E5-E7518DB313C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638F53-2EF6-AB5C-DAF0-6E627F5436E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690C5D4F-5ACA-526A-D62D-39F4624561C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50EB9079-C093-BF2C-DEB9-59978D2A5B57}"/>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0A95DBF5-E5B4-A834-351A-BE5A38901568}"/>
              </a:ext>
            </a:extLst>
          </p:cNvPr>
          <p:cNvSpPr txBox="1"/>
          <p:nvPr/>
        </p:nvSpPr>
        <p:spPr>
          <a:xfrm>
            <a:off x="1447800" y="870351"/>
            <a:ext cx="14782800" cy="728917"/>
          </a:xfrm>
          <a:prstGeom prst="rect">
            <a:avLst/>
          </a:prstGeom>
        </p:spPr>
        <p:txBody>
          <a:bodyPr wrap="square" lIns="0" tIns="0" rIns="0" bIns="0" rtlCol="0" anchor="t">
            <a:spAutoFit/>
          </a:bodyPr>
          <a:lstStyle/>
          <a:p>
            <a:pPr algn="l">
              <a:lnSpc>
                <a:spcPts val="5808"/>
              </a:lnSpc>
            </a:pPr>
            <a:r>
              <a:rPr lang="en-US" sz="4400" spc="-458" err="1">
                <a:solidFill>
                  <a:srgbClr val="000000"/>
                </a:solidFill>
                <a:latin typeface="Archivo Black"/>
                <a:ea typeface="Archivo Black"/>
                <a:cs typeface="Archivo Black"/>
                <a:sym typeface="Archivo Black"/>
              </a:rPr>
              <a:t>ações</a:t>
            </a:r>
            <a:r>
              <a:rPr lang="en-US" sz="4400" spc="-458">
                <a:solidFill>
                  <a:srgbClr val="000000"/>
                </a:solidFill>
                <a:latin typeface="Archivo Black"/>
                <a:ea typeface="Archivo Black"/>
                <a:cs typeface="Archivo Black"/>
                <a:sym typeface="Archivo Black"/>
              </a:rPr>
              <a:t> </a:t>
            </a:r>
            <a:r>
              <a:rPr lang="en-US" sz="4400" spc="-458" err="1">
                <a:solidFill>
                  <a:srgbClr val="000000"/>
                </a:solidFill>
                <a:latin typeface="Archivo Black"/>
                <a:ea typeface="Archivo Black"/>
                <a:cs typeface="Archivo Black"/>
                <a:sym typeface="Archivo Black"/>
              </a:rPr>
              <a:t>integradas</a:t>
            </a:r>
            <a:r>
              <a:rPr lang="en-US" sz="4400" spc="-458">
                <a:solidFill>
                  <a:srgbClr val="000000"/>
                </a:solidFill>
                <a:latin typeface="Archivo Black"/>
                <a:ea typeface="Archivo Black"/>
                <a:cs typeface="Archivo Black"/>
                <a:sym typeface="Archivo Black"/>
              </a:rPr>
              <a:t> da </a:t>
            </a:r>
            <a:r>
              <a:rPr lang="en-US" sz="4400" spc="-458" err="1">
                <a:solidFill>
                  <a:srgbClr val="000000"/>
                </a:solidFill>
                <a:latin typeface="Archivo Black"/>
                <a:ea typeface="Archivo Black"/>
                <a:cs typeface="Archivo Black"/>
                <a:sym typeface="Archivo Black"/>
              </a:rPr>
              <a:t>exposição</a:t>
            </a:r>
            <a:r>
              <a:rPr lang="en-US" sz="4400" spc="-458">
                <a:solidFill>
                  <a:srgbClr val="000000"/>
                </a:solidFill>
                <a:latin typeface="Archivo Black"/>
                <a:ea typeface="Archivo Black"/>
                <a:cs typeface="Archivo Black"/>
                <a:sym typeface="Archivo Black"/>
              </a:rPr>
              <a:t> </a:t>
            </a:r>
            <a:r>
              <a:rPr lang="en-US" sz="4400" spc="-458" err="1">
                <a:solidFill>
                  <a:srgbClr val="000000"/>
                </a:solidFill>
                <a:latin typeface="Archivo Black"/>
                <a:ea typeface="Archivo Black"/>
                <a:cs typeface="Archivo Black"/>
                <a:sym typeface="Archivo Black"/>
              </a:rPr>
              <a:t>ao</a:t>
            </a:r>
            <a:r>
              <a:rPr lang="en-US" sz="4400" spc="-458">
                <a:solidFill>
                  <a:srgbClr val="000000"/>
                </a:solidFill>
                <a:latin typeface="Archivo Black"/>
                <a:ea typeface="Archivo Black"/>
                <a:cs typeface="Archivo Black"/>
                <a:sym typeface="Archivo Black"/>
              </a:rPr>
              <a:t> </a:t>
            </a:r>
            <a:r>
              <a:rPr lang="en-US" sz="4400" spc="-458" err="1">
                <a:solidFill>
                  <a:srgbClr val="000000"/>
                </a:solidFill>
                <a:latin typeface="Archivo Black"/>
                <a:ea typeface="Archivo Black"/>
                <a:cs typeface="Archivo Black"/>
                <a:sym typeface="Archivo Black"/>
              </a:rPr>
              <a:t>longo</a:t>
            </a:r>
            <a:r>
              <a:rPr lang="en-US" sz="4400" spc="-458">
                <a:solidFill>
                  <a:srgbClr val="000000"/>
                </a:solidFill>
                <a:latin typeface="Archivo Black"/>
                <a:ea typeface="Archivo Black"/>
                <a:cs typeface="Archivo Black"/>
                <a:sym typeface="Archivo Black"/>
              </a:rPr>
              <a:t> dos meses</a:t>
            </a:r>
          </a:p>
        </p:txBody>
      </p:sp>
      <p:graphicFrame>
        <p:nvGraphicFramePr>
          <p:cNvPr id="12" name="Gráfico 11">
            <a:extLst>
              <a:ext uri="{FF2B5EF4-FFF2-40B4-BE49-F238E27FC236}">
                <a16:creationId xmlns:a16="http://schemas.microsoft.com/office/drawing/2014/main" id="{FC25CF46-1209-BF52-6AD9-9F5C28DD0E54}"/>
              </a:ext>
            </a:extLst>
          </p:cNvPr>
          <p:cNvGraphicFramePr/>
          <p:nvPr>
            <p:extLst>
              <p:ext uri="{D42A27DB-BD31-4B8C-83A1-F6EECF244321}">
                <p14:modId xmlns:p14="http://schemas.microsoft.com/office/powerpoint/2010/main" val="990316711"/>
              </p:ext>
            </p:extLst>
          </p:nvPr>
        </p:nvGraphicFramePr>
        <p:xfrm>
          <a:off x="1447800" y="1923519"/>
          <a:ext cx="15811500" cy="662990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39162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905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r>
              <a:rPr lang="pt-BR" err="1"/>
              <a:t>bfbfff</a:t>
            </a:r>
            <a:endParaRPr lang="pt-BR"/>
          </a:p>
        </p:txBody>
      </p:sp>
      <p:graphicFrame>
        <p:nvGraphicFramePr>
          <p:cNvPr id="3" name="Table 3"/>
          <p:cNvGraphicFramePr>
            <a:graphicFrameLocks noGrp="1"/>
          </p:cNvGraphicFramePr>
          <p:nvPr>
            <p:extLst>
              <p:ext uri="{D42A27DB-BD31-4B8C-83A1-F6EECF244321}">
                <p14:modId xmlns:p14="http://schemas.microsoft.com/office/powerpoint/2010/main" val="1300062305"/>
              </p:ext>
            </p:extLst>
          </p:nvPr>
        </p:nvGraphicFramePr>
        <p:xfrm>
          <a:off x="9476993" y="3090250"/>
          <a:ext cx="7811857" cy="4106500"/>
        </p:xfrm>
        <a:graphic>
          <a:graphicData uri="http://schemas.openxmlformats.org/drawingml/2006/table">
            <a:tbl>
              <a:tblPr/>
              <a:tblGrid>
                <a:gridCol w="4311097">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443360">
                  <a:extLst>
                    <a:ext uri="{9D8B030D-6E8A-4147-A177-3AD203B41FA5}">
                      <a16:colId xmlns:a16="http://schemas.microsoft.com/office/drawing/2014/main" val="20002"/>
                    </a:ext>
                  </a:extLst>
                </a:gridCol>
              </a:tblGrid>
              <a:tr h="821300">
                <a:tc>
                  <a:txBody>
                    <a:bodyPr/>
                    <a:lstStyle/>
                    <a:p>
                      <a:pPr algn="ctr">
                        <a:lnSpc>
                          <a:spcPts val="2799"/>
                        </a:lnSpc>
                        <a:defRPr/>
                      </a:pPr>
                      <a:endParaRPr lang="en-US" sz="110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rgbClr val="000000"/>
                          </a:solidFill>
                          <a:latin typeface="Garet Bold" panose="020B0604020202020204" charset="0"/>
                          <a:ea typeface="Garet"/>
                          <a:cs typeface="Garet"/>
                          <a:sym typeface="Garet"/>
                        </a:rPr>
                        <a:t>presenças</a:t>
                      </a:r>
                      <a:endParaRPr lang="en-US" sz="110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chemeClr val="tx1">
                              <a:lumMod val="50000"/>
                              <a:lumOff val="50000"/>
                            </a:schemeClr>
                          </a:solidFill>
                          <a:latin typeface="Garet Bold" panose="020B0604020202020204" charset="0"/>
                          <a:ea typeface="Garet"/>
                          <a:cs typeface="Garet"/>
                          <a:sym typeface="Garet"/>
                        </a:rPr>
                        <a:t>ações</a:t>
                      </a:r>
                      <a:endParaRPr lang="en-US" sz="1100">
                        <a:solidFill>
                          <a:schemeClr val="tx1">
                            <a:lumMod val="50000"/>
                            <a:lumOff val="50000"/>
                          </a:schemeClr>
                        </a:solidFill>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821300">
                <a:tc>
                  <a:txBody>
                    <a:bodyPr/>
                    <a:lstStyle/>
                    <a:p>
                      <a:pPr algn="ctr">
                        <a:lnSpc>
                          <a:spcPts val="2799"/>
                        </a:lnSpc>
                        <a:defRPr/>
                      </a:pPr>
                      <a:r>
                        <a:rPr lang="en-US" sz="1999" b="1" err="1">
                          <a:solidFill>
                            <a:srgbClr val="000000"/>
                          </a:solidFill>
                          <a:latin typeface="Garet Bold" panose="020B0604020202020204" charset="0"/>
                          <a:ea typeface="Garet Bold"/>
                          <a:cs typeface="Garet Bold"/>
                          <a:sym typeface="Garet Bold"/>
                        </a:rPr>
                        <a:t>Oficinas</a:t>
                      </a:r>
                      <a:endParaRPr lang="en-US" sz="110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kern="1200">
                          <a:solidFill>
                            <a:srgbClr val="000000"/>
                          </a:solidFill>
                          <a:latin typeface="Garet Bold" panose="020B0604020202020204" charset="0"/>
                        </a:rPr>
                        <a:t>176</a:t>
                      </a: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tabLst/>
                        <a:defRPr/>
                      </a:pPr>
                      <a:r>
                        <a:rPr lang="en-US" sz="2400">
                          <a:solidFill>
                            <a:schemeClr val="tx1">
                              <a:lumMod val="50000"/>
                              <a:lumOff val="50000"/>
                            </a:schemeClr>
                          </a:solidFill>
                          <a:latin typeface="Garet Bold" panose="020B0604020202020204" charset="0"/>
                        </a:rPr>
                        <a:t>8</a:t>
                      </a: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21300">
                <a:tc>
                  <a:txBody>
                    <a:bodyPr/>
                    <a:lstStyle/>
                    <a:p>
                      <a:pPr algn="ctr">
                        <a:lnSpc>
                          <a:spcPts val="2799"/>
                        </a:lnSpc>
                        <a:defRPr/>
                      </a:pPr>
                      <a:r>
                        <a:rPr lang="en-US" sz="1999" b="1" kern="1200">
                          <a:solidFill>
                            <a:srgbClr val="000000"/>
                          </a:solidFill>
                          <a:latin typeface="Garet Bold" panose="020B0604020202020204" charset="0"/>
                        </a:rPr>
                        <a:t>Curso</a:t>
                      </a: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lnSpc>
                          <a:spcPts val="2799"/>
                        </a:lnSpc>
                        <a:defRPr/>
                      </a:pPr>
                      <a:r>
                        <a:rPr lang="en-US" sz="1999" kern="1200">
                          <a:solidFill>
                            <a:srgbClr val="000000"/>
                          </a:solidFill>
                          <a:latin typeface="Garet Bold" panose="020B0604020202020204" charset="0"/>
                          <a:ea typeface="+mn-ea"/>
                          <a:cs typeface="+mn-cs"/>
                        </a:rPr>
                        <a:t>90</a:t>
                      </a: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a:solidFill>
                            <a:schemeClr val="tx1">
                              <a:lumMod val="50000"/>
                              <a:lumOff val="50000"/>
                            </a:schemeClr>
                          </a:solidFill>
                          <a:latin typeface="Garet Bold" panose="020B0604020202020204" charset="0"/>
                        </a:rPr>
                        <a:t>3</a:t>
                      </a: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821300">
                <a:tc>
                  <a:txBody>
                    <a:bodyPr/>
                    <a:lstStyle/>
                    <a:p>
                      <a:pPr algn="ctr">
                        <a:lnSpc>
                          <a:spcPts val="2799"/>
                        </a:lnSpc>
                        <a:defRPr/>
                      </a:pPr>
                      <a:r>
                        <a:rPr lang="en-US" sz="1999" b="1" err="1">
                          <a:solidFill>
                            <a:srgbClr val="000000"/>
                          </a:solidFill>
                          <a:latin typeface="Garet Bold" panose="020B0604020202020204" charset="0"/>
                          <a:ea typeface="Garet Bold"/>
                          <a:cs typeface="Garet Bold"/>
                          <a:sym typeface="Garet Bold"/>
                        </a:rPr>
                        <a:t>Mediação</a:t>
                      </a:r>
                      <a:endParaRPr lang="en-US" sz="110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kern="1200">
                          <a:solidFill>
                            <a:srgbClr val="000000"/>
                          </a:solidFill>
                          <a:latin typeface="Garet Bold" panose="020B0604020202020204" charset="0"/>
                          <a:ea typeface="+mn-ea"/>
                          <a:cs typeface="+mn-cs"/>
                        </a:rPr>
                        <a:t>125</a:t>
                      </a: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a:solidFill>
                            <a:schemeClr val="tx1">
                              <a:lumMod val="50000"/>
                              <a:lumOff val="50000"/>
                            </a:schemeClr>
                          </a:solidFill>
                          <a:latin typeface="Garet Bold" panose="020B0604020202020204" charset="0"/>
                        </a:rPr>
                        <a:t>5</a:t>
                      </a: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821300">
                <a:tc>
                  <a:txBody>
                    <a:bodyPr/>
                    <a:lstStyle/>
                    <a:p>
                      <a:pPr algn="ctr">
                        <a:lnSpc>
                          <a:spcPts val="2799"/>
                        </a:lnSpc>
                        <a:defRPr/>
                      </a:pPr>
                      <a:r>
                        <a:rPr lang="en-US" sz="1999" kern="1200">
                          <a:solidFill>
                            <a:srgbClr val="000000"/>
                          </a:solidFill>
                          <a:latin typeface="Garet Bold" panose="020B0604020202020204" charset="0"/>
                          <a:ea typeface="+mn-ea"/>
                          <a:cs typeface="+mn-cs"/>
                          <a:sym typeface="Garet Bold"/>
                        </a:rPr>
                        <a:t>Bate-</a:t>
                      </a:r>
                      <a:r>
                        <a:rPr lang="en-US" sz="1999" kern="1200" err="1">
                          <a:solidFill>
                            <a:srgbClr val="000000"/>
                          </a:solidFill>
                          <a:latin typeface="Garet Bold" panose="020B0604020202020204" charset="0"/>
                          <a:ea typeface="+mn-ea"/>
                          <a:cs typeface="+mn-cs"/>
                          <a:sym typeface="Garet Bold"/>
                        </a:rPr>
                        <a:t>papo</a:t>
                      </a:r>
                      <a:endParaRPr lang="en-US" sz="1999" kern="1200">
                        <a:solidFill>
                          <a:srgbClr val="000000"/>
                        </a:solidFill>
                        <a:latin typeface="Garet Bold" panose="020B0604020202020204" charset="0"/>
                        <a:ea typeface="+mn-ea"/>
                        <a:cs typeface="+mn-cs"/>
                        <a:sym typeface="Garet Bold"/>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kern="1200">
                          <a:solidFill>
                            <a:srgbClr val="000000"/>
                          </a:solidFill>
                          <a:latin typeface="Garet Bold" panose="020B0604020202020204" charset="0"/>
                          <a:ea typeface="+mn-ea"/>
                          <a:cs typeface="+mn-cs"/>
                        </a:rPr>
                        <a:t>50</a:t>
                      </a: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a:solidFill>
                            <a:schemeClr val="tx1">
                              <a:lumMod val="50000"/>
                              <a:lumOff val="50000"/>
                            </a:schemeClr>
                          </a:solidFill>
                          <a:latin typeface="Garet Bold" panose="020B0604020202020204" charset="0"/>
                        </a:rPr>
                        <a:t>1</a:t>
                      </a: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4" name="Freeform 4"/>
          <p:cNvSpPr/>
          <p:nvPr/>
        </p:nvSpPr>
        <p:spPr>
          <a:xfrm>
            <a:off x="-609600" y="1559650"/>
            <a:ext cx="9125543" cy="7167700"/>
          </a:xfrm>
          <a:custGeom>
            <a:avLst/>
            <a:gdLst/>
            <a:ahLst/>
            <a:cxnLst/>
            <a:rect l="l" t="t" r="r" b="b"/>
            <a:pathLst>
              <a:path w="9125543" h="7167700">
                <a:moveTo>
                  <a:pt x="0" y="0"/>
                </a:moveTo>
                <a:lnTo>
                  <a:pt x="9125544" y="0"/>
                </a:lnTo>
                <a:lnTo>
                  <a:pt x="9125544" y="7167700"/>
                </a:lnTo>
                <a:lnTo>
                  <a:pt x="0" y="71677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5" name="Freeform 5"/>
          <p:cNvSpPr/>
          <p:nvPr/>
        </p:nvSpPr>
        <p:spPr>
          <a:xfrm>
            <a:off x="14799313" y="0"/>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7" name="TextBox 11">
            <a:extLst>
              <a:ext uri="{FF2B5EF4-FFF2-40B4-BE49-F238E27FC236}">
                <a16:creationId xmlns:a16="http://schemas.microsoft.com/office/drawing/2014/main" id="{79A31098-639A-3778-D1DB-C199CAD3F36C}"/>
              </a:ext>
            </a:extLst>
          </p:cNvPr>
          <p:cNvSpPr txBox="1"/>
          <p:nvPr/>
        </p:nvSpPr>
        <p:spPr>
          <a:xfrm>
            <a:off x="1295400" y="6124228"/>
            <a:ext cx="6172200" cy="1634486"/>
          </a:xfrm>
          <a:prstGeom prst="rect">
            <a:avLst/>
          </a:prstGeom>
        </p:spPr>
        <p:txBody>
          <a:bodyPr wrap="square" lIns="0" tIns="0" rIns="0" bIns="0" rtlCol="0" anchor="t">
            <a:spAutoFit/>
          </a:bodyPr>
          <a:lstStyle/>
          <a:p>
            <a:pPr algn="ctr">
              <a:lnSpc>
                <a:spcPts val="4295"/>
              </a:lnSpc>
            </a:pPr>
            <a:r>
              <a:rPr lang="en-US" sz="6000" b="1">
                <a:solidFill>
                  <a:schemeClr val="bg1"/>
                </a:solidFill>
                <a:latin typeface="Garet Bold" panose="020B0604020202020204" charset="0"/>
                <a:ea typeface="Garet"/>
                <a:cs typeface="Garet"/>
                <a:sym typeface="Garet"/>
              </a:rPr>
              <a:t>441</a:t>
            </a:r>
            <a:endParaRPr lang="en-US" sz="6000">
              <a:solidFill>
                <a:schemeClr val="bg1"/>
              </a:solidFill>
              <a:latin typeface="Garet Bold" panose="020B0604020202020204" charset="0"/>
              <a:ea typeface="Garet"/>
              <a:cs typeface="Garet"/>
              <a:sym typeface="Garet"/>
            </a:endParaRPr>
          </a:p>
          <a:p>
            <a:pPr algn="ctr">
              <a:lnSpc>
                <a:spcPts val="4295"/>
              </a:lnSpc>
            </a:pPr>
            <a:r>
              <a:rPr lang="en-US" sz="3068" err="1">
                <a:solidFill>
                  <a:schemeClr val="bg1"/>
                </a:solidFill>
                <a:latin typeface="Garet"/>
                <a:ea typeface="Garet"/>
                <a:cs typeface="Garet"/>
                <a:sym typeface="Garet"/>
              </a:rPr>
              <a:t>presenças</a:t>
            </a:r>
            <a:r>
              <a:rPr lang="en-US" sz="3068">
                <a:solidFill>
                  <a:schemeClr val="bg1"/>
                </a:solidFill>
                <a:latin typeface="Garet"/>
                <a:ea typeface="Garet"/>
                <a:cs typeface="Garet"/>
                <a:sym typeface="Garet"/>
              </a:rPr>
              <a:t> </a:t>
            </a:r>
            <a:r>
              <a:rPr lang="en-US" sz="3068" err="1">
                <a:solidFill>
                  <a:schemeClr val="bg1"/>
                </a:solidFill>
                <a:latin typeface="Garet"/>
                <a:ea typeface="Garet"/>
                <a:cs typeface="Garet"/>
                <a:sym typeface="Garet"/>
              </a:rPr>
              <a:t>em</a:t>
            </a:r>
            <a:r>
              <a:rPr lang="en-US" sz="3068">
                <a:solidFill>
                  <a:schemeClr val="bg1"/>
                </a:solidFill>
                <a:latin typeface="Garet"/>
                <a:ea typeface="Garet"/>
                <a:cs typeface="Garet"/>
                <a:sym typeface="Garet"/>
              </a:rPr>
              <a:t> </a:t>
            </a:r>
            <a:r>
              <a:rPr lang="en-US" sz="3068" err="1">
                <a:solidFill>
                  <a:schemeClr val="bg1"/>
                </a:solidFill>
                <a:latin typeface="Garet"/>
                <a:ea typeface="Garet"/>
                <a:cs typeface="Garet"/>
                <a:sym typeface="Garet"/>
              </a:rPr>
              <a:t>ações</a:t>
            </a:r>
            <a:r>
              <a:rPr lang="en-US" sz="3068">
                <a:solidFill>
                  <a:schemeClr val="bg1"/>
                </a:solidFill>
                <a:latin typeface="Garet"/>
                <a:ea typeface="Garet"/>
                <a:cs typeface="Garet"/>
                <a:sym typeface="Garet"/>
              </a:rPr>
              <a:t> </a:t>
            </a:r>
            <a:r>
              <a:rPr lang="en-US" sz="3068" err="1">
                <a:solidFill>
                  <a:schemeClr val="bg1"/>
                </a:solidFill>
                <a:latin typeface="Garet"/>
                <a:ea typeface="Garet"/>
                <a:cs typeface="Garet"/>
                <a:sym typeface="Garet"/>
              </a:rPr>
              <a:t>integradas</a:t>
            </a:r>
            <a:r>
              <a:rPr lang="en-US" sz="3068">
                <a:solidFill>
                  <a:schemeClr val="bg1"/>
                </a:solidFill>
                <a:latin typeface="Garet"/>
                <a:ea typeface="Garet"/>
                <a:cs typeface="Garet"/>
                <a:sym typeface="Garet"/>
              </a:rPr>
              <a:t> à </a:t>
            </a:r>
            <a:r>
              <a:rPr lang="en-US" sz="3068" err="1">
                <a:solidFill>
                  <a:schemeClr val="bg1"/>
                </a:solidFill>
                <a:latin typeface="Garet"/>
                <a:ea typeface="Garet"/>
                <a:cs typeface="Garet"/>
                <a:sym typeface="Garet"/>
              </a:rPr>
              <a:t>exposição</a:t>
            </a:r>
            <a:endParaRPr lang="en-US" sz="3068">
              <a:solidFill>
                <a:schemeClr val="bg1"/>
              </a:solidFill>
              <a:latin typeface="Garet"/>
              <a:ea typeface="Garet"/>
              <a:cs typeface="Garet"/>
              <a:sym typeface="Garet"/>
            </a:endParaRPr>
          </a:p>
        </p:txBody>
      </p:sp>
      <p:sp>
        <p:nvSpPr>
          <p:cNvPr id="6" name="TextBox 23">
            <a:extLst>
              <a:ext uri="{FF2B5EF4-FFF2-40B4-BE49-F238E27FC236}">
                <a16:creationId xmlns:a16="http://schemas.microsoft.com/office/drawing/2014/main" id="{CB492B68-679A-5EB6-077A-19A8FBA01327}"/>
              </a:ext>
            </a:extLst>
          </p:cNvPr>
          <p:cNvSpPr txBox="1"/>
          <p:nvPr/>
        </p:nvSpPr>
        <p:spPr>
          <a:xfrm>
            <a:off x="11201400" y="7878378"/>
            <a:ext cx="5867251" cy="1079783"/>
          </a:xfrm>
          <a:prstGeom prst="rect">
            <a:avLst/>
          </a:prstGeom>
        </p:spPr>
        <p:txBody>
          <a:bodyPr wrap="square" lIns="0" tIns="0" rIns="0" bIns="0" rtlCol="0" anchor="t">
            <a:spAutoFit/>
          </a:bodyPr>
          <a:lstStyle/>
          <a:p>
            <a:pPr algn="ctr">
              <a:lnSpc>
                <a:spcPts val="2794"/>
              </a:lnSpc>
            </a:pPr>
            <a:r>
              <a:rPr lang="pt-BR" sz="2400" b="1">
                <a:latin typeface="Garet" panose="020B0604020202020204" charset="0"/>
              </a:rPr>
              <a:t>Ações realizadas pela equipe educativa e por artistas que expuseram suas obras na MAJ.</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0FDA7-B291-C22D-9667-DA9A5DD46A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954F1D-16E1-FA8F-8C1C-5D689D9903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10" name="TextBox 10">
            <a:extLst>
              <a:ext uri="{FF2B5EF4-FFF2-40B4-BE49-F238E27FC236}">
                <a16:creationId xmlns:a16="http://schemas.microsoft.com/office/drawing/2014/main" id="{D7F082A3-D60F-1AAB-1517-60689FB4FD8C}"/>
              </a:ext>
            </a:extLst>
          </p:cNvPr>
          <p:cNvSpPr txBox="1"/>
          <p:nvPr/>
        </p:nvSpPr>
        <p:spPr>
          <a:xfrm>
            <a:off x="419232" y="266700"/>
            <a:ext cx="8749349" cy="3066224"/>
          </a:xfrm>
          <a:prstGeom prst="rect">
            <a:avLst/>
          </a:prstGeom>
        </p:spPr>
        <p:txBody>
          <a:bodyPr wrap="square" lIns="0" tIns="0" rIns="0" bIns="0" rtlCol="0" anchor="t">
            <a:spAutoFit/>
          </a:bodyPr>
          <a:lstStyle/>
          <a:p>
            <a:pPr algn="r">
              <a:lnSpc>
                <a:spcPts val="5808"/>
              </a:lnSpc>
            </a:pPr>
            <a:r>
              <a:rPr lang="en-US" sz="5808" spc="-458">
                <a:solidFill>
                  <a:srgbClr val="000000"/>
                </a:solidFill>
                <a:latin typeface="Garet Bold" panose="020B0604020202020204" charset="0"/>
                <a:ea typeface="Archivo Black"/>
                <a:cs typeface="Archivo Black"/>
                <a:sym typeface="Archivo Black"/>
              </a:rPr>
              <a:t> </a:t>
            </a:r>
          </a:p>
          <a:p>
            <a:pPr marL="0" lvl="0" indent="0" algn="r">
              <a:lnSpc>
                <a:spcPts val="5808"/>
              </a:lnSpc>
              <a:spcBef>
                <a:spcPct val="0"/>
              </a:spcBef>
            </a:pPr>
            <a:r>
              <a:rPr lang="en-US" sz="7200" b="1" spc="-458">
                <a:solidFill>
                  <a:srgbClr val="000000"/>
                </a:solidFill>
                <a:latin typeface="Garet Bold" panose="020B0604020202020204" charset="0"/>
                <a:ea typeface="Archivo Black"/>
                <a:cs typeface="Archivo Black"/>
                <a:sym typeface="Archivo Black"/>
              </a:rPr>
              <a:t>17 </a:t>
            </a:r>
            <a:r>
              <a:rPr lang="en-US" sz="7200" b="1" spc="-458" err="1">
                <a:solidFill>
                  <a:srgbClr val="000000"/>
                </a:solidFill>
                <a:latin typeface="Garet Bold" panose="020B0604020202020204" charset="0"/>
                <a:ea typeface="Archivo Black"/>
                <a:cs typeface="Archivo Black"/>
                <a:sym typeface="Archivo Black"/>
              </a:rPr>
              <a:t>instituições</a:t>
            </a:r>
            <a:endParaRPr lang="en-US" sz="7200" b="1" spc="-458">
              <a:solidFill>
                <a:srgbClr val="000000"/>
              </a:solidFill>
              <a:latin typeface="Garet Bold" panose="020B0604020202020204" charset="0"/>
              <a:ea typeface="Archivo Black"/>
              <a:cs typeface="Archivo Black"/>
              <a:sym typeface="Archivo Black"/>
            </a:endParaRPr>
          </a:p>
          <a:p>
            <a:pPr algn="r">
              <a:lnSpc>
                <a:spcPts val="5808"/>
              </a:lnSpc>
              <a:spcBef>
                <a:spcPct val="0"/>
              </a:spcBef>
            </a:pPr>
            <a:r>
              <a:rPr lang="en-US" sz="4000" spc="-458" err="1">
                <a:solidFill>
                  <a:srgbClr val="000000"/>
                </a:solidFill>
                <a:latin typeface="Garet" panose="020B0604020202020204" charset="0"/>
                <a:ea typeface="Archivo Black"/>
                <a:cs typeface="Archivo Black"/>
                <a:sym typeface="Archivo Black"/>
              </a:rPr>
              <a:t>destaques</a:t>
            </a:r>
            <a:r>
              <a:rPr lang="en-US" sz="4000" spc="-458">
                <a:solidFill>
                  <a:srgbClr val="000000"/>
                </a:solidFill>
                <a:latin typeface="Garet" panose="020B0604020202020204" charset="0"/>
                <a:ea typeface="Archivo Black"/>
                <a:cs typeface="Archivo Black"/>
                <a:sym typeface="Archivo Black"/>
              </a:rPr>
              <a:t> entre as </a:t>
            </a:r>
            <a:r>
              <a:rPr lang="en-US" sz="4000" spc="-458" err="1">
                <a:solidFill>
                  <a:srgbClr val="000000"/>
                </a:solidFill>
                <a:latin typeface="Garet" panose="020B0604020202020204" charset="0"/>
                <a:ea typeface="Archivo Black"/>
                <a:cs typeface="Archivo Black"/>
                <a:sym typeface="Archivo Black"/>
              </a:rPr>
              <a:t>instituições</a:t>
            </a:r>
            <a:r>
              <a:rPr lang="en-US" sz="4000" spc="-458">
                <a:solidFill>
                  <a:srgbClr val="000000"/>
                </a:solidFill>
                <a:latin typeface="Garet" panose="020B0604020202020204" charset="0"/>
                <a:ea typeface="Archivo Black"/>
                <a:cs typeface="Archivo Black"/>
                <a:sym typeface="Archivo Black"/>
              </a:rPr>
              <a:t> </a:t>
            </a:r>
            <a:r>
              <a:rPr lang="en-US" sz="4000" spc="-458" err="1">
                <a:solidFill>
                  <a:srgbClr val="000000"/>
                </a:solidFill>
                <a:latin typeface="Garet" panose="020B0604020202020204" charset="0"/>
                <a:ea typeface="Archivo Black"/>
                <a:cs typeface="Archivo Black"/>
                <a:sym typeface="Archivo Black"/>
              </a:rPr>
              <a:t>recebidas</a:t>
            </a:r>
            <a:endParaRPr lang="en-US" sz="5400" spc="-458">
              <a:solidFill>
                <a:srgbClr val="000000"/>
              </a:solidFill>
              <a:latin typeface="Garet" panose="020B0604020202020204" charset="0"/>
              <a:ea typeface="Archivo Black"/>
              <a:cs typeface="Archivo Black"/>
              <a:sym typeface="Archivo Black"/>
            </a:endParaRPr>
          </a:p>
          <a:p>
            <a:pPr marL="0" lvl="0" indent="0" algn="r">
              <a:lnSpc>
                <a:spcPts val="5808"/>
              </a:lnSpc>
              <a:spcBef>
                <a:spcPct val="0"/>
              </a:spcBef>
            </a:pPr>
            <a:endParaRPr lang="en-US" sz="7200" b="1" spc="-458">
              <a:solidFill>
                <a:srgbClr val="000000"/>
              </a:solidFill>
              <a:latin typeface="Garet Bold" panose="020B0604020202020204" charset="0"/>
              <a:ea typeface="Archivo Black"/>
              <a:cs typeface="Archivo Black"/>
              <a:sym typeface="Archivo Black"/>
            </a:endParaRPr>
          </a:p>
        </p:txBody>
      </p:sp>
      <p:sp>
        <p:nvSpPr>
          <p:cNvPr id="3" name="TextBox 13">
            <a:extLst>
              <a:ext uri="{FF2B5EF4-FFF2-40B4-BE49-F238E27FC236}">
                <a16:creationId xmlns:a16="http://schemas.microsoft.com/office/drawing/2014/main" id="{443776A8-5BF1-5C6C-FDAB-3F0211A9B258}"/>
              </a:ext>
            </a:extLst>
          </p:cNvPr>
          <p:cNvSpPr txBox="1"/>
          <p:nvPr/>
        </p:nvSpPr>
        <p:spPr>
          <a:xfrm>
            <a:off x="677001" y="4597317"/>
            <a:ext cx="17191767" cy="8002191"/>
          </a:xfrm>
          <a:prstGeom prst="rect">
            <a:avLst/>
          </a:prstGeom>
        </p:spPr>
        <p:txBody>
          <a:bodyPr wrap="square" lIns="0" tIns="0" rIns="0" bIns="0" numCol="2" rtlCol="0" anchor="t">
            <a:spAutoFit/>
          </a:bodyPr>
          <a:lstStyle/>
          <a:p>
            <a:pPr marL="285750" indent="-285750">
              <a:buFont typeface="Arial" panose="020B0604020202020204" pitchFamily="34" charset="0"/>
              <a:buChar char="•"/>
            </a:pPr>
            <a:r>
              <a:rPr lang="pt-BR" sz="2400">
                <a:latin typeface="Garet"/>
              </a:rPr>
              <a:t>Alvorada Associação de Amigos do Jardim do Trevo</a:t>
            </a:r>
          </a:p>
          <a:p>
            <a:pPr marL="285750" indent="-285750">
              <a:buFont typeface="Arial" panose="020B0604020202020204" pitchFamily="34" charset="0"/>
              <a:buChar char="•"/>
            </a:pPr>
            <a:r>
              <a:rPr lang="pt-BR" sz="2400">
                <a:latin typeface="Garet"/>
              </a:rPr>
              <a:t>Associação para auxílio de dependentes químicos – AMOSTRA</a:t>
            </a:r>
          </a:p>
          <a:p>
            <a:pPr marL="285750" indent="-285750">
              <a:buFont typeface="Arial" panose="020B0604020202020204" pitchFamily="34" charset="0"/>
              <a:buChar char="•"/>
            </a:pPr>
            <a:r>
              <a:rPr lang="pt-BR" sz="2400">
                <a:latin typeface="Garet"/>
              </a:rPr>
              <a:t>Associação para auxílio de dependentes químicos – Caminhos da Paz</a:t>
            </a:r>
          </a:p>
          <a:p>
            <a:pPr marL="285750" indent="-285750">
              <a:buFont typeface="Arial" panose="020B0604020202020204" pitchFamily="34" charset="0"/>
              <a:buChar char="•"/>
            </a:pPr>
            <a:r>
              <a:rPr lang="pt-BR" sz="2400">
                <a:latin typeface="Garet"/>
              </a:rPr>
              <a:t>Instituição Fraternidade Solidária São Francisco de Assis – FRASOL</a:t>
            </a:r>
          </a:p>
          <a:p>
            <a:pPr marL="285750" indent="-285750">
              <a:buFont typeface="Arial" panose="020B0604020202020204" pitchFamily="34" charset="0"/>
              <a:buChar char="•"/>
            </a:pPr>
            <a:r>
              <a:rPr lang="pt-BR" sz="2400">
                <a:latin typeface="Garet"/>
              </a:rPr>
              <a:t>Associação de Apoio ao Psicótico – AAPSI</a:t>
            </a:r>
          </a:p>
          <a:p>
            <a:pPr marL="285750" indent="-285750">
              <a:buFont typeface="Arial" panose="020B0604020202020204" pitchFamily="34" charset="0"/>
              <a:buChar char="•"/>
            </a:pPr>
            <a:r>
              <a:rPr lang="pt-BR" sz="2400">
                <a:latin typeface="Garet"/>
              </a:rPr>
              <a:t>Instituto Crescer Cidadão</a:t>
            </a:r>
          </a:p>
          <a:p>
            <a:pPr marL="285750" indent="-285750">
              <a:buFont typeface="Arial" panose="020B0604020202020204" pitchFamily="34" charset="0"/>
              <a:buChar char="•"/>
            </a:pPr>
            <a:r>
              <a:rPr lang="pt-BR" sz="2400">
                <a:latin typeface="Garet"/>
              </a:rPr>
              <a:t>APAE</a:t>
            </a:r>
          </a:p>
          <a:p>
            <a:pPr marL="285750" indent="-285750">
              <a:buFont typeface="Arial" panose="020B0604020202020204" pitchFamily="34" charset="0"/>
              <a:buChar char="•"/>
            </a:pPr>
            <a:r>
              <a:rPr lang="pt-BR" sz="2400">
                <a:latin typeface="Garet"/>
              </a:rPr>
              <a:t>Fraterno Auxílio Cristão da Cidade de Ribeirão Preto - FAC</a:t>
            </a:r>
          </a:p>
          <a:p>
            <a:pPr marL="285750" indent="-285750">
              <a:buFont typeface="Arial" panose="020B0604020202020204" pitchFamily="34" charset="0"/>
              <a:buChar char="•"/>
            </a:pPr>
            <a:r>
              <a:rPr lang="pt-BR" sz="2400">
                <a:latin typeface="Garet"/>
              </a:rPr>
              <a:t>Marista Social Irmão Rui</a:t>
            </a:r>
          </a:p>
          <a:p>
            <a:pPr marL="285750" indent="-285750">
              <a:buFont typeface="Arial" panose="020B0604020202020204" pitchFamily="34" charset="0"/>
              <a:buChar char="•"/>
            </a:pPr>
            <a:r>
              <a:rPr lang="pt-BR" sz="2400">
                <a:latin typeface="Garet"/>
              </a:rPr>
              <a:t>Sociedade Espírita Obreiros do Bem</a:t>
            </a:r>
          </a:p>
          <a:p>
            <a:pPr marL="285750" indent="-285750">
              <a:buFont typeface="Arial" panose="020B0604020202020204" pitchFamily="34" charset="0"/>
              <a:buChar char="•"/>
            </a:pPr>
            <a:endParaRPr lang="pt-BR" sz="2400">
              <a:latin typeface="Garet"/>
            </a:endParaRPr>
          </a:p>
          <a:p>
            <a:pPr marL="285750" indent="-285750">
              <a:buFont typeface="Arial" panose="020B0604020202020204" pitchFamily="34" charset="0"/>
              <a:buChar char="•"/>
            </a:pPr>
            <a:endParaRPr lang="pt-BR" sz="2400">
              <a:latin typeface="Garet"/>
            </a:endParaRPr>
          </a:p>
          <a:p>
            <a:pPr marL="285750" indent="-285750">
              <a:buFont typeface="Arial" panose="020B0604020202020204" pitchFamily="34" charset="0"/>
              <a:buChar char="•"/>
            </a:pPr>
            <a:endParaRPr lang="pt-BR" sz="2400">
              <a:latin typeface="Garet"/>
            </a:endParaRPr>
          </a:p>
          <a:p>
            <a:pPr marL="285750" indent="-285750">
              <a:buFont typeface="Arial" panose="020B0604020202020204" pitchFamily="34" charset="0"/>
              <a:buChar char="•"/>
            </a:pPr>
            <a:endParaRPr lang="pt-BR" sz="2400">
              <a:latin typeface="Garet"/>
            </a:endParaRPr>
          </a:p>
          <a:p>
            <a:pPr marL="285750" indent="-285750">
              <a:buFont typeface="Arial" panose="020B0604020202020204" pitchFamily="34" charset="0"/>
              <a:buChar char="•"/>
            </a:pPr>
            <a:endParaRPr lang="pt-BR" sz="2400">
              <a:latin typeface="Garet"/>
            </a:endParaRPr>
          </a:p>
          <a:p>
            <a:pPr marL="285750" indent="-285750">
              <a:buFont typeface="Arial" panose="020B0604020202020204" pitchFamily="34" charset="0"/>
              <a:buChar char="•"/>
            </a:pPr>
            <a:endParaRPr lang="pt-BR" sz="2400">
              <a:latin typeface="Garet"/>
            </a:endParaRPr>
          </a:p>
          <a:p>
            <a:pPr marL="285750" indent="-285750">
              <a:buFont typeface="Arial" panose="020B0604020202020204" pitchFamily="34" charset="0"/>
              <a:buChar char="•"/>
            </a:pPr>
            <a:endParaRPr lang="pt-BR" sz="2400">
              <a:latin typeface="Garet"/>
            </a:endParaRPr>
          </a:p>
          <a:p>
            <a:pPr marL="625475" indent="-260350">
              <a:buFont typeface="Arial" panose="020B0604020202020204" pitchFamily="34" charset="0"/>
              <a:buChar char="•"/>
            </a:pPr>
            <a:r>
              <a:rPr lang="pt-BR" sz="2400" err="1">
                <a:latin typeface="Garet"/>
              </a:rPr>
              <a:t>Corassol</a:t>
            </a:r>
            <a:r>
              <a:rPr lang="pt-BR" sz="2400">
                <a:latin typeface="Garet"/>
              </a:rPr>
              <a:t> – Centro de orientação, reintegração social</a:t>
            </a:r>
          </a:p>
          <a:p>
            <a:pPr marL="625475" indent="-260350">
              <a:buFont typeface="Arial" panose="020B0604020202020204" pitchFamily="34" charset="0"/>
              <a:buChar char="•"/>
            </a:pPr>
            <a:r>
              <a:rPr lang="pt-BR" sz="2400">
                <a:latin typeface="Garet"/>
              </a:rPr>
              <a:t>Centro de referência de assistência social – Branca Salles</a:t>
            </a:r>
          </a:p>
          <a:p>
            <a:pPr marL="625475" indent="-260350">
              <a:buFont typeface="Arial" panose="020B0604020202020204" pitchFamily="34" charset="0"/>
              <a:buChar char="•"/>
            </a:pPr>
            <a:r>
              <a:rPr lang="pt-BR" sz="2400">
                <a:latin typeface="Garet"/>
              </a:rPr>
              <a:t>Escola experimental Organização Vida Nova Casa das Mangueiras</a:t>
            </a:r>
          </a:p>
          <a:p>
            <a:pPr marL="625475" indent="-260350">
              <a:buFont typeface="Arial" panose="020B0604020202020204" pitchFamily="34" charset="0"/>
              <a:buChar char="•"/>
            </a:pPr>
            <a:r>
              <a:rPr lang="pt-BR" sz="2400">
                <a:latin typeface="Garet"/>
              </a:rPr>
              <a:t>LBV</a:t>
            </a:r>
          </a:p>
          <a:p>
            <a:pPr marL="625475" indent="-260350">
              <a:buFont typeface="Arial" panose="020B0604020202020204" pitchFamily="34" charset="0"/>
              <a:buChar char="•"/>
            </a:pPr>
            <a:r>
              <a:rPr lang="pt-BR" sz="2400">
                <a:latin typeface="Garet"/>
              </a:rPr>
              <a:t>Associação Ciranda Viva</a:t>
            </a:r>
          </a:p>
          <a:p>
            <a:pPr marL="625475" indent="-260350">
              <a:buFont typeface="Arial" panose="020B0604020202020204" pitchFamily="34" charset="0"/>
              <a:buChar char="•"/>
            </a:pPr>
            <a:r>
              <a:rPr lang="pt-BR" sz="2400">
                <a:latin typeface="Garet"/>
              </a:rPr>
              <a:t>Associação de Amigos do Autista de Ribeirão Preto – AMA</a:t>
            </a:r>
          </a:p>
          <a:p>
            <a:pPr marL="625475" indent="-260350">
              <a:buFont typeface="Arial" panose="020B0604020202020204" pitchFamily="34" charset="0"/>
              <a:buChar char="•"/>
            </a:pPr>
            <a:r>
              <a:rPr lang="pt-BR" sz="2400" err="1">
                <a:latin typeface="Garet"/>
              </a:rPr>
              <a:t>Adevirp</a:t>
            </a:r>
            <a:r>
              <a:rPr lang="pt-BR" sz="2400">
                <a:latin typeface="Garet"/>
              </a:rPr>
              <a:t> – Associação dos deficientes visuais de Ribeirão Preto e Região</a:t>
            </a:r>
          </a:p>
          <a:p>
            <a:pPr marL="285750" indent="-285750">
              <a:buFont typeface="Arial" panose="020B0604020202020204" pitchFamily="34" charset="0"/>
              <a:buChar char="•"/>
            </a:pPr>
            <a:endParaRPr lang="pt-BR" sz="2800">
              <a:latin typeface="Garet" panose="020B0604020202020204" charset="0"/>
            </a:endParaRPr>
          </a:p>
          <a:p>
            <a:pPr marL="285750" indent="-285750">
              <a:buFont typeface="Arial" panose="020B0604020202020204" pitchFamily="34" charset="0"/>
              <a:buChar char="•"/>
            </a:pPr>
            <a:endParaRPr lang="pt-BR" sz="2800">
              <a:latin typeface="Garet" panose="020B0604020202020204" charset="0"/>
            </a:endParaRPr>
          </a:p>
          <a:p>
            <a:pPr marL="285750" indent="-285750">
              <a:buFont typeface="Arial" panose="020B0604020202020204" pitchFamily="34" charset="0"/>
              <a:buChar char="•"/>
            </a:pPr>
            <a:endParaRPr lang="pt-BR" sz="2800">
              <a:latin typeface="Garet" panose="020B0604020202020204" charset="0"/>
            </a:endParaRPr>
          </a:p>
          <a:p>
            <a:endParaRPr lang="pt-BR" sz="2800"/>
          </a:p>
        </p:txBody>
      </p:sp>
    </p:spTree>
    <p:extLst>
      <p:ext uri="{BB962C8B-B14F-4D97-AF65-F5344CB8AC3E}">
        <p14:creationId xmlns:p14="http://schemas.microsoft.com/office/powerpoint/2010/main" val="5118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12" y="879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latin typeface="Garet" panose="020B0604020202020204" charset="0"/>
            </a:endParaRPr>
          </a:p>
        </p:txBody>
      </p:sp>
      <p:sp>
        <p:nvSpPr>
          <p:cNvPr id="3" name="AutoShape 3"/>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p:cNvSpPr/>
          <p:nvPr/>
        </p:nvSpPr>
        <p:spPr>
          <a:xfrm>
            <a:off x="-585134"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21" name="TextBox 21"/>
          <p:cNvSpPr txBox="1"/>
          <p:nvPr/>
        </p:nvSpPr>
        <p:spPr>
          <a:xfrm>
            <a:off x="1280856" y="1763380"/>
            <a:ext cx="15786981" cy="711733"/>
          </a:xfrm>
          <a:prstGeom prst="rect">
            <a:avLst/>
          </a:prstGeom>
        </p:spPr>
        <p:txBody>
          <a:bodyPr wrap="square" lIns="0" tIns="0" rIns="0" bIns="0" rtlCol="0" anchor="t">
            <a:spAutoFit/>
          </a:bodyPr>
          <a:lstStyle/>
          <a:p>
            <a:pPr>
              <a:lnSpc>
                <a:spcPts val="5808"/>
              </a:lnSpc>
            </a:pPr>
            <a:r>
              <a:rPr lang="en-US" sz="4000" spc="-458" err="1">
                <a:solidFill>
                  <a:srgbClr val="000000"/>
                </a:solidFill>
                <a:latin typeface="Garet Bold" panose="020B0604020202020204" charset="0"/>
                <a:ea typeface="Archivo Black"/>
                <a:cs typeface="Archivo Black"/>
                <a:sym typeface="Archivo Black"/>
              </a:rPr>
              <a:t>Parcerias</a:t>
            </a:r>
            <a:r>
              <a:rPr lang="en-US" sz="4000" spc="-458">
                <a:solidFill>
                  <a:srgbClr val="000000"/>
                </a:solidFill>
                <a:latin typeface="Garet Bold" panose="020B0604020202020204" charset="0"/>
                <a:ea typeface="Archivo Black"/>
                <a:cs typeface="Archivo Black"/>
                <a:sym typeface="Archivo Black"/>
              </a:rPr>
              <a:t> e </a:t>
            </a:r>
            <a:r>
              <a:rPr lang="en-US" sz="4000" spc="-458" err="1">
                <a:solidFill>
                  <a:srgbClr val="000000"/>
                </a:solidFill>
                <a:latin typeface="Garet Bold" panose="020B0604020202020204" charset="0"/>
                <a:ea typeface="Archivo Black"/>
                <a:cs typeface="Archivo Black"/>
                <a:sym typeface="Archivo Black"/>
              </a:rPr>
              <a:t>relacionamentos</a:t>
            </a:r>
            <a:r>
              <a:rPr lang="en-US" sz="4000" spc="-458">
                <a:solidFill>
                  <a:srgbClr val="000000"/>
                </a:solidFill>
                <a:latin typeface="Garet Bold" panose="020B0604020202020204" charset="0"/>
                <a:ea typeface="Archivo Black"/>
                <a:cs typeface="Archivo Black"/>
                <a:sym typeface="Archivo Black"/>
              </a:rPr>
              <a:t> </a:t>
            </a:r>
            <a:r>
              <a:rPr lang="en-US" sz="4000" spc="-458" err="1">
                <a:solidFill>
                  <a:srgbClr val="000000"/>
                </a:solidFill>
                <a:latin typeface="Garet Bold" panose="020B0604020202020204" charset="0"/>
                <a:ea typeface="Archivo Black"/>
                <a:cs typeface="Archivo Black"/>
                <a:sym typeface="Archivo Black"/>
              </a:rPr>
              <a:t>estabelecidos</a:t>
            </a:r>
            <a:r>
              <a:rPr lang="en-US" sz="4000" spc="-458">
                <a:solidFill>
                  <a:srgbClr val="000000"/>
                </a:solidFill>
                <a:latin typeface="Garet Bold" panose="020B0604020202020204" charset="0"/>
                <a:ea typeface="Archivo Black"/>
                <a:cs typeface="Archivo Black"/>
                <a:sym typeface="Archivo Black"/>
              </a:rPr>
              <a:t>  a </a:t>
            </a:r>
            <a:r>
              <a:rPr lang="en-US" sz="4000" spc="-458" err="1">
                <a:solidFill>
                  <a:srgbClr val="000000"/>
                </a:solidFill>
                <a:latin typeface="Garet Bold" panose="020B0604020202020204" charset="0"/>
                <a:ea typeface="Archivo Black"/>
                <a:cs typeface="Archivo Black"/>
                <a:sym typeface="Archivo Black"/>
              </a:rPr>
              <a:t>partir</a:t>
            </a:r>
            <a:r>
              <a:rPr lang="en-US" sz="4000" spc="-458">
                <a:solidFill>
                  <a:srgbClr val="000000"/>
                </a:solidFill>
                <a:latin typeface="Garet Bold" panose="020B0604020202020204" charset="0"/>
                <a:ea typeface="Archivo Black"/>
                <a:cs typeface="Archivo Black"/>
                <a:sym typeface="Archivo Black"/>
              </a:rPr>
              <a:t> da </a:t>
            </a:r>
            <a:r>
              <a:rPr lang="en-US" sz="4000" spc="-458" err="1">
                <a:solidFill>
                  <a:srgbClr val="000000"/>
                </a:solidFill>
                <a:latin typeface="Garet Bold" panose="020B0604020202020204" charset="0"/>
                <a:ea typeface="Archivo Black"/>
                <a:cs typeface="Archivo Black"/>
                <a:sym typeface="Archivo Black"/>
              </a:rPr>
              <a:t>exposição</a:t>
            </a:r>
            <a:endParaRPr lang="en-US" sz="4000" spc="-458">
              <a:solidFill>
                <a:srgbClr val="000000"/>
              </a:solidFill>
              <a:latin typeface="Garet Bold" panose="020B0604020202020204" charset="0"/>
              <a:ea typeface="Archivo Black"/>
              <a:cs typeface="Archivo Black"/>
              <a:sym typeface="Archivo Black"/>
            </a:endParaRPr>
          </a:p>
        </p:txBody>
      </p:sp>
      <p:sp>
        <p:nvSpPr>
          <p:cNvPr id="23" name="TextBox 23"/>
          <p:cNvSpPr txBox="1"/>
          <p:nvPr/>
        </p:nvSpPr>
        <p:spPr>
          <a:xfrm>
            <a:off x="533549" y="3694667"/>
            <a:ext cx="5867251" cy="2157001"/>
          </a:xfrm>
          <a:prstGeom prst="rect">
            <a:avLst/>
          </a:prstGeom>
        </p:spPr>
        <p:txBody>
          <a:bodyPr wrap="square" lIns="0" tIns="0" rIns="0" bIns="0" rtlCol="0" anchor="t">
            <a:spAutoFit/>
          </a:bodyPr>
          <a:lstStyle/>
          <a:p>
            <a:pPr algn="ctr">
              <a:lnSpc>
                <a:spcPts val="2794"/>
              </a:lnSpc>
            </a:pPr>
            <a:r>
              <a:rPr lang="pt-BR" sz="2400" b="1" err="1">
                <a:latin typeface="Garet Bold" panose="020B0604020202020204" charset="0"/>
              </a:rPr>
              <a:t>Adevirp</a:t>
            </a:r>
            <a:br>
              <a:rPr lang="pt-BR" sz="2400" b="1">
                <a:latin typeface="Garet" panose="020B0604020202020204" charset="0"/>
              </a:rPr>
            </a:br>
            <a:r>
              <a:rPr lang="pt-BR" sz="2400">
                <a:latin typeface="Garet" panose="020B0604020202020204" charset="0"/>
              </a:rPr>
              <a:t>Formação sobre Orientação e Mobilidade realizada com a equipe educativa da exposição e colegas de outros setores da unidade</a:t>
            </a:r>
            <a:endParaRPr lang="en-US" sz="2400">
              <a:solidFill>
                <a:srgbClr val="000000"/>
              </a:solidFill>
              <a:latin typeface="Garet" panose="020B0604020202020204" charset="0"/>
              <a:ea typeface="Garet Bold"/>
              <a:cs typeface="Garet Bold"/>
            </a:endParaRPr>
          </a:p>
          <a:p>
            <a:pPr algn="ctr">
              <a:lnSpc>
                <a:spcPts val="2794"/>
              </a:lnSpc>
            </a:pPr>
            <a:endParaRPr lang="pt-BR" sz="2400" b="1">
              <a:latin typeface="Garet" panose="020B0604020202020204" charset="0"/>
            </a:endParaRPr>
          </a:p>
        </p:txBody>
      </p:sp>
      <p:sp>
        <p:nvSpPr>
          <p:cNvPr id="24" name="TextBox 24"/>
          <p:cNvSpPr txBox="1"/>
          <p:nvPr/>
        </p:nvSpPr>
        <p:spPr>
          <a:xfrm>
            <a:off x="3657600" y="6764785"/>
            <a:ext cx="4175279" cy="1079783"/>
          </a:xfrm>
          <a:prstGeom prst="rect">
            <a:avLst/>
          </a:prstGeom>
        </p:spPr>
        <p:txBody>
          <a:bodyPr lIns="0" tIns="0" rIns="0" bIns="0" rtlCol="0" anchor="t">
            <a:spAutoFit/>
          </a:bodyPr>
          <a:lstStyle/>
          <a:p>
            <a:pPr algn="ctr">
              <a:lnSpc>
                <a:spcPts val="2794"/>
              </a:lnSpc>
            </a:pPr>
            <a:r>
              <a:rPr lang="en-US" sz="2400" b="1">
                <a:solidFill>
                  <a:srgbClr val="000000"/>
                </a:solidFill>
                <a:latin typeface="Garet Bold" panose="020B0604020202020204" charset="0"/>
                <a:ea typeface="Garet Bold"/>
                <a:cs typeface="Garet Bold"/>
                <a:sym typeface="Garet Bold"/>
              </a:rPr>
              <a:t>Senac Ribeirão Preto</a:t>
            </a:r>
            <a:endParaRPr lang="pt-BR" sz="2400">
              <a:latin typeface="Garet Bold" panose="020B0604020202020204" charset="0"/>
            </a:endParaRPr>
          </a:p>
          <a:p>
            <a:pPr algn="ctr">
              <a:lnSpc>
                <a:spcPts val="2794"/>
              </a:lnSpc>
            </a:pPr>
            <a:r>
              <a:rPr lang="en-US" sz="2400" err="1">
                <a:solidFill>
                  <a:srgbClr val="000000"/>
                </a:solidFill>
                <a:latin typeface="Garet" panose="020B0604020202020204" charset="0"/>
                <a:ea typeface="Garet Bold"/>
                <a:cs typeface="Garet Bold"/>
                <a:sym typeface="Garet Bold"/>
              </a:rPr>
              <a:t>Visitação</a:t>
            </a:r>
            <a:r>
              <a:rPr lang="en-US" sz="2400">
                <a:solidFill>
                  <a:srgbClr val="000000"/>
                </a:solidFill>
                <a:latin typeface="Garet" panose="020B0604020202020204" charset="0"/>
                <a:ea typeface="Garet Bold"/>
                <a:cs typeface="Garet Bold"/>
                <a:sym typeface="Garet Bold"/>
              </a:rPr>
              <a:t> de </a:t>
            </a:r>
            <a:r>
              <a:rPr lang="en-US" sz="2400" err="1">
                <a:solidFill>
                  <a:srgbClr val="000000"/>
                </a:solidFill>
                <a:latin typeface="Garet" panose="020B0604020202020204" charset="0"/>
                <a:ea typeface="Garet Bold"/>
                <a:cs typeface="Garet Bold"/>
                <a:sym typeface="Garet Bold"/>
              </a:rPr>
              <a:t>turmas</a:t>
            </a:r>
            <a:r>
              <a:rPr lang="en-US" sz="2400">
                <a:solidFill>
                  <a:srgbClr val="000000"/>
                </a:solidFill>
                <a:latin typeface="Garet" panose="020B0604020202020204" charset="0"/>
                <a:ea typeface="Garet Bold"/>
                <a:cs typeface="Garet Bold"/>
                <a:sym typeface="Garet Bold"/>
              </a:rPr>
              <a:t> </a:t>
            </a:r>
            <a:r>
              <a:rPr lang="en-US" sz="2400" err="1">
                <a:solidFill>
                  <a:srgbClr val="000000"/>
                </a:solidFill>
                <a:latin typeface="Garet" panose="020B0604020202020204" charset="0"/>
                <a:ea typeface="Garet Bold"/>
                <a:cs typeface="Garet Bold"/>
                <a:sym typeface="Garet Bold"/>
              </a:rPr>
              <a:t>na</a:t>
            </a:r>
            <a:r>
              <a:rPr lang="en-US" sz="2400">
                <a:solidFill>
                  <a:srgbClr val="000000"/>
                </a:solidFill>
                <a:latin typeface="Garet" panose="020B0604020202020204" charset="0"/>
                <a:ea typeface="Garet Bold"/>
                <a:cs typeface="Garet Bold"/>
                <a:sym typeface="Garet Bold"/>
              </a:rPr>
              <a:t> </a:t>
            </a:r>
            <a:r>
              <a:rPr lang="en-US" sz="2400" err="1">
                <a:solidFill>
                  <a:srgbClr val="000000"/>
                </a:solidFill>
                <a:latin typeface="Garet" panose="020B0604020202020204" charset="0"/>
                <a:ea typeface="Garet Bold"/>
                <a:cs typeface="Garet Bold"/>
                <a:sym typeface="Garet Bold"/>
              </a:rPr>
              <a:t>exposição</a:t>
            </a:r>
            <a:endParaRPr lang="en-US" sz="2400">
              <a:solidFill>
                <a:srgbClr val="000000"/>
              </a:solidFill>
              <a:latin typeface="Garet" panose="020B0604020202020204" charset="0"/>
              <a:ea typeface="Garet Bold"/>
              <a:cs typeface="Garet Bold"/>
            </a:endParaRPr>
          </a:p>
        </p:txBody>
      </p:sp>
      <p:sp>
        <p:nvSpPr>
          <p:cNvPr id="5" name="TextBox 27">
            <a:extLst>
              <a:ext uri="{FF2B5EF4-FFF2-40B4-BE49-F238E27FC236}">
                <a16:creationId xmlns:a16="http://schemas.microsoft.com/office/drawing/2014/main" id="{31328983-4961-5554-745E-BE3B4F610424}"/>
              </a:ext>
            </a:extLst>
          </p:cNvPr>
          <p:cNvSpPr txBox="1"/>
          <p:nvPr/>
        </p:nvSpPr>
        <p:spPr>
          <a:xfrm>
            <a:off x="8199842" y="3990449"/>
            <a:ext cx="4510560" cy="1438855"/>
          </a:xfrm>
          <a:prstGeom prst="rect">
            <a:avLst/>
          </a:prstGeom>
        </p:spPr>
        <p:txBody>
          <a:bodyPr wrap="square" lIns="0" tIns="0" rIns="0" bIns="0" rtlCol="0" anchor="t">
            <a:spAutoFit/>
          </a:bodyPr>
          <a:lstStyle/>
          <a:p>
            <a:pPr algn="ctr">
              <a:lnSpc>
                <a:spcPts val="2794"/>
              </a:lnSpc>
            </a:pPr>
            <a:r>
              <a:rPr lang="en-US" sz="2400" b="1">
                <a:solidFill>
                  <a:srgbClr val="000000"/>
                </a:solidFill>
                <a:latin typeface="Garet Bold" panose="020B0604020202020204" charset="0"/>
                <a:ea typeface="Garet Bold"/>
                <a:cs typeface="Garet Bold"/>
                <a:sym typeface="Garet Bold"/>
              </a:rPr>
              <a:t>Secretaria Municipal de </a:t>
            </a:r>
            <a:r>
              <a:rPr lang="en-US" sz="2400" b="1" err="1">
                <a:solidFill>
                  <a:srgbClr val="000000"/>
                </a:solidFill>
                <a:latin typeface="Garet Bold" panose="020B0604020202020204" charset="0"/>
                <a:ea typeface="Garet Bold"/>
                <a:cs typeface="Garet Bold"/>
                <a:sym typeface="Garet Bold"/>
              </a:rPr>
              <a:t>Educação</a:t>
            </a:r>
            <a:r>
              <a:rPr lang="en-US" sz="2400" b="1">
                <a:solidFill>
                  <a:srgbClr val="000000"/>
                </a:solidFill>
                <a:latin typeface="Garet Bold" panose="020B0604020202020204" charset="0"/>
                <a:ea typeface="Garet Bold"/>
                <a:cs typeface="Garet Bold"/>
                <a:sym typeface="Garet Bold"/>
              </a:rPr>
              <a:t> </a:t>
            </a:r>
            <a:endParaRPr lang="pt-BR" sz="2400">
              <a:latin typeface="Garet Bold" panose="020B0604020202020204" charset="0"/>
            </a:endParaRPr>
          </a:p>
          <a:p>
            <a:pPr algn="ctr">
              <a:lnSpc>
                <a:spcPts val="2794"/>
              </a:lnSpc>
            </a:pPr>
            <a:r>
              <a:rPr lang="en-US" sz="2400" err="1">
                <a:solidFill>
                  <a:srgbClr val="000000"/>
                </a:solidFill>
                <a:latin typeface="Garet" panose="020B0604020202020204" charset="0"/>
                <a:ea typeface="Garet Bold"/>
                <a:cs typeface="Garet Bold"/>
                <a:sym typeface="Garet Bold"/>
              </a:rPr>
              <a:t>Oferecimento</a:t>
            </a:r>
            <a:r>
              <a:rPr lang="en-US" sz="2400">
                <a:solidFill>
                  <a:srgbClr val="000000"/>
                </a:solidFill>
                <a:latin typeface="Garet" panose="020B0604020202020204" charset="0"/>
                <a:ea typeface="Garet Bold"/>
                <a:cs typeface="Garet Bold"/>
                <a:sym typeface="Garet Bold"/>
              </a:rPr>
              <a:t> de </a:t>
            </a:r>
            <a:r>
              <a:rPr lang="en-US" sz="2400" err="1">
                <a:solidFill>
                  <a:srgbClr val="000000"/>
                </a:solidFill>
                <a:latin typeface="Garet" panose="020B0604020202020204" charset="0"/>
                <a:ea typeface="Garet Bold"/>
                <a:cs typeface="Garet Bold"/>
                <a:sym typeface="Garet Bold"/>
              </a:rPr>
              <a:t>ônibus</a:t>
            </a:r>
            <a:r>
              <a:rPr lang="en-US" sz="2400">
                <a:solidFill>
                  <a:srgbClr val="000000"/>
                </a:solidFill>
                <a:latin typeface="Garet" panose="020B0604020202020204" charset="0"/>
                <a:ea typeface="Garet Bold"/>
                <a:cs typeface="Garet Bold"/>
                <a:sym typeface="Garet Bold"/>
              </a:rPr>
              <a:t> para </a:t>
            </a:r>
            <a:r>
              <a:rPr lang="en-US" sz="2400" err="1">
                <a:solidFill>
                  <a:srgbClr val="000000"/>
                </a:solidFill>
                <a:latin typeface="Garet" panose="020B0604020202020204" charset="0"/>
                <a:ea typeface="Garet Bold"/>
                <a:cs typeface="Garet Bold"/>
                <a:sym typeface="Garet Bold"/>
              </a:rPr>
              <a:t>visitação</a:t>
            </a:r>
            <a:r>
              <a:rPr lang="en-US" sz="2400">
                <a:solidFill>
                  <a:srgbClr val="000000"/>
                </a:solidFill>
                <a:latin typeface="Garet" panose="020B0604020202020204" charset="0"/>
                <a:ea typeface="Garet Bold"/>
                <a:cs typeface="Garet Bold"/>
                <a:sym typeface="Garet Bold"/>
              </a:rPr>
              <a:t> de </a:t>
            </a:r>
            <a:r>
              <a:rPr lang="en-US" sz="2400" err="1">
                <a:solidFill>
                  <a:srgbClr val="000000"/>
                </a:solidFill>
                <a:latin typeface="Garet" panose="020B0604020202020204" charset="0"/>
                <a:ea typeface="Garet Bold"/>
                <a:cs typeface="Garet Bold"/>
                <a:sym typeface="Garet Bold"/>
              </a:rPr>
              <a:t>escolares</a:t>
            </a:r>
            <a:endParaRPr lang="en-US" sz="2400">
              <a:solidFill>
                <a:srgbClr val="000000"/>
              </a:solidFill>
              <a:latin typeface="Garet" panose="020B0604020202020204" charset="0"/>
              <a:ea typeface="Garet Bold"/>
              <a:cs typeface="Garet Bold"/>
            </a:endParaRPr>
          </a:p>
        </p:txBody>
      </p:sp>
      <p:sp>
        <p:nvSpPr>
          <p:cNvPr id="6" name="TextBox 27">
            <a:extLst>
              <a:ext uri="{FF2B5EF4-FFF2-40B4-BE49-F238E27FC236}">
                <a16:creationId xmlns:a16="http://schemas.microsoft.com/office/drawing/2014/main" id="{909F154B-D5F8-F934-CE03-762B8E29D670}"/>
              </a:ext>
            </a:extLst>
          </p:cNvPr>
          <p:cNvSpPr txBox="1"/>
          <p:nvPr/>
        </p:nvSpPr>
        <p:spPr>
          <a:xfrm>
            <a:off x="10455122" y="6810165"/>
            <a:ext cx="5546877" cy="1438855"/>
          </a:xfrm>
          <a:prstGeom prst="rect">
            <a:avLst/>
          </a:prstGeom>
        </p:spPr>
        <p:txBody>
          <a:bodyPr wrap="square" lIns="0" tIns="0" rIns="0" bIns="0" rtlCol="0" anchor="t">
            <a:spAutoFit/>
          </a:bodyPr>
          <a:lstStyle/>
          <a:p>
            <a:pPr algn="ctr">
              <a:lnSpc>
                <a:spcPts val="2794"/>
              </a:lnSpc>
            </a:pPr>
            <a:r>
              <a:rPr lang="en-US" sz="2400" b="1" err="1">
                <a:solidFill>
                  <a:srgbClr val="000000"/>
                </a:solidFill>
                <a:latin typeface="Garet Bold" panose="020B0604020202020204" charset="0"/>
                <a:ea typeface="Garet Bold"/>
                <a:cs typeface="Garet Bold"/>
                <a:sym typeface="Garet Bold"/>
              </a:rPr>
              <a:t>Diversidade</a:t>
            </a:r>
            <a:r>
              <a:rPr lang="en-US" sz="2400" b="1">
                <a:solidFill>
                  <a:srgbClr val="000000"/>
                </a:solidFill>
                <a:latin typeface="Garet Bold" panose="020B0604020202020204" charset="0"/>
                <a:ea typeface="Garet Bold"/>
                <a:cs typeface="Garet Bold"/>
                <a:sym typeface="Garet Bold"/>
              </a:rPr>
              <a:t> de </a:t>
            </a:r>
            <a:r>
              <a:rPr lang="en-US" sz="2400" b="1" err="1">
                <a:solidFill>
                  <a:srgbClr val="000000"/>
                </a:solidFill>
                <a:latin typeface="Garet Bold" panose="020B0604020202020204" charset="0"/>
                <a:ea typeface="Garet Bold"/>
                <a:cs typeface="Garet Bold"/>
                <a:sym typeface="Garet Bold"/>
              </a:rPr>
              <a:t>instituições</a:t>
            </a:r>
            <a:endParaRPr lang="en-US" sz="2400" b="1">
              <a:solidFill>
                <a:srgbClr val="000000"/>
              </a:solidFill>
              <a:latin typeface="Garet Bold" panose="020B0604020202020204" charset="0"/>
              <a:ea typeface="Garet Bold"/>
              <a:cs typeface="Garet Bold"/>
              <a:sym typeface="Garet Bold"/>
            </a:endParaRPr>
          </a:p>
          <a:p>
            <a:pPr algn="ctr">
              <a:lnSpc>
                <a:spcPts val="2794"/>
              </a:lnSpc>
            </a:pPr>
            <a:r>
              <a:rPr lang="en-US" sz="2400" err="1">
                <a:solidFill>
                  <a:srgbClr val="000000"/>
                </a:solidFill>
                <a:latin typeface="Garet" panose="020B0604020202020204" charset="0"/>
                <a:ea typeface="Garet Bold"/>
                <a:cs typeface="Garet Bold"/>
                <a:sym typeface="Garet Bold"/>
              </a:rPr>
              <a:t>Ampliação</a:t>
            </a:r>
            <a:r>
              <a:rPr lang="en-US" sz="2400">
                <a:solidFill>
                  <a:srgbClr val="000000"/>
                </a:solidFill>
                <a:latin typeface="Garet" panose="020B0604020202020204" charset="0"/>
                <a:ea typeface="Garet Bold"/>
                <a:cs typeface="Garet Bold"/>
                <a:sym typeface="Garet Bold"/>
              </a:rPr>
              <a:t> de atendimento a </a:t>
            </a:r>
            <a:r>
              <a:rPr lang="en-US" sz="2400" err="1">
                <a:solidFill>
                  <a:srgbClr val="000000"/>
                </a:solidFill>
                <a:latin typeface="Garet" panose="020B0604020202020204" charset="0"/>
                <a:ea typeface="Garet Bold"/>
                <a:cs typeface="Garet Bold"/>
                <a:sym typeface="Garet Bold"/>
              </a:rPr>
              <a:t>instituições</a:t>
            </a:r>
            <a:r>
              <a:rPr lang="en-US" sz="2400">
                <a:solidFill>
                  <a:srgbClr val="000000"/>
                </a:solidFill>
                <a:latin typeface="Garet" panose="020B0604020202020204" charset="0"/>
                <a:ea typeface="Garet Bold"/>
                <a:cs typeface="Garet Bold"/>
                <a:sym typeface="Garet Bold"/>
              </a:rPr>
              <a:t> de Ribeirão Preto, com </a:t>
            </a:r>
            <a:r>
              <a:rPr lang="en-US" sz="2400" err="1">
                <a:solidFill>
                  <a:srgbClr val="000000"/>
                </a:solidFill>
                <a:latin typeface="Garet" panose="020B0604020202020204" charset="0"/>
                <a:ea typeface="Garet Bold"/>
                <a:cs typeface="Garet Bold"/>
                <a:sym typeface="Garet Bold"/>
              </a:rPr>
              <a:t>foco</a:t>
            </a:r>
            <a:r>
              <a:rPr lang="en-US" sz="2400">
                <a:solidFill>
                  <a:srgbClr val="000000"/>
                </a:solidFill>
                <a:latin typeface="Garet" panose="020B0604020202020204" charset="0"/>
                <a:ea typeface="Garet Bold"/>
                <a:cs typeface="Garet Bold"/>
                <a:sym typeface="Garet Bold"/>
              </a:rPr>
              <a:t> </a:t>
            </a:r>
            <a:r>
              <a:rPr lang="en-US" sz="2400" err="1">
                <a:solidFill>
                  <a:srgbClr val="000000"/>
                </a:solidFill>
                <a:latin typeface="Garet" panose="020B0604020202020204" charset="0"/>
                <a:ea typeface="Garet Bold"/>
                <a:cs typeface="Garet Bold"/>
                <a:sym typeface="Garet Bold"/>
              </a:rPr>
              <a:t>em</a:t>
            </a:r>
            <a:r>
              <a:rPr lang="en-US" sz="2400">
                <a:solidFill>
                  <a:srgbClr val="000000"/>
                </a:solidFill>
                <a:latin typeface="Garet" panose="020B0604020202020204" charset="0"/>
                <a:ea typeface="Garet Bold"/>
                <a:cs typeface="Garet Bold"/>
                <a:sym typeface="Garet Bold"/>
              </a:rPr>
              <a:t> </a:t>
            </a:r>
            <a:r>
              <a:rPr lang="en-US" sz="2400" err="1">
                <a:solidFill>
                  <a:srgbClr val="000000"/>
                </a:solidFill>
                <a:latin typeface="Garet" panose="020B0604020202020204" charset="0"/>
                <a:ea typeface="Garet Bold"/>
                <a:cs typeface="Garet Bold"/>
                <a:sym typeface="Garet Bold"/>
              </a:rPr>
              <a:t>acessibilidade</a:t>
            </a:r>
            <a:r>
              <a:rPr lang="en-US" sz="2400">
                <a:solidFill>
                  <a:srgbClr val="000000"/>
                </a:solidFill>
                <a:latin typeface="Garet" panose="020B0604020202020204" charset="0"/>
                <a:ea typeface="Garet Bold"/>
                <a:cs typeface="Garet Bold"/>
                <a:sym typeface="Garet Bold"/>
              </a:rPr>
              <a:t> </a:t>
            </a:r>
          </a:p>
        </p:txBody>
      </p:sp>
      <p:sp>
        <p:nvSpPr>
          <p:cNvPr id="7" name="Rectangle 1">
            <a:extLst>
              <a:ext uri="{FF2B5EF4-FFF2-40B4-BE49-F238E27FC236}">
                <a16:creationId xmlns:a16="http://schemas.microsoft.com/office/drawing/2014/main" id="{E04F7789-C240-6717-B089-5079C0013F3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a:ln>
                  <a:noFill/>
                </a:ln>
                <a:solidFill>
                  <a:schemeClr val="tx1"/>
                </a:solidFill>
                <a:effectLst/>
                <a:latin typeface="Arial" panose="020B0604020202020204" pitchFamily="34" charset="0"/>
              </a:rPr>
              <a:t>Orientação e Mobilidade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8CCE2-E305-C8FD-6565-4BD621ABAFD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506378A-EAC4-8AEB-EDA8-925CE16AA0A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A473A619-A185-7E13-FFE9-28DA349F71B9}"/>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4FF2528C-549B-D853-2A77-2C0445ED0DA1}"/>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FFCC4CE1-9A99-AC19-04E4-B1FCEF0982B2}"/>
              </a:ext>
            </a:extLst>
          </p:cNvPr>
          <p:cNvSpPr txBox="1"/>
          <p:nvPr/>
        </p:nvSpPr>
        <p:spPr>
          <a:xfrm>
            <a:off x="1028700" y="3161405"/>
            <a:ext cx="7203393" cy="764825"/>
          </a:xfrm>
          <a:prstGeom prst="rect">
            <a:avLst/>
          </a:prstGeom>
        </p:spPr>
        <p:txBody>
          <a:bodyPr lIns="0" tIns="0" rIns="0" bIns="0" rtlCol="0" anchor="t">
            <a:spAutoFit/>
          </a:bodyPr>
          <a:lstStyle/>
          <a:p>
            <a:pPr algn="l">
              <a:lnSpc>
                <a:spcPts val="5808"/>
              </a:lnSpc>
            </a:pPr>
            <a:r>
              <a:rPr lang="en-US" sz="5808" spc="-458" err="1">
                <a:solidFill>
                  <a:srgbClr val="000000"/>
                </a:solidFill>
                <a:latin typeface="Archivo Black"/>
                <a:ea typeface="Archivo Black"/>
                <a:cs typeface="Archivo Black"/>
                <a:sym typeface="Archivo Black"/>
              </a:rPr>
              <a:t>Registros</a:t>
            </a:r>
            <a:r>
              <a:rPr lang="en-US" sz="5808" spc="-458">
                <a:solidFill>
                  <a:srgbClr val="000000"/>
                </a:solidFill>
                <a:latin typeface="Archivo Black"/>
                <a:ea typeface="Archivo Black"/>
                <a:cs typeface="Archivo Black"/>
                <a:sym typeface="Archivo Black"/>
              </a:rPr>
              <a:t> </a:t>
            </a:r>
          </a:p>
        </p:txBody>
      </p:sp>
      <p:sp>
        <p:nvSpPr>
          <p:cNvPr id="5" name="CaixaDeTexto 4">
            <a:extLst>
              <a:ext uri="{FF2B5EF4-FFF2-40B4-BE49-F238E27FC236}">
                <a16:creationId xmlns:a16="http://schemas.microsoft.com/office/drawing/2014/main" id="{FA6AAB1D-6FEE-07E3-0395-97D5F5C9B40E}"/>
              </a:ext>
            </a:extLst>
          </p:cNvPr>
          <p:cNvSpPr txBox="1"/>
          <p:nvPr/>
        </p:nvSpPr>
        <p:spPr>
          <a:xfrm>
            <a:off x="11182333" y="7983176"/>
            <a:ext cx="4953000" cy="523220"/>
          </a:xfrm>
          <a:prstGeom prst="rect">
            <a:avLst/>
          </a:prstGeom>
          <a:noFill/>
        </p:spPr>
        <p:txBody>
          <a:bodyPr wrap="square" rtlCol="0">
            <a:spAutoFit/>
          </a:bodyPr>
          <a:lstStyle/>
          <a:p>
            <a:pPr algn="r"/>
            <a:r>
              <a:rPr lang="pt-BR" sz="1400"/>
              <a:t>Oficina realizada pela educadora Jennifer Santos </a:t>
            </a:r>
          </a:p>
          <a:p>
            <a:pPr algn="r"/>
            <a:r>
              <a:rPr lang="pt-BR" sz="1400"/>
              <a:t>Créditos: Cenas Independentes</a:t>
            </a:r>
          </a:p>
        </p:txBody>
      </p:sp>
      <p:pic>
        <p:nvPicPr>
          <p:cNvPr id="11" name="Imagem 10">
            <a:extLst>
              <a:ext uri="{FF2B5EF4-FFF2-40B4-BE49-F238E27FC236}">
                <a16:creationId xmlns:a16="http://schemas.microsoft.com/office/drawing/2014/main" id="{EDDC915D-B07C-02E8-0A93-197FC15F84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03333" y="195714"/>
            <a:ext cx="11232000" cy="7488000"/>
          </a:xfrm>
          <a:prstGeom prst="rect">
            <a:avLst/>
          </a:prstGeom>
        </p:spPr>
      </p:pic>
    </p:spTree>
    <p:extLst>
      <p:ext uri="{BB962C8B-B14F-4D97-AF65-F5344CB8AC3E}">
        <p14:creationId xmlns:p14="http://schemas.microsoft.com/office/powerpoint/2010/main" val="3244445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2F681-F0EA-9C3A-BB61-7FE5D124BD9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F742C72-1B17-7D3E-6D4A-D565BA9005E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0E06F883-0FFE-1F27-361A-1435880661FB}"/>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393EA2DA-87BD-79BB-5411-1351315215FA}"/>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FF58BDAB-2BFF-5F97-BAF6-F2E3221A103A}"/>
              </a:ext>
            </a:extLst>
          </p:cNvPr>
          <p:cNvSpPr txBox="1"/>
          <p:nvPr/>
        </p:nvSpPr>
        <p:spPr>
          <a:xfrm>
            <a:off x="1028700" y="3161405"/>
            <a:ext cx="7203393" cy="764825"/>
          </a:xfrm>
          <a:prstGeom prst="rect">
            <a:avLst/>
          </a:prstGeom>
        </p:spPr>
        <p:txBody>
          <a:bodyPr lIns="0" tIns="0" rIns="0" bIns="0" rtlCol="0" anchor="t">
            <a:spAutoFit/>
          </a:bodyPr>
          <a:lstStyle/>
          <a:p>
            <a:pPr algn="l">
              <a:lnSpc>
                <a:spcPts val="5808"/>
              </a:lnSpc>
            </a:pPr>
            <a:r>
              <a:rPr lang="en-US" sz="5808" spc="-458" err="1">
                <a:solidFill>
                  <a:srgbClr val="000000"/>
                </a:solidFill>
                <a:latin typeface="Archivo Black"/>
                <a:ea typeface="Archivo Black"/>
                <a:cs typeface="Archivo Black"/>
                <a:sym typeface="Archivo Black"/>
              </a:rPr>
              <a:t>Registros</a:t>
            </a:r>
            <a:r>
              <a:rPr lang="en-US" sz="5808" spc="-458">
                <a:solidFill>
                  <a:srgbClr val="000000"/>
                </a:solidFill>
                <a:latin typeface="Archivo Black"/>
                <a:ea typeface="Archivo Black"/>
                <a:cs typeface="Archivo Black"/>
                <a:sym typeface="Archivo Black"/>
              </a:rPr>
              <a:t> </a:t>
            </a:r>
          </a:p>
        </p:txBody>
      </p:sp>
      <p:sp>
        <p:nvSpPr>
          <p:cNvPr id="5" name="CaixaDeTexto 4">
            <a:extLst>
              <a:ext uri="{FF2B5EF4-FFF2-40B4-BE49-F238E27FC236}">
                <a16:creationId xmlns:a16="http://schemas.microsoft.com/office/drawing/2014/main" id="{99190528-C04F-B5A0-4AE6-F9C6DBA5B9D4}"/>
              </a:ext>
            </a:extLst>
          </p:cNvPr>
          <p:cNvSpPr txBox="1"/>
          <p:nvPr/>
        </p:nvSpPr>
        <p:spPr>
          <a:xfrm>
            <a:off x="9906000" y="7833410"/>
            <a:ext cx="6545400" cy="523220"/>
          </a:xfrm>
          <a:prstGeom prst="rect">
            <a:avLst/>
          </a:prstGeom>
          <a:noFill/>
        </p:spPr>
        <p:txBody>
          <a:bodyPr wrap="square" rtlCol="0">
            <a:spAutoFit/>
          </a:bodyPr>
          <a:lstStyle/>
          <a:p>
            <a:pPr algn="r"/>
            <a:r>
              <a:rPr lang="pt-BR" sz="1400"/>
              <a:t>Formação sobre Orientação e Mobilidade, com Marcio Evangelista dos Reis, da </a:t>
            </a:r>
            <a:r>
              <a:rPr lang="pt-BR" sz="1400" err="1"/>
              <a:t>Adevirp</a:t>
            </a:r>
            <a:endParaRPr lang="pt-BR" sz="1400"/>
          </a:p>
          <a:p>
            <a:pPr algn="r"/>
            <a:r>
              <a:rPr lang="pt-BR" sz="1400"/>
              <a:t> Créditos: Cenas Independentes</a:t>
            </a:r>
          </a:p>
        </p:txBody>
      </p:sp>
      <p:pic>
        <p:nvPicPr>
          <p:cNvPr id="9" name="Imagem 8">
            <a:extLst>
              <a:ext uri="{FF2B5EF4-FFF2-40B4-BE49-F238E27FC236}">
                <a16:creationId xmlns:a16="http://schemas.microsoft.com/office/drawing/2014/main" id="{45DE9841-61A6-7F78-6774-7650A84885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00" y="398230"/>
            <a:ext cx="10584000" cy="7056000"/>
          </a:xfrm>
          <a:prstGeom prst="rect">
            <a:avLst/>
          </a:prstGeom>
        </p:spPr>
      </p:pic>
    </p:spTree>
    <p:extLst>
      <p:ext uri="{BB962C8B-B14F-4D97-AF65-F5344CB8AC3E}">
        <p14:creationId xmlns:p14="http://schemas.microsoft.com/office/powerpoint/2010/main" val="3668639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078B6-8BFD-D9C1-2853-5A36DCC4455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C8A35FE-BE79-76FA-B59D-C338340490F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B6701DC7-DF15-38C6-06BF-63EA819EE8D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85499EDC-E752-8A1F-9CFD-86AD814CB5CD}"/>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BAFB028F-DD5B-A5DB-2613-C9D9135DB747}"/>
              </a:ext>
            </a:extLst>
          </p:cNvPr>
          <p:cNvSpPr txBox="1"/>
          <p:nvPr/>
        </p:nvSpPr>
        <p:spPr>
          <a:xfrm>
            <a:off x="505452" y="770634"/>
            <a:ext cx="7203393" cy="764825"/>
          </a:xfrm>
          <a:prstGeom prst="rect">
            <a:avLst/>
          </a:prstGeom>
        </p:spPr>
        <p:txBody>
          <a:bodyPr lIns="0" tIns="0" rIns="0" bIns="0" rtlCol="0" anchor="t">
            <a:spAutoFit/>
          </a:bodyPr>
          <a:lstStyle/>
          <a:p>
            <a:pPr algn="l">
              <a:lnSpc>
                <a:spcPts val="5808"/>
              </a:lnSpc>
            </a:pPr>
            <a:r>
              <a:rPr lang="en-US" sz="5808" spc="-458" err="1">
                <a:solidFill>
                  <a:srgbClr val="000000"/>
                </a:solidFill>
                <a:latin typeface="Archivo Black"/>
                <a:ea typeface="Archivo Black"/>
                <a:cs typeface="Archivo Black"/>
                <a:sym typeface="Archivo Black"/>
              </a:rPr>
              <a:t>Registros</a:t>
            </a:r>
            <a:r>
              <a:rPr lang="en-US" sz="5808" spc="-458">
                <a:solidFill>
                  <a:srgbClr val="000000"/>
                </a:solidFill>
                <a:latin typeface="Archivo Black"/>
                <a:ea typeface="Archivo Black"/>
                <a:cs typeface="Archivo Black"/>
                <a:sym typeface="Archivo Black"/>
              </a:rPr>
              <a:t> </a:t>
            </a:r>
          </a:p>
        </p:txBody>
      </p:sp>
      <p:sp>
        <p:nvSpPr>
          <p:cNvPr id="5" name="CaixaDeTexto 4">
            <a:extLst>
              <a:ext uri="{FF2B5EF4-FFF2-40B4-BE49-F238E27FC236}">
                <a16:creationId xmlns:a16="http://schemas.microsoft.com/office/drawing/2014/main" id="{80835AE9-549D-A724-999C-D818F04F5E18}"/>
              </a:ext>
            </a:extLst>
          </p:cNvPr>
          <p:cNvSpPr txBox="1"/>
          <p:nvPr/>
        </p:nvSpPr>
        <p:spPr>
          <a:xfrm>
            <a:off x="9447529" y="7782839"/>
            <a:ext cx="5635067" cy="523220"/>
          </a:xfrm>
          <a:prstGeom prst="rect">
            <a:avLst/>
          </a:prstGeom>
          <a:noFill/>
        </p:spPr>
        <p:txBody>
          <a:bodyPr wrap="square" rtlCol="0">
            <a:spAutoFit/>
          </a:bodyPr>
          <a:lstStyle/>
          <a:p>
            <a:r>
              <a:rPr lang="pt-BR" sz="1400"/>
              <a:t>Ativação da parede educativa, pela educadora Lorraine Pereira</a:t>
            </a:r>
          </a:p>
          <a:p>
            <a:r>
              <a:rPr lang="pt-BR" sz="1400"/>
              <a:t>Créditos: Cenas Independentes</a:t>
            </a:r>
          </a:p>
        </p:txBody>
      </p:sp>
      <p:pic>
        <p:nvPicPr>
          <p:cNvPr id="10" name="Imagem 9">
            <a:extLst>
              <a:ext uri="{FF2B5EF4-FFF2-40B4-BE49-F238E27FC236}">
                <a16:creationId xmlns:a16="http://schemas.microsoft.com/office/drawing/2014/main" id="{B75F9ED6-19EF-7037-3428-F5DEF778B3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5452" y="2064099"/>
            <a:ext cx="8100000" cy="5400000"/>
          </a:xfrm>
          <a:prstGeom prst="rect">
            <a:avLst/>
          </a:prstGeom>
        </p:spPr>
      </p:pic>
      <p:sp>
        <p:nvSpPr>
          <p:cNvPr id="11" name="CaixaDeTexto 10">
            <a:extLst>
              <a:ext uri="{FF2B5EF4-FFF2-40B4-BE49-F238E27FC236}">
                <a16:creationId xmlns:a16="http://schemas.microsoft.com/office/drawing/2014/main" id="{31FE1701-AF02-01FC-714A-BB0828560B22}"/>
              </a:ext>
            </a:extLst>
          </p:cNvPr>
          <p:cNvSpPr txBox="1"/>
          <p:nvPr/>
        </p:nvSpPr>
        <p:spPr>
          <a:xfrm>
            <a:off x="3205404" y="7731129"/>
            <a:ext cx="5438148" cy="523220"/>
          </a:xfrm>
          <a:prstGeom prst="rect">
            <a:avLst/>
          </a:prstGeom>
          <a:noFill/>
        </p:spPr>
        <p:txBody>
          <a:bodyPr wrap="square" rtlCol="0">
            <a:spAutoFit/>
          </a:bodyPr>
          <a:lstStyle/>
          <a:p>
            <a:pPr algn="r"/>
            <a:r>
              <a:rPr lang="pt-BR" sz="1400"/>
              <a:t>Oficina temática realizada pela educadora Nathallya Faria</a:t>
            </a:r>
          </a:p>
          <a:p>
            <a:pPr algn="r"/>
            <a:r>
              <a:rPr lang="pt-BR" sz="1400"/>
              <a:t>Créditos: Cenas Independentes</a:t>
            </a:r>
          </a:p>
        </p:txBody>
      </p:sp>
      <p:pic>
        <p:nvPicPr>
          <p:cNvPr id="14" name="Imagem 13">
            <a:extLst>
              <a:ext uri="{FF2B5EF4-FFF2-40B4-BE49-F238E27FC236}">
                <a16:creationId xmlns:a16="http://schemas.microsoft.com/office/drawing/2014/main" id="{F7638323-9FB4-8E5C-9DC1-668151B4AF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38045" y="2064099"/>
            <a:ext cx="8100000" cy="5400000"/>
          </a:xfrm>
          <a:prstGeom prst="rect">
            <a:avLst/>
          </a:prstGeom>
        </p:spPr>
      </p:pic>
    </p:spTree>
    <p:extLst>
      <p:ext uri="{BB962C8B-B14F-4D97-AF65-F5344CB8AC3E}">
        <p14:creationId xmlns:p14="http://schemas.microsoft.com/office/powerpoint/2010/main" val="3318066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5BED3-5ED9-4238-7A51-9560FFEFC67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54BF215-012C-0BB6-7FA7-34B16A29D3E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F8736DF3-8994-D83D-8F8B-AF08375CB210}"/>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27C2E4A0-364C-8305-CAA4-B3CF496D42E2}"/>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10EFF2F3-EC3D-B0B2-4235-175D4F8E8FA0}"/>
              </a:ext>
            </a:extLst>
          </p:cNvPr>
          <p:cNvSpPr txBox="1"/>
          <p:nvPr/>
        </p:nvSpPr>
        <p:spPr>
          <a:xfrm>
            <a:off x="1028700" y="3161405"/>
            <a:ext cx="7203393" cy="764825"/>
          </a:xfrm>
          <a:prstGeom prst="rect">
            <a:avLst/>
          </a:prstGeom>
        </p:spPr>
        <p:txBody>
          <a:bodyPr lIns="0" tIns="0" rIns="0" bIns="0" rtlCol="0" anchor="t">
            <a:spAutoFit/>
          </a:bodyPr>
          <a:lstStyle/>
          <a:p>
            <a:pPr algn="l">
              <a:lnSpc>
                <a:spcPts val="5808"/>
              </a:lnSpc>
            </a:pPr>
            <a:r>
              <a:rPr lang="en-US" sz="5808" spc="-458" err="1">
                <a:solidFill>
                  <a:srgbClr val="000000"/>
                </a:solidFill>
                <a:latin typeface="Archivo Black"/>
                <a:ea typeface="Archivo Black"/>
                <a:cs typeface="Archivo Black"/>
                <a:sym typeface="Archivo Black"/>
              </a:rPr>
              <a:t>Registros</a:t>
            </a:r>
            <a:r>
              <a:rPr lang="en-US" sz="5808" spc="-458">
                <a:solidFill>
                  <a:srgbClr val="000000"/>
                </a:solidFill>
                <a:latin typeface="Archivo Black"/>
                <a:ea typeface="Archivo Black"/>
                <a:cs typeface="Archivo Black"/>
                <a:sym typeface="Archivo Black"/>
              </a:rPr>
              <a:t> </a:t>
            </a:r>
          </a:p>
        </p:txBody>
      </p:sp>
      <p:sp>
        <p:nvSpPr>
          <p:cNvPr id="13" name="CaixaDeTexto 12">
            <a:extLst>
              <a:ext uri="{FF2B5EF4-FFF2-40B4-BE49-F238E27FC236}">
                <a16:creationId xmlns:a16="http://schemas.microsoft.com/office/drawing/2014/main" id="{6E06BF07-7618-F509-E554-61699643262F}"/>
              </a:ext>
            </a:extLst>
          </p:cNvPr>
          <p:cNvSpPr txBox="1"/>
          <p:nvPr/>
        </p:nvSpPr>
        <p:spPr>
          <a:xfrm>
            <a:off x="7162800" y="7364318"/>
            <a:ext cx="9453716" cy="1477328"/>
          </a:xfrm>
          <a:prstGeom prst="rect">
            <a:avLst/>
          </a:prstGeom>
          <a:noFill/>
        </p:spPr>
        <p:txBody>
          <a:bodyPr wrap="square">
            <a:spAutoFit/>
          </a:bodyPr>
          <a:lstStyle/>
          <a:p>
            <a:r>
              <a:rPr lang="pt-BR"/>
              <a:t>Fechamento - Último Encontro da equipe educativa e colaboradoras </a:t>
            </a:r>
          </a:p>
          <a:p>
            <a:r>
              <a:rPr lang="pt-BR"/>
              <a:t>Da esquerda para direita em pé - Bruno Gomes, Lara Magalhães, Victor Moreira, Affonso Malagutti, Maísa </a:t>
            </a:r>
            <a:r>
              <a:rPr lang="pt-BR" err="1"/>
              <a:t>Fábrega</a:t>
            </a:r>
            <a:r>
              <a:rPr lang="pt-BR"/>
              <a:t>, Nathallya Faria, Lorraine Pereira, Bianca Zechinato, Malba Oliveira. Abaixados: Letícia Maciel, Jaqueline Figueiredo, Beatriz Teclo, Stéfanie Queiroz, Marihá Souto, Jennifer Santos e Carolina Velásquez. </a:t>
            </a:r>
          </a:p>
        </p:txBody>
      </p:sp>
      <p:pic>
        <p:nvPicPr>
          <p:cNvPr id="15" name="Imagem 14">
            <a:extLst>
              <a:ext uri="{FF2B5EF4-FFF2-40B4-BE49-F238E27FC236}">
                <a16:creationId xmlns:a16="http://schemas.microsoft.com/office/drawing/2014/main" id="{03F6F709-470C-A2E0-2819-C74FEFCA79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2800" y="1432649"/>
            <a:ext cx="9811452" cy="5688000"/>
          </a:xfrm>
          <a:prstGeom prst="rect">
            <a:avLst/>
          </a:prstGeom>
        </p:spPr>
      </p:pic>
    </p:spTree>
    <p:extLst>
      <p:ext uri="{BB962C8B-B14F-4D97-AF65-F5344CB8AC3E}">
        <p14:creationId xmlns:p14="http://schemas.microsoft.com/office/powerpoint/2010/main" val="1557655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2B2C8-D8D1-92DF-CA1E-957FC0731C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92034F1-8AC5-174A-C75E-6376BB658A9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0DEB7203-752B-6661-58B2-43BAAC4D3E4E}"/>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743717D7-D385-528B-A43C-8FE6A9D441F0}"/>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E6A27B3E-BB47-740B-9B96-7EC6624BFB58}"/>
              </a:ext>
            </a:extLst>
          </p:cNvPr>
          <p:cNvSpPr txBox="1"/>
          <p:nvPr/>
        </p:nvSpPr>
        <p:spPr>
          <a:xfrm>
            <a:off x="1167164" y="1455989"/>
            <a:ext cx="11468100" cy="700448"/>
          </a:xfrm>
          <a:prstGeom prst="rect">
            <a:avLst/>
          </a:prstGeom>
        </p:spPr>
        <p:txBody>
          <a:bodyPr wrap="square" lIns="0" tIns="0" rIns="0" bIns="0" rtlCol="0" anchor="t">
            <a:spAutoFit/>
          </a:bodyPr>
          <a:lstStyle/>
          <a:p>
            <a:pPr algn="l">
              <a:lnSpc>
                <a:spcPts val="5808"/>
              </a:lnSpc>
            </a:pPr>
            <a:r>
              <a:rPr lang="en-US" sz="4000" spc="-458">
                <a:solidFill>
                  <a:srgbClr val="000000"/>
                </a:solidFill>
                <a:latin typeface="Archivo Black"/>
                <a:ea typeface="Archivo Black"/>
                <a:cs typeface="Archivo Black"/>
                <a:sym typeface="Archivo Black"/>
              </a:rPr>
              <a:t>a </a:t>
            </a:r>
            <a:r>
              <a:rPr lang="en-US" sz="4000" spc="-458" err="1">
                <a:solidFill>
                  <a:srgbClr val="000000"/>
                </a:solidFill>
                <a:latin typeface="Archivo Black"/>
                <a:ea typeface="Archivo Black"/>
                <a:cs typeface="Archivo Black"/>
                <a:sym typeface="Archivo Black"/>
              </a:rPr>
              <a:t>história</a:t>
            </a:r>
            <a:r>
              <a:rPr lang="en-US" sz="4000" spc="-458">
                <a:solidFill>
                  <a:srgbClr val="000000"/>
                </a:solidFill>
                <a:latin typeface="Archivo Black"/>
                <a:ea typeface="Archivo Black"/>
                <a:cs typeface="Archivo Black"/>
                <a:sym typeface="Archivo Black"/>
              </a:rPr>
              <a:t> segue </a:t>
            </a:r>
            <a:r>
              <a:rPr lang="en-US" sz="4000" spc="-458" err="1">
                <a:solidFill>
                  <a:srgbClr val="000000"/>
                </a:solidFill>
                <a:latin typeface="Archivo Black"/>
                <a:ea typeface="Archivo Black"/>
                <a:cs typeface="Archivo Black"/>
                <a:sym typeface="Archivo Black"/>
              </a:rPr>
              <a:t>sendo</a:t>
            </a:r>
            <a:r>
              <a:rPr lang="en-US" sz="4000" spc="-458">
                <a:solidFill>
                  <a:srgbClr val="000000"/>
                </a:solidFill>
                <a:latin typeface="Archivo Black"/>
                <a:ea typeface="Archivo Black"/>
                <a:cs typeface="Archivo Black"/>
                <a:sym typeface="Archivo Black"/>
              </a:rPr>
              <a:t> </a:t>
            </a:r>
            <a:r>
              <a:rPr lang="en-US" sz="4000" spc="-458" err="1">
                <a:solidFill>
                  <a:srgbClr val="000000"/>
                </a:solidFill>
                <a:latin typeface="Archivo Black"/>
                <a:ea typeface="Archivo Black"/>
                <a:cs typeface="Archivo Black"/>
                <a:sym typeface="Archivo Black"/>
              </a:rPr>
              <a:t>contada</a:t>
            </a:r>
            <a:endParaRPr lang="en-US" sz="4000" spc="-458">
              <a:solidFill>
                <a:srgbClr val="000000"/>
              </a:solidFill>
              <a:latin typeface="Archivo Black"/>
              <a:ea typeface="Archivo Black"/>
              <a:cs typeface="Archivo Black"/>
              <a:sym typeface="Archivo Black"/>
            </a:endParaRPr>
          </a:p>
        </p:txBody>
      </p:sp>
      <p:sp>
        <p:nvSpPr>
          <p:cNvPr id="10" name="CaixaDeTexto 9">
            <a:extLst>
              <a:ext uri="{FF2B5EF4-FFF2-40B4-BE49-F238E27FC236}">
                <a16:creationId xmlns:a16="http://schemas.microsoft.com/office/drawing/2014/main" id="{736E8C9B-5484-BA14-1296-D8001BBCBF97}"/>
              </a:ext>
            </a:extLst>
          </p:cNvPr>
          <p:cNvSpPr txBox="1"/>
          <p:nvPr/>
        </p:nvSpPr>
        <p:spPr>
          <a:xfrm>
            <a:off x="1135080" y="2085383"/>
            <a:ext cx="8496300" cy="6001643"/>
          </a:xfrm>
          <a:prstGeom prst="rect">
            <a:avLst/>
          </a:prstGeom>
          <a:noFill/>
        </p:spPr>
        <p:txBody>
          <a:bodyPr wrap="square" rtlCol="0">
            <a:spAutoFit/>
          </a:bodyPr>
          <a:lstStyle/>
          <a:p>
            <a:r>
              <a:rPr lang="pt-BR"/>
              <a:t>Ao longo do processo de realização da 31ª MAJ, foi desenvolvido um site onde está armazenado todo o conteúdo desta edição e das edições anteriores desse projeto autoral do Sesc Ribeirão Preto:</a:t>
            </a:r>
          </a:p>
          <a:p>
            <a:r>
              <a:rPr lang="pt-BR">
                <a:hlinkClick r:id="rId3">
                  <a:extLst>
                    <a:ext uri="{A12FA001-AC4F-418D-AE19-62706E023703}">
                      <ahyp:hlinkClr xmlns:ahyp="http://schemas.microsoft.com/office/drawing/2018/hyperlinkcolor" val="tx"/>
                    </a:ext>
                  </a:extLst>
                </a:hlinkClick>
              </a:rPr>
              <a:t>https://www.sescsp.org.br/maj-2025/</a:t>
            </a:r>
            <a:endParaRPr lang="pt-BR"/>
          </a:p>
          <a:p>
            <a:endParaRPr lang="pt-BR" sz="2400">
              <a:latin typeface="Garet" panose="020B0604020202020204" charset="0"/>
            </a:endParaRPr>
          </a:p>
          <a:p>
            <a:r>
              <a:rPr lang="pt-BR"/>
              <a:t>Lá é possível encontrar a relação de artistas e suas obras, todo o material desenvolvido pela equipe educativa, o histórico das edições anteriores, e mais...</a:t>
            </a:r>
            <a:br>
              <a:rPr lang="pt-BR"/>
            </a:br>
            <a:endParaRPr lang="pt-BR"/>
          </a:p>
          <a:p>
            <a:r>
              <a:rPr lang="pt-BR"/>
              <a:t>Destaques:</a:t>
            </a:r>
          </a:p>
          <a:p>
            <a:r>
              <a:rPr lang="pt-BR"/>
              <a:t>Para o envolvimento do programa Juventudes com a MAJ:</a:t>
            </a:r>
          </a:p>
          <a:p>
            <a:r>
              <a:rPr lang="pt-BR">
                <a:hlinkClick r:id="rId4"/>
              </a:rPr>
              <a:t>https://www.sescsp.org.br/maj-mostra-de-arte-da-juventude-2024-juventudes-na-maj/</a:t>
            </a:r>
            <a:endParaRPr lang="pt-BR"/>
          </a:p>
          <a:p>
            <a:endParaRPr lang="pt-BR"/>
          </a:p>
          <a:p>
            <a:r>
              <a:rPr lang="pt-BR"/>
              <a:t>Para a publicação educativa desenvolvido pela equipe educativa e Bianca Zechinato:</a:t>
            </a:r>
          </a:p>
          <a:p>
            <a:r>
              <a:rPr lang="pt-BR">
                <a:hlinkClick r:id="rId5"/>
              </a:rPr>
              <a:t>https://www.sescsp.org.br/maj-mostra-de-arte-da-juventude-2024-educativo/</a:t>
            </a:r>
            <a:endParaRPr lang="pt-BR"/>
          </a:p>
          <a:p>
            <a:endParaRPr lang="pt-BR"/>
          </a:p>
          <a:p>
            <a:r>
              <a:rPr lang="pt-BR"/>
              <a:t>Para o documentário sobre a MAJ, realizado pelo Cenas Independentes:</a:t>
            </a:r>
          </a:p>
          <a:p>
            <a:r>
              <a:rPr lang="pt-BR">
                <a:hlinkClick r:id="rId6"/>
              </a:rPr>
              <a:t>https://www.sescsp.org.br/maj-mostra-de-arte-da-juventude-2024-educativo/#Documentario</a:t>
            </a:r>
            <a:endParaRPr lang="pt-BR"/>
          </a:p>
          <a:p>
            <a:endParaRPr lang="pt-BR"/>
          </a:p>
          <a:p>
            <a:br>
              <a:rPr lang="pt-BR"/>
            </a:br>
            <a:endParaRPr lang="pt-BR"/>
          </a:p>
        </p:txBody>
      </p:sp>
      <p:sp>
        <p:nvSpPr>
          <p:cNvPr id="5" name="Espaço Reservado para Número de Slide 4">
            <a:extLst>
              <a:ext uri="{FF2B5EF4-FFF2-40B4-BE49-F238E27FC236}">
                <a16:creationId xmlns:a16="http://schemas.microsoft.com/office/drawing/2014/main" id="{421FA8D5-4D6B-7181-7B58-420EC9F0E032}"/>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6" name="CaixaDeTexto 5">
            <a:extLst>
              <a:ext uri="{FF2B5EF4-FFF2-40B4-BE49-F238E27FC236}">
                <a16:creationId xmlns:a16="http://schemas.microsoft.com/office/drawing/2014/main" id="{22DF92E3-368C-D716-79C1-D9BDACF1AEC3}"/>
              </a:ext>
            </a:extLst>
          </p:cNvPr>
          <p:cNvSpPr txBox="1"/>
          <p:nvPr/>
        </p:nvSpPr>
        <p:spPr>
          <a:xfrm>
            <a:off x="11183892" y="8497398"/>
            <a:ext cx="4953000" cy="307777"/>
          </a:xfrm>
          <a:prstGeom prst="rect">
            <a:avLst/>
          </a:prstGeom>
          <a:noFill/>
        </p:spPr>
        <p:txBody>
          <a:bodyPr wrap="square" rtlCol="0">
            <a:spAutoFit/>
          </a:bodyPr>
          <a:lstStyle/>
          <a:p>
            <a:pPr algn="r"/>
            <a:r>
              <a:rPr lang="pt-BR" sz="1400"/>
              <a:t>legenda: descritivo da foto + nome do fotógrafo</a:t>
            </a:r>
          </a:p>
        </p:txBody>
      </p:sp>
      <p:pic>
        <p:nvPicPr>
          <p:cNvPr id="12" name="Imagem 11">
            <a:extLst>
              <a:ext uri="{FF2B5EF4-FFF2-40B4-BE49-F238E27FC236}">
                <a16:creationId xmlns:a16="http://schemas.microsoft.com/office/drawing/2014/main" id="{A0B41B7E-DEA6-E27F-3800-6C5A9E48947A}"/>
              </a:ext>
            </a:extLst>
          </p:cNvPr>
          <p:cNvPicPr>
            <a:picLocks noChangeAspect="1"/>
          </p:cNvPicPr>
          <p:nvPr/>
        </p:nvPicPr>
        <p:blipFill>
          <a:blip r:embed="rId7"/>
          <a:stretch>
            <a:fillRect/>
          </a:stretch>
        </p:blipFill>
        <p:spPr>
          <a:xfrm>
            <a:off x="10893447" y="3199030"/>
            <a:ext cx="6170585" cy="2484000"/>
          </a:xfrm>
          <a:prstGeom prst="rect">
            <a:avLst/>
          </a:prstGeom>
        </p:spPr>
      </p:pic>
    </p:spTree>
    <p:extLst>
      <p:ext uri="{BB962C8B-B14F-4D97-AF65-F5344CB8AC3E}">
        <p14:creationId xmlns:p14="http://schemas.microsoft.com/office/powerpoint/2010/main" val="1299208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F8883-5E3E-6EC0-F421-D25AE086B54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92F307A-CC33-7C8C-7DB1-2017D98FCD24}"/>
              </a:ext>
            </a:extLst>
          </p:cNvPr>
          <p:cNvSpPr/>
          <p:nvPr/>
        </p:nvSpPr>
        <p:spPr>
          <a:xfrm>
            <a:off x="-586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B42E7647-4A49-50C4-F1C7-E3338AC96F6C}"/>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702F01D4-DDA4-061A-4DBC-CB00D2833603}"/>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DC9F338A-487C-93FA-5F0D-74DEB71E7BE1}"/>
              </a:ext>
            </a:extLst>
          </p:cNvPr>
          <p:cNvSpPr txBox="1"/>
          <p:nvPr/>
        </p:nvSpPr>
        <p:spPr>
          <a:xfrm>
            <a:off x="441418" y="495300"/>
            <a:ext cx="5959382" cy="6093976"/>
          </a:xfrm>
          <a:prstGeom prst="rect">
            <a:avLst/>
          </a:prstGeom>
        </p:spPr>
        <p:txBody>
          <a:bodyPr wrap="square" lIns="0" tIns="0" rIns="0" bIns="0" rtlCol="0" anchor="t">
            <a:spAutoFit/>
          </a:bodyPr>
          <a:lstStyle/>
          <a:p>
            <a:r>
              <a:rPr lang="pt-BR" b="1"/>
              <a:t>SERVIÇO SOCIAL DO COMÉRCIO</a:t>
            </a:r>
            <a:endParaRPr lang="pt-BR"/>
          </a:p>
          <a:p>
            <a:r>
              <a:rPr lang="pt-BR" b="1"/>
              <a:t>ADMINISTRAÇÃO REGIONAL</a:t>
            </a:r>
          </a:p>
          <a:p>
            <a:r>
              <a:rPr lang="pt-BR" b="1"/>
              <a:t>NO ESTADO DE SÃO PAULO </a:t>
            </a:r>
            <a:endParaRPr lang="pt-BR"/>
          </a:p>
          <a:p>
            <a:r>
              <a:rPr lang="pt-BR" b="1"/>
              <a:t> </a:t>
            </a:r>
            <a:endParaRPr lang="pt-BR"/>
          </a:p>
          <a:p>
            <a:r>
              <a:rPr lang="pt-BR" b="1"/>
              <a:t>Presidente do Conselho Regional </a:t>
            </a:r>
            <a:endParaRPr lang="pt-BR"/>
          </a:p>
          <a:p>
            <a:r>
              <a:rPr lang="pt-BR"/>
              <a:t>Abram Szajman </a:t>
            </a:r>
          </a:p>
          <a:p>
            <a:r>
              <a:rPr lang="pt-BR" b="1"/>
              <a:t>Diretor do Departamento Regional </a:t>
            </a:r>
            <a:endParaRPr lang="pt-BR"/>
          </a:p>
          <a:p>
            <a:r>
              <a:rPr lang="pt-BR"/>
              <a:t>Luiz </a:t>
            </a:r>
            <a:r>
              <a:rPr lang="pt-BR" err="1"/>
              <a:t>Deoclecio</a:t>
            </a:r>
            <a:r>
              <a:rPr lang="pt-BR"/>
              <a:t> Massaro Galina</a:t>
            </a:r>
          </a:p>
          <a:p>
            <a:r>
              <a:rPr lang="pt-BR"/>
              <a:t> </a:t>
            </a:r>
          </a:p>
          <a:p>
            <a:r>
              <a:rPr lang="pt-BR"/>
              <a:t> </a:t>
            </a:r>
          </a:p>
          <a:p>
            <a:r>
              <a:rPr lang="pt-BR" b="1"/>
              <a:t>SUPERINTENDÊNCIA</a:t>
            </a:r>
            <a:r>
              <a:rPr lang="pt-BR"/>
              <a:t> </a:t>
            </a:r>
          </a:p>
          <a:p>
            <a:r>
              <a:rPr lang="pt-BR" b="1" err="1"/>
              <a:t>Técnico-Social</a:t>
            </a:r>
            <a:r>
              <a:rPr lang="pt-BR" b="1"/>
              <a:t> </a:t>
            </a:r>
            <a:endParaRPr lang="pt-BR"/>
          </a:p>
          <a:p>
            <a:r>
              <a:rPr lang="pt-BR"/>
              <a:t>Rosana Paulo da Cunha </a:t>
            </a:r>
          </a:p>
          <a:p>
            <a:r>
              <a:rPr lang="pt-BR" b="1"/>
              <a:t>Comunicação Social </a:t>
            </a:r>
            <a:endParaRPr lang="pt-BR"/>
          </a:p>
          <a:p>
            <a:r>
              <a:rPr lang="pt-BR"/>
              <a:t>Ricardo Gentil</a:t>
            </a:r>
          </a:p>
          <a:p>
            <a:r>
              <a:rPr lang="pt-BR" b="1"/>
              <a:t>Administração </a:t>
            </a:r>
            <a:endParaRPr lang="pt-BR"/>
          </a:p>
          <a:p>
            <a:r>
              <a:rPr lang="pt-BR"/>
              <a:t>Jackson Andrade de Matos </a:t>
            </a:r>
          </a:p>
          <a:p>
            <a:r>
              <a:rPr lang="pt-BR" b="1"/>
              <a:t>Assessoria Técnica e de Planejamento </a:t>
            </a:r>
            <a:endParaRPr lang="pt-BR"/>
          </a:p>
          <a:p>
            <a:r>
              <a:rPr lang="pt-BR"/>
              <a:t>Marta Raquel </a:t>
            </a:r>
            <a:r>
              <a:rPr lang="pt-BR" err="1"/>
              <a:t>Colabone</a:t>
            </a:r>
            <a:r>
              <a:rPr lang="pt-BR"/>
              <a:t> </a:t>
            </a:r>
          </a:p>
          <a:p>
            <a:r>
              <a:rPr lang="pt-BR" b="1"/>
              <a:t>Assessoria Jurídica</a:t>
            </a:r>
            <a:endParaRPr lang="pt-BR"/>
          </a:p>
          <a:p>
            <a:r>
              <a:rPr lang="pt-BR"/>
              <a:t>Carla Bertucci Barbieri</a:t>
            </a:r>
          </a:p>
          <a:p>
            <a:endParaRPr lang="pt-BR"/>
          </a:p>
        </p:txBody>
      </p:sp>
      <p:sp>
        <p:nvSpPr>
          <p:cNvPr id="5" name="TextBox 7">
            <a:extLst>
              <a:ext uri="{FF2B5EF4-FFF2-40B4-BE49-F238E27FC236}">
                <a16:creationId xmlns:a16="http://schemas.microsoft.com/office/drawing/2014/main" id="{397D7FAF-A8C4-8D62-D818-B2B600D9203D}"/>
              </a:ext>
            </a:extLst>
          </p:cNvPr>
          <p:cNvSpPr txBox="1"/>
          <p:nvPr/>
        </p:nvSpPr>
        <p:spPr>
          <a:xfrm>
            <a:off x="5640605" y="495300"/>
            <a:ext cx="6111782" cy="5816977"/>
          </a:xfrm>
          <a:prstGeom prst="rect">
            <a:avLst/>
          </a:prstGeom>
        </p:spPr>
        <p:txBody>
          <a:bodyPr wrap="square" lIns="0" tIns="0" rIns="0" bIns="0" rtlCol="0" anchor="t">
            <a:spAutoFit/>
          </a:bodyPr>
          <a:lstStyle/>
          <a:p>
            <a:r>
              <a:rPr lang="pt-BR" b="1"/>
              <a:t>GERÊNCIAS </a:t>
            </a:r>
            <a:endParaRPr lang="pt-BR"/>
          </a:p>
          <a:p>
            <a:r>
              <a:rPr lang="pt-BR" b="1"/>
              <a:t>Artes Visuais e Tecnologia </a:t>
            </a:r>
            <a:r>
              <a:rPr lang="pt-BR"/>
              <a:t>Juliana Braga de Mattos </a:t>
            </a:r>
            <a:r>
              <a:rPr lang="pt-BR" b="1"/>
              <a:t>Estudos e Desenvolvimento </a:t>
            </a:r>
            <a:r>
              <a:rPr lang="pt-BR" err="1"/>
              <a:t>João</a:t>
            </a:r>
            <a:r>
              <a:rPr lang="pt-BR"/>
              <a:t> Paulo </a:t>
            </a:r>
            <a:r>
              <a:rPr lang="pt-BR" err="1"/>
              <a:t>Guadanucci</a:t>
            </a:r>
            <a:r>
              <a:rPr lang="pt-BR" b="1"/>
              <a:t> Artes Gráficas </a:t>
            </a:r>
            <a:r>
              <a:rPr lang="pt-BR"/>
              <a:t>Rogerio Ianelli </a:t>
            </a:r>
            <a:r>
              <a:rPr lang="pt-BR" b="1" err="1"/>
              <a:t>Difusão</a:t>
            </a:r>
            <a:r>
              <a:rPr lang="pt-BR" b="1"/>
              <a:t> e </a:t>
            </a:r>
            <a:r>
              <a:rPr lang="pt-BR" b="1" err="1"/>
              <a:t>Promoção</a:t>
            </a:r>
            <a:r>
              <a:rPr lang="pt-BR" b="1"/>
              <a:t> </a:t>
            </a:r>
            <a:r>
              <a:rPr lang="pt-BR"/>
              <a:t>Ligia Moreira </a:t>
            </a:r>
            <a:r>
              <a:rPr lang="pt-BR" err="1"/>
              <a:t>Moreli</a:t>
            </a:r>
            <a:r>
              <a:rPr lang="pt-BR"/>
              <a:t> </a:t>
            </a:r>
            <a:r>
              <a:rPr lang="pt-BR" b="1"/>
              <a:t>Ribeirão Preto </a:t>
            </a:r>
            <a:r>
              <a:rPr lang="pt-BR"/>
              <a:t>Mauro Cesar Jensen</a:t>
            </a:r>
          </a:p>
          <a:p>
            <a:endParaRPr lang="pt-BR"/>
          </a:p>
          <a:p>
            <a:r>
              <a:rPr lang="pt-BR" b="1"/>
              <a:t>31ª Mostra de Arte da Juventude - MAJ</a:t>
            </a:r>
            <a:endParaRPr lang="pt-BR"/>
          </a:p>
          <a:p>
            <a:r>
              <a:rPr lang="pt-BR" b="1"/>
              <a:t> </a:t>
            </a:r>
            <a:endParaRPr lang="pt-BR"/>
          </a:p>
          <a:p>
            <a:r>
              <a:rPr lang="pt-BR" b="1"/>
              <a:t>Curadoria </a:t>
            </a:r>
            <a:endParaRPr lang="pt-BR"/>
          </a:p>
          <a:p>
            <a:r>
              <a:rPr lang="pt-BR"/>
              <a:t>Camila Fontenele e Tiago Gualberto</a:t>
            </a:r>
          </a:p>
          <a:p>
            <a:r>
              <a:rPr lang="pt-BR"/>
              <a:t> </a:t>
            </a:r>
          </a:p>
          <a:p>
            <a:r>
              <a:rPr lang="pt-BR"/>
              <a:t> </a:t>
            </a:r>
          </a:p>
          <a:p>
            <a:r>
              <a:rPr lang="pt-BR" b="1"/>
              <a:t>Equipe Sesc</a:t>
            </a:r>
            <a:r>
              <a:rPr lang="pt-BR"/>
              <a:t> </a:t>
            </a:r>
          </a:p>
          <a:p>
            <a:r>
              <a:rPr lang="pt-BR"/>
              <a:t>Antonio Piovezam, Cleber Rocha, Guilherme Sousa, Fernanda Silvestre, Gabriela Borsoi, Irivaldo Ubine, Jane Pereira, Juliana Okuda Campaneli, Karina Camargo Leal, Laís de Jesus, Lilian Vidal, Lucas Molina, Luciana Zunfrilli, Mariana Lins Prado, Mona Lisa Rodrigues, Rachel Gonsalves, Raquel Fonseca, Roberta de Lordo Franco, Silvia Hirao, Silvio Basílio, Thais Camarda, Thiago Campos, Vanessa Motozo</a:t>
            </a:r>
          </a:p>
          <a:p>
            <a:r>
              <a:rPr lang="pt-BR"/>
              <a:t> </a:t>
            </a:r>
          </a:p>
        </p:txBody>
      </p:sp>
    </p:spTree>
    <p:extLst>
      <p:ext uri="{BB962C8B-B14F-4D97-AF65-F5344CB8AC3E}">
        <p14:creationId xmlns:p14="http://schemas.microsoft.com/office/powerpoint/2010/main" val="3730727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70880-D7F0-D1DD-9E5A-F8EBAA9875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AB37E84-BBA7-4456-832A-1EA0A5EBA1F3}"/>
              </a:ext>
            </a:extLst>
          </p:cNvPr>
          <p:cNvSpPr/>
          <p:nvPr/>
        </p:nvSpPr>
        <p:spPr>
          <a:xfrm>
            <a:off x="-3609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6D77A73D-44E1-C963-02A5-47D1306655D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1DDB1F2C-42E9-4A15-4C2C-40543DD6C5B2}"/>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6" name="TextBox 7">
            <a:extLst>
              <a:ext uri="{FF2B5EF4-FFF2-40B4-BE49-F238E27FC236}">
                <a16:creationId xmlns:a16="http://schemas.microsoft.com/office/drawing/2014/main" id="{93CAEAE7-567E-2CAB-8DBB-B04A441A9FA2}"/>
              </a:ext>
            </a:extLst>
          </p:cNvPr>
          <p:cNvSpPr txBox="1"/>
          <p:nvPr/>
        </p:nvSpPr>
        <p:spPr>
          <a:xfrm>
            <a:off x="838200" y="1346835"/>
            <a:ext cx="12573000" cy="5539978"/>
          </a:xfrm>
          <a:prstGeom prst="rect">
            <a:avLst/>
          </a:prstGeom>
        </p:spPr>
        <p:txBody>
          <a:bodyPr wrap="square" lIns="0" tIns="0" rIns="0" bIns="0" numCol="2" rtlCol="0" anchor="t">
            <a:spAutoFit/>
          </a:bodyPr>
          <a:lstStyle/>
          <a:p>
            <a:endParaRPr lang="it-IT"/>
          </a:p>
          <a:p>
            <a:endParaRPr lang="pt-BR"/>
          </a:p>
          <a:p>
            <a:endParaRPr lang="pt-BR"/>
          </a:p>
          <a:p>
            <a:endParaRPr lang="pt-BR"/>
          </a:p>
          <a:p>
            <a:endParaRPr lang="pt-BR"/>
          </a:p>
          <a:p>
            <a:endParaRPr lang="pt-BR"/>
          </a:p>
          <a:p>
            <a:endParaRPr lang="pt-BR"/>
          </a:p>
          <a:p>
            <a:endParaRPr lang="pt-BR"/>
          </a:p>
          <a:p>
            <a:endParaRPr lang="pt-BR"/>
          </a:p>
          <a:p>
            <a:endParaRPr lang="pt-BR"/>
          </a:p>
          <a:p>
            <a:endParaRPr lang="pt-BR"/>
          </a:p>
          <a:p>
            <a:endParaRPr lang="pt-BR"/>
          </a:p>
          <a:p>
            <a:endParaRPr lang="pt-BR"/>
          </a:p>
          <a:p>
            <a:endParaRPr lang="pt-BR"/>
          </a:p>
          <a:p>
            <a:endParaRPr lang="pt-BR"/>
          </a:p>
          <a:p>
            <a:endParaRPr lang="pt-BR"/>
          </a:p>
          <a:p>
            <a:endParaRPr lang="pt-BR"/>
          </a:p>
          <a:p>
            <a:endParaRPr lang="pt-BR"/>
          </a:p>
          <a:p>
            <a:endParaRPr lang="pt-BR"/>
          </a:p>
          <a:p>
            <a:endParaRPr lang="pt-BR"/>
          </a:p>
        </p:txBody>
      </p:sp>
      <p:sp>
        <p:nvSpPr>
          <p:cNvPr id="5" name="TextBox 7">
            <a:extLst>
              <a:ext uri="{FF2B5EF4-FFF2-40B4-BE49-F238E27FC236}">
                <a16:creationId xmlns:a16="http://schemas.microsoft.com/office/drawing/2014/main" id="{702355C0-5E0B-71D1-9447-81FEAB0ACE7C}"/>
              </a:ext>
            </a:extLst>
          </p:cNvPr>
          <p:cNvSpPr txBox="1"/>
          <p:nvPr/>
        </p:nvSpPr>
        <p:spPr>
          <a:xfrm>
            <a:off x="1219200" y="1163955"/>
            <a:ext cx="6111782" cy="5262979"/>
          </a:xfrm>
          <a:prstGeom prst="rect">
            <a:avLst/>
          </a:prstGeom>
        </p:spPr>
        <p:txBody>
          <a:bodyPr wrap="square" lIns="0" tIns="0" rIns="0" bIns="0" rtlCol="0" anchor="t">
            <a:spAutoFit/>
          </a:bodyPr>
          <a:lstStyle/>
          <a:p>
            <a:r>
              <a:rPr lang="pt-BR" b="1"/>
              <a:t>Consultoria Coordenação Educativa</a:t>
            </a:r>
            <a:r>
              <a:rPr lang="pt-BR"/>
              <a:t> Carolina Velásquez </a:t>
            </a:r>
            <a:r>
              <a:rPr lang="pt-BR" b="1"/>
              <a:t>Coordenação Educativa</a:t>
            </a:r>
            <a:r>
              <a:rPr lang="pt-BR"/>
              <a:t> Malba Oliveira </a:t>
            </a:r>
            <a:r>
              <a:rPr lang="pt-BR" b="1"/>
              <a:t>Projeto Expográfico</a:t>
            </a:r>
            <a:r>
              <a:rPr lang="pt-BR"/>
              <a:t> Affonso Malagutti </a:t>
            </a:r>
            <a:r>
              <a:rPr lang="pt-BR" b="1"/>
              <a:t>Montagem Fina</a:t>
            </a:r>
            <a:r>
              <a:rPr lang="pt-BR"/>
              <a:t> Daniela Guimarães, Mel</a:t>
            </a:r>
          </a:p>
          <a:p>
            <a:r>
              <a:rPr lang="pt-BR" err="1"/>
              <a:t>Carabolante</a:t>
            </a:r>
            <a:r>
              <a:rPr lang="pt-BR"/>
              <a:t>, Miguel Freitas, Samuel Luis Borges </a:t>
            </a:r>
            <a:r>
              <a:rPr lang="pt-BR" b="1"/>
              <a:t>Fotografia de Obras</a:t>
            </a:r>
            <a:r>
              <a:rPr lang="pt-BR"/>
              <a:t> Flavio Freire </a:t>
            </a:r>
            <a:r>
              <a:rPr lang="pt-BR" b="1"/>
              <a:t>Assistente de Produção</a:t>
            </a:r>
            <a:r>
              <a:rPr lang="pt-BR"/>
              <a:t> Gabriel Azarias </a:t>
            </a:r>
            <a:r>
              <a:rPr lang="pt-BR" b="1"/>
              <a:t>Projeto Gráfico e Identidade Visual</a:t>
            </a:r>
            <a:r>
              <a:rPr lang="pt-BR"/>
              <a:t> Monstro Gráfico </a:t>
            </a:r>
            <a:r>
              <a:rPr lang="pt-BR" b="1"/>
              <a:t>Desenvolvimento de Conteúdo</a:t>
            </a:r>
            <a:r>
              <a:rPr lang="pt-BR"/>
              <a:t> Isabella </a:t>
            </a:r>
            <a:r>
              <a:rPr lang="pt-BR" err="1"/>
              <a:t>Menghele</a:t>
            </a:r>
            <a:r>
              <a:rPr lang="pt-BR"/>
              <a:t>, Tainá Lourenço, Lauani Meira </a:t>
            </a:r>
            <a:r>
              <a:rPr lang="pt-BR" b="1"/>
              <a:t>Revisão de Textos</a:t>
            </a:r>
            <a:r>
              <a:rPr lang="pt-BR"/>
              <a:t> Samantha Arana</a:t>
            </a:r>
          </a:p>
          <a:p>
            <a:r>
              <a:rPr lang="pt-BR" b="1"/>
              <a:t>Produção Executiva</a:t>
            </a:r>
            <a:endParaRPr lang="pt-BR"/>
          </a:p>
          <a:p>
            <a:r>
              <a:rPr lang="pt-BR"/>
              <a:t>AMALGAMA - Isabela Vilela e Lorena Vilela</a:t>
            </a:r>
            <a:r>
              <a:rPr lang="pt-BR" b="1"/>
              <a:t> </a:t>
            </a:r>
            <a:endParaRPr lang="pt-BR"/>
          </a:p>
          <a:p>
            <a:r>
              <a:rPr lang="pt-BR" b="1"/>
              <a:t>Design de Luz </a:t>
            </a:r>
            <a:r>
              <a:rPr lang="pt-BR"/>
              <a:t> </a:t>
            </a:r>
          </a:p>
          <a:p>
            <a:r>
              <a:rPr lang="pt-BR"/>
              <a:t>Michel Mika Masson </a:t>
            </a:r>
          </a:p>
          <a:p>
            <a:endParaRPr lang="pt-BR"/>
          </a:p>
          <a:p>
            <a:endParaRPr lang="pt-BR"/>
          </a:p>
          <a:p>
            <a:r>
              <a:rPr lang="pt-BR" b="1"/>
              <a:t>Equipe Educativa Sesc</a:t>
            </a:r>
            <a:endParaRPr lang="pt-BR"/>
          </a:p>
          <a:p>
            <a:r>
              <a:rPr lang="pt-BR"/>
              <a:t>Affonso Malagutti, Beatriz Marques, Bruno Gomes, Jaqueline Figueredo, Jennifer Santos, Lorraine Pereira, Maisa Magalhães, Marihá Souto, Nathallya Faria, Stéfanie Queiroz, Victor de Paula</a:t>
            </a:r>
          </a:p>
          <a:p>
            <a:r>
              <a:rPr lang="pt-BR"/>
              <a:t> </a:t>
            </a:r>
          </a:p>
        </p:txBody>
      </p:sp>
      <p:sp>
        <p:nvSpPr>
          <p:cNvPr id="11" name="CaixaDeTexto 10">
            <a:extLst>
              <a:ext uri="{FF2B5EF4-FFF2-40B4-BE49-F238E27FC236}">
                <a16:creationId xmlns:a16="http://schemas.microsoft.com/office/drawing/2014/main" id="{C91EB190-C2FE-5D02-8469-F4FB0A913C61}"/>
              </a:ext>
            </a:extLst>
          </p:cNvPr>
          <p:cNvSpPr txBox="1"/>
          <p:nvPr/>
        </p:nvSpPr>
        <p:spPr>
          <a:xfrm>
            <a:off x="9372600" y="1218810"/>
            <a:ext cx="6111782" cy="2308324"/>
          </a:xfrm>
          <a:prstGeom prst="rect">
            <a:avLst/>
          </a:prstGeom>
          <a:noFill/>
        </p:spPr>
        <p:txBody>
          <a:bodyPr wrap="square">
            <a:spAutoFit/>
          </a:bodyPr>
          <a:lstStyle/>
          <a:p>
            <a:r>
              <a:rPr lang="pt-BR" b="1"/>
              <a:t>Execução Expográfica </a:t>
            </a:r>
          </a:p>
          <a:p>
            <a:r>
              <a:rPr lang="pt-BR"/>
              <a:t>MAXXY MONTAGEM LTDA</a:t>
            </a:r>
          </a:p>
          <a:p>
            <a:r>
              <a:rPr lang="pt-BR" b="1"/>
              <a:t>Instalação Comunicação Visual </a:t>
            </a:r>
          </a:p>
          <a:p>
            <a:r>
              <a:rPr lang="pt-BR"/>
              <a:t>Nova Via Mídia e Produção LTDA</a:t>
            </a:r>
          </a:p>
          <a:p>
            <a:endParaRPr lang="pt-BR"/>
          </a:p>
          <a:p>
            <a:r>
              <a:rPr lang="pt-BR" b="1"/>
              <a:t>Peças Gráficas</a:t>
            </a:r>
          </a:p>
          <a:p>
            <a:r>
              <a:rPr lang="pt-BR" err="1"/>
              <a:t>Margraf</a:t>
            </a:r>
            <a:r>
              <a:rPr lang="pt-BR"/>
              <a:t> Editora e Indústria Gráfica LTDA</a:t>
            </a:r>
          </a:p>
          <a:p>
            <a:endParaRPr lang="pt-BR"/>
          </a:p>
        </p:txBody>
      </p:sp>
    </p:spTree>
    <p:extLst>
      <p:ext uri="{BB962C8B-B14F-4D97-AF65-F5344CB8AC3E}">
        <p14:creationId xmlns:p14="http://schemas.microsoft.com/office/powerpoint/2010/main" val="4056729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0f1dc7-e081-4ee5-8ddc-4eb9cb678d23">
      <Terms xmlns="http://schemas.microsoft.com/office/infopath/2007/PartnerControls"/>
    </lcf76f155ced4ddcb4097134ff3c332f>
    <TaxCatchAll xmlns="0c3ae786-5e4f-419c-8a3f-0eb5f2beec71"/>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6F4AA543F6DF343AE125287C7372420" ma:contentTypeVersion="19" ma:contentTypeDescription="Create a new document." ma:contentTypeScope="" ma:versionID="80e31c2d4cf67f597e2913233729ac87">
  <xsd:schema xmlns:xsd="http://www.w3.org/2001/XMLSchema" xmlns:xs="http://www.w3.org/2001/XMLSchema" xmlns:p="http://schemas.microsoft.com/office/2006/metadata/properties" xmlns:ns2="2f0f1dc7-e081-4ee5-8ddc-4eb9cb678d23" xmlns:ns3="0c3ae786-5e4f-419c-8a3f-0eb5f2beec71" targetNamespace="http://schemas.microsoft.com/office/2006/metadata/properties" ma:root="true" ma:fieldsID="63c7e8f0b8b92c9c338ade3a17bd240b" ns2:_="" ns3:_="">
    <xsd:import namespace="2f0f1dc7-e081-4ee5-8ddc-4eb9cb678d23"/>
    <xsd:import namespace="0c3ae786-5e4f-419c-8a3f-0eb5f2beec7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0f1dc7-e081-4ee5-8ddc-4eb9cb678d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3e1715-c84c-4513-8882-6ca9fbd4fec8"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c3ae786-5e4f-419c-8a3f-0eb5f2beec71"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b1bef07-5750-4eca-98f1-e07cb21896cd}" ma:internalName="TaxCatchAll" ma:showField="CatchAllData" ma:web="0c3ae786-5e4f-419c-8a3f-0eb5f2beec7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4216E51-BF42-4DF3-BB5F-F92C4A17FB27}">
  <ds:schemaRefs>
    <ds:schemaRef ds:uri="0c3ae786-5e4f-419c-8a3f-0eb5f2beec71"/>
    <ds:schemaRef ds:uri="2f0f1dc7-e081-4ee5-8ddc-4eb9cb678d2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ED3F7AE-B181-44B9-BCBD-181EE60B0448}">
  <ds:schemaRefs>
    <ds:schemaRef ds:uri="http://schemas.microsoft.com/sharepoint/v3/contenttype/forms"/>
  </ds:schemaRefs>
</ds:datastoreItem>
</file>

<file path=customXml/itemProps3.xml><?xml version="1.0" encoding="utf-8"?>
<ds:datastoreItem xmlns:ds="http://schemas.openxmlformats.org/officeDocument/2006/customXml" ds:itemID="{1488A507-CC3A-4AF3-BFB6-41BD93322276}">
  <ds:schemaRefs>
    <ds:schemaRef ds:uri="0c3ae786-5e4f-419c-8a3f-0eb5f2beec71"/>
    <ds:schemaRef ds:uri="2f0f1dc7-e081-4ee5-8ddc-4eb9cb678d2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Assojaba Tupinamba</dc:title>
  <cp:revision>1</cp:revision>
  <dcterms:created xsi:type="dcterms:W3CDTF">2006-08-16T00:00:00Z</dcterms:created>
  <dcterms:modified xsi:type="dcterms:W3CDTF">2026-04-28T18:04:07Z</dcterms:modified>
  <dc:identifier>DAG38scdCyg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0x01010026F4AA543F6DF343AE125287C7372420</vt:lpwstr>
  </property>
  <property fmtid="{D5CDD505-2E9C-101B-9397-08002B2CF9AE}" pid="3" name="MediaServiceImageTags">
    <vt:lpwstr/>
  </property>
</Properties>
</file>
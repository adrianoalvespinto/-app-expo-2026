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9" r:id="rId7"/>
    <p:sldId id="278" r:id="rId8"/>
    <p:sldId id="258" r:id="rId9"/>
    <p:sldId id="286" r:id="rId10"/>
    <p:sldId id="285" r:id="rId11"/>
    <p:sldId id="284" r:id="rId12"/>
    <p:sldId id="265" r:id="rId13"/>
    <p:sldId id="273" r:id="rId14"/>
    <p:sldId id="275" r:id="rId15"/>
    <p:sldId id="274" r:id="rId16"/>
    <p:sldId id="280" r:id="rId17"/>
    <p:sldId id="279" r:id="rId18"/>
    <p:sldId id="287" r:id="rId19"/>
    <p:sldId id="271" r:id="rId20"/>
    <p:sldId id="281" r:id="rId21"/>
    <p:sldId id="288" r:id="rId22"/>
    <p:sldId id="282" r:id="rId23"/>
  </p:sldIdLst>
  <p:sldSz cx="18288000" cy="10287000"/>
  <p:notesSz cx="6858000" cy="9144000"/>
  <p:embeddedFontLst>
    <p:embeddedFont>
      <p:font typeface="Garet Bold" panose="020B0604020202020204" charset="0"/>
      <p:regular r:id="rId25"/>
    </p:embeddedFont>
    <p:embeddedFont>
      <p:font typeface="Montserrat ExtraBold" panose="00000900000000000000" pitchFamily="2" charset="0"/>
      <p:bold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C3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31811-F66A-8A49-720A-1DDCB4F422FE}" v="3" dt="2026-04-28T22:25:26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972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a Braga de Mattos" userId="S::juliana.braga@sescsp.org.br::a46ca90e-3306-424f-b086-f43b8463bba5" providerId="AD" clId="Web-{11331811-F66A-8A49-720A-1DDCB4F422FE}"/>
    <pc:docChg chg="modSld">
      <pc:chgData name="Juliana Braga de Mattos" userId="S::juliana.braga@sescsp.org.br::a46ca90e-3306-424f-b086-f43b8463bba5" providerId="AD" clId="Web-{11331811-F66A-8A49-720A-1DDCB4F422FE}" dt="2026-04-28T22:25:26.563" v="2" actId="1076"/>
      <pc:docMkLst>
        <pc:docMk/>
      </pc:docMkLst>
      <pc:sldChg chg="modSp">
        <pc:chgData name="Juliana Braga de Mattos" userId="S::juliana.braga@sescsp.org.br::a46ca90e-3306-424f-b086-f43b8463bba5" providerId="AD" clId="Web-{11331811-F66A-8A49-720A-1DDCB4F422FE}" dt="2026-04-28T22:25:26.563" v="2" actId="1076"/>
        <pc:sldMkLst>
          <pc:docMk/>
          <pc:sldMk cId="3339162302" sldId="273"/>
        </pc:sldMkLst>
        <pc:spChg chg="mod">
          <ac:chgData name="Juliana Braga de Mattos" userId="S::juliana.braga@sescsp.org.br::a46ca90e-3306-424f-b086-f43b8463bba5" providerId="AD" clId="Web-{11331811-F66A-8A49-720A-1DDCB4F422FE}" dt="2026-04-28T22:25:26.563" v="2" actId="1076"/>
          <ac:spMkLst>
            <pc:docMk/>
            <pc:sldMk cId="3339162302" sldId="273"/>
            <ac:spMk id="13" creationId="{DFE62316-7F16-B051-C765-F2F4DD7C56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462A7-D93D-4585-8DF1-631315E49F5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58A87-E2C5-468E-BCE3-38A907ED00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11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5">
            <a:extLst>
              <a:ext uri="{FF2B5EF4-FFF2-40B4-BE49-F238E27FC236}">
                <a16:creationId xmlns:a16="http://schemas.microsoft.com/office/drawing/2014/main" id="{9E571E94-FF1A-B868-7EE9-04DBBE3C1BF4}"/>
              </a:ext>
            </a:extLst>
          </p:cNvPr>
          <p:cNvSpPr txBox="1"/>
          <p:nvPr/>
        </p:nvSpPr>
        <p:spPr>
          <a:xfrm>
            <a:off x="1211580" y="1818908"/>
            <a:ext cx="10416035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829300" algn="l"/>
              </a:tabLst>
            </a:pPr>
            <a:r>
              <a:rPr lang="pt-BR" sz="7200" kern="1600" spc="-150">
                <a:solidFill>
                  <a:srgbClr val="C00000"/>
                </a:solidFill>
                <a:latin typeface="Montserrat ExtraBold" pitchFamily="2" charset="0"/>
              </a:rPr>
              <a:t>ABDIAS </a:t>
            </a:r>
          </a:p>
          <a:p>
            <a:pPr>
              <a:tabLst>
                <a:tab pos="5829300" algn="l"/>
              </a:tabLst>
            </a:pPr>
            <a:r>
              <a:rPr lang="pt-BR" sz="7200" kern="1600" spc="-150">
                <a:solidFill>
                  <a:srgbClr val="C00000"/>
                </a:solidFill>
                <a:latin typeface="Montserrat ExtraBold" pitchFamily="2" charset="0"/>
              </a:rPr>
              <a:t>NASCIMENTO</a:t>
            </a:r>
          </a:p>
          <a:p>
            <a:r>
              <a:rPr lang="pt-BR" sz="7200" kern="1600" spc="-150">
                <a:solidFill>
                  <a:srgbClr val="00B050"/>
                </a:solidFill>
                <a:latin typeface="Montserrat ExtraBold"/>
              </a:rPr>
              <a:t>O QUILOMBISMO</a:t>
            </a:r>
          </a:p>
        </p:txBody>
      </p:sp>
      <p:sp>
        <p:nvSpPr>
          <p:cNvPr id="15" name="CaixaDeTexto 1">
            <a:extLst>
              <a:ext uri="{FF2B5EF4-FFF2-40B4-BE49-F238E27FC236}">
                <a16:creationId xmlns:a16="http://schemas.microsoft.com/office/drawing/2014/main" id="{85556C41-9BFE-F610-893F-615FF4750B88}"/>
              </a:ext>
            </a:extLst>
          </p:cNvPr>
          <p:cNvSpPr txBox="1"/>
          <p:nvPr/>
        </p:nvSpPr>
        <p:spPr>
          <a:xfrm>
            <a:off x="1211580" y="5524985"/>
            <a:ext cx="732253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>
                <a:solidFill>
                  <a:srgbClr val="00B050"/>
                </a:solidFill>
                <a:latin typeface="Montserrat ExtraBold"/>
              </a:rPr>
              <a:t>DOCUMENTOS DE UMA MILITÂNCIA </a:t>
            </a:r>
          </a:p>
          <a:p>
            <a:r>
              <a:rPr lang="pt-BR" sz="2800" b="1">
                <a:solidFill>
                  <a:srgbClr val="00B050"/>
                </a:solidFill>
                <a:latin typeface="Montserrat ExtraBold"/>
              </a:rPr>
              <a:t>PAN-AFRICANISTA</a:t>
            </a:r>
          </a:p>
        </p:txBody>
      </p:sp>
      <p:sp>
        <p:nvSpPr>
          <p:cNvPr id="16" name="CaixaDeTexto 9">
            <a:extLst>
              <a:ext uri="{FF2B5EF4-FFF2-40B4-BE49-F238E27FC236}">
                <a16:creationId xmlns:a16="http://schemas.microsoft.com/office/drawing/2014/main" id="{1B3C0607-5B43-4832-4F26-CF99EEC23CB5}"/>
              </a:ext>
            </a:extLst>
          </p:cNvPr>
          <p:cNvSpPr txBox="1"/>
          <p:nvPr/>
        </p:nvSpPr>
        <p:spPr>
          <a:xfrm>
            <a:off x="11129974" y="7773375"/>
            <a:ext cx="607868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400" b="1">
                <a:solidFill>
                  <a:srgbClr val="000000"/>
                </a:solidFill>
                <a:latin typeface="Montserrat ExtraBold"/>
              </a:rPr>
              <a:t>Relatório geral</a:t>
            </a:r>
          </a:p>
          <a:p>
            <a:pPr algn="r"/>
            <a:r>
              <a:rPr lang="pt-BR" sz="2400" b="1">
                <a:solidFill>
                  <a:srgbClr val="000000"/>
                </a:solidFill>
                <a:latin typeface="Montserrat ExtraBold"/>
              </a:rPr>
              <a:t>Exposição | Sesc Franca</a:t>
            </a:r>
          </a:p>
          <a:p>
            <a:pPr algn="r"/>
            <a:r>
              <a:rPr lang="pt-BR" sz="2400" b="1">
                <a:solidFill>
                  <a:srgbClr val="000000"/>
                </a:solidFill>
                <a:latin typeface="Montserrat ExtraBold"/>
              </a:rPr>
              <a:t>28|11|2024 – 10|08|2025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643B511-2ADE-0D07-E584-36A4E0340190}"/>
              </a:ext>
            </a:extLst>
          </p:cNvPr>
          <p:cNvCxnSpPr>
            <a:cxnSpLocks/>
          </p:cNvCxnSpPr>
          <p:nvPr/>
        </p:nvCxnSpPr>
        <p:spPr>
          <a:xfrm flipV="1">
            <a:off x="1200929" y="6853351"/>
            <a:ext cx="16011702" cy="2156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81E144CE-929C-AD77-FEFC-D8AA789BB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77" y="7580103"/>
            <a:ext cx="4027457" cy="1380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585133" y="8837609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028700" y="1557564"/>
            <a:ext cx="7279037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Destaques</a:t>
            </a:r>
            <a:endParaRPr lang="en-US" sz="5808" spc="-458">
              <a:solidFill>
                <a:srgbClr val="000000"/>
              </a:solidFill>
              <a:latin typeface="Montserrat ExtraBold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92673" y="5211043"/>
            <a:ext cx="3929165" cy="650178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032"/>
              </a:lnSpc>
              <a:spcBef>
                <a:spcPct val="0"/>
              </a:spcBef>
            </a:pPr>
            <a:r>
              <a:rPr lang="pt-BR" sz="4400" b="1">
                <a:solidFill>
                  <a:srgbClr val="000000"/>
                </a:solidFill>
                <a:latin typeface="Garet Bold"/>
                <a:ea typeface="Garet"/>
                <a:cs typeface="Garet"/>
                <a:sym typeface="Garet"/>
              </a:rPr>
              <a:t>43.538</a:t>
            </a:r>
            <a:endParaRPr lang="en-US" sz="4400" b="1">
              <a:solidFill>
                <a:srgbClr val="000000"/>
              </a:solidFill>
              <a:latin typeface="Garet Bold"/>
              <a:ea typeface="Garet Bold"/>
              <a:cs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772283" y="5211044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8.981</a:t>
            </a:r>
            <a:endParaRPr lang="en-US" sz="4400" b="1">
              <a:solidFill>
                <a:srgbClr val="000000"/>
              </a:solidFill>
              <a:latin typeface="Garet Bold"/>
              <a:ea typeface="Garet Bold"/>
              <a:cs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1717" y="6197970"/>
            <a:ext cx="5177335" cy="1062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presenças</a:t>
            </a:r>
            <a:r>
              <a:rPr lang="en-US" sz="3068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em</a:t>
            </a:r>
            <a:r>
              <a:rPr lang="en-US" sz="3068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toda</a:t>
            </a:r>
            <a:r>
              <a:rPr lang="en-US" sz="3068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</a:p>
          <a:p>
            <a:pPr marL="0" lvl="0" indent="0" algn="ctr">
              <a:lnSpc>
                <a:spcPts val="4295"/>
              </a:lnSpc>
              <a:spcBef>
                <a:spcPct val="0"/>
              </a:spcBef>
            </a:pP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programação</a:t>
            </a:r>
            <a:endParaRPr lang="en-US" sz="3068">
              <a:solidFill>
                <a:srgbClr val="000000"/>
              </a:solidFill>
              <a:latin typeface="Montserrat ExtraBold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092891" y="6197970"/>
            <a:ext cx="5177335" cy="108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pessoas</a:t>
            </a:r>
            <a:r>
              <a:rPr lang="en-US" sz="3068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atendidas</a:t>
            </a:r>
            <a:r>
              <a:rPr lang="en-US" sz="3068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em</a:t>
            </a:r>
            <a:r>
              <a:rPr lang="en-US" sz="3068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</a:p>
          <a:p>
            <a:pPr marL="0" lvl="0" indent="0" algn="ctr">
              <a:lnSpc>
                <a:spcPts val="4295"/>
              </a:lnSpc>
              <a:spcBef>
                <a:spcPct val="0"/>
              </a:spcBef>
            </a:pP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visitas</a:t>
            </a:r>
            <a:r>
              <a:rPr lang="en-US" sz="3068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68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mediadas</a:t>
            </a:r>
            <a:endParaRPr lang="en-US" sz="3068">
              <a:solidFill>
                <a:srgbClr val="000000"/>
              </a:solidFill>
              <a:latin typeface="Montserrat ExtraBold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957353" y="5243004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1.077</a:t>
            </a:r>
            <a:endParaRPr lang="en-US" sz="4400" b="1">
              <a:solidFill>
                <a:srgbClr val="000000"/>
              </a:solidFill>
              <a:latin typeface="Garet Bold"/>
              <a:ea typeface="Garet Bold"/>
              <a:cs typeface="Gare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480753" y="6156189"/>
            <a:ext cx="4870533" cy="1613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presenças</a:t>
            </a:r>
            <a:r>
              <a:rPr lang="en-US" sz="305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em</a:t>
            </a:r>
            <a:r>
              <a:rPr lang="en-US" sz="305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ações</a:t>
            </a:r>
            <a:r>
              <a:rPr lang="en-US" sz="305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de </a:t>
            </a: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programação</a:t>
            </a:r>
            <a:r>
              <a:rPr lang="en-US" sz="305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integrada</a:t>
            </a:r>
            <a:endParaRPr lang="en-US" sz="3050">
              <a:solidFill>
                <a:srgbClr val="000000"/>
              </a:solidFill>
              <a:latin typeface="Montserrat ExtraBold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0805147" y="1582637"/>
            <a:ext cx="6158549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pt-BR" sz="5800" spc="-458" noProof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r>
              <a:rPr lang="pt-BR" sz="5800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presenças</a:t>
            </a:r>
            <a:endParaRPr lang="pt-BR" sz="5800" spc="-458" noProof="0">
              <a:solidFill>
                <a:srgbClr val="000000"/>
              </a:solidFill>
              <a:latin typeface="Montserrat ExtraBold"/>
              <a:ea typeface="Archivo Black"/>
              <a:cs typeface="Archivo Black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0F950054-21F1-2A9E-E636-B2A0D382AD3F}"/>
              </a:ext>
            </a:extLst>
          </p:cNvPr>
          <p:cNvSpPr txBox="1"/>
          <p:nvPr/>
        </p:nvSpPr>
        <p:spPr>
          <a:xfrm>
            <a:off x="1022838" y="3330572"/>
            <a:ext cx="4530613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6600" b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43.538</a:t>
            </a:r>
            <a:r>
              <a:rPr lang="pt-BR" sz="6600" b="1" noProof="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pt-BR" sz="4400" noProof="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presenças</a:t>
            </a:r>
          </a:p>
          <a:p>
            <a:pPr algn="ctr"/>
            <a:r>
              <a:rPr lang="pt-BR" sz="4400" noProof="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EXPOSIÇÃO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07F23C8-A2E4-F6C1-89A8-0BA16761324B}"/>
              </a:ext>
            </a:extLst>
          </p:cNvPr>
          <p:cNvSpPr txBox="1"/>
          <p:nvPr/>
        </p:nvSpPr>
        <p:spPr>
          <a:xfrm>
            <a:off x="1" y="8857018"/>
            <a:ext cx="18288000" cy="492443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endParaRPr lang="pt-BR" sz="3200" noProof="0">
              <a:solidFill>
                <a:schemeClr val="bg1"/>
              </a:solidFill>
              <a:latin typeface="Garet Bold" panose="020B0604020202020204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C511EDE2-9A5A-C628-030F-920FA69F9F3F}"/>
              </a:ext>
            </a:extLst>
          </p:cNvPr>
          <p:cNvSpPr txBox="1"/>
          <p:nvPr/>
        </p:nvSpPr>
        <p:spPr>
          <a:xfrm>
            <a:off x="6858000" y="2682959"/>
            <a:ext cx="5876551" cy="5972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highlight>
                <a:srgbClr val="FFFF00"/>
              </a:highlight>
              <a:latin typeface="Montserrat Extra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4800" b="1" dirty="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410</a:t>
            </a:r>
            <a:r>
              <a:rPr lang="pt-BR" sz="4800" b="1" noProof="0" dirty="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 </a:t>
            </a:r>
            <a:endParaRPr lang="pt-BR" sz="4800" b="1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3200" noProof="0" dirty="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presenças </a:t>
            </a:r>
            <a:endParaRPr lang="pt-BR" sz="32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3200" noProof="0" dirty="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formação de professores em parceria com a Diretoria Regional de Ensino e a Secretaria da Educação</a:t>
            </a:r>
            <a:endParaRPr lang="pt-BR" sz="32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endParaRPr lang="pt-BR" sz="48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endParaRPr lang="pt-BR" sz="48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4800">
                <a:solidFill>
                  <a:srgbClr val="000000"/>
                </a:solidFill>
                <a:latin typeface="Montserrat ExtraBold"/>
                <a:sym typeface="Garet Bold"/>
              </a:rPr>
              <a:t>2.100</a:t>
            </a:r>
            <a:endParaRPr lang="pt-BR" noProof="0" dirty="0">
              <a:latin typeface="Montserrat ExtraBold"/>
              <a:ea typeface="Calibri"/>
              <a:cs typeface="Calibri"/>
            </a:endParaRPr>
          </a:p>
          <a:p>
            <a:pPr algn="ctr">
              <a:lnSpc>
                <a:spcPts val="2794"/>
              </a:lnSpc>
            </a:pPr>
            <a:r>
              <a:rPr lang="pt-BR" sz="3200" noProof="0" dirty="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alunos </a:t>
            </a:r>
            <a:endParaRPr lang="pt-BR" sz="32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3200" noProof="0" dirty="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impactados indiretamente</a:t>
            </a:r>
          </a:p>
          <a:p>
            <a:pPr algn="ctr"/>
            <a:r>
              <a:rPr lang="pt-BR" sz="1400" dirty="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*maio a agosto de 2025</a:t>
            </a:r>
            <a:endParaRPr lang="pt-BR" sz="14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Montserrat Extra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BDC1E-7D4C-DCB8-9A56-77B68FFA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881B79C8-703C-B39C-32AD-0C45DA46F0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-720000">
            <a:off x="-1216742" y="-1285414"/>
            <a:ext cx="10581967" cy="1602873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68CD3464-5DA2-508B-D356-76A61FE7B2A8}"/>
              </a:ext>
            </a:extLst>
          </p:cNvPr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2469874A-1C6A-2C88-74AC-9DD75A0FC754}"/>
              </a:ext>
            </a:extLst>
          </p:cNvPr>
          <p:cNvSpPr txBox="1"/>
          <p:nvPr/>
        </p:nvSpPr>
        <p:spPr>
          <a:xfrm>
            <a:off x="521110" y="5976744"/>
            <a:ext cx="6172200" cy="565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4800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Equipe </a:t>
            </a:r>
            <a:r>
              <a:rPr lang="en-US" sz="4800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Educativa</a:t>
            </a:r>
            <a:endParaRPr lang="en-US" sz="4800" spc="-458">
              <a:solidFill>
                <a:srgbClr val="000000"/>
              </a:solidFill>
              <a:latin typeface="Montserrat ExtraBold"/>
              <a:ea typeface="Archivo Black"/>
              <a:cs typeface="Archivo Black"/>
              <a:sym typeface="Archivo Black"/>
            </a:endParaRP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8C802B50-79C0-7376-C196-62BDDDD9F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427332"/>
              </p:ext>
            </p:extLst>
          </p:nvPr>
        </p:nvGraphicFramePr>
        <p:xfrm>
          <a:off x="8978012" y="5143500"/>
          <a:ext cx="9125542" cy="2241414"/>
        </p:xfrm>
        <a:graphic>
          <a:graphicData uri="http://schemas.openxmlformats.org/drawingml/2006/table">
            <a:tbl>
              <a:tblPr/>
              <a:tblGrid>
                <a:gridCol w="2909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00000"/>
                          </a:solidFill>
                          <a:latin typeface="Montserrat ExtraBold"/>
                          <a:ea typeface="Garet Bold"/>
                          <a:cs typeface="Garet Bold"/>
                          <a:sym typeface="Garet Bold"/>
                        </a:rPr>
                        <a:t>Equipe</a:t>
                      </a:r>
                      <a:endParaRPr lang="en-US" sz="1950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02 </a:t>
                      </a:r>
                      <a:r>
                        <a:rPr lang="en-US" sz="1950" err="1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Facilitadores</a:t>
                      </a:r>
                      <a:r>
                        <a:rPr lang="en-US" sz="1950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 II - </a:t>
                      </a:r>
                      <a:r>
                        <a:rPr lang="en-US" sz="1950" err="1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Supervisores</a:t>
                      </a:r>
                      <a:endParaRPr lang="en-US" sz="1950">
                        <a:solidFill>
                          <a:srgbClr val="000000"/>
                        </a:solidFill>
                        <a:latin typeface="Montserrat ExtraBold"/>
                        <a:ea typeface="Garet"/>
                        <a:cs typeface="Garet"/>
                        <a:sym typeface="Garet"/>
                      </a:endParaRP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03 </a:t>
                      </a:r>
                      <a:r>
                        <a:rPr lang="en-US" sz="1950" err="1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Facilitadores</a:t>
                      </a:r>
                      <a:r>
                        <a:rPr lang="en-US" sz="1950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 I – </a:t>
                      </a:r>
                      <a:r>
                        <a:rPr lang="en-US" sz="1950" err="1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Educadores</a:t>
                      </a:r>
                      <a:r>
                        <a:rPr lang="en-US" sz="1950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r>
                        <a:rPr lang="en-US" sz="1950" err="1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Formados</a:t>
                      </a:r>
                      <a:endParaRPr lang="en-US" sz="1950">
                        <a:solidFill>
                          <a:srgbClr val="000000"/>
                        </a:solidFill>
                        <a:latin typeface="Montserrat ExtraBold"/>
                        <a:ea typeface="Garet"/>
                        <a:cs typeface="Garet"/>
                        <a:sym typeface="Garet"/>
                      </a:endParaRP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Montserrat ExtraBold"/>
                          <a:sym typeface="Garet"/>
                        </a:rPr>
                        <a:t>03 </a:t>
                      </a:r>
                      <a:r>
                        <a:rPr lang="en-US" sz="1950" err="1">
                          <a:solidFill>
                            <a:srgbClr val="000000"/>
                          </a:solidFill>
                          <a:latin typeface="Montserrat ExtraBold"/>
                          <a:sym typeface="Garet"/>
                        </a:rPr>
                        <a:t>Auxiliares</a:t>
                      </a:r>
                      <a:r>
                        <a:rPr lang="en-US" sz="1950">
                          <a:solidFill>
                            <a:srgbClr val="000000"/>
                          </a:solidFill>
                          <a:latin typeface="Montserrat ExtraBold"/>
                          <a:sym typeface="Garet"/>
                        </a:rPr>
                        <a:t> de </a:t>
                      </a:r>
                      <a:r>
                        <a:rPr lang="en-US" sz="1950" err="1">
                          <a:solidFill>
                            <a:srgbClr val="000000"/>
                          </a:solidFill>
                          <a:latin typeface="Montserrat ExtraBold"/>
                          <a:sym typeface="Garet"/>
                        </a:rPr>
                        <a:t>Atendimento</a:t>
                      </a:r>
                      <a:endParaRPr lang="en-US" sz="1950" err="1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err="1">
                          <a:solidFill>
                            <a:srgbClr val="000000"/>
                          </a:solidFill>
                          <a:latin typeface="Montserrat ExtraBold"/>
                          <a:ea typeface="Garet Bold"/>
                          <a:cs typeface="Garet Bold"/>
                          <a:sym typeface="Garet Bold"/>
                        </a:rPr>
                        <a:t>Formação</a:t>
                      </a:r>
                      <a:endParaRPr lang="en-US" sz="1100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50" kern="1200" err="1">
                          <a:solidFill>
                            <a:srgbClr val="000000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Presencial</a:t>
                      </a:r>
                      <a:r>
                        <a:rPr lang="en-US" sz="1950" kern="1200">
                          <a:solidFill>
                            <a:srgbClr val="000000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 – 8 </a:t>
                      </a:r>
                      <a:r>
                        <a:rPr lang="en-US" sz="1950" kern="1200" err="1">
                          <a:solidFill>
                            <a:srgbClr val="000000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dias</a:t>
                      </a:r>
                      <a:r>
                        <a:rPr lang="en-US" sz="1950" kern="1200">
                          <a:solidFill>
                            <a:srgbClr val="000000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 – 48h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9372600" y="1600906"/>
            <a:ext cx="6780409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>
                <a:latin typeface="Montserrat ExtraBold"/>
              </a:rPr>
              <a:t>8981 </a:t>
            </a:r>
            <a:r>
              <a:rPr lang="en-US" sz="4400" err="1">
                <a:latin typeface="Montserrat ExtraBold"/>
              </a:rPr>
              <a:t>presenças</a:t>
            </a:r>
            <a:endParaRPr lang="en-US" sz="4400" err="1">
              <a:solidFill>
                <a:srgbClr val="000000"/>
              </a:solidFill>
              <a:latin typeface="Montserrat ExtraBold"/>
              <a:ea typeface="Garet"/>
              <a:cs typeface="Garet"/>
            </a:endParaRPr>
          </a:p>
          <a:p>
            <a:pPr algn="ctr"/>
            <a:r>
              <a:rPr lang="en-US" sz="4400">
                <a:solidFill>
                  <a:srgbClr val="000000"/>
                </a:solidFill>
                <a:latin typeface="Montserrat ExtraBold"/>
                <a:ea typeface="Garet Bold"/>
                <a:cs typeface="Garet Bold"/>
                <a:sym typeface="Garet Bold"/>
              </a:rPr>
              <a:t>VISITAS MEDIADAS</a:t>
            </a:r>
          </a:p>
          <a:p>
            <a:pPr algn="ctr"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124 </a:t>
            </a:r>
            <a:r>
              <a:rPr lang="en-US" sz="440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ações</a:t>
            </a:r>
            <a:endParaRPr lang="en-US" sz="4400">
              <a:solidFill>
                <a:srgbClr val="000000"/>
              </a:solidFill>
              <a:latin typeface="Montserrat ExtraBold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2054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CEC7B272-F42B-A896-97D8-25227AEBC3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20880000">
            <a:off x="-1216742" y="-1285414"/>
            <a:ext cx="10581967" cy="16028730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79A31098-639A-3778-D1DB-C199CAD3F36C}"/>
              </a:ext>
            </a:extLst>
          </p:cNvPr>
          <p:cNvSpPr txBox="1"/>
          <p:nvPr/>
        </p:nvSpPr>
        <p:spPr>
          <a:xfrm>
            <a:off x="184150" y="5759103"/>
            <a:ext cx="6172200" cy="1634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6000" b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1.077</a:t>
            </a:r>
            <a:r>
              <a:rPr lang="en-US" sz="600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</a:p>
          <a:p>
            <a:pPr algn="ctr">
              <a:lnSpc>
                <a:spcPts val="4295"/>
              </a:lnSpc>
            </a:pP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presenças</a:t>
            </a:r>
            <a:r>
              <a:rPr lang="en-US" sz="305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em</a:t>
            </a:r>
            <a:r>
              <a:rPr lang="en-US" sz="305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ações</a:t>
            </a:r>
            <a:r>
              <a:rPr lang="en-US" sz="305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</a:t>
            </a: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integradas</a:t>
            </a:r>
            <a:r>
              <a:rPr lang="en-US" sz="3050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 à </a:t>
            </a:r>
            <a:r>
              <a:rPr lang="en-US" sz="3050" err="1">
                <a:solidFill>
                  <a:srgbClr val="000000"/>
                </a:solidFill>
                <a:latin typeface="Montserrat ExtraBold"/>
                <a:ea typeface="Garet"/>
                <a:cs typeface="Garet"/>
                <a:sym typeface="Garet"/>
              </a:rPr>
              <a:t>exposição</a:t>
            </a:r>
            <a:endParaRPr lang="en-US" sz="3050">
              <a:solidFill>
                <a:srgbClr val="000000"/>
              </a:solidFill>
              <a:latin typeface="Montserrat ExtraBold"/>
              <a:ea typeface="Garet"/>
              <a:cs typeface="Garet"/>
              <a:sym typeface="Gare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393AA4-51CC-88E7-1D6F-7B5F56FBFB90}"/>
              </a:ext>
            </a:extLst>
          </p:cNvPr>
          <p:cNvSpPr txBox="1"/>
          <p:nvPr/>
        </p:nvSpPr>
        <p:spPr>
          <a:xfrm>
            <a:off x="8394290" y="874871"/>
            <a:ext cx="9451074" cy="97545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2799"/>
              </a:lnSpc>
              <a:defRPr/>
            </a:pP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Ações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integradas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à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Exposição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-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Desenvolvida</a:t>
            </a:r>
            <a:r>
              <a:rPr lang="en-US" sz="3200" spc="-458">
                <a:solidFill>
                  <a:srgbClr val="000000"/>
                </a:solidFill>
                <a:latin typeface="Montserrat ExtraBold"/>
                <a:sym typeface="Garet"/>
              </a:rPr>
              <a:t> s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pelas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educadoras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</a:t>
            </a:r>
          </a:p>
          <a:p>
            <a:pPr>
              <a:lnSpc>
                <a:spcPts val="2799"/>
              </a:lnSpc>
              <a:defRPr/>
            </a:pPr>
            <a:endParaRPr lang="en-US" dirty="0">
              <a:solidFill>
                <a:srgbClr val="000000"/>
              </a:solidFill>
              <a:latin typeface="Montserrat ExtraBold"/>
              <a:sym typeface="Garet"/>
            </a:endParaRPr>
          </a:p>
          <a:p>
            <a:pPr>
              <a:lnSpc>
                <a:spcPts val="2799"/>
              </a:lnSpc>
              <a:defRPr/>
            </a:pPr>
            <a:r>
              <a:rPr lang="pt-BR" b="1" dirty="0">
                <a:solidFill>
                  <a:srgbClr val="000000"/>
                </a:solidFill>
                <a:latin typeface="Montserrat ExtraBold"/>
              </a:rPr>
              <a:t>Março  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9 e 30/3- A criação do mundo: Contação de história 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yorubá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 com cantiga  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sz="1600" b="1" dirty="0">
                <a:solidFill>
                  <a:srgbClr val="000000"/>
                </a:solidFill>
                <a:latin typeface="Montserrat ExtraBold"/>
              </a:rPr>
              <a:t>Abril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12/4 – O artista sou eu: releitura e caça aos símbolos nas pinturas de Abdias Nascimento  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19/04 – Estandarte poético: “Olhando no espelho”</a:t>
            </a:r>
          </a:p>
          <a:p>
            <a:pPr>
              <a:lnSpc>
                <a:spcPts val="2799"/>
              </a:lnSpc>
              <a:defRPr/>
            </a:pPr>
            <a:endParaRPr lang="pt-BR" b="1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b="1" dirty="0">
                <a:solidFill>
                  <a:srgbClr val="000000"/>
                </a:solidFill>
                <a:latin typeface="Montserrat ExtraBold"/>
              </a:rPr>
              <a:t>Maio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10 e 11/5 – Quem é exu: conto e releitura a partir de Abdias Nascimento  </a:t>
            </a:r>
          </a:p>
          <a:p>
            <a:pPr>
              <a:lnSpc>
                <a:spcPts val="2799"/>
              </a:lnSpc>
              <a:defRPr/>
            </a:pPr>
            <a:endParaRPr lang="pt-BR" b="1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b="1" dirty="0">
                <a:solidFill>
                  <a:srgbClr val="000000"/>
                </a:solidFill>
                <a:latin typeface="Montserrat ExtraBold"/>
              </a:rPr>
              <a:t>Junho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31/5 e 01/06 – Oficina de capa para encadernação manual 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06 e 07/06  - Oficina de grafite e axé: a arte com o divino 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13 e 14/06 – Oficina de lambe-lambe inspirado na obra de Abdias Nascimento  </a:t>
            </a:r>
          </a:p>
          <a:p>
            <a:pPr>
              <a:lnSpc>
                <a:spcPts val="2799"/>
              </a:lnSpc>
              <a:defRPr/>
            </a:pPr>
            <a:endParaRPr lang="pt-BR" b="1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b="1" dirty="0">
                <a:solidFill>
                  <a:srgbClr val="000000"/>
                </a:solidFill>
                <a:latin typeface="Montserrat ExtraBold"/>
              </a:rPr>
              <a:t>Julho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02 e 03/07 – Boneca de barro: criação com argila natural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12/07 - Abdias Nascimento e sua cidade natal </a:t>
            </a: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19 e 20/07 – Circuito Quilombista: passeio pelas obras do acervo Sesc de artes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 algn="l">
              <a:lnSpc>
                <a:spcPts val="2799"/>
              </a:lnSpc>
              <a:defRPr/>
            </a:pPr>
            <a:endParaRPr lang="en-US" sz="1800" dirty="0">
              <a:solidFill>
                <a:srgbClr val="000000"/>
              </a:solidFill>
              <a:latin typeface="Montserrat ExtraBold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F67FB-AAA3-BEF8-A289-495B5342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6DFA4EA1-7C28-9BAA-FA31-A73F258A3CF0}"/>
              </a:ext>
            </a:extLst>
          </p:cNvPr>
          <p:cNvSpPr txBox="1"/>
          <p:nvPr/>
        </p:nvSpPr>
        <p:spPr>
          <a:xfrm>
            <a:off x="8249879" y="1354178"/>
            <a:ext cx="9679674" cy="82977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/>
            </a:pP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Ações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integradas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à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Exposição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-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Educadores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 e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contratações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do  ETA -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Espaço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de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Tecnologias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e  Artes</a:t>
            </a:r>
            <a:endParaRPr lang="en-US" dirty="0">
              <a:solidFill>
                <a:srgbClr val="000000"/>
              </a:solidFill>
              <a:latin typeface="Montserrat ExtraBold"/>
              <a:sym typeface="Garet"/>
            </a:endParaRPr>
          </a:p>
          <a:p>
            <a:pPr>
              <a:lnSpc>
                <a:spcPts val="2799"/>
              </a:lnSpc>
              <a:defRPr/>
            </a:pPr>
            <a:endParaRPr lang="pt-BR" b="1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r>
              <a:rPr lang="pt-BR" b="1" dirty="0">
                <a:solidFill>
                  <a:srgbClr val="000000"/>
                </a:solidFill>
                <a:latin typeface="Montserrat ExtraBold"/>
              </a:rPr>
              <a:t>Março </a:t>
            </a:r>
          </a:p>
          <a:p>
            <a:pPr>
              <a:defRPr/>
            </a:pPr>
            <a:r>
              <a:rPr lang="pt-BR" b="1" dirty="0">
                <a:solidFill>
                  <a:srgbClr val="000000"/>
                </a:solidFill>
                <a:latin typeface="Montserrat ExtraBold"/>
              </a:rPr>
              <a:t> </a:t>
            </a:r>
          </a:p>
          <a:p>
            <a:pPr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06/03 – Ferramentas africanas em papel machê 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08 e 9/03 – Jogos Africanos – 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Yoté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 e 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Shisima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 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11, 14, 18, 25 e 28/3 – (Curso) Meu Primeiro 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Amigurumi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 – Xangô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20 e 21/3 – Estamparia Afro-diaspórica – com Galo Preto Ateliê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Abril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05 e 06/04 – Ateliê Ancestral: Yabá Abayomi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23, 24 e 25/4 – Gravura: Território e Ancestralidade – Rafa Black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Maio</a:t>
            </a:r>
          </a:p>
          <a:p>
            <a:pPr>
              <a:defRPr/>
            </a:pPr>
            <a:br>
              <a:rPr lang="pt-BR" dirty="0">
                <a:latin typeface="Montserrat ExtraBold"/>
              </a:rPr>
            </a:br>
            <a:r>
              <a:rPr lang="pt-BR" dirty="0">
                <a:solidFill>
                  <a:srgbClr val="000000"/>
                </a:solidFill>
                <a:latin typeface="Montserrat ExtraBold"/>
              </a:rPr>
              <a:t>17 e 18/5 - Ateliê Ancestral - Amuletos em Palha da Costa 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38E268C3-C86E-D514-AE5C-39CD6C3445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20880000">
            <a:off x="-1216742" y="-1285414"/>
            <a:ext cx="10581967" cy="1602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5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11E6-5552-3632-857B-69A3E5E95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416E38E-95F4-AD07-00EA-7C7927DD84ED}"/>
              </a:ext>
            </a:extLst>
          </p:cNvPr>
          <p:cNvSpPr txBox="1"/>
          <p:nvPr/>
        </p:nvSpPr>
        <p:spPr>
          <a:xfrm>
            <a:off x="8339168" y="550948"/>
            <a:ext cx="9451074" cy="101258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2799"/>
              </a:lnSpc>
              <a:defRPr/>
            </a:pP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Ações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integradas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à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Exposição</a:t>
            </a:r>
            <a:r>
              <a:rPr lang="en-US" sz="3200" spc="-458" dirty="0">
                <a:solidFill>
                  <a:srgbClr val="000000"/>
                </a:solidFill>
                <a:latin typeface="Montserrat ExtraBold"/>
                <a:sym typeface="Garet"/>
              </a:rPr>
              <a:t>  -  </a:t>
            </a:r>
            <a:r>
              <a:rPr lang="en-US" sz="3200" spc="-458" dirty="0" err="1">
                <a:solidFill>
                  <a:srgbClr val="000000"/>
                </a:solidFill>
                <a:latin typeface="Montserrat ExtraBold"/>
                <a:sym typeface="Garet"/>
              </a:rPr>
              <a:t>Contratações</a:t>
            </a:r>
            <a:endParaRPr lang="en-US" dirty="0">
              <a:solidFill>
                <a:srgbClr val="000000"/>
              </a:solidFill>
              <a:latin typeface="Montserrat ExtraBold"/>
              <a:sym typeface="Garet"/>
            </a:endParaRP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14/3 -  Abdias Nascimento e a reinvenção de um caminho afro-brasileiro - 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Julio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 Menezes (IPEAFRO), Cesar Nascimento, 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Edelma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 Landim, Isa do Rosário com mediação de José Lourenço  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14 e 16/3 – Eu quero que todos ouçam! – Cia Corpo Negro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23, 24, 25 e 26/3 - Carimbos 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Adinkras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– Rafa black  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28 e 29/03 – A Cultura dos orixás na pintura de Abdias Nascimento - 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Asé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 Portinari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26 e 27/04 – Vivência ebó de palavras: o verbo como oferenda – Coletivo Ebó de Palavras 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17/5 – Cena, Ritmo e Poesia – Ícaro Rodrigues 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12/06 – Drama para negros e prólogos para brancos -  Prof. Dr. Christian </a:t>
            </a:r>
            <a:br>
              <a:rPr lang="pt-BR" dirty="0">
                <a:latin typeface="Montserrat ExtraBold"/>
              </a:rPr>
            </a:br>
            <a:r>
              <a:rPr lang="pt-BR" dirty="0">
                <a:solidFill>
                  <a:srgbClr val="000000"/>
                </a:solidFill>
                <a:latin typeface="Montserrat ExtraBold"/>
              </a:rPr>
              <a:t>Moura  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19/06 – Oficina de dança africana – Ritmos da Guiné-Conacri - </a:t>
            </a:r>
            <a:r>
              <a:rPr lang="pt-BR" dirty="0" err="1">
                <a:solidFill>
                  <a:srgbClr val="000000"/>
                </a:solidFill>
                <a:latin typeface="Montserrat ExtraBold"/>
              </a:rPr>
              <a:t>Facinet</a:t>
            </a:r>
            <a:r>
              <a:rPr lang="pt-BR" dirty="0">
                <a:solidFill>
                  <a:srgbClr val="000000"/>
                </a:solidFill>
                <a:latin typeface="Montserrat ExtraBold"/>
              </a:rPr>
              <a:t> Touré 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>
              <a:lnSpc>
                <a:spcPts val="2799"/>
              </a:lnSpc>
              <a:defRPr/>
            </a:pPr>
            <a:r>
              <a:rPr lang="pt-BR" dirty="0">
                <a:solidFill>
                  <a:srgbClr val="000000"/>
                </a:solidFill>
                <a:latin typeface="Montserrat ExtraBold"/>
              </a:rPr>
              <a:t>09 e 10/07 – O Teatro Experimental – Habilidades de quilombo – Elisa Nascimento. </a:t>
            </a:r>
          </a:p>
          <a:p>
            <a:pPr>
              <a:lnSpc>
                <a:spcPts val="2799"/>
              </a:lnSpc>
              <a:defRPr/>
            </a:pPr>
            <a:endParaRPr lang="pt-BR" dirty="0">
              <a:solidFill>
                <a:srgbClr val="000000"/>
              </a:solidFill>
              <a:latin typeface="Montserrat ExtraBold"/>
            </a:endParaRPr>
          </a:p>
          <a:p>
            <a:pPr algn="l">
              <a:lnSpc>
                <a:spcPts val="2799"/>
              </a:lnSpc>
              <a:defRPr/>
            </a:pPr>
            <a:endParaRPr lang="en-US" sz="1800" dirty="0">
              <a:solidFill>
                <a:srgbClr val="000000"/>
              </a:solidFill>
              <a:latin typeface="Montserrat ExtraBold"/>
              <a:ea typeface="Garet"/>
              <a:cs typeface="Garet"/>
              <a:sym typeface="Garet"/>
            </a:endParaRPr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A3C6C187-D75C-24E8-6415-D2D5769AB7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20880000">
            <a:off x="-1216742" y="-1285414"/>
            <a:ext cx="10581967" cy="1602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5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8EA45-B36E-27CA-3E9C-3A9D7FC6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8EF2D31-092B-3B86-1F13-B327BC277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555146"/>
              </p:ext>
            </p:extLst>
          </p:nvPr>
        </p:nvGraphicFramePr>
        <p:xfrm>
          <a:off x="9447524" y="1450250"/>
          <a:ext cx="7811857" cy="7277100"/>
        </p:xfrm>
        <a:graphic>
          <a:graphicData uri="http://schemas.openxmlformats.org/drawingml/2006/table">
            <a:tbl>
              <a:tblPr/>
              <a:tblGrid>
                <a:gridCol w="4311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err="1">
                          <a:solidFill>
                            <a:srgbClr val="000000"/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presenças</a:t>
                      </a:r>
                      <a:endParaRPr lang="en-US" sz="1950" err="1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Montserrat ExtraBold"/>
                          <a:ea typeface="Garet"/>
                          <a:cs typeface="Garet"/>
                          <a:sym typeface="Garet"/>
                        </a:rPr>
                        <a:t>ações</a:t>
                      </a:r>
                      <a:endParaRPr lang="en-US" sz="1950" err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err="1">
                          <a:solidFill>
                            <a:srgbClr val="000000"/>
                          </a:solidFill>
                          <a:latin typeface="Montserrat ExtraBold"/>
                          <a:ea typeface="Garet Bold"/>
                          <a:cs typeface="Garet Bold"/>
                          <a:sym typeface="Garet Bold"/>
                        </a:rPr>
                        <a:t>Oficinas</a:t>
                      </a:r>
                      <a:endParaRPr lang="en-US" sz="1950" err="1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238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Montserrat ExtraBold"/>
                        </a:rPr>
                        <a:t>10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00000"/>
                          </a:solidFill>
                          <a:latin typeface="Montserrat ExtraBold"/>
                          <a:ea typeface="Garet Bold"/>
                          <a:cs typeface="Garet Bold"/>
                          <a:sym typeface="Garet Bold"/>
                        </a:rPr>
                        <a:t>Palestra</a:t>
                      </a:r>
                      <a:endParaRPr lang="en-US" sz="1950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137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Montserrat ExtraBold"/>
                        </a:rPr>
                        <a:t>3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err="1">
                          <a:solidFill>
                            <a:srgbClr val="000000"/>
                          </a:solidFill>
                          <a:latin typeface="Montserrat ExtraBold"/>
                          <a:ea typeface="Garet Bold"/>
                          <a:cs typeface="Garet Bold"/>
                          <a:sym typeface="Garet Bold"/>
                        </a:rPr>
                        <a:t>Vivência</a:t>
                      </a:r>
                      <a:endParaRPr lang="en-US" sz="1950" err="1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351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Montserrat ExtraBold"/>
                        </a:rPr>
                        <a:t>2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err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Contação</a:t>
                      </a:r>
                      <a:r>
                        <a:rPr lang="en-US" sz="1950" b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 de </a:t>
                      </a:r>
                      <a:r>
                        <a:rPr lang="en-US" sz="1950" b="1" err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histórias</a:t>
                      </a:r>
                      <a:endParaRPr lang="en-US" sz="1950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Montserrat ExtraBold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46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00000"/>
                          </a:solidFill>
                          <a:latin typeface="Montserrat ExtraBold"/>
                          <a:ea typeface="Garet Bold"/>
                          <a:cs typeface="Garet Bold"/>
                          <a:sym typeface="Garet Bold"/>
                        </a:rPr>
                        <a:t>Roda de conversa</a:t>
                      </a:r>
                      <a:endParaRPr lang="en-US" sz="1950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Montserrat ExtraBold"/>
                        </a:rPr>
                        <a:t>2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46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err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Intervenção</a:t>
                      </a:r>
                      <a:r>
                        <a:rPr lang="en-US" sz="1950" b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 </a:t>
                      </a:r>
                      <a:r>
                        <a:rPr lang="en-US" sz="1950" b="1" err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artística</a:t>
                      </a:r>
                      <a:r>
                        <a:rPr lang="en-US" sz="1950" b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 </a:t>
                      </a:r>
                      <a:endParaRPr lang="en-US" sz="1950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Montserrat ExtraBold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err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Mediação</a:t>
                      </a:r>
                      <a:r>
                        <a:rPr lang="en-US" sz="1950" b="1">
                          <a:solidFill>
                            <a:srgbClr val="000000"/>
                          </a:solidFill>
                          <a:latin typeface="Montserrat ExtraBold"/>
                          <a:sym typeface="Garet Bold"/>
                        </a:rPr>
                        <a:t> </a:t>
                      </a:r>
                      <a:endParaRPr lang="en-US" sz="1950">
                        <a:latin typeface="Montserrat Extra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799"/>
                        </a:lnSpc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Montserrat ExtraBold"/>
                          <a:ea typeface="+mn-ea"/>
                          <a:cs typeface="+mn-cs"/>
                        </a:rPr>
                        <a:t>340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Montserrat ExtraBold"/>
                        </a:rPr>
                        <a:t>103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FA6E785-804A-FBED-B453-05EC5F66AC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20880000">
            <a:off x="-1216742" y="-1285414"/>
            <a:ext cx="10581967" cy="1602873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EE6E9AF-EC13-9A96-8308-D354F8603115}"/>
              </a:ext>
            </a:extLst>
          </p:cNvPr>
          <p:cNvSpPr txBox="1"/>
          <p:nvPr/>
        </p:nvSpPr>
        <p:spPr>
          <a:xfrm>
            <a:off x="1778000" y="5857875"/>
            <a:ext cx="9144000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800">
                <a:latin typeface="Montserrat ExtraBold"/>
              </a:rPr>
              <a:t>Dados </a:t>
            </a:r>
            <a:endParaRPr lang="pt-PT"/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7975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447800" y="870351"/>
            <a:ext cx="14782800" cy="697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Visitas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mediadas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ao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longo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Exposição</a:t>
            </a:r>
            <a:endParaRPr lang="en-US" sz="4400" spc="-458" dirty="0">
              <a:solidFill>
                <a:srgbClr val="000000"/>
              </a:solidFill>
              <a:latin typeface="Montserrat ExtraBold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71F2C10E-17B7-4CF5-5A12-6B3FCBF26462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F9C5474-A4F3-E860-B72D-8279399D6118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pic>
        <p:nvPicPr>
          <p:cNvPr id="13" name="Imagem 1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F17EEFA9-66EB-6361-223A-5553C57970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" t="4722" r="899" b="4051"/>
          <a:stretch>
            <a:fillRect/>
          </a:stretch>
        </p:blipFill>
        <p:spPr>
          <a:xfrm>
            <a:off x="3165987" y="1841426"/>
            <a:ext cx="12011536" cy="6652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65D9A-13DA-E312-80E5-E7518DB3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0A95DBF5-E5B4-A834-351A-BE5A38901568}"/>
              </a:ext>
            </a:extLst>
          </p:cNvPr>
          <p:cNvSpPr txBox="1"/>
          <p:nvPr/>
        </p:nvSpPr>
        <p:spPr>
          <a:xfrm>
            <a:off x="1447800" y="870351"/>
            <a:ext cx="14782800" cy="697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ações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integradas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à </a:t>
            </a: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Exposição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ao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longo</a:t>
            </a:r>
            <a:r>
              <a:rPr lang="en-US" sz="44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dos meses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69E3539A-FA2C-FA21-92B3-C5BE388CF8F7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71FF0AC9-E3C6-6F4C-A5A6-17BAC6A95ECB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pic>
        <p:nvPicPr>
          <p:cNvPr id="11" name="Imagem 10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1FA97097-6A3F-4A05-DBCA-A876083838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" t="3605" r="72" b="-3605"/>
          <a:stretch>
            <a:fillRect/>
          </a:stretch>
        </p:blipFill>
        <p:spPr>
          <a:xfrm>
            <a:off x="2437581" y="1517343"/>
            <a:ext cx="13175960" cy="7723766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FE62316-7F16-B051-C765-F2F4DD7C560A}"/>
              </a:ext>
            </a:extLst>
          </p:cNvPr>
          <p:cNvSpPr txBox="1"/>
          <p:nvPr/>
        </p:nvSpPr>
        <p:spPr>
          <a:xfrm>
            <a:off x="3075386" y="2576963"/>
            <a:ext cx="8556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>
                <a:solidFill>
                  <a:srgbClr val="00B050"/>
                </a:solidFill>
                <a:latin typeface="Montserrat ExtraBold"/>
                <a:ea typeface="Calibri"/>
                <a:cs typeface="Calibri"/>
              </a:rPr>
              <a:t>20</a:t>
            </a:r>
            <a:endParaRPr lang="pt-BR" sz="2400">
              <a:solidFill>
                <a:srgbClr val="00B050"/>
              </a:solidFill>
              <a:latin typeface="Montserrat ExtraBold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331F644-A935-FE30-ABD5-107B84016B11}"/>
              </a:ext>
            </a:extLst>
          </p:cNvPr>
          <p:cNvSpPr txBox="1"/>
          <p:nvPr/>
        </p:nvSpPr>
        <p:spPr>
          <a:xfrm>
            <a:off x="6481224" y="5149893"/>
            <a:ext cx="5772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rgbClr val="00B050"/>
                </a:solidFill>
                <a:latin typeface="Montserrat ExtraBold"/>
                <a:ea typeface="Calibri"/>
                <a:cs typeface="Calibri"/>
              </a:rPr>
              <a:t>9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E8180EF-5D2B-5180-1F6B-2FF09DC64E22}"/>
              </a:ext>
            </a:extLst>
          </p:cNvPr>
          <p:cNvSpPr txBox="1"/>
          <p:nvPr/>
        </p:nvSpPr>
        <p:spPr>
          <a:xfrm>
            <a:off x="8859401" y="6219152"/>
            <a:ext cx="5772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rgbClr val="00B050"/>
                </a:solidFill>
                <a:latin typeface="Montserrat ExtraBold"/>
                <a:ea typeface="Calibri"/>
                <a:cs typeface="Calibri"/>
              </a:rPr>
              <a:t>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7DF30F4-6DC4-4DE4-D017-3A57757B46F4}"/>
              </a:ext>
            </a:extLst>
          </p:cNvPr>
          <p:cNvSpPr txBox="1"/>
          <p:nvPr/>
        </p:nvSpPr>
        <p:spPr>
          <a:xfrm>
            <a:off x="11292885" y="5407990"/>
            <a:ext cx="5772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rgbClr val="00B050"/>
                </a:solidFill>
                <a:latin typeface="Montserrat ExtraBold"/>
                <a:ea typeface="Calibri"/>
                <a:cs typeface="Calibri"/>
              </a:rPr>
              <a:t>8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A11054-A0E8-7403-DD92-114881A41FE0}"/>
              </a:ext>
            </a:extLst>
          </p:cNvPr>
          <p:cNvSpPr txBox="1"/>
          <p:nvPr/>
        </p:nvSpPr>
        <p:spPr>
          <a:xfrm>
            <a:off x="13781675" y="5629216"/>
            <a:ext cx="5772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rgbClr val="00B050"/>
                </a:solidFill>
                <a:latin typeface="Montserrat ExtraBold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3916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FDA7-B291-C22D-9667-DA9A5DD4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D7F082A3-D60F-1AAB-1517-60689FB4FD8C}"/>
              </a:ext>
            </a:extLst>
          </p:cNvPr>
          <p:cNvSpPr txBox="1"/>
          <p:nvPr/>
        </p:nvSpPr>
        <p:spPr>
          <a:xfrm>
            <a:off x="204151" y="648335"/>
            <a:ext cx="8749349" cy="3017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0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7200" b="1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11 </a:t>
            </a:r>
            <a:r>
              <a:rPr lang="en-US" sz="7200" b="1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instituições</a:t>
            </a:r>
            <a:endParaRPr lang="en-US" sz="7200" b="1" spc="-458">
              <a:solidFill>
                <a:srgbClr val="000000"/>
              </a:solidFill>
              <a:latin typeface="Montserrat ExtraBold"/>
              <a:ea typeface="Archivo Black"/>
              <a:cs typeface="Archivo Black"/>
              <a:sym typeface="Archivo Black"/>
            </a:endParaRPr>
          </a:p>
          <a:p>
            <a:pPr algn="r">
              <a:lnSpc>
                <a:spcPts val="5808"/>
              </a:lnSpc>
              <a:spcBef>
                <a:spcPct val="0"/>
              </a:spcBef>
            </a:pPr>
            <a:r>
              <a:rPr lang="en-US" sz="3600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destaques</a:t>
            </a:r>
            <a:r>
              <a:rPr lang="en-US" sz="3600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entre as </a:t>
            </a:r>
            <a:r>
              <a:rPr lang="en-US" sz="3600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instituições</a:t>
            </a:r>
            <a:r>
              <a:rPr lang="en-US" sz="3600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recebidas</a:t>
            </a:r>
            <a:endParaRPr lang="en-US" sz="3600" spc="-458">
              <a:solidFill>
                <a:srgbClr val="000000"/>
              </a:solidFill>
              <a:latin typeface="Montserrat ExtraBold"/>
              <a:ea typeface="Archivo Black"/>
              <a:cs typeface="Archivo Black"/>
            </a:endParaRP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endParaRPr lang="en-US" sz="7200" b="1" spc="-458">
              <a:solidFill>
                <a:srgbClr val="000000"/>
              </a:solidFill>
              <a:latin typeface="Montserrat ExtraBold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443776A8-5BF1-5C6C-FDAB-3F0211A9B258}"/>
              </a:ext>
            </a:extLst>
          </p:cNvPr>
          <p:cNvSpPr txBox="1"/>
          <p:nvPr/>
        </p:nvSpPr>
        <p:spPr>
          <a:xfrm>
            <a:off x="5965825" y="3187700"/>
            <a:ext cx="11414218" cy="8002191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CCI Joanna de Ângelis</a:t>
            </a:r>
            <a:r>
              <a:rPr lang="en-US" sz="2800" dirty="0">
                <a:latin typeface="Montserrat ExtraBold"/>
                <a:cs typeface="Arial"/>
              </a:rPr>
              <a:t> </a:t>
            </a:r>
            <a:endParaRPr lang="pt-BR" sz="2800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CRAS – Patrocínio Paulista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 ExtraBold"/>
                <a:ea typeface="+mn-lt"/>
                <a:cs typeface="+mn-lt"/>
              </a:rPr>
              <a:t>DCNOVI Comunidade </a:t>
            </a:r>
            <a:r>
              <a:rPr lang="pt-BR" sz="2800">
                <a:latin typeface="Montserrat ExtraBold"/>
                <a:ea typeface="+mn-lt"/>
                <a:cs typeface="+mn-lt"/>
              </a:rPr>
              <a:t>Terapêutica</a:t>
            </a:r>
            <a:r>
              <a:rPr lang="pt-BR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Hospital Dia </a:t>
            </a:r>
            <a:r>
              <a:rPr lang="en-US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Instituto ICOL</a:t>
            </a:r>
            <a:r>
              <a:rPr lang="en-US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Pastoral do Menor</a:t>
            </a:r>
            <a:r>
              <a:rPr lang="en-US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Residência inclusiva de Patrocínio Paulista</a:t>
            </a:r>
            <a:r>
              <a:rPr lang="pt-BR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Secretaria da Educação de Franca</a:t>
            </a:r>
            <a:r>
              <a:rPr lang="pt-BR" sz="2800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Arial"/>
              </a:rPr>
              <a:t>Secretaria da Cultura de São José da Bela Vista </a:t>
            </a:r>
            <a:endParaRPr lang="pt-BR" sz="2800" dirty="0">
              <a:latin typeface="Montserrat ExtraBold"/>
              <a:ea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SESI Franca</a:t>
            </a:r>
            <a:r>
              <a:rPr lang="en-US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Sociedade dos cegos</a:t>
            </a:r>
            <a:r>
              <a:rPr lang="en-US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UFJF – Universidade Federal de Juiz de Fora </a:t>
            </a:r>
            <a:r>
              <a:rPr lang="pt-BR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UNESP - Universidade Estadual Paulista de Franca </a:t>
            </a:r>
            <a:r>
              <a:rPr lang="en-US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>
                <a:latin typeface="Montserrat ExtraBold"/>
                <a:ea typeface="+mn-lt"/>
                <a:cs typeface="+mn-lt"/>
              </a:rPr>
              <a:t>UNIFRAN - Universidade de Franca - Campus Franca</a:t>
            </a:r>
            <a:r>
              <a:rPr lang="en-US" sz="2800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>
              <a:latin typeface="Montserrat Extra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>
              <a:latin typeface="Montserrat Extra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>
              <a:latin typeface="Montserrat ExtraBold"/>
            </a:endParaRPr>
          </a:p>
          <a:p>
            <a:endParaRPr lang="pt-BR" sz="4400">
              <a:latin typeface="Montserrat ExtraBold"/>
            </a:endParaRPr>
          </a:p>
        </p:txBody>
      </p:sp>
      <p:cxnSp>
        <p:nvCxnSpPr>
          <p:cNvPr id="4" name="Conector reto 16">
            <a:extLst>
              <a:ext uri="{FF2B5EF4-FFF2-40B4-BE49-F238E27FC236}">
                <a16:creationId xmlns:a16="http://schemas.microsoft.com/office/drawing/2014/main" id="{53CDF107-D781-26F3-2191-693DB2FAE0A5}"/>
              </a:ext>
            </a:extLst>
          </p:cNvPr>
          <p:cNvCxnSpPr>
            <a:cxnSpLocks/>
          </p:cNvCxnSpPr>
          <p:nvPr/>
        </p:nvCxnSpPr>
        <p:spPr>
          <a:xfrm flipV="1">
            <a:off x="1137429" y="2932226"/>
            <a:ext cx="16011702" cy="2156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8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3CC4-F571-48F2-7C39-28DD692D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BA6CCAD3-0318-EEA0-4095-B7D4CDE78877}"/>
              </a:ext>
            </a:extLst>
          </p:cNvPr>
          <p:cNvSpPr txBox="1"/>
          <p:nvPr/>
        </p:nvSpPr>
        <p:spPr>
          <a:xfrm>
            <a:off x="9448800" y="2247900"/>
            <a:ext cx="6667500" cy="6785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7200" b="1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18 </a:t>
            </a:r>
            <a:r>
              <a:rPr lang="en-US" sz="7200" b="1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cidades</a:t>
            </a:r>
            <a:endParaRPr lang="en-US" sz="7200" b="1" spc="-458" dirty="0">
              <a:solidFill>
                <a:srgbClr val="000000"/>
              </a:solidFill>
              <a:latin typeface="Montserrat ExtraBold"/>
              <a:ea typeface="Archivo Black"/>
              <a:cs typeface="Archivo Black"/>
              <a:sym typeface="Archivo Black"/>
            </a:endParaRPr>
          </a:p>
          <a:p>
            <a:pPr algn="r">
              <a:lnSpc>
                <a:spcPts val="5808"/>
              </a:lnSpc>
              <a:spcBef>
                <a:spcPct val="0"/>
              </a:spcBef>
            </a:pPr>
            <a:r>
              <a:rPr lang="en-US" sz="40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abrangência</a:t>
            </a:r>
            <a:r>
              <a:rPr lang="en-US" sz="40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0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visitação</a:t>
            </a:r>
            <a:r>
              <a:rPr lang="en-US" sz="40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de </a:t>
            </a:r>
            <a:r>
              <a:rPr lang="en-US" sz="40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grupos</a:t>
            </a:r>
            <a:r>
              <a:rPr lang="en-US" sz="40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para </a:t>
            </a:r>
            <a:r>
              <a:rPr lang="en-US" sz="40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além</a:t>
            </a:r>
            <a:r>
              <a:rPr lang="en-US" sz="40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de Franca</a:t>
            </a:r>
            <a:endParaRPr lang="en-US" sz="4000" spc="-458" dirty="0">
              <a:solidFill>
                <a:srgbClr val="000000"/>
              </a:solidFill>
              <a:latin typeface="Montserrat ExtraBold"/>
              <a:ea typeface="Archivo Black"/>
              <a:cs typeface="Archivo Black"/>
            </a:endParaRPr>
          </a:p>
          <a:p>
            <a:pPr algn="r">
              <a:lnSpc>
                <a:spcPts val="5808"/>
              </a:lnSpc>
              <a:spcBef>
                <a:spcPct val="0"/>
              </a:spcBef>
            </a:pPr>
            <a:r>
              <a:rPr lang="en-US" sz="4000" spc="-458" dirty="0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Considerando</a:t>
            </a:r>
            <a:r>
              <a:rPr lang="en-US" sz="40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seis deles do Estado de Minas Gerais </a:t>
            </a:r>
            <a:endParaRPr lang="en-US" sz="4000" spc="-458" dirty="0">
              <a:solidFill>
                <a:srgbClr val="000000"/>
              </a:solidFill>
              <a:latin typeface="Montserrat ExtraBold"/>
              <a:ea typeface="Archivo Black"/>
              <a:cs typeface="Archivo Black"/>
            </a:endParaRPr>
          </a:p>
          <a:p>
            <a:pPr algn="r">
              <a:lnSpc>
                <a:spcPts val="5808"/>
              </a:lnSpc>
              <a:spcBef>
                <a:spcPct val="0"/>
              </a:spcBef>
            </a:pPr>
            <a:r>
              <a:rPr lang="en-US" sz="4000" spc="-458" dirty="0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  <a:endParaRPr lang="en-US" sz="4000" spc="-458" dirty="0">
              <a:solidFill>
                <a:srgbClr val="000000"/>
              </a:solidFill>
              <a:latin typeface="Montserrat ExtraBold"/>
              <a:ea typeface="Archivo Black"/>
              <a:cs typeface="Archivo Black"/>
            </a:endParaRPr>
          </a:p>
          <a:p>
            <a:pPr algn="r">
              <a:lnSpc>
                <a:spcPts val="5808"/>
              </a:lnSpc>
              <a:spcBef>
                <a:spcPct val="0"/>
              </a:spcBef>
            </a:pPr>
            <a:endParaRPr lang="en-US" sz="5400" spc="-458">
              <a:solidFill>
                <a:srgbClr val="000000"/>
              </a:solidFill>
              <a:latin typeface="Montserrat ExtraBold"/>
              <a:ea typeface="Archivo Black"/>
              <a:cs typeface="Archivo Black"/>
              <a:sym typeface="Archivo Black"/>
            </a:endParaRP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endParaRPr lang="en-US" sz="7200" b="1" spc="-458">
              <a:solidFill>
                <a:srgbClr val="000000"/>
              </a:solidFill>
              <a:latin typeface="Montserrat ExtraBold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9B7E88-57D0-3BAA-6B3A-33A597692D3A}"/>
              </a:ext>
            </a:extLst>
          </p:cNvPr>
          <p:cNvSpPr txBox="1"/>
          <p:nvPr/>
        </p:nvSpPr>
        <p:spPr>
          <a:xfrm>
            <a:off x="1295400" y="2095500"/>
            <a:ext cx="9144000" cy="75713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b="1">
                <a:latin typeface="Montserrat ExtraBold"/>
                <a:ea typeface="+mn-lt"/>
                <a:cs typeface="+mn-lt"/>
              </a:rPr>
              <a:t>São Paulo</a:t>
            </a:r>
          </a:p>
          <a:p>
            <a:endParaRPr lang="pt-BR">
              <a:latin typeface="Montserrat ExtraBold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Araraquara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PT">
              <a:latin typeface="Montserrat ExtraBold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Batatais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Claraval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Cristais Paulista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>
                <a:latin typeface="Montserrat ExtraBold"/>
                <a:ea typeface="+mn-lt"/>
                <a:cs typeface="+mn-lt"/>
              </a:rPr>
              <a:t>Jeriquara</a:t>
            </a:r>
            <a:r>
              <a:rPr lang="pt-BR" dirty="0">
                <a:latin typeface="Montserrat ExtraBold"/>
                <a:ea typeface="+mn-lt"/>
                <a:cs typeface="+mn-lt"/>
              </a:rPr>
              <a:t> </a:t>
            </a:r>
            <a:endParaRPr lang="pt-BR" dirty="0">
              <a:latin typeface="Montserrat ExtraBold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Patrocínio Paulista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Pedregulho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Restinga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Ribeirão Corrente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Ribeirão Preto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Montserrat ExtraBold"/>
                <a:ea typeface="+mn-lt"/>
                <a:cs typeface="Arial"/>
              </a:rPr>
              <a:t>São José da Bela Vista</a:t>
            </a:r>
            <a:endParaRPr lang="en-US" dirty="0">
              <a:latin typeface="Montserrat ExtraBold"/>
              <a:ea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São Paulo</a:t>
            </a:r>
            <a:endParaRPr lang="pt-BR" dirty="0">
              <a:latin typeface="Montserrat ExtraBold"/>
              <a:ea typeface="Calibri"/>
              <a:cs typeface="Arial"/>
            </a:endParaRPr>
          </a:p>
          <a:p>
            <a:endParaRPr lang="pt-BR">
              <a:latin typeface="Montserrat ExtraBold"/>
              <a:ea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latin typeface="Montserrat ExtraBold"/>
              <a:ea typeface="+mn-lt"/>
              <a:cs typeface="Arial"/>
            </a:endParaRPr>
          </a:p>
          <a:p>
            <a:r>
              <a:rPr lang="en-US" b="1">
                <a:latin typeface="Montserrat ExtraBold"/>
                <a:ea typeface="+mn-lt"/>
                <a:cs typeface="Arial"/>
              </a:rPr>
              <a:t>Minas Gerais </a:t>
            </a:r>
          </a:p>
          <a:p>
            <a:endParaRPr lang="en-US">
              <a:latin typeface="Montserrat ExtraBold"/>
              <a:ea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Calibri"/>
              </a:rPr>
              <a:t>Cássia – MG</a:t>
            </a:r>
            <a:r>
              <a:rPr lang="en-US" dirty="0">
                <a:latin typeface="Montserrat ExtraBold"/>
                <a:ea typeface="+mn-lt"/>
                <a:cs typeface="Arial"/>
              </a:rPr>
              <a:t> </a:t>
            </a:r>
            <a:endParaRPr lang="pt-BR" dirty="0">
              <a:latin typeface="Montserrat ExtraBold"/>
              <a:ea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Calibri"/>
              </a:rPr>
              <a:t>Ibiraci – MG</a:t>
            </a:r>
            <a:r>
              <a:rPr lang="en-US" dirty="0">
                <a:latin typeface="Montserrat ExtraBold"/>
                <a:ea typeface="+mn-lt"/>
                <a:cs typeface="Arial"/>
              </a:rPr>
              <a:t> </a:t>
            </a:r>
            <a:endParaRPr lang="en-US" dirty="0">
              <a:latin typeface="Montserrat ExtraBold"/>
              <a:ea typeface="+mn-lt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Calibri"/>
              </a:rPr>
              <a:t>Juiz de Fora – MG</a:t>
            </a:r>
            <a:r>
              <a:rPr lang="en-US" dirty="0">
                <a:latin typeface="Montserrat ExtraBold"/>
                <a:ea typeface="+mn-lt"/>
                <a:cs typeface="Arial"/>
              </a:rPr>
              <a:t> </a:t>
            </a:r>
            <a:endParaRPr lang="en-US" dirty="0">
              <a:latin typeface="Montserrat ExtraBold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São Sebastião do Paraíso - MG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Uberaba – MG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>
                <a:latin typeface="Montserrat ExtraBold"/>
                <a:ea typeface="+mn-lt"/>
                <a:cs typeface="+mn-lt"/>
              </a:rPr>
              <a:t>Uberlândia – MG</a:t>
            </a:r>
            <a:r>
              <a:rPr lang="en-US" dirty="0">
                <a:latin typeface="Montserrat ExtraBold"/>
                <a:cs typeface="Arial"/>
              </a:rPr>
              <a:t> </a:t>
            </a:r>
            <a:endParaRPr lang="pt-BR" dirty="0">
              <a:latin typeface="Montserrat Extra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>
              <a:latin typeface="Montserrat ExtraBold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>
              <a:latin typeface="Montserrat ExtraBold"/>
              <a:ea typeface="Calibri"/>
              <a:cs typeface="Calibri"/>
            </a:endParaRPr>
          </a:p>
          <a:p>
            <a:endParaRPr lang="pt-BR">
              <a:latin typeface="Montserrat ExtraBold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028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BED3-5ED9-4238-7A51-9560FFEF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10EFF2F3-EC3D-B0B2-4235-175D4F8E8FA0}"/>
              </a:ext>
            </a:extLst>
          </p:cNvPr>
          <p:cNvSpPr txBox="1"/>
          <p:nvPr/>
        </p:nvSpPr>
        <p:spPr>
          <a:xfrm>
            <a:off x="1028700" y="316140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A942F683-97EF-BF10-1147-F0BBC081DB5A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2D727B4D-D656-CF07-A31B-F087908220BC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Imagem 8" descr="Uma imagem com Cara humana, vestuário, pessoa, desenhos de criança&#10;&#10;Os conteúdos gerados por IA poderão estar incorretos.">
            <a:extLst>
              <a:ext uri="{FF2B5EF4-FFF2-40B4-BE49-F238E27FC236}">
                <a16:creationId xmlns:a16="http://schemas.microsoft.com/office/drawing/2014/main" id="{2028FCDF-5849-9122-994C-CA7C238B2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351" y="870833"/>
            <a:ext cx="9449481" cy="709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55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CCE2-E305-C8FD-6565-4BD621AB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FFCC4CE1-9A99-AC19-04E4-B1FCEF0982B2}"/>
              </a:ext>
            </a:extLst>
          </p:cNvPr>
          <p:cNvSpPr txBox="1"/>
          <p:nvPr/>
        </p:nvSpPr>
        <p:spPr>
          <a:xfrm>
            <a:off x="1028700" y="316140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B13D3D96-5876-B7B1-3206-9A96711CAD1F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FCF33D90-798A-B67B-B2B6-26A4D5A39F18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pic>
        <p:nvPicPr>
          <p:cNvPr id="10" name="Imagem 9" descr="Uma imagem com vestuário, pessoa, desenhos de criança, desenho&#10;&#10;Os conteúdos gerados por IA poderão estar incorretos.">
            <a:extLst>
              <a:ext uri="{FF2B5EF4-FFF2-40B4-BE49-F238E27FC236}">
                <a16:creationId xmlns:a16="http://schemas.microsoft.com/office/drawing/2014/main" id="{0583AE4D-64B6-0D92-E7AC-8FF753042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550" y="1158037"/>
            <a:ext cx="6361697" cy="6827923"/>
          </a:xfrm>
          <a:prstGeom prst="rect">
            <a:avLst/>
          </a:prstGeom>
        </p:spPr>
      </p:pic>
      <p:pic>
        <p:nvPicPr>
          <p:cNvPr id="12" name="Imagem 11" descr="Uma imagem com vestuário, interior, pessoa, homem">
            <a:extLst>
              <a:ext uri="{FF2B5EF4-FFF2-40B4-BE49-F238E27FC236}">
                <a16:creationId xmlns:a16="http://schemas.microsoft.com/office/drawing/2014/main" id="{CFC5A841-F1EC-FA47-9C10-34BA9B1EB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295" y="1155127"/>
            <a:ext cx="5058601" cy="682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45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42A6B-6286-E11E-6246-503D20A0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FB9DEFDB-97B4-7B4F-C405-6FCF344D1D59}"/>
              </a:ext>
            </a:extLst>
          </p:cNvPr>
          <p:cNvSpPr txBox="1"/>
          <p:nvPr/>
        </p:nvSpPr>
        <p:spPr>
          <a:xfrm>
            <a:off x="1028700" y="316140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DEAC01-F527-AFA7-1295-D400601B26B9}"/>
              </a:ext>
            </a:extLst>
          </p:cNvPr>
          <p:cNvSpPr txBox="1"/>
          <p:nvPr/>
        </p:nvSpPr>
        <p:spPr>
          <a:xfrm>
            <a:off x="10519333" y="8191460"/>
            <a:ext cx="495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/>
              <a:t>legenda: descritivo da foto + nome do fotógrafo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9D5B2E53-DB23-9EE0-56AD-7F71F994BE96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D0C25522-148D-2FF0-4D9A-893DAAE2DAC4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pic>
        <p:nvPicPr>
          <p:cNvPr id="2" name="Imagem 1" descr="Uma imagem com vestuário, pessoa, parede, interior&#10;&#10;Os conteúdos gerados por IA poderão estar incorretos.">
            <a:extLst>
              <a:ext uri="{FF2B5EF4-FFF2-40B4-BE49-F238E27FC236}">
                <a16:creationId xmlns:a16="http://schemas.microsoft.com/office/drawing/2014/main" id="{0049EDA5-B858-14E7-1B95-475354CAFB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"/>
                    </a14:imgEffect>
                  </a14:imgLayer>
                </a14:imgProps>
              </a:ext>
            </a:extLst>
          </a:blip>
          <a:srcRect l="7768" t="-165" r="123" b="80"/>
          <a:stretch>
            <a:fillRect/>
          </a:stretch>
        </p:blipFill>
        <p:spPr>
          <a:xfrm>
            <a:off x="6421855" y="894013"/>
            <a:ext cx="10420255" cy="743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2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78B6-8BFD-D9C1-2853-5A36DCC4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BAFB028F-DD5B-A5DB-2613-C9D9135DB747}"/>
              </a:ext>
            </a:extLst>
          </p:cNvPr>
          <p:cNvSpPr txBox="1"/>
          <p:nvPr/>
        </p:nvSpPr>
        <p:spPr>
          <a:xfrm>
            <a:off x="472239" y="3762983"/>
            <a:ext cx="693268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4800" spc="-458" err="1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0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835AE9-549D-A724-999C-D818F04F5E18}"/>
              </a:ext>
            </a:extLst>
          </p:cNvPr>
          <p:cNvSpPr txBox="1"/>
          <p:nvPr/>
        </p:nvSpPr>
        <p:spPr>
          <a:xfrm>
            <a:off x="10519333" y="8191460"/>
            <a:ext cx="495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/>
              <a:t>legenda: descritivo da foto + nome do fotógrafo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1A061266-7F88-9F1D-381A-E6B59D4B55EB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F86D9251-D014-BABE-24B2-0DE8C361DD76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pic>
        <p:nvPicPr>
          <p:cNvPr id="6" name="Imagem 5" descr="Uma imagem com vestuário, rapariga, pessoa, rapaz&#10;&#10;Os conteúdos gerados por IA poderão estar incorretos.">
            <a:extLst>
              <a:ext uri="{FF2B5EF4-FFF2-40B4-BE49-F238E27FC236}">
                <a16:creationId xmlns:a16="http://schemas.microsoft.com/office/drawing/2014/main" id="{C0F41691-5407-FC9B-63C5-B9C98AD9F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683" y="1699461"/>
            <a:ext cx="9184106" cy="6888079"/>
          </a:xfrm>
          <a:prstGeom prst="rect">
            <a:avLst/>
          </a:prstGeom>
        </p:spPr>
      </p:pic>
      <p:pic>
        <p:nvPicPr>
          <p:cNvPr id="15" name="Imagem 14" descr="Uma imagem com vestuário, interior, sala, quadro&#10;&#10;Os conteúdos gerados por IA poderão estar incorretos.">
            <a:extLst>
              <a:ext uri="{FF2B5EF4-FFF2-40B4-BE49-F238E27FC236}">
                <a16:creationId xmlns:a16="http://schemas.microsoft.com/office/drawing/2014/main" id="{CF21FB00-32DA-4D6E-446B-F6C8584C78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47" r="-318" b="-88"/>
          <a:stretch>
            <a:fillRect/>
          </a:stretch>
        </p:blipFill>
        <p:spPr>
          <a:xfrm>
            <a:off x="3720155" y="1700297"/>
            <a:ext cx="4719120" cy="687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66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B2C8-D8D1-92DF-CA1E-957FC0731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E6A27B3E-BB47-740B-9B96-7EC6624BFB58}"/>
              </a:ext>
            </a:extLst>
          </p:cNvPr>
          <p:cNvSpPr txBox="1"/>
          <p:nvPr/>
        </p:nvSpPr>
        <p:spPr>
          <a:xfrm>
            <a:off x="1167164" y="1455989"/>
            <a:ext cx="11468100" cy="700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en-US" sz="4000" spc="-458">
                <a:solidFill>
                  <a:srgbClr val="000000"/>
                </a:solidFill>
                <a:latin typeface="Montserrat ExtraBold"/>
                <a:ea typeface="Archivo Black"/>
                <a:cs typeface="Archivo Black"/>
              </a:rPr>
              <a:t>Relatos do público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D693ADFE-AEF9-843C-99E4-9ADD37A2A297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A31D758A-4A88-D3B7-A43C-5269DF4ABBB1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Imagem 14" descr="Uma imagem com texto, escrita à mão, papel, Produto em papel">
            <a:extLst>
              <a:ext uri="{FF2B5EF4-FFF2-40B4-BE49-F238E27FC236}">
                <a16:creationId xmlns:a16="http://schemas.microsoft.com/office/drawing/2014/main" id="{A5709318-4BB9-F7FF-4BD0-DABCF86770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1" t="12738" r="119" b="28697"/>
          <a:stretch>
            <a:fillRect/>
          </a:stretch>
        </p:blipFill>
        <p:spPr>
          <a:xfrm>
            <a:off x="12222471" y="1385636"/>
            <a:ext cx="4621245" cy="6024603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16" name="Imagem 15" descr="Uma imagem com texto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40554903-9EAE-9A25-5D6F-0C6CE6DEA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158" y="2881313"/>
            <a:ext cx="10449928" cy="452437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9208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5DBC-216A-5F8B-327A-B174487B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9424A461-7FA0-4DCB-416F-2181BAF0E114}"/>
              </a:ext>
            </a:extLst>
          </p:cNvPr>
          <p:cNvSpPr txBox="1"/>
          <p:nvPr/>
        </p:nvSpPr>
        <p:spPr>
          <a:xfrm>
            <a:off x="1310039" y="868614"/>
            <a:ext cx="11468100" cy="1428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pt-PT" sz="4000" spc="-458">
                <a:solidFill>
                  <a:srgbClr val="000000"/>
                </a:solidFill>
                <a:latin typeface="Montserrat ExtraBold"/>
                <a:ea typeface="Calibri"/>
                <a:cs typeface="Calibri"/>
              </a:rPr>
              <a:t>Abdias Nascimento e a reinvenção de um caminho afro-brasileiro</a:t>
            </a:r>
            <a:endParaRPr lang="en-US" sz="4000" spc="-458" dirty="0">
              <a:solidFill>
                <a:srgbClr val="000000"/>
              </a:solidFill>
              <a:latin typeface="Montserrat ExtraBold"/>
              <a:ea typeface="Calibri"/>
              <a:cs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B8C92B-6B19-9EA9-28CB-75EB9834AF9C}"/>
              </a:ext>
            </a:extLst>
          </p:cNvPr>
          <p:cNvSpPr txBox="1"/>
          <p:nvPr/>
        </p:nvSpPr>
        <p:spPr>
          <a:xfrm>
            <a:off x="3460750" y="2540000"/>
            <a:ext cx="13954125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>
                <a:solidFill>
                  <a:srgbClr val="000000"/>
                </a:solidFill>
                <a:latin typeface="Montserrat ExtraBold"/>
              </a:rPr>
              <a:t> </a:t>
            </a:r>
            <a:r>
              <a:rPr lang="pt-PT">
                <a:solidFill>
                  <a:srgbClr val="000000"/>
                </a:solidFill>
                <a:latin typeface="Montserrat ExtraBold"/>
              </a:rPr>
              <a:t>Inaugurar o Sesc Franca com a exposição “Quilombismo – Documentos de uma militância pan-africanista”, dedicada a Abdias Nascimento, significou iniciar nossa trajetória com um manifesto público dirigido à comunidade francana — afirmando por que estamos aqui e quais valores orientam nossa presença na cidade.</a:t>
            </a:r>
            <a:endParaRPr lang="pt-PT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pt-PT">
                <a:solidFill>
                  <a:srgbClr val="000000"/>
                </a:solidFill>
                <a:latin typeface="Montserrat ExtraBold"/>
              </a:rPr>
              <a:t>O Quilombismo pode ser compreendido como um movimento social de resistência — tanto material quanto simbólica — protagonizado pela população negra. Sua organização não se limita aos agrupamentos formados por pessoas escravizadas que fugiam para o interior das matas durante o período escravocrata; abrange também toda coletividade que, ao longo da história, constituiu formas próprias de organização, afirmação identitária e enfrentamento às estruturas de opressão.</a:t>
            </a:r>
          </a:p>
          <a:p>
            <a:pPr algn="just">
              <a:lnSpc>
                <a:spcPct val="150000"/>
              </a:lnSpc>
            </a:pPr>
            <a:r>
              <a:rPr lang="pt-PT">
                <a:solidFill>
                  <a:srgbClr val="000000"/>
                </a:solidFill>
                <a:latin typeface="Montserrat ExtraBold"/>
              </a:rPr>
              <a:t>Foi potente acompanhar o Quilombismo se fazendo vivo através do processo educativo neste território, evidenciando, para </a:t>
            </a:r>
            <a:r>
              <a:rPr lang="pt-PT" dirty="0">
                <a:solidFill>
                  <a:srgbClr val="000000"/>
                </a:solidFill>
                <a:latin typeface="Montserrat ExtraBold"/>
              </a:rPr>
              <a:t>a população, elementos de orgulho de sua própria história e apresentando as múltiplas facetas desse grande intelectual, artista e militante. Encontramo-nos com um movimento negro vivo e pulsante em Franca e, nesse encontro, consolidamos um Sesc em movimento — comprometido com a diversidade, com a memória e com a convicção de que este espaço é, efetivamente, feito para todas as pessoas.</a:t>
            </a:r>
          </a:p>
          <a:p>
            <a:pPr>
              <a:lnSpc>
                <a:spcPct val="150000"/>
              </a:lnSpc>
            </a:pPr>
            <a:endParaRPr lang="pt-PT" dirty="0">
              <a:latin typeface="Montserrat ExtraBold"/>
            </a:endParaRPr>
          </a:p>
          <a:p>
            <a:endParaRPr lang="pt-PT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26D48198-A0D3-853C-9CA2-A555C12F27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20880000">
            <a:off x="-867492" y="-2666539"/>
            <a:ext cx="10581967" cy="1602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32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F8883-5E3E-6EC0-F421-D25AE086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Tabela&#10;&#10;O conteúdo gerado por IA pode estar incorreto.">
            <a:extLst>
              <a:ext uri="{FF2B5EF4-FFF2-40B4-BE49-F238E27FC236}">
                <a16:creationId xmlns:a16="http://schemas.microsoft.com/office/drawing/2014/main" id="{F2782D37-5AA6-43FD-88D6-9C2E5D03E6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90" b="-385"/>
          <a:stretch>
            <a:fillRect/>
          </a:stretch>
        </p:blipFill>
        <p:spPr>
          <a:xfrm>
            <a:off x="1001257" y="1330010"/>
            <a:ext cx="3848781" cy="6219038"/>
          </a:xfrm>
          <a:prstGeom prst="rect">
            <a:avLst/>
          </a:prstGeom>
        </p:spPr>
      </p:pic>
      <p:pic>
        <p:nvPicPr>
          <p:cNvPr id="16" name="Imagem 15" descr="Tabela&#10;&#10;O conteúdo gerado por IA pode estar incorreto.">
            <a:extLst>
              <a:ext uri="{FF2B5EF4-FFF2-40B4-BE49-F238E27FC236}">
                <a16:creationId xmlns:a16="http://schemas.microsoft.com/office/drawing/2014/main" id="{2E65BED8-12AA-11AA-8219-BAA292AAB7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28" b="1435"/>
          <a:stretch>
            <a:fillRect/>
          </a:stretch>
        </p:blipFill>
        <p:spPr>
          <a:xfrm>
            <a:off x="5050398" y="1488950"/>
            <a:ext cx="3817650" cy="659062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40042CD-EFB2-164A-DEC3-AD8AFB2F04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61" b="160"/>
          <a:stretch>
            <a:fillRect/>
          </a:stretch>
        </p:blipFill>
        <p:spPr>
          <a:xfrm>
            <a:off x="8866686" y="1612808"/>
            <a:ext cx="8652946" cy="7890264"/>
          </a:xfrm>
          <a:prstGeom prst="rect">
            <a:avLst/>
          </a:prstGeom>
        </p:spPr>
      </p:pic>
      <p:cxnSp>
        <p:nvCxnSpPr>
          <p:cNvPr id="3" name="Conector reto 16">
            <a:extLst>
              <a:ext uri="{FF2B5EF4-FFF2-40B4-BE49-F238E27FC236}">
                <a16:creationId xmlns:a16="http://schemas.microsoft.com/office/drawing/2014/main" id="{A74C6E0C-6042-5C11-7728-3DBEA5BE5B9C}"/>
              </a:ext>
            </a:extLst>
          </p:cNvPr>
          <p:cNvCxnSpPr>
            <a:cxnSpLocks/>
          </p:cNvCxnSpPr>
          <p:nvPr/>
        </p:nvCxnSpPr>
        <p:spPr>
          <a:xfrm>
            <a:off x="-1513696" y="9780042"/>
            <a:ext cx="20266202" cy="260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to 16">
            <a:extLst>
              <a:ext uri="{FF2B5EF4-FFF2-40B4-BE49-F238E27FC236}">
                <a16:creationId xmlns:a16="http://schemas.microsoft.com/office/drawing/2014/main" id="{AC0AF88C-36FF-C1A3-480A-9135427E2B78}"/>
              </a:ext>
            </a:extLst>
          </p:cNvPr>
          <p:cNvCxnSpPr>
            <a:cxnSpLocks/>
          </p:cNvCxnSpPr>
          <p:nvPr/>
        </p:nvCxnSpPr>
        <p:spPr>
          <a:xfrm flipV="1">
            <a:off x="-989821" y="566851"/>
            <a:ext cx="20266202" cy="10094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727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F4AA543F6DF343AE125287C7372420" ma:contentTypeVersion="19" ma:contentTypeDescription="Create a new document." ma:contentTypeScope="" ma:versionID="80e31c2d4cf67f597e2913233729ac87">
  <xsd:schema xmlns:xsd="http://www.w3.org/2001/XMLSchema" xmlns:xs="http://www.w3.org/2001/XMLSchema" xmlns:p="http://schemas.microsoft.com/office/2006/metadata/properties" xmlns:ns2="2f0f1dc7-e081-4ee5-8ddc-4eb9cb678d23" xmlns:ns3="0c3ae786-5e4f-419c-8a3f-0eb5f2beec71" targetNamespace="http://schemas.microsoft.com/office/2006/metadata/properties" ma:root="true" ma:fieldsID="63c7e8f0b8b92c9c338ade3a17bd240b" ns2:_="" ns3:_="">
    <xsd:import namespace="2f0f1dc7-e081-4ee5-8ddc-4eb9cb678d23"/>
    <xsd:import namespace="0c3ae786-5e4f-419c-8a3f-0eb5f2beec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0f1dc7-e081-4ee5-8ddc-4eb9cb678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3e1715-c84c-4513-8882-6ca9fbd4fe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ae786-5e4f-419c-8a3f-0eb5f2beec7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1bef07-5750-4eca-98f1-e07cb21896cd}" ma:internalName="TaxCatchAll" ma:showField="CatchAllData" ma:web="0c3ae786-5e4f-419c-8a3f-0eb5f2beec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0f1dc7-e081-4ee5-8ddc-4eb9cb678d23">
      <Terms xmlns="http://schemas.microsoft.com/office/infopath/2007/PartnerControls"/>
    </lcf76f155ced4ddcb4097134ff3c332f>
    <TaxCatchAll xmlns="0c3ae786-5e4f-419c-8a3f-0eb5f2beec71" xsi:nil="true"/>
  </documentManagement>
</p:properties>
</file>

<file path=customXml/itemProps1.xml><?xml version="1.0" encoding="utf-8"?>
<ds:datastoreItem xmlns:ds="http://schemas.openxmlformats.org/officeDocument/2006/customXml" ds:itemID="{BED3F7AE-B181-44B9-BCBD-181EE60B0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50A1C8-9F64-44DE-AAD7-5DA85937E2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0f1dc7-e081-4ee5-8ddc-4eb9cb678d23"/>
    <ds:schemaRef ds:uri="0c3ae786-5e4f-419c-8a3f-0eb5f2beec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216E51-BF42-4DF3-BB5F-F92C4A17FB27}">
  <ds:schemaRefs>
    <ds:schemaRef ds:uri="2f0f1dc7-e081-4ee5-8ddc-4eb9cb678d23"/>
    <ds:schemaRef ds:uri="http://schemas.microsoft.com/office/2006/documentManagement/types"/>
    <ds:schemaRef ds:uri="http://purl.org/dc/dcmitype/"/>
    <ds:schemaRef ds:uri="0c3ae786-5e4f-419c-8a3f-0eb5f2beec71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Microsoft Office PowerPoint</Application>
  <PresentationFormat>Personalizar</PresentationFormat>
  <Paragraphs>198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Assojaba Tupinamba</dc:title>
  <cp:lastModifiedBy>Carolina Barmell</cp:lastModifiedBy>
  <cp:revision>210</cp:revision>
  <dcterms:created xsi:type="dcterms:W3CDTF">2006-08-16T00:00:00Z</dcterms:created>
  <dcterms:modified xsi:type="dcterms:W3CDTF">2026-04-28T22:25:30Z</dcterms:modified>
  <dc:identifier>DAG38scdCyg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0x01010026F4AA543F6DF343AE125287C7372420</vt:lpwstr>
  </property>
  <property fmtid="{D5CDD505-2E9C-101B-9397-08002B2CF9AE}" pid="3" name="MediaServiceImageTags">
    <vt:lpwstr/>
  </property>
</Properties>
</file>
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1"/>
  </p:notesMasterIdLst>
  <p:sldIdLst>
    <p:sldId id="287" r:id="rId5"/>
    <p:sldId id="257" r:id="rId6"/>
    <p:sldId id="259" r:id="rId7"/>
    <p:sldId id="278" r:id="rId8"/>
    <p:sldId id="265" r:id="rId9"/>
    <p:sldId id="273" r:id="rId10"/>
    <p:sldId id="258" r:id="rId11"/>
    <p:sldId id="274" r:id="rId12"/>
    <p:sldId id="275" r:id="rId13"/>
    <p:sldId id="266" r:id="rId14"/>
    <p:sldId id="279" r:id="rId15"/>
    <p:sldId id="280" r:id="rId16"/>
    <p:sldId id="286" r:id="rId17"/>
    <p:sldId id="271" r:id="rId18"/>
    <p:sldId id="281" r:id="rId19"/>
    <p:sldId id="282" r:id="rId20"/>
  </p:sldIdLst>
  <p:sldSz cx="18288000" cy="10287000"/>
  <p:notesSz cx="6858000" cy="9144000"/>
  <p:embeddedFontLst>
    <p:embeddedFont>
      <p:font typeface="Archivo Black" panose="020B0604020202020204" charset="0"/>
      <p:regular r:id="rId22"/>
    </p:embeddedFont>
    <p:embeddedFont>
      <p:font typeface="Garet" panose="020B0604020202020204" charset="0"/>
      <p:regular r:id="rId23"/>
    </p:embeddedFont>
    <p:embeddedFont>
      <p:font typeface="Garet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FBD0806-1A44-2AEC-A8FD-E708788EDC31}" name="Priscila Lourencao" initials="PL" userId="S::priscila.lourencao@sescsp.org.br::5170cc1b-5607-4f73-aa2d-f747ecba93c1" providerId="AD"/>
  <p188:author id="{D7D0590B-13CD-A808-4C38-C2E29673FDC2}" name="Gabriel Rodrigues Orlando" initials="GO" userId="S::gabriel.orlando@sescsp.org.br::16ad701b-4783-4e42-9165-4191bd1537f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38B"/>
    <a:srgbClr val="C96F15"/>
    <a:srgbClr val="EAB200"/>
    <a:srgbClr val="E67F18"/>
    <a:srgbClr val="A5774B"/>
    <a:srgbClr val="D3A876"/>
    <a:srgbClr val="B26213"/>
    <a:srgbClr val="7C030E"/>
    <a:srgbClr val="953734"/>
    <a:srgbClr val="8D13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B5941-DA3F-C6CC-FDD3-F38604D180BC}" v="111" dt="2026-02-26T00:28:40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03/03/2026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286" y="0"/>
            <a:ext cx="18283428" cy="10287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 descr="Uma imagem contendo objeto, placar, quarto, relógio&#10;&#10;O conteúdo gerado por IA pode estar incorreto.">
            <a:extLst>
              <a:ext uri="{FF2B5EF4-FFF2-40B4-BE49-F238E27FC236}">
                <a16:creationId xmlns:a16="http://schemas.microsoft.com/office/drawing/2014/main" id="{0A446734-10F8-02FA-8C63-E51F7A88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46" r="6393"/>
          <a:stretch>
            <a:fillRect/>
          </a:stretch>
        </p:blipFill>
        <p:spPr>
          <a:xfrm>
            <a:off x="20" y="1923"/>
            <a:ext cx="18285694" cy="10283791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256F1EF-BD55-229D-9913-534DFF7A186F}"/>
              </a:ext>
            </a:extLst>
          </p:cNvPr>
          <p:cNvSpPr/>
          <p:nvPr/>
        </p:nvSpPr>
        <p:spPr>
          <a:xfrm>
            <a:off x="-130594" y="-10183"/>
            <a:ext cx="3711994" cy="1028507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288399C-084E-A50C-4015-0D1233C4B8C7}"/>
              </a:ext>
            </a:extLst>
          </p:cNvPr>
          <p:cNvSpPr/>
          <p:nvPr/>
        </p:nvSpPr>
        <p:spPr>
          <a:xfrm>
            <a:off x="457199" y="295214"/>
            <a:ext cx="2884025" cy="3262519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4F806318-880D-3633-13E7-E84AF0134628}"/>
              </a:ext>
            </a:extLst>
          </p:cNvPr>
          <p:cNvSpPr txBox="1"/>
          <p:nvPr/>
        </p:nvSpPr>
        <p:spPr>
          <a:xfrm>
            <a:off x="152400" y="8724900"/>
            <a:ext cx="3188824" cy="503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915"/>
              </a:lnSpc>
            </a:pPr>
            <a:r>
              <a:rPr lang="en-US" sz="2000" b="1" dirty="0">
                <a:latin typeface="Garet Bold"/>
                <a:ea typeface="Garet Bold"/>
                <a:cs typeface="Garet Bold"/>
                <a:sym typeface="Garet Bold"/>
              </a:rPr>
              <a:t>25 de </a:t>
            </a:r>
            <a:r>
              <a:rPr lang="en-US" sz="2000" b="1" dirty="0" err="1">
                <a:latin typeface="Garet Bold"/>
                <a:ea typeface="Garet Bold"/>
                <a:cs typeface="Garet Bold"/>
                <a:sym typeface="Garet Bold"/>
              </a:rPr>
              <a:t>abril</a:t>
            </a:r>
            <a:r>
              <a:rPr lang="en-US" sz="2000" b="1" dirty="0">
                <a:latin typeface="Garet Bold"/>
                <a:ea typeface="Garet Bold"/>
                <a:cs typeface="Garet Bold"/>
                <a:sym typeface="Garet Bold"/>
              </a:rPr>
              <a:t> de 2024 </a:t>
            </a:r>
            <a:endParaRPr lang="en-US" sz="2000" b="1" dirty="0">
              <a:latin typeface="Garet Bold"/>
              <a:ea typeface="Garet Bold"/>
              <a:cs typeface="Garet Bold"/>
            </a:endParaRPr>
          </a:p>
          <a:p>
            <a:pPr>
              <a:lnSpc>
                <a:spcPts val="1915"/>
              </a:lnSpc>
              <a:spcBef>
                <a:spcPct val="0"/>
              </a:spcBef>
            </a:pPr>
            <a:r>
              <a:rPr lang="en-US" sz="2000" b="1" dirty="0">
                <a:latin typeface="Garet Bold"/>
                <a:ea typeface="Garet Bold"/>
                <a:cs typeface="Garet Bold"/>
                <a:sym typeface="Garet Bold"/>
              </a:rPr>
              <a:t>26 de </a:t>
            </a:r>
            <a:r>
              <a:rPr lang="en-US" sz="2000" b="1" dirty="0" err="1">
                <a:latin typeface="Garet Bold"/>
                <a:ea typeface="Garet Bold"/>
                <a:cs typeface="Garet Bold"/>
                <a:sym typeface="Garet Bold"/>
              </a:rPr>
              <a:t>fevereiro</a:t>
            </a:r>
            <a:r>
              <a:rPr lang="en-US" sz="2000" b="1" dirty="0">
                <a:latin typeface="Garet Bold"/>
                <a:ea typeface="Garet Bold"/>
                <a:cs typeface="Garet Bold"/>
                <a:sym typeface="Garet Bold"/>
              </a:rPr>
              <a:t> de 2025</a:t>
            </a:r>
            <a:endParaRPr lang="en-US" sz="2000" b="1" dirty="0">
              <a:latin typeface="Garet Bold"/>
              <a:ea typeface="Garet Bold"/>
              <a:cs typeface="Garet 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C4F2D80D-96E6-717B-EB2C-EBBB156E0389}"/>
              </a:ext>
            </a:extLst>
          </p:cNvPr>
          <p:cNvSpPr txBox="1"/>
          <p:nvPr/>
        </p:nvSpPr>
        <p:spPr>
          <a:xfrm>
            <a:off x="7239000" y="9486900"/>
            <a:ext cx="9373830" cy="370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48"/>
              </a:lnSpc>
              <a:spcBef>
                <a:spcPct val="0"/>
              </a:spcBef>
            </a:pPr>
            <a:r>
              <a:rPr lang="en-US" sz="2748" spc="-217" dirty="0" err="1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| </a:t>
            </a:r>
            <a:r>
              <a:rPr lang="en-US" sz="2748" spc="-217" dirty="0" err="1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Sesc</a:t>
            </a:r>
            <a:r>
              <a:rPr lang="en-US" sz="2748" spc="-217" dirty="0">
                <a:solidFill>
                  <a:schemeClr val="bg1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Pinheiros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E370036-3932-14AB-90E8-3B57337C8105}"/>
              </a:ext>
            </a:extLst>
          </p:cNvPr>
          <p:cNvSpPr txBox="1"/>
          <p:nvPr/>
        </p:nvSpPr>
        <p:spPr>
          <a:xfrm>
            <a:off x="11925915" y="295214"/>
            <a:ext cx="5170540" cy="386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en-US" sz="2800" b="1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Relatório geral </a:t>
            </a:r>
            <a:endParaRPr lang="en-US" sz="2800" b="1" dirty="0">
              <a:solidFill>
                <a:schemeClr val="bg1"/>
              </a:solidFill>
              <a:latin typeface="Garet"/>
              <a:ea typeface="Garet"/>
              <a:cs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3792476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1A5C1E6A-31EA-629A-B750-F4AB7DBEEDDA}"/>
              </a:ext>
            </a:extLst>
          </p:cNvPr>
          <p:cNvSpPr/>
          <p:nvPr/>
        </p:nvSpPr>
        <p:spPr>
          <a:xfrm>
            <a:off x="-192896" y="26719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 rot="-10800000">
            <a:off x="11455702" y="55019"/>
            <a:ext cx="2611028" cy="4114800"/>
          </a:xfrm>
          <a:custGeom>
            <a:avLst/>
            <a:gdLst/>
            <a:ahLst/>
            <a:cxnLst/>
            <a:rect l="l" t="t" r="r" b="b"/>
            <a:pathLst>
              <a:path w="2611028" h="4114800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496624" y="907939"/>
            <a:ext cx="7279037" cy="781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808"/>
              </a:lnSpc>
              <a:spcBef>
                <a:spcPct val="0"/>
              </a:spcBef>
            </a:pPr>
            <a:r>
              <a:rPr lang="en-US" sz="5808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endParaRPr lang="en-US" sz="5808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6140" y="4492408"/>
            <a:ext cx="3929165" cy="129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  <a:spcBef>
                <a:spcPct val="0"/>
              </a:spcBef>
            </a:pPr>
            <a:r>
              <a:rPr lang="en-US" sz="3050" dirty="0" err="1">
                <a:solidFill>
                  <a:srgbClr val="000000"/>
                </a:solidFill>
                <a:latin typeface="Garet"/>
              </a:rPr>
              <a:t>Cerca</a:t>
            </a:r>
            <a:r>
              <a:rPr lang="en-US" sz="3050" dirty="0">
                <a:solidFill>
                  <a:srgbClr val="000000"/>
                </a:solidFill>
                <a:latin typeface="Garet"/>
              </a:rPr>
              <a:t> de</a:t>
            </a:r>
            <a:r>
              <a:rPr lang="en-US" sz="4400" b="1" dirty="0">
                <a:latin typeface="Garet Bold"/>
              </a:rPr>
              <a:t>  150.000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9281" y="5865436"/>
            <a:ext cx="5177335" cy="2185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visitantes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na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exposição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(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visitas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espontâneas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,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agendamentos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e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programa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público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)</a:t>
            </a:r>
            <a:endParaRPr lang="pt-BR" dirty="0"/>
          </a:p>
        </p:txBody>
      </p:sp>
      <p:sp>
        <p:nvSpPr>
          <p:cNvPr id="13" name="TextBox 13"/>
          <p:cNvSpPr txBox="1"/>
          <p:nvPr/>
        </p:nvSpPr>
        <p:spPr>
          <a:xfrm>
            <a:off x="7526537" y="5037139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17.618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53415" y="5741620"/>
            <a:ext cx="4870533" cy="3288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Pessoas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atendidas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em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visitas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mediadas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e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oficinas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da equipe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educativa</a:t>
            </a:r>
            <a:endParaRPr lang="pt-BR" dirty="0" err="1"/>
          </a:p>
          <a:p>
            <a:pPr algn="ctr">
              <a:lnSpc>
                <a:spcPts val="4295"/>
              </a:lnSpc>
            </a:pPr>
            <a:endParaRPr lang="en-US" sz="3050" dirty="0">
              <a:latin typeface="Garet"/>
            </a:endParaRPr>
          </a:p>
          <a:p>
            <a:pPr algn="ctr">
              <a:lnSpc>
                <a:spcPts val="4295"/>
              </a:lnSpc>
            </a:pPr>
            <a:endParaRPr lang="en-US" sz="3050" dirty="0">
              <a:latin typeface="Garet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958DD0F-E139-9C07-3396-16557DDCC5B3}"/>
              </a:ext>
            </a:extLst>
          </p:cNvPr>
          <p:cNvSpPr txBox="1"/>
          <p:nvPr/>
        </p:nvSpPr>
        <p:spPr>
          <a:xfrm>
            <a:off x="13713282" y="5064779"/>
            <a:ext cx="3929165" cy="650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Garet Bold"/>
              </a:rPr>
              <a:t>1.623</a:t>
            </a:r>
            <a:endParaRPr lang="en-US" sz="4000" dirty="0">
              <a:latin typeface="Garet Bold"/>
            </a:endParaRP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FC39CB27-43F1-CF0F-7685-3B518D1A28F5}"/>
              </a:ext>
            </a:extLst>
          </p:cNvPr>
          <p:cNvSpPr txBox="1"/>
          <p:nvPr/>
        </p:nvSpPr>
        <p:spPr>
          <a:xfrm>
            <a:off x="13078008" y="5694167"/>
            <a:ext cx="5177335" cy="1082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Presenças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em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ações</a:t>
            </a:r>
            <a:r>
              <a:rPr lang="en-US" sz="3050" dirty="0">
                <a:solidFill>
                  <a:srgbClr val="000000"/>
                </a:solidFill>
                <a:latin typeface="Garet"/>
                <a:sym typeface="Garet"/>
              </a:rPr>
              <a:t> </a:t>
            </a:r>
            <a:r>
              <a:rPr lang="en-US" sz="3050" dirty="0" err="1">
                <a:solidFill>
                  <a:srgbClr val="000000"/>
                </a:solidFill>
                <a:latin typeface="Garet"/>
                <a:sym typeface="Garet"/>
              </a:rPr>
              <a:t>integradas</a:t>
            </a:r>
            <a:endParaRPr lang="en-US" sz="3050" dirty="0" err="1">
              <a:latin typeface="Garet"/>
            </a:endParaRPr>
          </a:p>
        </p:txBody>
      </p:sp>
      <p:sp>
        <p:nvSpPr>
          <p:cNvPr id="8" name="TextBox 12">
            <a:extLst>
              <a:ext uri="{FF2B5EF4-FFF2-40B4-BE49-F238E27FC236}">
                <a16:creationId xmlns:a16="http://schemas.microsoft.com/office/drawing/2014/main" id="{C98C3C2E-9C69-AF68-0E3C-7D867C11DFC8}"/>
              </a:ext>
            </a:extLst>
          </p:cNvPr>
          <p:cNvSpPr txBox="1"/>
          <p:nvPr/>
        </p:nvSpPr>
        <p:spPr>
          <a:xfrm>
            <a:off x="-76200" y="9027696"/>
            <a:ext cx="18480896" cy="492442"/>
          </a:xfrm>
          <a:prstGeom prst="rect">
            <a:avLst/>
          </a:prstGeom>
          <a:solidFill>
            <a:srgbClr val="A5774B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258</a:t>
            </a:r>
            <a:r>
              <a:rPr lang="pt-BR" sz="3200" noProof="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dias de visitação</a:t>
            </a:r>
            <a:endParaRPr lang="pt-BR" sz="3200" noProof="0" dirty="0">
              <a:solidFill>
                <a:schemeClr val="bg1"/>
              </a:solidFill>
              <a:latin typeface="Garet Bold"/>
              <a:ea typeface="Garet Bold"/>
              <a:cs typeface="Gare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6F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DDBAB4CE-F457-3DE4-AE5D-4D7D07DA710D}"/>
              </a:ext>
            </a:extLst>
          </p:cNvPr>
          <p:cNvSpPr/>
          <p:nvPr/>
        </p:nvSpPr>
        <p:spPr>
          <a:xfrm>
            <a:off x="-1198" y="-10184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13456423" y="1883102"/>
            <a:ext cx="3802877" cy="1486579"/>
          </a:xfrm>
          <a:custGeom>
            <a:avLst/>
            <a:gdLst/>
            <a:ahLst/>
            <a:cxnLst/>
            <a:rect l="l" t="t" r="r" b="b"/>
            <a:pathLst>
              <a:path w="3802877" h="1486579">
                <a:moveTo>
                  <a:pt x="0" y="0"/>
                </a:moveTo>
                <a:lnTo>
                  <a:pt x="3802877" y="0"/>
                </a:lnTo>
                <a:lnTo>
                  <a:pt x="3802877" y="1486579"/>
                </a:lnTo>
                <a:lnTo>
                  <a:pt x="0" y="14865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11100751" y="3060654"/>
            <a:ext cx="6158549" cy="1519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pt-BR" sz="5808" spc="-458" noProof="0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pt-BR" sz="5808" spc="-458" noProof="0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presenças</a:t>
            </a:r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29397" y="9029546"/>
            <a:ext cx="18288000" cy="492443"/>
          </a:xfrm>
          <a:prstGeom prst="rect">
            <a:avLst/>
          </a:prstGeom>
          <a:solidFill>
            <a:srgbClr val="A5774B"/>
          </a:solidFill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258</a:t>
            </a:r>
            <a:r>
              <a:rPr lang="pt-BR" sz="3200" noProof="0" dirty="0">
                <a:solidFill>
                  <a:schemeClr val="bg1"/>
                </a:solidFill>
                <a:latin typeface="Garet Bold"/>
                <a:ea typeface="Garet Bold"/>
                <a:cs typeface="Garet Bold"/>
                <a:sym typeface="Garet Bold"/>
              </a:rPr>
              <a:t> dias de visitação</a:t>
            </a:r>
            <a:endParaRPr lang="pt-BR" sz="3200" noProof="0" dirty="0">
              <a:solidFill>
                <a:schemeClr val="bg1"/>
              </a:solidFill>
              <a:latin typeface="Garet Bold"/>
              <a:ea typeface="Garet Bold"/>
              <a:cs typeface="Garet Bold"/>
            </a:endParaRP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511EDE2-9A5A-C628-030F-920FA69F9F3F}"/>
              </a:ext>
            </a:extLst>
          </p:cNvPr>
          <p:cNvSpPr txBox="1"/>
          <p:nvPr/>
        </p:nvSpPr>
        <p:spPr>
          <a:xfrm>
            <a:off x="5272500" y="3369681"/>
            <a:ext cx="7006087" cy="42011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3200" noProof="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endParaRPr lang="pt-BR" sz="4800" b="1" noProof="0" dirty="0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4800" noProof="0" dirty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4800" dirty="0">
                <a:solidFill>
                  <a:srgbClr val="000000"/>
                </a:solidFill>
                <a:latin typeface="Garet Bold"/>
                <a:sym typeface="Garet Bold"/>
              </a:rPr>
              <a:t>15.880</a:t>
            </a:r>
            <a:endParaRPr lang="pt-BR" dirty="0">
              <a:solidFill>
                <a:srgbClr val="000000"/>
              </a:solidFill>
              <a:latin typeface="Calibri"/>
              <a:ea typeface="Calibri"/>
              <a:cs typeface="Calibri"/>
              <a:sym typeface="Garet Bold"/>
            </a:endParaRPr>
          </a:p>
          <a:p>
            <a:pPr algn="ctr">
              <a:lnSpc>
                <a:spcPts val="4295"/>
              </a:lnSpc>
            </a:pPr>
            <a:r>
              <a:rPr lang="pt-BR" sz="3050" dirty="0">
                <a:solidFill>
                  <a:srgbClr val="000000"/>
                </a:solidFill>
                <a:latin typeface="Garet"/>
                <a:sym typeface="Garet Bold"/>
              </a:rPr>
              <a:t>Estudantes impactados</a:t>
            </a:r>
          </a:p>
          <a:p>
            <a:pPr algn="ctr">
              <a:lnSpc>
                <a:spcPts val="4295"/>
              </a:lnSpc>
            </a:pPr>
            <a:r>
              <a:rPr lang="pt-BR" sz="3050" dirty="0">
                <a:solidFill>
                  <a:srgbClr val="000000"/>
                </a:solidFill>
                <a:latin typeface="Garet"/>
              </a:rPr>
              <a:t>(escolas públicas, particulares e instituições sociais)</a:t>
            </a:r>
          </a:p>
          <a:p>
            <a:pPr algn="ctr">
              <a:lnSpc>
                <a:spcPts val="2794"/>
              </a:lnSpc>
            </a:pPr>
            <a:endParaRPr lang="pt-BR" sz="320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endParaRPr lang="pt-BR" sz="3200" dirty="0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3A87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BDC1E-7D4C-DCB8-9A56-77B68FFA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EDA6F04-CF6B-0E31-AB9A-19296028C9EB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EAB2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25AABD2-EDAE-7537-7126-2BF789A60CEB}"/>
              </a:ext>
            </a:extLst>
          </p:cNvPr>
          <p:cNvSpPr/>
          <p:nvPr/>
        </p:nvSpPr>
        <p:spPr>
          <a:xfrm>
            <a:off x="0" y="1559650"/>
            <a:ext cx="8515943" cy="716770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8CD3464-5DA2-508B-D356-76A61FE7B2A8}"/>
              </a:ext>
            </a:extLst>
          </p:cNvPr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2469874A-1C6A-2C88-74AC-9DD75A0FC754}"/>
              </a:ext>
            </a:extLst>
          </p:cNvPr>
          <p:cNvSpPr txBox="1"/>
          <p:nvPr/>
        </p:nvSpPr>
        <p:spPr>
          <a:xfrm>
            <a:off x="1295400" y="6124228"/>
            <a:ext cx="6172200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4800" spc="-458" dirty="0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Equipe </a:t>
            </a:r>
            <a:r>
              <a:rPr lang="en-US" sz="4800" spc="-458" dirty="0" err="1">
                <a:solidFill>
                  <a:schemeClr val="bg1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Educativa</a:t>
            </a:r>
            <a:endParaRPr lang="en-US" sz="4800" spc="-458" dirty="0">
              <a:solidFill>
                <a:schemeClr val="bg1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8C802B50-79C0-7376-C196-62BDDDD9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1258017"/>
              </p:ext>
            </p:extLst>
          </p:nvPr>
        </p:nvGraphicFramePr>
        <p:xfrm>
          <a:off x="8978012" y="5143500"/>
          <a:ext cx="9125542" cy="4500100"/>
        </p:xfrm>
        <a:graphic>
          <a:graphicData uri="http://schemas.openxmlformats.org/drawingml/2006/table">
            <a:tbl>
              <a:tblPr/>
              <a:tblGrid>
                <a:gridCol w="29091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Equipe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02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99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II - </a:t>
                      </a:r>
                      <a:r>
                        <a:rPr lang="en-US" sz="1999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Supervisores</a:t>
                      </a:r>
                      <a:endParaRPr lang="en-US" sz="1999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ts val="2799"/>
                        </a:lnSpc>
                        <a:defRPr/>
                      </a:pP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04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Facilitadores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I 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 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Educadores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Formados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 (02  entre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abril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 e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nov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/2024 e 02 entre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dez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/2024 e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fev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/2025,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período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 de </a:t>
                      </a:r>
                      <a:r>
                        <a:rPr lang="en-US" sz="1950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aditamento</a:t>
                      </a:r>
                      <a:r>
                        <a:rPr lang="en-US" sz="1950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</a:rPr>
                        <a:t>)</a:t>
                      </a:r>
                      <a:endParaRPr lang="en-US" sz="1950" kern="1200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ts val="2799"/>
                        </a:lnSpc>
                        <a:defRPr/>
                      </a:pP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06 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Estagiários</a:t>
                      </a:r>
                      <a:endParaRPr lang="en-US" sz="1999" kern="1200" dirty="0">
                        <a:solidFill>
                          <a:srgbClr val="000000"/>
                        </a:solidFill>
                        <a:latin typeface="Garet"/>
                        <a:ea typeface="Garet"/>
                        <a:cs typeface="Garet"/>
                        <a:sym typeface="Garet"/>
                      </a:endParaRPr>
                    </a:p>
                    <a:p>
                      <a:pPr marL="0" algn="l" defTabSz="914400" rtl="0" eaLnBrk="1" latinLnBrk="0" hangingPunct="1">
                        <a:lnSpc>
                          <a:spcPts val="2799"/>
                        </a:lnSpc>
                        <a:defRPr/>
                      </a:pP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</a:rPr>
                        <a:t>02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 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Pessoas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 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Educadoras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 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sym typeface="Garet"/>
                        </a:rPr>
                        <a:t>Sociais</a:t>
                      </a:r>
                      <a:endParaRPr lang="en-US" sz="1999" kern="1200" dirty="0">
                        <a:solidFill>
                          <a:srgbClr val="000000"/>
                        </a:solidFill>
                        <a:latin typeface="Garet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200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Formação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ts val="2799"/>
                        </a:lnSpc>
                        <a:defRPr/>
                      </a:pP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Presencial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7 </a:t>
                      </a:r>
                      <a:r>
                        <a:rPr lang="en-US" sz="1999" kern="1200" dirty="0" err="1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dias</a:t>
                      </a:r>
                      <a:r>
                        <a:rPr lang="en-US" sz="1999" kern="1200" dirty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 – 48h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9372600" y="1600906"/>
            <a:ext cx="6780409" cy="295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>
                <a:solidFill>
                  <a:srgbClr val="000000"/>
                </a:solidFill>
                <a:latin typeface="Garet Bold"/>
                <a:sym typeface="Garet"/>
              </a:rPr>
              <a:t>17.618</a:t>
            </a:r>
            <a:endParaRPr lang="pt-BR" dirty="0"/>
          </a:p>
          <a:p>
            <a:pPr algn="ctr"/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4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endParaRPr lang="en-US" sz="4400" dirty="0" err="1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ctr">
              <a:spcBef>
                <a:spcPct val="0"/>
              </a:spcBef>
            </a:pPr>
            <a:r>
              <a:rPr lang="en-US" sz="44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906 </a:t>
            </a:r>
            <a:r>
              <a:rPr lang="en-US" sz="4400" dirty="0" err="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endParaRPr lang="en-US" sz="4400" dirty="0" err="1">
              <a:solidFill>
                <a:srgbClr val="000000"/>
              </a:solidFill>
              <a:latin typeface="Garet"/>
              <a:ea typeface="Garet"/>
              <a:cs typeface="Garet"/>
            </a:endParaRPr>
          </a:p>
          <a:p>
            <a:pPr algn="ctr"/>
            <a:r>
              <a:rPr lang="en-US" sz="4400">
                <a:solidFill>
                  <a:srgbClr val="000000"/>
                </a:solidFill>
                <a:latin typeface="Garet"/>
              </a:rPr>
              <a:t>AÇÕES MEDIADAS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F77BCCA-EE1C-7890-6A9D-0CDBD1447D1B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utoShape 3"/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315959" y="352297"/>
            <a:ext cx="14782800" cy="728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Visitas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mediadas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ao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44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4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endParaRPr lang="en-US" sz="4400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pic>
        <p:nvPicPr>
          <p:cNvPr id="2" name="Imagem 1" descr="Gráfico, Gráfico de barras&#10;&#10;O conteúdo gerado por IA pode estar incorreto.">
            <a:extLst>
              <a:ext uri="{FF2B5EF4-FFF2-40B4-BE49-F238E27FC236}">
                <a16:creationId xmlns:a16="http://schemas.microsoft.com/office/drawing/2014/main" id="{F54BB343-FC12-C7D4-95B0-2035277425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08" t="2036" r="-2170" b="-1638"/>
          <a:stretch>
            <a:fillRect/>
          </a:stretch>
        </p:blipFill>
        <p:spPr>
          <a:xfrm>
            <a:off x="3352800" y="1481140"/>
            <a:ext cx="11038115" cy="72361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5D9A-13DA-E312-80E5-E7518DB3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CAB384F-01E0-6FCC-102D-83B831D70A12}"/>
              </a:ext>
            </a:extLst>
          </p:cNvPr>
          <p:cNvSpPr/>
          <p:nvPr/>
        </p:nvSpPr>
        <p:spPr>
          <a:xfrm>
            <a:off x="-40496" y="0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A95DBF5-E5B4-A834-351A-BE5A38901568}"/>
              </a:ext>
            </a:extLst>
          </p:cNvPr>
          <p:cNvSpPr txBox="1"/>
          <p:nvPr/>
        </p:nvSpPr>
        <p:spPr>
          <a:xfrm>
            <a:off x="228600" y="190500"/>
            <a:ext cx="17830800" cy="1046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32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Ações</a:t>
            </a:r>
            <a:r>
              <a:rPr lang="en-US" sz="32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32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integradas</a:t>
            </a:r>
            <a:r>
              <a:rPr lang="en-US" sz="32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32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r>
              <a:rPr lang="en-US" sz="32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32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ao</a:t>
            </a:r>
            <a:r>
              <a:rPr lang="en-US" sz="32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32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longo</a:t>
            </a:r>
            <a:r>
              <a:rPr lang="en-US" sz="32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dos meses</a:t>
            </a:r>
          </a:p>
          <a:p>
            <a:pPr algn="l"/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parcerias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      entre     as     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áreas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     de   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artes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visuais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   ,     l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iteratura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,    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música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,    cinema </a:t>
            </a:r>
            <a:r>
              <a:rPr lang="en-US" sz="36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ial" panose="020B0604020202020204" pitchFamily="34" charset="0"/>
                <a:sym typeface="Archivo Black"/>
              </a:rPr>
              <a:t> 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sym typeface="Archivo Black"/>
              </a:rPr>
              <a:t>e     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sym typeface="Archivo Black"/>
              </a:rPr>
              <a:t>programa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sym typeface="Archivo Black"/>
              </a:rPr>
              <a:t>  “Bem  </a:t>
            </a:r>
            <a:r>
              <a:rPr lang="en-US" sz="2400" spc="-458" dirty="0" err="1">
                <a:solidFill>
                  <a:srgbClr val="000000"/>
                </a:solidFill>
                <a:latin typeface="Garet" panose="020B0604020202020204" charset="0"/>
                <a:sym typeface="Archivo Black"/>
              </a:rPr>
              <a:t>Viver</a:t>
            </a:r>
            <a:r>
              <a:rPr lang="en-US" sz="2400" spc="-458" dirty="0">
                <a:solidFill>
                  <a:srgbClr val="000000"/>
                </a:solidFill>
                <a:latin typeface="Garet" panose="020B0604020202020204" charset="0"/>
                <a:sym typeface="Archivo Black"/>
              </a:rPr>
              <a:t>”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497724-C83C-4E7C-CAD2-7DB783316339}"/>
              </a:ext>
            </a:extLst>
          </p:cNvPr>
          <p:cNvSpPr txBox="1"/>
          <p:nvPr/>
        </p:nvSpPr>
        <p:spPr>
          <a:xfrm>
            <a:off x="76200" y="1386423"/>
            <a:ext cx="18480896" cy="87100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pt-BR" sz="2000" b="1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2024</a:t>
            </a:r>
          </a:p>
          <a:p>
            <a:r>
              <a:rPr lang="pt-BR" sz="2000" b="1" dirty="0">
                <a:latin typeface="Garet"/>
              </a:rPr>
              <a:t>Abril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Abertura com Pai Dedeco de </a:t>
            </a:r>
            <a:r>
              <a:rPr lang="pt-BR" sz="2000" dirty="0" err="1">
                <a:latin typeface="Garet"/>
              </a:rPr>
              <a:t>Guian</a:t>
            </a:r>
            <a:r>
              <a:rPr lang="pt-BR" sz="2000" dirty="0">
                <a:latin typeface="Garet"/>
              </a:rPr>
              <a:t>, Ogan </a:t>
            </a:r>
            <a:r>
              <a:rPr lang="pt-BR" sz="2000" dirty="0" err="1">
                <a:latin typeface="Garet"/>
              </a:rPr>
              <a:t>Rivanilson</a:t>
            </a:r>
            <a:r>
              <a:rPr lang="pt-BR" sz="2000" dirty="0">
                <a:latin typeface="Garet"/>
              </a:rPr>
              <a:t> e </a:t>
            </a:r>
            <a:r>
              <a:rPr lang="pt-BR" sz="2000" dirty="0" err="1">
                <a:latin typeface="Garet"/>
              </a:rPr>
              <a:t>Yawo</a:t>
            </a:r>
            <a:r>
              <a:rPr lang="pt-BR" sz="2000" dirty="0">
                <a:latin typeface="Garet"/>
              </a:rPr>
              <a:t> Paulo Vitor e apresentação com o </a:t>
            </a:r>
            <a:r>
              <a:rPr lang="pt-BR" sz="2000" dirty="0">
                <a:latin typeface="Garet"/>
                <a:ea typeface="Calibri"/>
                <a:cs typeface="Calibri"/>
              </a:rPr>
              <a:t>Coral “Os escolhidos”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Visita mediada com equipe de curadoria, autora e artistas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Clube de Leitura do livro 'Um Defeito de Cor" com funcionários da Unidade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Maio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Projeto </a:t>
            </a:r>
            <a:r>
              <a:rPr lang="pt-BR" sz="2000" dirty="0" err="1">
                <a:latin typeface="Garet"/>
              </a:rPr>
              <a:t>VinhETA</a:t>
            </a:r>
            <a:r>
              <a:rPr lang="pt-BR" sz="2000" dirty="0">
                <a:latin typeface="Garet"/>
              </a:rPr>
              <a:t> com Thiago Costa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Julho </a:t>
            </a:r>
            <a:endParaRPr lang="pt-BR" sz="2000" dirty="0">
              <a:latin typeface="Garet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>
                <a:latin typeface="Garet"/>
                <a:ea typeface="+mn-lt"/>
                <a:cs typeface="Arial"/>
              </a:rPr>
              <a:t>Luiza Mahin... Eu Ainda Continuo Aqui </a:t>
            </a:r>
            <a:endParaRPr lang="pt-BR" sz="2000" dirty="0">
              <a:solidFill>
                <a:srgbClr val="000000"/>
              </a:solidFill>
              <a:latin typeface="Garet"/>
              <a:ea typeface="+mn-lt"/>
              <a:cs typeface="+mn-lt"/>
            </a:endParaRPr>
          </a:p>
          <a:p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Agosto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Conhecendo o idioma e a cultura </a:t>
            </a:r>
            <a:r>
              <a:rPr lang="pt-BR" sz="2000" dirty="0" err="1">
                <a:latin typeface="Garet"/>
              </a:rPr>
              <a:t>Yorùbá</a:t>
            </a:r>
            <a:r>
              <a:rPr lang="pt-BR" sz="2000" dirty="0">
                <a:latin typeface="Gare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Setembro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Exibição do filme “Quilombo”</a:t>
            </a:r>
          </a:p>
          <a:p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Novembro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Feira Tabuleiro e afins, com expositores, apresentação musical e sarau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Projeto </a:t>
            </a:r>
            <a:r>
              <a:rPr lang="pt-BR" sz="2000" dirty="0" err="1">
                <a:latin typeface="Garet"/>
              </a:rPr>
              <a:t>VinhETA</a:t>
            </a:r>
            <a:r>
              <a:rPr lang="pt-BR" sz="2000" dirty="0">
                <a:latin typeface="Garet"/>
              </a:rPr>
              <a:t> com Emerson Rocha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Exibição do filme “Casa das Minas - Os Voduns Reais de São Luís”</a:t>
            </a:r>
          </a:p>
          <a:p>
            <a:endParaRPr lang="pt-BR" sz="2000" dirty="0">
              <a:latin typeface="Garet"/>
            </a:endParaRPr>
          </a:p>
          <a:p>
            <a:r>
              <a:rPr lang="pt-BR" sz="2000" b="1" dirty="0">
                <a:latin typeface="Garet"/>
              </a:rPr>
              <a:t>2025</a:t>
            </a:r>
          </a:p>
          <a:p>
            <a:r>
              <a:rPr lang="pt-BR" sz="2000" b="1" dirty="0">
                <a:latin typeface="Garet"/>
              </a:rPr>
              <a:t>Fevereiro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latin typeface="Garet"/>
              </a:rPr>
              <a:t>Performance Desenrolando Histórias, com Lídia Lisbôa</a:t>
            </a:r>
            <a:endParaRPr lang="pt-BR" sz="2000" dirty="0">
              <a:latin typeface="Calibri"/>
              <a:ea typeface="Calibri"/>
              <a:cs typeface="Calibri"/>
            </a:endParaRPr>
          </a:p>
          <a:p>
            <a:endParaRPr lang="pt-BR" sz="2000" dirty="0">
              <a:latin typeface="Garet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162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FAD6F75-0089-A193-3BB7-580D71C3282A}"/>
              </a:ext>
            </a:extLst>
          </p:cNvPr>
          <p:cNvSpPr/>
          <p:nvPr/>
        </p:nvSpPr>
        <p:spPr>
          <a:xfrm>
            <a:off x="-1198" y="-38100"/>
            <a:ext cx="18289198" cy="103251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258823"/>
              </p:ext>
            </p:extLst>
          </p:nvPr>
        </p:nvGraphicFramePr>
        <p:xfrm>
          <a:off x="10013384" y="1915600"/>
          <a:ext cx="7811857" cy="6455800"/>
        </p:xfrm>
        <a:graphic>
          <a:graphicData uri="http://schemas.openxmlformats.org/drawingml/2006/table">
            <a:tbl>
              <a:tblPr/>
              <a:tblGrid>
                <a:gridCol w="4311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 dirty="0">
                        <a:latin typeface="Garet Bold" panose="020B0604020202020204" charset="0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dirty="0" err="1">
                          <a:solidFill>
                            <a:srgbClr val="000000"/>
                          </a:solidFill>
                          <a:latin typeface="Garet Bold"/>
                          <a:ea typeface="Garet"/>
                          <a:cs typeface="Garet"/>
                          <a:sym typeface="Garet"/>
                        </a:rPr>
                        <a:t>presenças</a:t>
                      </a:r>
                      <a:r>
                        <a:rPr lang="en-US" sz="1950" dirty="0">
                          <a:solidFill>
                            <a:srgbClr val="000000"/>
                          </a:solidFill>
                          <a:latin typeface="Garet Bold"/>
                          <a:ea typeface="Garet"/>
                          <a:cs typeface="Garet"/>
                          <a:sym typeface="Garet"/>
                        </a:rPr>
                        <a:t>*</a:t>
                      </a:r>
                      <a:endParaRPr lang="en-US" sz="1950" dirty="0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dirty="0" err="1">
                          <a:solidFill>
                            <a:schemeClr val="tx1"/>
                          </a:solidFill>
                          <a:latin typeface="Garet Bold"/>
                          <a:ea typeface="Garet"/>
                          <a:cs typeface="Garet"/>
                          <a:sym typeface="Garet"/>
                        </a:rPr>
                        <a:t>ações</a:t>
                      </a:r>
                      <a:endParaRPr lang="en-US" sz="1950" dirty="0" err="1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Palestra</a:t>
                      </a:r>
                      <a:endParaRPr lang="en-US" sz="1950" dirty="0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96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 panose="020B0604020202020204" charset="0"/>
                        </a:rPr>
                        <a:t>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Vivência</a:t>
                      </a:r>
                      <a:endParaRPr lang="en-US" sz="1950" dirty="0" err="1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380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 panose="020B0604020202020204" charset="0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dirty="0" err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Mediação</a:t>
                      </a:r>
                      <a:endParaRPr lang="en-US" sz="1950" dirty="0" err="1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70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3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 dirty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Roda de conversa</a:t>
                      </a:r>
                      <a:endParaRPr lang="en-US" sz="1950" dirty="0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20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 panose="020B0604020202020204" charset="0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746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Apresentação</a:t>
                      </a:r>
                      <a:endParaRPr lang="en-US" sz="1950" dirty="0" err="1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1.498**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 panose="020B0604020202020204" charset="0"/>
                        </a:rPr>
                        <a:t>4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50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Exibição</a:t>
                      </a:r>
                      <a:endParaRPr lang="en-US" sz="1950" dirty="0" err="1"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/>
                        </a:rPr>
                        <a:t>70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Garet Bold" panose="020B0604020202020204" charset="0"/>
                        </a:rPr>
                        <a:t>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-1252430" y="382243"/>
            <a:ext cx="10427915" cy="7665450"/>
          </a:xfrm>
          <a:custGeom>
            <a:avLst/>
            <a:gdLst/>
            <a:ahLst/>
            <a:cxnLst/>
            <a:rect l="l" t="t" r="r" b="b"/>
            <a:pathLst>
              <a:path w="9125543" h="7167700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4799313" y="0"/>
            <a:ext cx="3488687" cy="1198840"/>
          </a:xfrm>
          <a:custGeom>
            <a:avLst/>
            <a:gdLst/>
            <a:ahLst/>
            <a:cxnLst/>
            <a:rect l="l" t="t" r="r" b="b"/>
            <a:pathLst>
              <a:path w="3488687" h="1198840">
                <a:moveTo>
                  <a:pt x="0" y="0"/>
                </a:moveTo>
                <a:lnTo>
                  <a:pt x="3488687" y="0"/>
                </a:lnTo>
                <a:lnTo>
                  <a:pt x="3488687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79A31098-639A-3778-D1DB-C199CAD3F36C}"/>
              </a:ext>
            </a:extLst>
          </p:cNvPr>
          <p:cNvSpPr txBox="1"/>
          <p:nvPr/>
        </p:nvSpPr>
        <p:spPr>
          <a:xfrm>
            <a:off x="1919993" y="5941809"/>
            <a:ext cx="6172200" cy="16344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95"/>
              </a:lnSpc>
            </a:pPr>
            <a:r>
              <a:rPr lang="en-US" sz="6000" dirty="0">
                <a:solidFill>
                  <a:schemeClr val="bg1"/>
                </a:solidFill>
                <a:latin typeface="Garet Bold"/>
                <a:ea typeface="Garet"/>
                <a:cs typeface="Garet"/>
                <a:sym typeface="Garet"/>
              </a:rPr>
              <a:t> </a:t>
            </a:r>
          </a:p>
          <a:p>
            <a:pPr algn="ctr">
              <a:lnSpc>
                <a:spcPts val="4295"/>
              </a:lnSpc>
            </a:pPr>
            <a:r>
              <a:rPr lang="en-US" sz="305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presenças</a:t>
            </a:r>
            <a:r>
              <a:rPr lang="en-US" sz="305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em</a:t>
            </a:r>
            <a:r>
              <a:rPr lang="en-US" sz="305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ações</a:t>
            </a:r>
            <a:r>
              <a:rPr lang="en-US" sz="305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305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integradas</a:t>
            </a:r>
            <a:r>
              <a:rPr lang="en-US" sz="305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à </a:t>
            </a:r>
            <a:r>
              <a:rPr lang="en-US" sz="3050" dirty="0" err="1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exposição</a:t>
            </a:r>
            <a:r>
              <a:rPr lang="en-US" sz="3050" dirty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*</a:t>
            </a:r>
            <a:endParaRPr lang="en-US" sz="3068" dirty="0">
              <a:solidFill>
                <a:schemeClr val="bg1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0D14E2C-0F0F-DBB5-6FD4-EACA3395E56E}"/>
              </a:ext>
            </a:extLst>
          </p:cNvPr>
          <p:cNvSpPr txBox="1"/>
          <p:nvPr/>
        </p:nvSpPr>
        <p:spPr>
          <a:xfrm>
            <a:off x="1011335" y="8301008"/>
            <a:ext cx="813266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ea typeface="Calibri"/>
                <a:cs typeface="Calibri"/>
              </a:rPr>
              <a:t>*Alguns dados disponíveis nos relatórios da equipe divergem dos indicadores do modelo de relatório</a:t>
            </a:r>
          </a:p>
          <a:p>
            <a:r>
              <a:rPr lang="pt-BR" sz="2400" dirty="0">
                <a:ea typeface="Calibri"/>
                <a:cs typeface="Calibri"/>
              </a:rPr>
              <a:t>**Consideramos uma apresentação musical na abertura com cerca de 500 pessoas no público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F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43CC4-F571-48F2-7C39-28DD692D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63730D5-A0A0-E92B-59C3-D4CE6CFEFE52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BA6CCAD3-0318-EEA0-4095-B7D4CDE78877}"/>
              </a:ext>
            </a:extLst>
          </p:cNvPr>
          <p:cNvSpPr txBox="1"/>
          <p:nvPr/>
        </p:nvSpPr>
        <p:spPr>
          <a:xfrm>
            <a:off x="10591800" y="6391635"/>
            <a:ext cx="6667500" cy="3810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 dirty="0" err="1">
                <a:solidFill>
                  <a:srgbClr val="000000"/>
                </a:solidFill>
                <a:latin typeface="Garet Bold"/>
                <a:ea typeface="Archivo Black"/>
                <a:cs typeface="Archivo Black"/>
                <a:sym typeface="Archivo Black"/>
              </a:rPr>
              <a:t>cidades</a:t>
            </a: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abrangência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visitação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de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grupos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para </a:t>
            </a:r>
            <a:r>
              <a:rPr lang="en-US" sz="4000" spc="-458" dirty="0" err="1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além</a:t>
            </a:r>
            <a:r>
              <a:rPr lang="en-US" sz="4000" spc="-458" dirty="0">
                <a:solidFill>
                  <a:srgbClr val="000000"/>
                </a:solidFill>
                <a:latin typeface="Garet"/>
                <a:ea typeface="Archivo Black"/>
                <a:cs typeface="Archivo Black"/>
                <a:sym typeface="Archivo Black"/>
              </a:rPr>
              <a:t> de São Paulo</a:t>
            </a:r>
            <a:endParaRPr lang="en-US" sz="5400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3FBB558-0D6C-1151-766C-02ED47F42053}"/>
              </a:ext>
            </a:extLst>
          </p:cNvPr>
          <p:cNvSpPr txBox="1"/>
          <p:nvPr/>
        </p:nvSpPr>
        <p:spPr>
          <a:xfrm>
            <a:off x="1066800" y="1786677"/>
            <a:ext cx="9753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latin typeface="Garet" panose="020B0604020202020204" charset="0"/>
              </a:rPr>
              <a:t>Taboão da Serra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latin typeface="Garet" panose="020B0604020202020204" charset="0"/>
              </a:rPr>
              <a:t>Osasco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latin typeface="Garet" panose="020B0604020202020204" charset="0"/>
              </a:rPr>
              <a:t>Embu das Artes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latin typeface="Garet" panose="020B0604020202020204" charset="0"/>
              </a:rPr>
              <a:t>Grande ABC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>
                <a:latin typeface="Garet" panose="020B0604020202020204" charset="0"/>
              </a:rPr>
              <a:t>Público estrangeiro diverso</a:t>
            </a:r>
          </a:p>
        </p:txBody>
      </p:sp>
    </p:spTree>
    <p:extLst>
      <p:ext uri="{BB962C8B-B14F-4D97-AF65-F5344CB8AC3E}">
        <p14:creationId xmlns:p14="http://schemas.microsoft.com/office/powerpoint/2010/main" val="3600282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F1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0FDA7-B291-C22D-9667-DA9A5DD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8FDC8BD-523C-CF68-16FF-AD82D98E45B9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7F082A3-D60F-1AAB-1517-60689FB4FD8C}"/>
              </a:ext>
            </a:extLst>
          </p:cNvPr>
          <p:cNvSpPr txBox="1"/>
          <p:nvPr/>
        </p:nvSpPr>
        <p:spPr>
          <a:xfrm>
            <a:off x="394651" y="1346835"/>
            <a:ext cx="8749349" cy="30662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5808"/>
              </a:lnSpc>
            </a:pPr>
            <a:r>
              <a:rPr lang="en-US" sz="5808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r>
              <a:rPr lang="en-US" sz="7200" b="1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1.. </a:t>
            </a:r>
            <a:r>
              <a:rPr lang="en-US" sz="7200" b="1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instituições</a:t>
            </a:r>
            <a:endParaRPr lang="en-US" sz="7200" b="1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  <a:p>
            <a:pPr algn="r">
              <a:lnSpc>
                <a:spcPts val="5808"/>
              </a:lnSpc>
              <a:spcBef>
                <a:spcPct val="0"/>
              </a:spcBef>
            </a:pP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  <a:r>
              <a:rPr lang="en-US" sz="40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entre as </a:t>
            </a: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instituições</a:t>
            </a:r>
            <a:r>
              <a:rPr lang="en-US" sz="4000" spc="-458" dirty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recebidas</a:t>
            </a:r>
            <a:endParaRPr lang="en-US" sz="5400" spc="-458" dirty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  <a:p>
            <a:pPr marL="0" lvl="0" indent="0" algn="r">
              <a:lnSpc>
                <a:spcPts val="5808"/>
              </a:lnSpc>
              <a:spcBef>
                <a:spcPct val="0"/>
              </a:spcBef>
            </a:pPr>
            <a:endParaRPr lang="en-US" sz="7200" b="1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43776A8-5BF1-5C6C-FDAB-3F0211A9B258}"/>
              </a:ext>
            </a:extLst>
          </p:cNvPr>
          <p:cNvSpPr txBox="1"/>
          <p:nvPr/>
        </p:nvSpPr>
        <p:spPr>
          <a:xfrm>
            <a:off x="6172200" y="4076700"/>
            <a:ext cx="11414218" cy="3262432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 panose="020B0604020202020204" charset="0"/>
              </a:rPr>
              <a:t>Instituto </a:t>
            </a:r>
            <a:r>
              <a:rPr lang="pt-BR" sz="2800" dirty="0" err="1">
                <a:latin typeface="Garet" panose="020B0604020202020204" charset="0"/>
              </a:rPr>
              <a:t>ProGueto</a:t>
            </a:r>
            <a:endParaRPr lang="pt-BR" sz="2800" dirty="0">
              <a:latin typeface="Gare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FOCA (Fórum Regional dos Direitos das Crianças e Adolescentes)</a:t>
            </a:r>
            <a:endParaRPr lang="pt-BR" sz="2800" dirty="0">
              <a:latin typeface="Gare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</a:rPr>
              <a:t>Projeto Guri e Fundação Casa de São Bernardo</a:t>
            </a:r>
            <a:endParaRPr lang="pt-BR" sz="2800" dirty="0">
              <a:latin typeface="Garet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Garet"/>
                <a:ea typeface="Calibri"/>
                <a:cs typeface="Calibri"/>
              </a:rPr>
              <a:t>Fundação Dorina Nowill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>
              <a:latin typeface="Garet" panose="020B0604020202020204" charset="0"/>
              <a:ea typeface="Calibri"/>
              <a:cs typeface="Calibri"/>
            </a:endParaRPr>
          </a:p>
          <a:p>
            <a:endParaRPr lang="pt-BR" sz="4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18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59404A2E-3105-6E38-6ACC-40BFDA07B236}"/>
              </a:ext>
            </a:extLst>
          </p:cNvPr>
          <p:cNvSpPr/>
          <p:nvPr/>
        </p:nvSpPr>
        <p:spPr>
          <a:xfrm>
            <a:off x="0" y="-11381"/>
            <a:ext cx="18480896" cy="10298381"/>
          </a:xfrm>
          <a:prstGeom prst="rect">
            <a:avLst/>
          </a:prstGeom>
          <a:solidFill>
            <a:srgbClr val="E67F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2794"/>
              </a:lnSpc>
            </a:pPr>
            <a:endParaRPr lang="en-US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0" y="8763572"/>
            <a:ext cx="18480896" cy="35427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0" y="9334500"/>
            <a:ext cx="18480896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Box 21"/>
          <p:cNvSpPr txBox="1"/>
          <p:nvPr/>
        </p:nvSpPr>
        <p:spPr>
          <a:xfrm>
            <a:off x="457200" y="434416"/>
            <a:ext cx="15786981" cy="7117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40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Parcerias</a:t>
            </a:r>
            <a:r>
              <a:rPr lang="en-US" sz="40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e </a:t>
            </a:r>
            <a:r>
              <a:rPr lang="en-US" sz="40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relacionamentos</a:t>
            </a:r>
            <a:r>
              <a:rPr lang="en-US" sz="40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</a:t>
            </a:r>
            <a:r>
              <a:rPr lang="en-US" sz="40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estabelecidos</a:t>
            </a:r>
            <a:r>
              <a:rPr lang="en-US" sz="40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 a </a:t>
            </a:r>
            <a:r>
              <a:rPr lang="en-US" sz="40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partir</a:t>
            </a:r>
            <a:r>
              <a:rPr lang="en-US" sz="4000" spc="-458" dirty="0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da </a:t>
            </a:r>
            <a:r>
              <a:rPr lang="en-US" sz="4000" spc="-458" dirty="0" err="1">
                <a:solidFill>
                  <a:srgbClr val="000000"/>
                </a:solidFill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exposição</a:t>
            </a:r>
            <a:endParaRPr lang="en-US" sz="4000" spc="-458" dirty="0">
              <a:solidFill>
                <a:srgbClr val="000000"/>
              </a:solidFill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62000" y="5399924"/>
            <a:ext cx="4435171" cy="2516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pt-BR" sz="24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Instituto </a:t>
            </a:r>
            <a:r>
              <a:rPr lang="pt-BR" sz="2400" b="1" dirty="0" err="1">
                <a:solidFill>
                  <a:srgbClr val="000000"/>
                </a:solidFill>
                <a:latin typeface="Garet Bold"/>
                <a:ea typeface="Garet Bold"/>
                <a:cs typeface="Garet Bold"/>
              </a:rPr>
              <a:t>PróGueto</a:t>
            </a:r>
            <a:endParaRPr lang="pt-BR" sz="2400" b="1" dirty="0">
              <a:solidFill>
                <a:srgbClr val="000000"/>
              </a:solidFill>
              <a:latin typeface="Garet Bold"/>
              <a:ea typeface="Garet Bold"/>
              <a:cs typeface="Garet Bold"/>
            </a:endParaRPr>
          </a:p>
          <a:p>
            <a:pPr algn="ctr">
              <a:lnSpc>
                <a:spcPts val="2794"/>
              </a:lnSpc>
            </a:pPr>
            <a:r>
              <a:rPr lang="pt-BR" sz="2400" dirty="0">
                <a:latin typeface="Garet" panose="020B0604020202020204" charset="0"/>
              </a:rPr>
              <a:t>Projeto social para crianças e jovens do Jardim Jaqueline com parceria firmada na contratação de pessoas educadoras sociais e visitas do instituto</a:t>
            </a:r>
            <a:endParaRPr lang="pt-BR" sz="2400" b="1" dirty="0">
              <a:latin typeface="Garet" panose="020B0604020202020204" charset="0"/>
            </a:endParaRPr>
          </a:p>
        </p:txBody>
      </p:sp>
      <p:sp>
        <p:nvSpPr>
          <p:cNvPr id="5" name="TextBox 27">
            <a:extLst>
              <a:ext uri="{FF2B5EF4-FFF2-40B4-BE49-F238E27FC236}">
                <a16:creationId xmlns:a16="http://schemas.microsoft.com/office/drawing/2014/main" id="{31328983-4961-5554-745E-BE3B4F610424}"/>
              </a:ext>
            </a:extLst>
          </p:cNvPr>
          <p:cNvSpPr txBox="1"/>
          <p:nvPr/>
        </p:nvSpPr>
        <p:spPr>
          <a:xfrm>
            <a:off x="7163205" y="6202646"/>
            <a:ext cx="4510560" cy="1438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Secretaria Municipal de </a:t>
            </a:r>
            <a:r>
              <a:rPr lang="en-US" sz="2400" b="1" dirty="0" err="1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Educação</a:t>
            </a:r>
            <a:r>
              <a:rPr lang="en-US" sz="24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 </a:t>
            </a:r>
            <a:endParaRPr lang="pt-BR" sz="2400" dirty="0">
              <a:latin typeface="Garet Bold" panose="020B0604020202020204" charset="0"/>
            </a:endParaRP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Oferecimento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ônibus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visitação</a:t>
            </a:r>
            <a:r>
              <a:rPr lang="en-US" sz="2400" dirty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 de </a:t>
            </a:r>
            <a:r>
              <a:rPr lang="en-US" sz="2400" dirty="0" err="1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escolares</a:t>
            </a:r>
            <a:endParaRPr lang="en-US" sz="2400" dirty="0">
              <a:solidFill>
                <a:srgbClr val="000000"/>
              </a:solidFill>
              <a:latin typeface="Garet" panose="020B0604020202020204" charset="0"/>
              <a:ea typeface="Garet Bold"/>
              <a:cs typeface="Garet Bold"/>
            </a:endParaRPr>
          </a:p>
        </p:txBody>
      </p:sp>
      <p:sp>
        <p:nvSpPr>
          <p:cNvPr id="6" name="TextBox 27">
            <a:extLst>
              <a:ext uri="{FF2B5EF4-FFF2-40B4-BE49-F238E27FC236}">
                <a16:creationId xmlns:a16="http://schemas.microsoft.com/office/drawing/2014/main" id="{909F154B-D5F8-F934-CE03-762B8E29D670}"/>
              </a:ext>
            </a:extLst>
          </p:cNvPr>
          <p:cNvSpPr txBox="1"/>
          <p:nvPr/>
        </p:nvSpPr>
        <p:spPr>
          <a:xfrm>
            <a:off x="13400530" y="6347850"/>
            <a:ext cx="4114584" cy="107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 err="1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Projeto</a:t>
            </a:r>
            <a:r>
              <a:rPr lang="en-US" sz="2400" b="1" dirty="0">
                <a:solidFill>
                  <a:srgbClr val="000000"/>
                </a:solidFill>
                <a:latin typeface="Garet Bold" panose="020B0604020202020204" charset="0"/>
                <a:ea typeface="Garet Bold"/>
                <a:cs typeface="Garet Bold"/>
                <a:sym typeface="Garet Bold"/>
              </a:rPr>
              <a:t> Guri</a:t>
            </a: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Atendimento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 das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crianças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 do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programa</a:t>
            </a:r>
            <a:endParaRPr lang="en-US" sz="2400" dirty="0">
              <a:solidFill>
                <a:srgbClr val="000000"/>
              </a:solidFill>
              <a:latin typeface="Garet"/>
              <a:ea typeface="Garet Bold"/>
              <a:cs typeface="Garet Bold"/>
              <a:sym typeface="Garet Bold"/>
            </a:endParaRPr>
          </a:p>
        </p:txBody>
      </p:sp>
      <p:sp>
        <p:nvSpPr>
          <p:cNvPr id="9" name="TextBox 27">
            <a:extLst>
              <a:ext uri="{FF2B5EF4-FFF2-40B4-BE49-F238E27FC236}">
                <a16:creationId xmlns:a16="http://schemas.microsoft.com/office/drawing/2014/main" id="{A338E95B-6ECD-A97D-BE45-371E6C501C86}"/>
              </a:ext>
            </a:extLst>
          </p:cNvPr>
          <p:cNvSpPr txBox="1"/>
          <p:nvPr/>
        </p:nvSpPr>
        <p:spPr>
          <a:xfrm>
            <a:off x="3840130" y="2630222"/>
            <a:ext cx="4510560" cy="1079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sz="2400" b="1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MAR </a:t>
            </a:r>
            <a:r>
              <a:rPr lang="en-US" sz="2400" b="1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Museu</a:t>
            </a:r>
            <a:r>
              <a:rPr lang="en-US" sz="2400" b="1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de Arte do Rio</a:t>
            </a: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Parceiro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institucional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itinerância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da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exposição</a:t>
            </a:r>
            <a:endParaRPr lang="en-US" sz="240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</p:txBody>
      </p:sp>
      <p:sp>
        <p:nvSpPr>
          <p:cNvPr id="2" name="TextBox 27">
            <a:extLst>
              <a:ext uri="{FF2B5EF4-FFF2-40B4-BE49-F238E27FC236}">
                <a16:creationId xmlns:a16="http://schemas.microsoft.com/office/drawing/2014/main" id="{E3CC77E4-D4E2-B4C7-D9D3-838332BE63F2}"/>
              </a:ext>
            </a:extLst>
          </p:cNvPr>
          <p:cNvSpPr txBox="1"/>
          <p:nvPr/>
        </p:nvSpPr>
        <p:spPr>
          <a:xfrm>
            <a:off x="10515600" y="2568083"/>
            <a:ext cx="4510560" cy="1797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4"/>
              </a:lnSpc>
            </a:pPr>
            <a:r>
              <a:rPr lang="pt-BR" sz="2400" b="1" dirty="0">
                <a:solidFill>
                  <a:srgbClr val="000000"/>
                </a:solidFill>
                <a:latin typeface="Garet"/>
              </a:rPr>
              <a:t>MUHCAB - Museu da História e da Cultura Afro-Brasileira</a:t>
            </a:r>
          </a:p>
          <a:p>
            <a:pPr algn="ctr">
              <a:lnSpc>
                <a:spcPts val="2794"/>
              </a:lnSpc>
            </a:pP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Parceiro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institucional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para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itinerância</a:t>
            </a:r>
            <a:r>
              <a:rPr lang="en-US" sz="2400" dirty="0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 da </a:t>
            </a:r>
            <a:r>
              <a:rPr lang="en-US" sz="2400" dirty="0" err="1">
                <a:solidFill>
                  <a:srgbClr val="000000"/>
                </a:solidFill>
                <a:latin typeface="Garet"/>
                <a:ea typeface="Garet Bold"/>
                <a:cs typeface="Garet Bold"/>
              </a:rPr>
              <a:t>exposição</a:t>
            </a:r>
            <a:endParaRPr lang="en-US" sz="2400" dirty="0">
              <a:solidFill>
                <a:srgbClr val="000000"/>
              </a:solidFill>
              <a:latin typeface="Garet"/>
              <a:ea typeface="Garet Bold"/>
              <a:cs typeface="Gare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90AF8F79-A1F0-AE7A-A087-BF2B76D3D1EF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473A619-A185-7E13-FFE9-28DA349F71B9}"/>
              </a:ext>
            </a:extLst>
          </p:cNvPr>
          <p:cNvSpPr/>
          <p:nvPr/>
        </p:nvSpPr>
        <p:spPr>
          <a:xfrm flipV="1">
            <a:off x="0" y="8796639"/>
            <a:ext cx="18479698" cy="8063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FF2528C-549B-D853-2A77-2C0445ED0DA1}"/>
              </a:ext>
            </a:extLst>
          </p:cNvPr>
          <p:cNvSpPr/>
          <p:nvPr/>
        </p:nvSpPr>
        <p:spPr>
          <a:xfrm>
            <a:off x="0" y="9305925"/>
            <a:ext cx="18479698" cy="8063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457200" y="69594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6" name="Imagem 5" descr="Restaurante com mesas e cadeiras&#10;&#10;O conteúdo gerado por IA pode estar incorreto.">
            <a:extLst>
              <a:ext uri="{FF2B5EF4-FFF2-40B4-BE49-F238E27FC236}">
                <a16:creationId xmlns:a16="http://schemas.microsoft.com/office/drawing/2014/main" id="{CD12F781-2F1E-6C65-6474-826EC4107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0199"/>
            <a:ext cx="18479698" cy="5582408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F3B6F60A-E220-ABA8-DC54-4910FFCEF546}"/>
              </a:ext>
            </a:extLst>
          </p:cNvPr>
          <p:cNvSpPr txBox="1"/>
          <p:nvPr/>
        </p:nvSpPr>
        <p:spPr>
          <a:xfrm>
            <a:off x="10486676" y="8086329"/>
            <a:ext cx="776866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>
                <a:ea typeface="Calibri"/>
                <a:cs typeface="Calibri"/>
              </a:rPr>
              <a:t>Vista panorâmica da exposição. Paulo </a:t>
            </a:r>
            <a:r>
              <a:rPr lang="pt-BR" dirty="0" err="1">
                <a:ea typeface="Calibri"/>
                <a:cs typeface="Calibri"/>
              </a:rPr>
              <a:t>Pereira_Teiadocumenta</a:t>
            </a:r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98BA8AC2-99DF-8A1E-4324-56F2D6F46195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F8736DF3-8994-D83D-8F8B-AF08375CB210}"/>
              </a:ext>
            </a:extLst>
          </p:cNvPr>
          <p:cNvSpPr/>
          <p:nvPr/>
        </p:nvSpPr>
        <p:spPr>
          <a:xfrm flipV="1">
            <a:off x="0" y="8801101"/>
            <a:ext cx="18479698" cy="1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7C2E4A0-364C-8305-CAA4-B3CF496D42E2}"/>
              </a:ext>
            </a:extLst>
          </p:cNvPr>
          <p:cNvSpPr/>
          <p:nvPr/>
        </p:nvSpPr>
        <p:spPr>
          <a:xfrm>
            <a:off x="0" y="9334500"/>
            <a:ext cx="18479698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0EFF2F3-EC3D-B0B2-4235-175D4F8E8FA0}"/>
              </a:ext>
            </a:extLst>
          </p:cNvPr>
          <p:cNvSpPr txBox="1"/>
          <p:nvPr/>
        </p:nvSpPr>
        <p:spPr>
          <a:xfrm>
            <a:off x="381000" y="57008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9" name="Imagem 8" descr="Pessoas na frente de uma janela&#10;&#10;O conteúdo gerado por IA pode estar incorreto.">
            <a:extLst>
              <a:ext uri="{FF2B5EF4-FFF2-40B4-BE49-F238E27FC236}">
                <a16:creationId xmlns:a16="http://schemas.microsoft.com/office/drawing/2014/main" id="{406F5054-48D4-3493-6E32-5245F9964B7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9436" y="1835447"/>
            <a:ext cx="9389402" cy="6258707"/>
          </a:xfrm>
          <a:prstGeom prst="rect">
            <a:avLst/>
          </a:prstGeom>
        </p:spPr>
      </p:pic>
      <p:pic>
        <p:nvPicPr>
          <p:cNvPr id="12" name="Imagem 11" descr="Pessoas andando na frente de um prédio&#10;&#10;O conteúdo gerado por IA pode estar incorreto.">
            <a:extLst>
              <a:ext uri="{FF2B5EF4-FFF2-40B4-BE49-F238E27FC236}">
                <a16:creationId xmlns:a16="http://schemas.microsoft.com/office/drawing/2014/main" id="{6C2C0065-81C0-EF1B-F3D6-6F70FF7E22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343" y="1835446"/>
            <a:ext cx="9705571" cy="6258707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42B1BFE-F829-63CE-EB03-6B92227CC16B}"/>
              </a:ext>
            </a:extLst>
          </p:cNvPr>
          <p:cNvSpPr txBox="1"/>
          <p:nvPr/>
        </p:nvSpPr>
        <p:spPr>
          <a:xfrm>
            <a:off x="10287000" y="8212452"/>
            <a:ext cx="7768667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>
                <a:ea typeface="Calibri"/>
                <a:cs typeface="Calibri"/>
              </a:rPr>
              <a:t>Visitas espontâneas. Foto: Nilton Fukuda</a:t>
            </a:r>
          </a:p>
        </p:txBody>
      </p:sp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51D1-4068-764E-7E11-CE41F929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C9C94CCC-445F-7F2E-4D42-6274F89BF6CF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1EC50931-DA4D-D98F-53F9-2370E277EE6C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6773C4F-D9BC-3952-E645-6A9E6005BA55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7E4FCCE-BDF9-2A80-1BEB-06F2BCFE5228}"/>
              </a:ext>
            </a:extLst>
          </p:cNvPr>
          <p:cNvSpPr txBox="1"/>
          <p:nvPr/>
        </p:nvSpPr>
        <p:spPr>
          <a:xfrm>
            <a:off x="609600" y="538215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0C3A7D0-9B60-6F3A-1179-1DA49F460EFF}"/>
              </a:ext>
            </a:extLst>
          </p:cNvPr>
          <p:cNvSpPr txBox="1"/>
          <p:nvPr/>
        </p:nvSpPr>
        <p:spPr>
          <a:xfrm>
            <a:off x="-990600" y="7242009"/>
            <a:ext cx="794507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>
                <a:ea typeface="Calibri"/>
                <a:cs typeface="Calibri"/>
              </a:rPr>
              <a:t>Visita Mediada com EMEF Brigadeiro Faria Lima. Foto: Matheus </a:t>
            </a:r>
            <a:r>
              <a:rPr lang="pt-BR" dirty="0" err="1">
                <a:ea typeface="Calibri"/>
                <a:cs typeface="Calibri"/>
              </a:rPr>
              <a:t>Smapaio</a:t>
            </a:r>
            <a:endParaRPr lang="pt-BR" dirty="0" err="1"/>
          </a:p>
        </p:txBody>
      </p:sp>
      <p:pic>
        <p:nvPicPr>
          <p:cNvPr id="2" name="Imagem 1" descr="Grupo de pessoas posando para foto&#10;&#10;O conteúdo gerado por IA pode estar incorreto.">
            <a:extLst>
              <a:ext uri="{FF2B5EF4-FFF2-40B4-BE49-F238E27FC236}">
                <a16:creationId xmlns:a16="http://schemas.microsoft.com/office/drawing/2014/main" id="{84B1EB45-EC88-BD05-4BBF-343DDB58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6" y="2527103"/>
            <a:ext cx="10181060" cy="4596607"/>
          </a:xfrm>
          <a:prstGeom prst="rect">
            <a:avLst/>
          </a:prstGeom>
        </p:spPr>
      </p:pic>
      <p:pic>
        <p:nvPicPr>
          <p:cNvPr id="6" name="Imagem 5" descr="Grupo de pessoas posando para foto em quadra&#10;&#10;O conteúdo gerado por IA pode estar incorreto.">
            <a:extLst>
              <a:ext uri="{FF2B5EF4-FFF2-40B4-BE49-F238E27FC236}">
                <a16:creationId xmlns:a16="http://schemas.microsoft.com/office/drawing/2014/main" id="{DCEA5D4F-EB0C-BB8D-20D9-AD7864B38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3842" y="2536057"/>
            <a:ext cx="8415855" cy="4593096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1081C25-0DF8-DFB9-188B-1305057BCEA4}"/>
              </a:ext>
            </a:extLst>
          </p:cNvPr>
          <p:cNvSpPr txBox="1"/>
          <p:nvPr/>
        </p:nvSpPr>
        <p:spPr>
          <a:xfrm>
            <a:off x="10552502" y="7363480"/>
            <a:ext cx="7735498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/>
              <a:t>Oficina Tom sobre Tom com as educadoras </a:t>
            </a:r>
            <a:r>
              <a:rPr lang="pt-BR" dirty="0" err="1"/>
              <a:t>Nathelia</a:t>
            </a:r>
            <a:r>
              <a:rPr lang="pt-BR" dirty="0"/>
              <a:t> Motta,, Mariana </a:t>
            </a:r>
            <a:r>
              <a:rPr lang="pt-BR" dirty="0" err="1"/>
              <a:t>Guimarãoes</a:t>
            </a:r>
            <a:r>
              <a:rPr lang="pt-BR" dirty="0"/>
              <a:t> e Luma </a:t>
            </a:r>
            <a:r>
              <a:rPr lang="pt-BR" dirty="0" err="1"/>
              <a:t>Desmondes</a:t>
            </a:r>
            <a:r>
              <a:rPr lang="pt-BR" dirty="0"/>
              <a:t>. Foto Matheus Sampaio</a:t>
            </a:r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0406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078B6-8BFD-D9C1-2853-5A36DCC4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CEE9A88C-E5AB-BFAC-AE70-0DD7FA7B3F80}"/>
              </a:ext>
            </a:extLst>
          </p:cNvPr>
          <p:cNvSpPr/>
          <p:nvPr/>
        </p:nvSpPr>
        <p:spPr>
          <a:xfrm>
            <a:off x="-1198" y="11382"/>
            <a:ext cx="18480896" cy="102983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6701DC7-DF15-38C6-06BF-63EA819EE8D4}"/>
              </a:ext>
            </a:extLst>
          </p:cNvPr>
          <p:cNvSpPr/>
          <p:nvPr/>
        </p:nvSpPr>
        <p:spPr>
          <a:xfrm>
            <a:off x="0" y="8724910"/>
            <a:ext cx="18288000" cy="80949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85499EDC-E752-8A1F-9CFD-86AD814CB5CD}"/>
              </a:ext>
            </a:extLst>
          </p:cNvPr>
          <p:cNvSpPr/>
          <p:nvPr/>
        </p:nvSpPr>
        <p:spPr>
          <a:xfrm>
            <a:off x="0" y="9334500"/>
            <a:ext cx="18288000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FB028F-DD5B-A5DB-2613-C9D9135DB747}"/>
              </a:ext>
            </a:extLst>
          </p:cNvPr>
          <p:cNvSpPr txBox="1"/>
          <p:nvPr/>
        </p:nvSpPr>
        <p:spPr>
          <a:xfrm>
            <a:off x="609600" y="570086"/>
            <a:ext cx="7203393" cy="76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Registros</a:t>
            </a:r>
            <a:r>
              <a:rPr lang="en-US" sz="5808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</a:p>
        </p:txBody>
      </p:sp>
      <p:pic>
        <p:nvPicPr>
          <p:cNvPr id="9" name="Imagem 8" descr="Grupo de pessoas em pé&#10;&#10;O conteúdo gerado por IA pode estar incorreto.">
            <a:extLst>
              <a:ext uri="{FF2B5EF4-FFF2-40B4-BE49-F238E27FC236}">
                <a16:creationId xmlns:a16="http://schemas.microsoft.com/office/drawing/2014/main" id="{D6695114-A38B-362D-ABE6-5FC33D96B4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8" y="2477654"/>
            <a:ext cx="9013372" cy="5055774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10EF33-9491-3714-AD05-18D523A8972E}"/>
              </a:ext>
            </a:extLst>
          </p:cNvPr>
          <p:cNvSpPr txBox="1"/>
          <p:nvPr/>
        </p:nvSpPr>
        <p:spPr>
          <a:xfrm>
            <a:off x="10552502" y="7809346"/>
            <a:ext cx="773549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/>
              <a:t>Visita temática e oficina com educadora Anna Liz. Foto: Renan </a:t>
            </a:r>
            <a:r>
              <a:rPr lang="pt-BR" dirty="0" err="1"/>
              <a:t>Cantuário</a:t>
            </a:r>
            <a:r>
              <a:rPr lang="pt-BR" dirty="0"/>
              <a:t> </a:t>
            </a:r>
            <a:endParaRPr lang="pt-BR" dirty="0">
              <a:ea typeface="Calibri"/>
              <a:cs typeface="Calibri"/>
            </a:endParaRPr>
          </a:p>
        </p:txBody>
      </p:sp>
      <p:pic>
        <p:nvPicPr>
          <p:cNvPr id="13" name="Imagem 12" descr="Grupo de pessoas sentadas ao redor de uma mesa&#10;&#10;O conteúdo gerado por IA pode estar incorreto.">
            <a:extLst>
              <a:ext uri="{FF2B5EF4-FFF2-40B4-BE49-F238E27FC236}">
                <a16:creationId xmlns:a16="http://schemas.microsoft.com/office/drawing/2014/main" id="{9492040F-EBA2-7183-58FD-75AA1F0779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800" y="2477654"/>
            <a:ext cx="9235806" cy="50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66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B2C8-D8D1-92DF-CA1E-957FC073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7CA6C27C-1289-5951-3F02-F441C7598A35}"/>
              </a:ext>
            </a:extLst>
          </p:cNvPr>
          <p:cNvSpPr/>
          <p:nvPr/>
        </p:nvSpPr>
        <p:spPr>
          <a:xfrm>
            <a:off x="-389016" y="-16824"/>
            <a:ext cx="18677015" cy="10298381"/>
          </a:xfrm>
          <a:prstGeom prst="rect">
            <a:avLst/>
          </a:prstGeom>
          <a:solidFill>
            <a:srgbClr val="FFE38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DEB7203-752B-6661-58B2-43BAAC4D3E4E}"/>
              </a:ext>
            </a:extLst>
          </p:cNvPr>
          <p:cNvSpPr/>
          <p:nvPr/>
        </p:nvSpPr>
        <p:spPr>
          <a:xfrm>
            <a:off x="-585133" y="8805859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743717D7-D385-528B-A43C-8FE6A9D441F0}"/>
              </a:ext>
            </a:extLst>
          </p:cNvPr>
          <p:cNvSpPr/>
          <p:nvPr/>
        </p:nvSpPr>
        <p:spPr>
          <a:xfrm>
            <a:off x="-585133" y="9334500"/>
            <a:ext cx="18873133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6A27B3E-BB47-740B-9B96-7EC6624BFB58}"/>
              </a:ext>
            </a:extLst>
          </p:cNvPr>
          <p:cNvSpPr txBox="1"/>
          <p:nvPr/>
        </p:nvSpPr>
        <p:spPr>
          <a:xfrm>
            <a:off x="-10886" y="188999"/>
            <a:ext cx="11468100" cy="700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808"/>
              </a:lnSpc>
            </a:pPr>
            <a:r>
              <a:rPr lang="en-US" sz="36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</a:t>
            </a:r>
            <a:r>
              <a:rPr lang="en-US" sz="36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memória</a:t>
            </a:r>
            <a:r>
              <a:rPr lang="en-US" sz="36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do </a:t>
            </a:r>
            <a:r>
              <a:rPr lang="en-US" sz="36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educativo</a:t>
            </a:r>
            <a:r>
              <a:rPr lang="en-US" sz="36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segue </a:t>
            </a:r>
            <a:r>
              <a:rPr lang="en-US" sz="36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na</a:t>
            </a:r>
            <a:r>
              <a:rPr lang="en-US" sz="3600" spc="-458" dirty="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 </a:t>
            </a:r>
            <a:r>
              <a:rPr lang="en-US" sz="3600" spc="-458" dirty="0" err="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unidade</a:t>
            </a:r>
            <a:endParaRPr lang="en-US" sz="3600" spc="-458" dirty="0">
              <a:solidFill>
                <a:srgbClr val="000000"/>
              </a:solidFill>
              <a:latin typeface="Archivo Black"/>
              <a:ea typeface="Archivo Black"/>
              <a:cs typeface="Archivo Black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36E8C9B-5484-BA14-1296-D8001BBCBF97}"/>
              </a:ext>
            </a:extLst>
          </p:cNvPr>
          <p:cNvSpPr txBox="1"/>
          <p:nvPr/>
        </p:nvSpPr>
        <p:spPr>
          <a:xfrm>
            <a:off x="423402" y="1287440"/>
            <a:ext cx="9919657" cy="79406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dirty="0">
                <a:latin typeface="Garet"/>
                <a:ea typeface="+mn-lt"/>
                <a:cs typeface="+mn-lt"/>
              </a:rPr>
              <a:t>Prezados(as), boa tarde. Esperamos que estejam bem!</a:t>
            </a:r>
            <a:endParaRPr lang="pt-BR" sz="2400" dirty="0">
              <a:latin typeface="Garet"/>
              <a:ea typeface="Calibri"/>
              <a:cs typeface="Calibri"/>
            </a:endParaRPr>
          </a:p>
          <a:p>
            <a:r>
              <a:rPr lang="pt-BR" sz="2400" dirty="0">
                <a:latin typeface="Garet"/>
                <a:ea typeface="+mn-lt"/>
                <a:cs typeface="+mn-lt"/>
              </a:rPr>
              <a:t>Gostaríamos de agradecer imensamente toda a parceria, apoio e dedicação na realização deste evento. Tivemos uma tarde tranquila e muito proveitosa por conta da atuação e organização impecável de todos(as) ali!</a:t>
            </a:r>
            <a:endParaRPr lang="pt-BR" sz="2400" dirty="0">
              <a:latin typeface="Garet"/>
              <a:ea typeface="Calibri"/>
              <a:cs typeface="Calibri"/>
            </a:endParaRPr>
          </a:p>
          <a:p>
            <a:r>
              <a:rPr lang="pt-BR" sz="2400" dirty="0">
                <a:latin typeface="Garet"/>
                <a:ea typeface="+mn-lt"/>
                <a:cs typeface="+mn-lt"/>
              </a:rPr>
              <a:t>Temos certeza que os(as) adolescentes aproveitaram bastante as atividades! Sentiram-se acolhidos(as) e à vontade, podendo usufruir de conteúdos tão importantes. Tivemos o retorno das avaliações dos(as) adolescentes que seguem anexo.</a:t>
            </a:r>
            <a:endParaRPr lang="pt-BR" sz="2400" dirty="0">
              <a:latin typeface="Garet"/>
              <a:ea typeface="Calibri"/>
              <a:cs typeface="Calibri"/>
            </a:endParaRPr>
          </a:p>
          <a:p>
            <a:r>
              <a:rPr lang="pt-BR" sz="2400" dirty="0">
                <a:latin typeface="Garet"/>
                <a:ea typeface="+mn-lt"/>
                <a:cs typeface="+mn-lt"/>
              </a:rPr>
              <a:t>Mais uma vez agradecemos o empenho de todos(as), e esperamos continuar oportunizando experiências potentes para os(as) jovens dos Centros.</a:t>
            </a:r>
            <a:endParaRPr lang="pt-BR" sz="2400" dirty="0">
              <a:latin typeface="Garet"/>
              <a:ea typeface="Calibri"/>
              <a:cs typeface="Calibri"/>
            </a:endParaRPr>
          </a:p>
          <a:p>
            <a:r>
              <a:rPr lang="pt-BR" sz="2400" dirty="0">
                <a:latin typeface="Garet"/>
                <a:ea typeface="+mn-lt"/>
                <a:cs typeface="+mn-lt"/>
              </a:rPr>
              <a:t>Atenciosamente,</a:t>
            </a:r>
          </a:p>
          <a:p>
            <a:endParaRPr lang="pt-BR" sz="2400" dirty="0">
              <a:latin typeface="Garet"/>
              <a:ea typeface="Calibri"/>
              <a:cs typeface="Calibri"/>
            </a:endParaRPr>
          </a:p>
          <a:p>
            <a:r>
              <a:rPr lang="pt-BR" sz="2400" b="1" dirty="0">
                <a:latin typeface="Garet"/>
                <a:ea typeface="+mn-lt"/>
                <a:cs typeface="+mn-lt"/>
              </a:rPr>
              <a:t>LARISSA TURBIANI SANTANA</a:t>
            </a:r>
            <a:endParaRPr lang="pt-BR" sz="2400" b="1" dirty="0">
              <a:latin typeface="Garet"/>
              <a:ea typeface="Calibri"/>
              <a:cs typeface="Calibri"/>
            </a:endParaRPr>
          </a:p>
          <a:p>
            <a:r>
              <a:rPr lang="pt-BR" sz="2400" dirty="0">
                <a:latin typeface="Garet"/>
                <a:ea typeface="+mn-lt"/>
                <a:cs typeface="+mn-lt"/>
              </a:rPr>
              <a:t>Supervisora de Desenvolvimento Social - Regional São Paulo da Santa Marcelina Cultura, quando da visita do Projeto Entre Polos - Guri e Fundação Casa</a:t>
            </a:r>
            <a:endParaRPr lang="pt-BR" sz="2400" dirty="0">
              <a:latin typeface="Garet"/>
              <a:ea typeface="Calibri"/>
              <a:cs typeface="Calibri"/>
            </a:endParaRPr>
          </a:p>
          <a:p>
            <a:br>
              <a:rPr lang="pt-BR" dirty="0"/>
            </a:br>
            <a:br>
              <a:rPr lang="pt-BR" dirty="0"/>
            </a:br>
            <a:endParaRPr lang="pt-BR" dirty="0"/>
          </a:p>
        </p:txBody>
      </p:sp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4380AA19-D2A9-DA84-A1CF-C98470D41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844" y="1414639"/>
            <a:ext cx="7637251" cy="803173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1E3366B7-1214-81F9-A342-5CF397DBCFB7}"/>
              </a:ext>
            </a:extLst>
          </p:cNvPr>
          <p:cNvSpPr txBox="1"/>
          <p:nvPr/>
        </p:nvSpPr>
        <p:spPr>
          <a:xfrm>
            <a:off x="10289711" y="9526023"/>
            <a:ext cx="7735498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dirty="0"/>
              <a:t>Carta após o encontro de uma das jovens que participaram da visita</a:t>
            </a:r>
            <a:endParaRPr lang="pt-BR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92085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8883-5E3E-6EC0-F421-D25AE086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149CACB-0681-BE26-5AAE-0C7C8AD92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20" y="239102"/>
            <a:ext cx="4010585" cy="4020111"/>
          </a:xfrm>
          <a:prstGeom prst="rect">
            <a:avLst/>
          </a:prstGeom>
        </p:spPr>
      </p:pic>
      <p:pic>
        <p:nvPicPr>
          <p:cNvPr id="15" name="Imagem 14" descr="Texto&#10;&#10;O conteúdo gerado por IA pode estar incorreto.">
            <a:extLst>
              <a:ext uri="{FF2B5EF4-FFF2-40B4-BE49-F238E27FC236}">
                <a16:creationId xmlns:a16="http://schemas.microsoft.com/office/drawing/2014/main" id="{57CF8A80-9220-3D29-F572-4C880CD0C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4266833"/>
            <a:ext cx="3943900" cy="2629267"/>
          </a:xfrm>
          <a:prstGeom prst="rect">
            <a:avLst/>
          </a:prstGeom>
        </p:spPr>
      </p:pic>
      <p:pic>
        <p:nvPicPr>
          <p:cNvPr id="17" name="Imagem 16" descr="Tabela&#10;&#10;O conteúdo gerado por IA pode estar incorreto.">
            <a:extLst>
              <a:ext uri="{FF2B5EF4-FFF2-40B4-BE49-F238E27FC236}">
                <a16:creationId xmlns:a16="http://schemas.microsoft.com/office/drawing/2014/main" id="{27F191E4-ACBF-FB11-59AB-B515B2AFE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3183" y="7124700"/>
            <a:ext cx="4001058" cy="2638793"/>
          </a:xfrm>
          <a:prstGeom prst="rect">
            <a:avLst/>
          </a:prstGeom>
        </p:spPr>
      </p:pic>
      <p:pic>
        <p:nvPicPr>
          <p:cNvPr id="19" name="Imagem 18" descr="Jornal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FBB29C9-7154-FFB5-4E8A-2D05E27B28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6220" y="532511"/>
            <a:ext cx="8002117" cy="5048955"/>
          </a:xfrm>
          <a:prstGeom prst="rect">
            <a:avLst/>
          </a:prstGeom>
        </p:spPr>
      </p:pic>
      <p:pic>
        <p:nvPicPr>
          <p:cNvPr id="21" name="Imagem 20" descr="Tabela&#10;&#10;O conteúdo gerado por IA pode estar incorreto.">
            <a:extLst>
              <a:ext uri="{FF2B5EF4-FFF2-40B4-BE49-F238E27FC236}">
                <a16:creationId xmlns:a16="http://schemas.microsoft.com/office/drawing/2014/main" id="{4E75DA5B-C7D0-92DA-1135-0F3B33EAB8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6219" y="5657645"/>
            <a:ext cx="8002117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727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F4AA543F6DF343AE125287C7372420" ma:contentTypeVersion="19" ma:contentTypeDescription="Crie um novo documento." ma:contentTypeScope="" ma:versionID="5c156ee47157b23bbb4d74133864e0c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e2d2199643eb1e463aea5ecf1739fc3c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Props1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185959-0576-4E2E-A813-893D930F0884}"/>
</file>

<file path=customXml/itemProps3.xml><?xml version="1.0" encoding="utf-8"?>
<ds:datastoreItem xmlns:ds="http://schemas.openxmlformats.org/officeDocument/2006/customXml" ds:itemID="{C4216E51-BF42-4DF3-BB5F-F92C4A17FB27}">
  <ds:schemaRefs>
    <ds:schemaRef ds:uri="http://purl.org/dc/elements/1.1/"/>
    <ds:schemaRef ds:uri="http://purl.org/dc/dcmitype/"/>
    <ds:schemaRef ds:uri="0c3ae786-5e4f-419c-8a3f-0eb5f2beec71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2f0f1dc7-e081-4ee5-8ddc-4eb9cb678d23"/>
    <ds:schemaRef ds:uri="http://purl.org/dc/terms/"/>
    <ds:schemaRef ds:uri="953a04f7-83b9-4262-8516-ada24bfe691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1230</TotalTime>
  <Words>708</Words>
  <Application>Microsoft Office PowerPoint</Application>
  <PresentationFormat>Personalizar</PresentationFormat>
  <Paragraphs>134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Garet</vt:lpstr>
      <vt:lpstr>Aptos</vt:lpstr>
      <vt:lpstr>Garet Bold</vt:lpstr>
      <vt:lpstr>Calibri</vt:lpstr>
      <vt:lpstr>Archivo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Priscila Lourencao</dc:creator>
  <cp:lastModifiedBy>Priscila Lourencao</cp:lastModifiedBy>
  <cp:revision>631</cp:revision>
  <dcterms:created xsi:type="dcterms:W3CDTF">2006-08-16T00:00:00Z</dcterms:created>
  <dcterms:modified xsi:type="dcterms:W3CDTF">2026-03-03T15:54:39Z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</Properties>
</file>
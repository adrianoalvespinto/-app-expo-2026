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7"/>
  </p:notesMasterIdLst>
  <p:sldIdLst>
    <p:sldId id="256" r:id="rId5"/>
    <p:sldId id="257" r:id="rId6"/>
    <p:sldId id="259" r:id="rId7"/>
    <p:sldId id="278" r:id="rId8"/>
    <p:sldId id="265" r:id="rId9"/>
    <p:sldId id="273" r:id="rId10"/>
    <p:sldId id="258" r:id="rId11"/>
    <p:sldId id="275" r:id="rId12"/>
    <p:sldId id="279" r:id="rId13"/>
    <p:sldId id="271" r:id="rId14"/>
    <p:sldId id="280" r:id="rId15"/>
    <p:sldId id="283" r:id="rId16"/>
  </p:sldIdLst>
  <p:sldSz cx="18288000" cy="10287000"/>
  <p:notesSz cx="6858000" cy="9144000"/>
  <p:embeddedFontLst>
    <p:embeddedFont>
      <p:font typeface="Archivo Black" panose="020B0604020202020204" charset="0"/>
      <p:regular r:id="rId18"/>
    </p:embeddedFont>
    <p:embeddedFont>
      <p:font typeface="Garet" panose="020B0604020202020204" charset="0"/>
      <p:regular r:id="rId19"/>
    </p:embeddedFont>
    <p:embeddedFont>
      <p:font typeface="Garet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1236" y="27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ardo Leme Bueno" userId="4245579418185382" providerId="LiveId" clId="{2954AF56-23A9-48AB-99AF-0508328247A0}"/>
    <pc:docChg chg="modSld">
      <pc:chgData name="Leonardo Leme Bueno" userId="4245579418185382" providerId="LiveId" clId="{2954AF56-23A9-48AB-99AF-0508328247A0}" dt="2026-02-19T04:04:38.767" v="1" actId="20577"/>
      <pc:docMkLst>
        <pc:docMk/>
      </pc:docMkLst>
      <pc:sldChg chg="modSp mod">
        <pc:chgData name="Leonardo Leme Bueno" userId="4245579418185382" providerId="LiveId" clId="{2954AF56-23A9-48AB-99AF-0508328247A0}" dt="2026-02-19T04:04:38.767" v="1" actId="20577"/>
        <pc:sldMkLst>
          <pc:docMk/>
          <pc:sldMk cId="0" sldId="256"/>
        </pc:sldMkLst>
        <pc:spChg chg="mod">
          <ac:chgData name="Leonardo Leme Bueno" userId="4245579418185382" providerId="LiveId" clId="{2954AF56-23A9-48AB-99AF-0508328247A0}" dt="2026-02-19T04:04:38.767" v="1" actId="20577"/>
          <ac:spMkLst>
            <pc:docMk/>
            <pc:sldMk cId="0" sldId="256"/>
            <ac:spMk id="11"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stacked"/>
        <c:varyColors val="0"/>
        <c:ser>
          <c:idx val="0"/>
          <c:order val="0"/>
          <c:tx>
            <c:strRef>
              <c:f>Planilha1!$B$1</c:f>
              <c:strCache>
                <c:ptCount val="1"/>
                <c:pt idx="0">
                  <c:v>Série 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Planilha1!$A$2:$A$11</c:f>
              <c:strCache>
                <c:ptCount val="10"/>
                <c:pt idx="0">
                  <c:v>fevereiro</c:v>
                </c:pt>
                <c:pt idx="1">
                  <c:v>março</c:v>
                </c:pt>
                <c:pt idx="2">
                  <c:v>abril</c:v>
                </c:pt>
                <c:pt idx="3">
                  <c:v>maio</c:v>
                </c:pt>
                <c:pt idx="4">
                  <c:v>junho</c:v>
                </c:pt>
                <c:pt idx="5">
                  <c:v>julho</c:v>
                </c:pt>
                <c:pt idx="6">
                  <c:v>agosto</c:v>
                </c:pt>
                <c:pt idx="7">
                  <c:v>setembro</c:v>
                </c:pt>
                <c:pt idx="8">
                  <c:v>outubro</c:v>
                </c:pt>
                <c:pt idx="9">
                  <c:v>novembro</c:v>
                </c:pt>
              </c:strCache>
            </c:strRef>
          </c:cat>
          <c:val>
            <c:numRef>
              <c:f>Planilha1!$B$2:$B$11</c:f>
              <c:numCache>
                <c:formatCode>General</c:formatCode>
                <c:ptCount val="10"/>
                <c:pt idx="0">
                  <c:v>346</c:v>
                </c:pt>
                <c:pt idx="1">
                  <c:v>4940</c:v>
                </c:pt>
                <c:pt idx="2">
                  <c:v>7251</c:v>
                </c:pt>
                <c:pt idx="3">
                  <c:v>3948</c:v>
                </c:pt>
                <c:pt idx="4">
                  <c:v>2620</c:v>
                </c:pt>
                <c:pt idx="5">
                  <c:v>819</c:v>
                </c:pt>
                <c:pt idx="6">
                  <c:v>1604</c:v>
                </c:pt>
                <c:pt idx="7">
                  <c:v>1991</c:v>
                </c:pt>
                <c:pt idx="8">
                  <c:v>1578</c:v>
                </c:pt>
                <c:pt idx="9">
                  <c:v>110</c:v>
                </c:pt>
              </c:numCache>
            </c:numRef>
          </c:val>
          <c:extLst>
            <c:ext xmlns:c16="http://schemas.microsoft.com/office/drawing/2014/chart" uri="{C3380CC4-5D6E-409C-BE32-E72D297353CC}">
              <c16:uniqueId val="{00000000-FE0C-4415-8C53-828AF0FCC669}"/>
            </c:ext>
          </c:extLst>
        </c:ser>
        <c:dLbls>
          <c:showLegendKey val="0"/>
          <c:showVal val="1"/>
          <c:showCatName val="0"/>
          <c:showSerName val="0"/>
          <c:showPercent val="0"/>
          <c:showBubbleSize val="0"/>
        </c:dLbls>
        <c:gapWidth val="95"/>
        <c:overlap val="100"/>
        <c:axId val="758611048"/>
        <c:axId val="758607088"/>
      </c:barChart>
      <c:catAx>
        <c:axId val="758611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cap="all" spc="120" normalizeH="0" baseline="0">
                <a:solidFill>
                  <a:schemeClr val="tx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Planilha1!$B$1</c:f>
              <c:strCache>
                <c:ptCount val="1"/>
                <c:pt idx="0">
                  <c:v>Série 1</c:v>
                </c:pt>
              </c:strCache>
            </c:strRef>
          </c:tx>
          <c:spPr>
            <a:ln w="19050" cap="rnd" cmpd="sng" algn="ctr">
              <a:solidFill>
                <a:schemeClr val="dk1">
                  <a:tint val="88500"/>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anchor="ctr" anchorCtr="1"/>
              <a:lstStyle/>
              <a:p>
                <a:pPr>
                  <a:defRPr sz="2800" b="1" i="0" u="none" strike="noStrike" kern="1200" baseline="0">
                    <a:solidFill>
                      <a:schemeClr val="dk1">
                        <a:tint val="88500"/>
                      </a:schemeClr>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Planilha1!$A$2:$A$9</c:f>
              <c:strCache>
                <c:ptCount val="8"/>
                <c:pt idx="0">
                  <c:v>março</c:v>
                </c:pt>
                <c:pt idx="1">
                  <c:v>abril</c:v>
                </c:pt>
                <c:pt idx="2">
                  <c:v>maio</c:v>
                </c:pt>
                <c:pt idx="3">
                  <c:v>junho</c:v>
                </c:pt>
                <c:pt idx="4">
                  <c:v>julho</c:v>
                </c:pt>
                <c:pt idx="5">
                  <c:v>agosto</c:v>
                </c:pt>
                <c:pt idx="6">
                  <c:v>setembro</c:v>
                </c:pt>
                <c:pt idx="7">
                  <c:v>outubro</c:v>
                </c:pt>
              </c:strCache>
            </c:strRef>
          </c:cat>
          <c:val>
            <c:numRef>
              <c:f>Planilha1!$B$2:$B$9</c:f>
              <c:numCache>
                <c:formatCode>General</c:formatCode>
                <c:ptCount val="8"/>
                <c:pt idx="0">
                  <c:v>6</c:v>
                </c:pt>
                <c:pt idx="1">
                  <c:v>8</c:v>
                </c:pt>
                <c:pt idx="2">
                  <c:v>11</c:v>
                </c:pt>
                <c:pt idx="3">
                  <c:v>13</c:v>
                </c:pt>
                <c:pt idx="4">
                  <c:v>4</c:v>
                </c:pt>
                <c:pt idx="5">
                  <c:v>0</c:v>
                </c:pt>
                <c:pt idx="6">
                  <c:v>8</c:v>
                </c:pt>
                <c:pt idx="7">
                  <c:v>10</c:v>
                </c:pt>
              </c:numCache>
            </c:numRef>
          </c:val>
          <c:smooth val="0"/>
          <c:extLst>
            <c:ext xmlns:c16="http://schemas.microsoft.com/office/drawing/2014/chart" uri="{C3380CC4-5D6E-409C-BE32-E72D297353CC}">
              <c16:uniqueId val="{00000000-FE0C-4415-8C53-828AF0FCC669}"/>
            </c:ext>
          </c:extLst>
        </c:ser>
        <c:dLbls>
          <c:dLblPos val="ctr"/>
          <c:showLegendKey val="0"/>
          <c:showVal val="1"/>
          <c:showCatName val="0"/>
          <c:showSerName val="0"/>
          <c:showPercent val="0"/>
          <c:showBubbleSize val="0"/>
        </c:dLbls>
        <c:marker val="1"/>
        <c:smooth val="0"/>
        <c:axId val="758611048"/>
        <c:axId val="758607088"/>
      </c:lineChart>
      <c:catAx>
        <c:axId val="75861104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dk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sz="2800"/>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462A7-D93D-4585-8DF1-631315E49F5D}" type="datetimeFigureOut">
              <a:rPr lang="pt-BR" smtClean="0"/>
              <a:t>18/02/2026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58A87-E2C5-468E-BCE3-38A907ED00E2}" type="slidenum">
              <a:rPr lang="pt-BR" smtClean="0"/>
              <a:t>‹nº›</a:t>
            </a:fld>
            <a:endParaRPr lang="pt-BR"/>
          </a:p>
        </p:txBody>
      </p:sp>
    </p:spTree>
    <p:extLst>
      <p:ext uri="{BB962C8B-B14F-4D97-AF65-F5344CB8AC3E}">
        <p14:creationId xmlns:p14="http://schemas.microsoft.com/office/powerpoint/2010/main" val="172311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1.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5000">
              <a:srgbClr val="E48005">
                <a:alpha val="100000"/>
              </a:srgbClr>
            </a:gs>
            <a:gs pos="50000">
              <a:srgbClr val="8A3300">
                <a:alpha val="100000"/>
              </a:srgbClr>
            </a:gs>
            <a:gs pos="85000">
              <a:srgbClr val="14CC97">
                <a:alpha val="100000"/>
              </a:srgbClr>
            </a:gs>
          </a:gsLst>
          <a:lin ang="18900000"/>
        </a:gradFill>
        <a:effectLst/>
      </p:bgPr>
    </p:bg>
    <p:spTree>
      <p:nvGrpSpPr>
        <p:cNvPr id="1" name=""/>
        <p:cNvGrpSpPr/>
        <p:nvPr/>
      </p:nvGrpSpPr>
      <p:grpSpPr>
        <a:xfrm>
          <a:off x="0" y="0"/>
          <a:ext cx="0" cy="0"/>
          <a:chOff x="0" y="0"/>
          <a:chExt cx="0" cy="0"/>
        </a:xfrm>
      </p:grpSpPr>
      <p:sp>
        <p:nvSpPr>
          <p:cNvPr id="2" name="Freeform 2"/>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pt-BR"/>
          </a:p>
        </p:txBody>
      </p:sp>
      <p:sp>
        <p:nvSpPr>
          <p:cNvPr id="3" name="Freeform 3"/>
          <p:cNvSpPr/>
          <p:nvPr/>
        </p:nvSpPr>
        <p:spPr>
          <a:xfrm>
            <a:off x="487060" y="0"/>
            <a:ext cx="2646799" cy="2960595"/>
          </a:xfrm>
          <a:custGeom>
            <a:avLst/>
            <a:gdLst/>
            <a:ahLst/>
            <a:cxnLst/>
            <a:rect l="l" t="t" r="r" b="b"/>
            <a:pathLst>
              <a:path w="2646799" h="2960595">
                <a:moveTo>
                  <a:pt x="0" y="0"/>
                </a:moveTo>
                <a:lnTo>
                  <a:pt x="2646799" y="0"/>
                </a:lnTo>
                <a:lnTo>
                  <a:pt x="2646799" y="2960595"/>
                </a:lnTo>
                <a:lnTo>
                  <a:pt x="0" y="2960595"/>
                </a:lnTo>
                <a:lnTo>
                  <a:pt x="0" y="0"/>
                </a:lnTo>
                <a:close/>
              </a:path>
            </a:pathLst>
          </a:custGeom>
          <a:blipFill>
            <a:blip r:embed="rId4"/>
            <a:stretch>
              <a:fillRect/>
            </a:stretch>
          </a:blipFill>
        </p:spPr>
        <p:txBody>
          <a:bodyPr/>
          <a:lstStyle/>
          <a:p>
            <a:endParaRPr lang="pt-BR"/>
          </a:p>
        </p:txBody>
      </p:sp>
      <p:sp>
        <p:nvSpPr>
          <p:cNvPr id="4" name="TextBox 4"/>
          <p:cNvSpPr txBox="1"/>
          <p:nvPr/>
        </p:nvSpPr>
        <p:spPr>
          <a:xfrm>
            <a:off x="7885470" y="6965576"/>
            <a:ext cx="9373830" cy="370917"/>
          </a:xfrm>
          <a:prstGeom prst="rect">
            <a:avLst/>
          </a:prstGeom>
        </p:spPr>
        <p:txBody>
          <a:bodyPr lIns="0" tIns="0" rIns="0" bIns="0" rtlCol="0" anchor="t">
            <a:spAutoFit/>
          </a:bodyPr>
          <a:lstStyle/>
          <a:p>
            <a:pPr marL="0" lvl="0" indent="0" algn="r">
              <a:lnSpc>
                <a:spcPts val="2748"/>
              </a:lnSpc>
              <a:spcBef>
                <a:spcPct val="0"/>
              </a:spcBef>
            </a:pPr>
            <a:r>
              <a:rPr lang="en-US" sz="2748" spc="-217" dirty="0" err="1">
                <a:solidFill>
                  <a:schemeClr val="bg1"/>
                </a:solidFill>
                <a:latin typeface="Garet" panose="020B0604020202020204" charset="0"/>
                <a:ea typeface="Archivo Black"/>
                <a:cs typeface="Archivo Black"/>
                <a:sym typeface="Archivo Black"/>
              </a:rPr>
              <a:t>Exposição</a:t>
            </a:r>
            <a:r>
              <a:rPr lang="en-US" sz="2748" spc="-217" dirty="0">
                <a:solidFill>
                  <a:schemeClr val="bg1"/>
                </a:solidFill>
                <a:latin typeface="Garet" panose="020B0604020202020204" charset="0"/>
                <a:ea typeface="Archivo Black"/>
                <a:cs typeface="Archivo Black"/>
                <a:sym typeface="Archivo Black"/>
              </a:rPr>
              <a:t> | </a:t>
            </a:r>
            <a:r>
              <a:rPr lang="en-US" sz="2748" spc="-217" dirty="0" err="1">
                <a:solidFill>
                  <a:schemeClr val="bg1"/>
                </a:solidFill>
                <a:latin typeface="Garet" panose="020B0604020202020204" charset="0"/>
                <a:ea typeface="Archivo Black"/>
                <a:cs typeface="Archivo Black"/>
                <a:sym typeface="Archivo Black"/>
              </a:rPr>
              <a:t>Sesc</a:t>
            </a:r>
            <a:r>
              <a:rPr lang="en-US" sz="2748" spc="-217" dirty="0">
                <a:solidFill>
                  <a:schemeClr val="bg1"/>
                </a:solidFill>
                <a:latin typeface="Garet" panose="020B0604020202020204" charset="0"/>
                <a:ea typeface="Archivo Black"/>
                <a:cs typeface="Archivo Black"/>
                <a:sym typeface="Archivo Black"/>
              </a:rPr>
              <a:t> Pompeia</a:t>
            </a:r>
          </a:p>
        </p:txBody>
      </p:sp>
      <p:sp>
        <p:nvSpPr>
          <p:cNvPr id="5" name="TextBox 5"/>
          <p:cNvSpPr txBox="1"/>
          <p:nvPr/>
        </p:nvSpPr>
        <p:spPr>
          <a:xfrm>
            <a:off x="1028700" y="8400997"/>
            <a:ext cx="4686300" cy="518732"/>
          </a:xfrm>
          <a:prstGeom prst="rect">
            <a:avLst/>
          </a:prstGeom>
        </p:spPr>
        <p:txBody>
          <a:bodyPr wrap="square" lIns="0" tIns="0" rIns="0" bIns="0" rtlCol="0" anchor="t">
            <a:spAutoFit/>
          </a:bodyPr>
          <a:lstStyle/>
          <a:p>
            <a:pPr algn="l">
              <a:lnSpc>
                <a:spcPts val="1915"/>
              </a:lnSpc>
            </a:pPr>
            <a:r>
              <a:rPr lang="en-US" sz="2400" b="1" dirty="0">
                <a:solidFill>
                  <a:srgbClr val="2B2B2B"/>
                </a:solidFill>
                <a:latin typeface="Garet Bold"/>
                <a:ea typeface="Garet Bold"/>
                <a:cs typeface="Garet Bold"/>
                <a:sym typeface="Garet Bold"/>
              </a:rPr>
              <a:t>25 DE FEVEREIRO A </a:t>
            </a:r>
          </a:p>
          <a:p>
            <a:pPr marL="0" lvl="0" indent="0" algn="l">
              <a:lnSpc>
                <a:spcPts val="1915"/>
              </a:lnSpc>
              <a:spcBef>
                <a:spcPct val="0"/>
              </a:spcBef>
            </a:pPr>
            <a:r>
              <a:rPr lang="en-US" sz="2400" b="1" dirty="0">
                <a:solidFill>
                  <a:srgbClr val="2B2B2B"/>
                </a:solidFill>
                <a:latin typeface="Garet Bold"/>
                <a:ea typeface="Garet Bold"/>
                <a:cs typeface="Garet Bold"/>
                <a:sym typeface="Garet Bold"/>
              </a:rPr>
              <a:t>02 DE NOVEMBRO DE 2025</a:t>
            </a:r>
          </a:p>
        </p:txBody>
      </p:sp>
      <p:sp>
        <p:nvSpPr>
          <p:cNvPr id="10" name="TextBox 10"/>
          <p:cNvSpPr txBox="1"/>
          <p:nvPr/>
        </p:nvSpPr>
        <p:spPr>
          <a:xfrm>
            <a:off x="12088760" y="954405"/>
            <a:ext cx="5170540" cy="365760"/>
          </a:xfrm>
          <a:prstGeom prst="rect">
            <a:avLst/>
          </a:prstGeom>
        </p:spPr>
        <p:txBody>
          <a:bodyPr lIns="0" tIns="0" rIns="0" bIns="0" rtlCol="0" anchor="t">
            <a:spAutoFit/>
          </a:bodyPr>
          <a:lstStyle/>
          <a:p>
            <a:pPr algn="r">
              <a:lnSpc>
                <a:spcPts val="2939"/>
              </a:lnSpc>
              <a:spcBef>
                <a:spcPct val="0"/>
              </a:spcBef>
            </a:pPr>
            <a:r>
              <a:rPr lang="en-US" sz="2099" b="1" dirty="0" err="1">
                <a:solidFill>
                  <a:schemeClr val="bg1"/>
                </a:solidFill>
                <a:latin typeface="Garet"/>
                <a:ea typeface="Garet"/>
                <a:cs typeface="Garet"/>
                <a:sym typeface="Garet"/>
              </a:rPr>
              <a:t>Relatório</a:t>
            </a:r>
            <a:r>
              <a:rPr lang="en-US" sz="2099" b="1" dirty="0">
                <a:solidFill>
                  <a:schemeClr val="bg1"/>
                </a:solidFill>
                <a:latin typeface="Garet"/>
                <a:ea typeface="Garet"/>
                <a:cs typeface="Garet"/>
                <a:sym typeface="Garet"/>
              </a:rPr>
              <a:t> </a:t>
            </a:r>
            <a:r>
              <a:rPr lang="en-US" sz="2099" b="1" dirty="0" err="1">
                <a:solidFill>
                  <a:schemeClr val="bg1"/>
                </a:solidFill>
                <a:latin typeface="Garet"/>
                <a:ea typeface="Garet"/>
                <a:cs typeface="Garet"/>
                <a:sym typeface="Garet"/>
              </a:rPr>
              <a:t>geral</a:t>
            </a:r>
            <a:r>
              <a:rPr lang="en-US" sz="2099" b="1" dirty="0">
                <a:solidFill>
                  <a:schemeClr val="bg1"/>
                </a:solidFill>
                <a:latin typeface="Garet"/>
                <a:ea typeface="Garet"/>
                <a:cs typeface="Garet"/>
                <a:sym typeface="Garet"/>
              </a:rPr>
              <a:t> </a:t>
            </a:r>
          </a:p>
        </p:txBody>
      </p:sp>
      <p:sp>
        <p:nvSpPr>
          <p:cNvPr id="11" name="TextBox 11"/>
          <p:cNvSpPr txBox="1"/>
          <p:nvPr/>
        </p:nvSpPr>
        <p:spPr>
          <a:xfrm>
            <a:off x="5334000" y="2767344"/>
            <a:ext cx="11671099" cy="2894831"/>
          </a:xfrm>
          <a:prstGeom prst="rect">
            <a:avLst/>
          </a:prstGeom>
        </p:spPr>
        <p:txBody>
          <a:bodyPr wrap="square" lIns="0" tIns="0" rIns="0" bIns="0" rtlCol="0" anchor="t">
            <a:spAutoFit/>
          </a:bodyPr>
          <a:lstStyle/>
          <a:p>
            <a:pPr marL="0" lvl="0" indent="0" algn="r">
              <a:lnSpc>
                <a:spcPts val="7211"/>
              </a:lnSpc>
              <a:spcBef>
                <a:spcPct val="0"/>
              </a:spcBef>
            </a:pPr>
            <a:r>
              <a:rPr lang="pt-BR" sz="9245" spc="-730" dirty="0">
                <a:solidFill>
                  <a:schemeClr val="bg1"/>
                </a:solidFill>
                <a:latin typeface="Garet Bold" panose="020B0604020202020204" charset="0"/>
                <a:ea typeface="Archivo Black"/>
                <a:cs typeface="Archivo Black"/>
                <a:sym typeface="Archivo Black"/>
              </a:rPr>
              <a:t>Ofício: Barro: </a:t>
            </a:r>
          </a:p>
          <a:p>
            <a:pPr marL="0" lvl="0" indent="0" algn="r">
              <a:lnSpc>
                <a:spcPts val="7211"/>
              </a:lnSpc>
              <a:spcBef>
                <a:spcPct val="0"/>
              </a:spcBef>
            </a:pPr>
            <a:r>
              <a:rPr lang="pt-BR" sz="9245" spc="-730" dirty="0" err="1">
                <a:solidFill>
                  <a:schemeClr val="bg1"/>
                </a:solidFill>
                <a:latin typeface="Garet Bold" panose="020B0604020202020204" charset="0"/>
                <a:ea typeface="Archivo Black"/>
                <a:cs typeface="Archivo Black"/>
                <a:sym typeface="Archivo Black"/>
              </a:rPr>
              <a:t>Sallisa</a:t>
            </a:r>
            <a:r>
              <a:rPr lang="pt-BR" sz="9245" spc="-730" dirty="0">
                <a:solidFill>
                  <a:schemeClr val="bg1"/>
                </a:solidFill>
                <a:latin typeface="Garet Bold" panose="020B0604020202020204" charset="0"/>
                <a:ea typeface="Archivo Black"/>
                <a:cs typeface="Archivo Black"/>
                <a:sym typeface="Archivo Black"/>
              </a:rPr>
              <a:t> Rosa</a:t>
            </a:r>
            <a:r>
              <a:rPr lang="pt-BR" sz="9245" spc="-730">
                <a:solidFill>
                  <a:schemeClr val="bg1"/>
                </a:solidFill>
                <a:latin typeface="Garet Bold" panose="020B0604020202020204" charset="0"/>
                <a:ea typeface="Archivo Black"/>
                <a:cs typeface="Archivo Black"/>
                <a:sym typeface="Archivo Black"/>
              </a:rPr>
              <a:t>: </a:t>
            </a:r>
          </a:p>
          <a:p>
            <a:pPr marL="0" lvl="0" indent="0" algn="r">
              <a:lnSpc>
                <a:spcPts val="7211"/>
              </a:lnSpc>
              <a:spcBef>
                <a:spcPct val="0"/>
              </a:spcBef>
            </a:pPr>
            <a:r>
              <a:rPr lang="pt-BR" sz="9245" spc="-730">
                <a:solidFill>
                  <a:schemeClr val="bg1"/>
                </a:solidFill>
                <a:latin typeface="Garet Bold" panose="020B0604020202020204" charset="0"/>
                <a:ea typeface="Archivo Black"/>
                <a:cs typeface="Archivo Black"/>
                <a:sym typeface="Archivo Black"/>
              </a:rPr>
              <a:t>Eixo </a:t>
            </a:r>
            <a:r>
              <a:rPr lang="pt-BR" sz="9245" spc="-730" dirty="0">
                <a:solidFill>
                  <a:schemeClr val="bg1"/>
                </a:solidFill>
                <a:latin typeface="Garet Bold" panose="020B0604020202020204" charset="0"/>
                <a:ea typeface="Archivo Black"/>
                <a:cs typeface="Archivo Black"/>
                <a:sym typeface="Archivo Black"/>
              </a:rPr>
              <a:t>Terra</a:t>
            </a:r>
            <a:endParaRPr lang="en-US" sz="9245" spc="-730" dirty="0">
              <a:solidFill>
                <a:schemeClr val="bg1"/>
              </a:solidFill>
              <a:latin typeface="Garet Bold" panose="020B0604020202020204" charset="0"/>
              <a:ea typeface="Archivo Black"/>
              <a:cs typeface="Archivo Black"/>
              <a:sym typeface="Archiv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5" name="Freeform 5"/>
          <p:cNvSpPr/>
          <p:nvPr/>
        </p:nvSpPr>
        <p:spPr>
          <a:xfrm rot="-10800000">
            <a:off x="11159450" y="-140976"/>
            <a:ext cx="2611028" cy="41148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6" name="TextBox 6"/>
          <p:cNvSpPr txBox="1"/>
          <p:nvPr/>
        </p:nvSpPr>
        <p:spPr>
          <a:xfrm>
            <a:off x="1028700" y="1557564"/>
            <a:ext cx="7279037" cy="781240"/>
          </a:xfrm>
          <a:prstGeom prst="rect">
            <a:avLst/>
          </a:prstGeom>
        </p:spPr>
        <p:txBody>
          <a:bodyPr lIns="0" tIns="0" rIns="0" bIns="0" rtlCol="0" anchor="t">
            <a:spAutoFit/>
          </a:bodyPr>
          <a:lstStyle/>
          <a:p>
            <a:pPr marL="0" lvl="0" indent="0" algn="l">
              <a:lnSpc>
                <a:spcPts val="5808"/>
              </a:lnSpc>
              <a:spcBef>
                <a:spcPct val="0"/>
              </a:spcBef>
            </a:pPr>
            <a:r>
              <a:rPr lang="en-US" sz="5808" spc="-458" dirty="0" err="1">
                <a:solidFill>
                  <a:srgbClr val="000000"/>
                </a:solidFill>
                <a:latin typeface="Garet Bold" panose="020B0604020202020204" charset="0"/>
                <a:ea typeface="Archivo Black"/>
                <a:cs typeface="Archivo Black"/>
                <a:sym typeface="Archivo Black"/>
              </a:rPr>
              <a:t>Destaques</a:t>
            </a:r>
            <a:endParaRPr lang="en-US" sz="5808" spc="-458" dirty="0">
              <a:solidFill>
                <a:srgbClr val="000000"/>
              </a:solidFill>
              <a:latin typeface="Garet Bold" panose="020B0604020202020204" charset="0"/>
              <a:ea typeface="Archivo Black"/>
              <a:cs typeface="Archivo Black"/>
              <a:sym typeface="Archivo Black"/>
            </a:endParaRPr>
          </a:p>
        </p:txBody>
      </p:sp>
      <p:sp>
        <p:nvSpPr>
          <p:cNvPr id="9" name="TextBox 9"/>
          <p:cNvSpPr txBox="1"/>
          <p:nvPr/>
        </p:nvSpPr>
        <p:spPr>
          <a:xfrm>
            <a:off x="916140" y="5506011"/>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133.103</a:t>
            </a:r>
          </a:p>
        </p:txBody>
      </p:sp>
      <p:sp>
        <p:nvSpPr>
          <p:cNvPr id="10" name="TextBox 10"/>
          <p:cNvSpPr txBox="1"/>
          <p:nvPr/>
        </p:nvSpPr>
        <p:spPr>
          <a:xfrm>
            <a:off x="6495750" y="5506012"/>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28.109</a:t>
            </a:r>
          </a:p>
        </p:txBody>
      </p:sp>
      <p:sp>
        <p:nvSpPr>
          <p:cNvPr id="11" name="TextBox 11"/>
          <p:cNvSpPr txBox="1"/>
          <p:nvPr/>
        </p:nvSpPr>
        <p:spPr>
          <a:xfrm>
            <a:off x="292055" y="6124228"/>
            <a:ext cx="5177335" cy="1050900"/>
          </a:xfrm>
          <a:prstGeom prst="rect">
            <a:avLst/>
          </a:prstGeom>
        </p:spPr>
        <p:txBody>
          <a:bodyPr lIns="0" tIns="0" rIns="0" bIns="0" rtlCol="0" anchor="t">
            <a:spAutoFit/>
          </a:bodyPr>
          <a:lstStyle/>
          <a:p>
            <a:pPr algn="ctr">
              <a:lnSpc>
                <a:spcPts val="4295"/>
              </a:lnSpc>
            </a:pPr>
            <a:r>
              <a:rPr lang="en-US" sz="3068" dirty="0" err="1">
                <a:solidFill>
                  <a:srgbClr val="000000"/>
                </a:solidFill>
                <a:latin typeface="Garet"/>
                <a:ea typeface="Garet"/>
                <a:cs typeface="Garet"/>
                <a:sym typeface="Garet"/>
              </a:rPr>
              <a:t>presenças</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toda</a:t>
            </a:r>
            <a:r>
              <a:rPr lang="en-US" sz="3068" dirty="0">
                <a:solidFill>
                  <a:srgbClr val="000000"/>
                </a:solidFill>
                <a:latin typeface="Garet"/>
                <a:ea typeface="Garet"/>
                <a:cs typeface="Garet"/>
                <a:sym typeface="Garet"/>
              </a:rPr>
              <a:t> </a:t>
            </a:r>
          </a:p>
          <a:p>
            <a:pPr marL="0" lvl="0" indent="0" algn="ctr">
              <a:lnSpc>
                <a:spcPts val="4295"/>
              </a:lnSpc>
              <a:spcBef>
                <a:spcPct val="0"/>
              </a:spcBef>
            </a:pPr>
            <a:r>
              <a:rPr lang="en-US" sz="3068" dirty="0" err="1">
                <a:solidFill>
                  <a:srgbClr val="000000"/>
                </a:solidFill>
                <a:latin typeface="Garet"/>
                <a:ea typeface="Garet"/>
                <a:cs typeface="Garet"/>
                <a:sym typeface="Garet"/>
              </a:rPr>
              <a:t>programação</a:t>
            </a:r>
            <a:endParaRPr lang="en-US" sz="3068" dirty="0">
              <a:solidFill>
                <a:srgbClr val="000000"/>
              </a:solidFill>
              <a:latin typeface="Garet"/>
              <a:ea typeface="Garet"/>
              <a:cs typeface="Garet"/>
              <a:sym typeface="Garet"/>
            </a:endParaRPr>
          </a:p>
        </p:txBody>
      </p:sp>
      <p:sp>
        <p:nvSpPr>
          <p:cNvPr id="12" name="TextBox 12"/>
          <p:cNvSpPr txBox="1"/>
          <p:nvPr/>
        </p:nvSpPr>
        <p:spPr>
          <a:xfrm>
            <a:off x="5871665" y="6124228"/>
            <a:ext cx="5177335" cy="1083053"/>
          </a:xfrm>
          <a:prstGeom prst="rect">
            <a:avLst/>
          </a:prstGeom>
        </p:spPr>
        <p:txBody>
          <a:bodyPr lIns="0" tIns="0" rIns="0" bIns="0" rtlCol="0" anchor="t">
            <a:spAutoFit/>
          </a:bodyPr>
          <a:lstStyle/>
          <a:p>
            <a:pPr algn="ctr">
              <a:lnSpc>
                <a:spcPts val="4295"/>
              </a:lnSpc>
            </a:pPr>
            <a:r>
              <a:rPr lang="en-US" sz="3068" dirty="0" err="1">
                <a:solidFill>
                  <a:srgbClr val="000000"/>
                </a:solidFill>
                <a:latin typeface="Garet"/>
                <a:ea typeface="Garet"/>
                <a:cs typeface="Garet"/>
                <a:sym typeface="Garet"/>
              </a:rPr>
              <a:t>pessoas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atendidas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a:solidFill>
                  <a:srgbClr val="000000"/>
                </a:solidFill>
                <a:latin typeface="Garet"/>
                <a:ea typeface="Garet"/>
                <a:cs typeface="Garet"/>
                <a:sym typeface="Garet"/>
              </a:rPr>
              <a:t> </a:t>
            </a:r>
          </a:p>
          <a:p>
            <a:pPr marL="0" lvl="0" indent="0" algn="ctr">
              <a:lnSpc>
                <a:spcPts val="4295"/>
              </a:lnSpc>
              <a:spcBef>
                <a:spcPct val="0"/>
              </a:spcBef>
            </a:pPr>
            <a:r>
              <a:rPr lang="en-US" sz="3068" dirty="0" err="1">
                <a:solidFill>
                  <a:srgbClr val="000000"/>
                </a:solidFill>
                <a:latin typeface="Garet"/>
                <a:ea typeface="Garet"/>
                <a:cs typeface="Garet"/>
                <a:sym typeface="Garet"/>
              </a:rPr>
              <a:t>visitas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mediadas</a:t>
            </a:r>
            <a:endParaRPr lang="en-US" sz="3068">
              <a:solidFill>
                <a:srgbClr val="000000"/>
              </a:solidFill>
              <a:latin typeface="Garet"/>
              <a:ea typeface="Garet"/>
              <a:cs typeface="Garet"/>
              <a:sym typeface="Garet"/>
            </a:endParaRPr>
          </a:p>
        </p:txBody>
      </p:sp>
      <p:sp>
        <p:nvSpPr>
          <p:cNvPr id="13" name="TextBox 13"/>
          <p:cNvSpPr txBox="1"/>
          <p:nvPr/>
        </p:nvSpPr>
        <p:spPr>
          <a:xfrm>
            <a:off x="12680820" y="5537972"/>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378</a:t>
            </a:r>
          </a:p>
        </p:txBody>
      </p:sp>
      <p:sp>
        <p:nvSpPr>
          <p:cNvPr id="14" name="TextBox 14"/>
          <p:cNvSpPr txBox="1"/>
          <p:nvPr/>
        </p:nvSpPr>
        <p:spPr>
          <a:xfrm>
            <a:off x="12056736" y="6156189"/>
            <a:ext cx="4870533" cy="1082348"/>
          </a:xfrm>
          <a:prstGeom prst="rect">
            <a:avLst/>
          </a:prstGeom>
        </p:spPr>
        <p:txBody>
          <a:bodyPr wrap="square" lIns="0" tIns="0" rIns="0" bIns="0" rtlCol="0" anchor="t">
            <a:spAutoFit/>
          </a:bodyPr>
          <a:lstStyle/>
          <a:p>
            <a:pPr algn="ctr">
              <a:lnSpc>
                <a:spcPts val="4295"/>
              </a:lnSpc>
            </a:pPr>
            <a:r>
              <a:rPr lang="en-US" sz="3050" dirty="0" err="1">
                <a:solidFill>
                  <a:srgbClr val="000000"/>
                </a:solidFill>
                <a:latin typeface="Garet"/>
                <a:ea typeface="Garet"/>
                <a:cs typeface="Garet"/>
                <a:sym typeface="Garet"/>
              </a:rPr>
              <a:t>presenças</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em</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ações</a:t>
            </a:r>
            <a:r>
              <a:rPr lang="en-US" sz="3050" dirty="0">
                <a:solidFill>
                  <a:srgbClr val="000000"/>
                </a:solidFill>
                <a:latin typeface="Garet"/>
                <a:ea typeface="Garet"/>
                <a:cs typeface="Garet"/>
                <a:sym typeface="Garet"/>
              </a:rPr>
              <a:t> de </a:t>
            </a:r>
            <a:r>
              <a:rPr lang="en-US" sz="3050" dirty="0" err="1">
                <a:solidFill>
                  <a:srgbClr val="000000"/>
                </a:solidFill>
                <a:latin typeface="Garet"/>
                <a:ea typeface="Garet"/>
                <a:cs typeface="Garet"/>
                <a:sym typeface="Garet"/>
              </a:rPr>
              <a:t>programação</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integrada</a:t>
            </a:r>
            <a:endParaRPr lang="en-US" sz="3050" dirty="0">
              <a:solidFill>
                <a:srgbClr val="000000"/>
              </a:solidFill>
              <a:latin typeface="Garet"/>
              <a:ea typeface="Garet"/>
              <a:cs typeface="Garet"/>
              <a:sym typeface="Gare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noProof="0" dirty="0"/>
          </a:p>
        </p:txBody>
      </p:sp>
      <p:sp>
        <p:nvSpPr>
          <p:cNvPr id="9" name="Freeform 9"/>
          <p:cNvSpPr/>
          <p:nvPr/>
        </p:nvSpPr>
        <p:spPr>
          <a:xfrm>
            <a:off x="13456423" y="1883102"/>
            <a:ext cx="3802877" cy="1486579"/>
          </a:xfrm>
          <a:custGeom>
            <a:avLst/>
            <a:gdLst/>
            <a:ahLst/>
            <a:cxnLst/>
            <a:rect l="l" t="t" r="r" b="b"/>
            <a:pathLst>
              <a:path w="3802877" h="1486579">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noProof="0" dirty="0"/>
          </a:p>
        </p:txBody>
      </p:sp>
      <p:sp>
        <p:nvSpPr>
          <p:cNvPr id="10" name="TextBox 10"/>
          <p:cNvSpPr txBox="1"/>
          <p:nvPr/>
        </p:nvSpPr>
        <p:spPr>
          <a:xfrm>
            <a:off x="11100751" y="3060654"/>
            <a:ext cx="6158549" cy="1519129"/>
          </a:xfrm>
          <a:prstGeom prst="rect">
            <a:avLst/>
          </a:prstGeom>
        </p:spPr>
        <p:txBody>
          <a:bodyPr lIns="0" tIns="0" rIns="0" bIns="0" rtlCol="0" anchor="t">
            <a:spAutoFit/>
          </a:bodyPr>
          <a:lstStyle/>
          <a:p>
            <a:pPr algn="r">
              <a:lnSpc>
                <a:spcPts val="5808"/>
              </a:lnSpc>
            </a:pPr>
            <a:r>
              <a:rPr lang="pt-BR" sz="5808" spc="-458" noProof="0" dirty="0">
                <a:solidFill>
                  <a:srgbClr val="000000"/>
                </a:solidFill>
                <a:latin typeface="Archivo Black"/>
                <a:ea typeface="Archivo Black"/>
                <a:cs typeface="Archivo Black"/>
                <a:sym typeface="Archivo Black"/>
              </a:rPr>
              <a:t> </a:t>
            </a:r>
          </a:p>
          <a:p>
            <a:pPr marL="0" lvl="0" indent="0" algn="r">
              <a:lnSpc>
                <a:spcPts val="5808"/>
              </a:lnSpc>
              <a:spcBef>
                <a:spcPct val="0"/>
              </a:spcBef>
            </a:pPr>
            <a:r>
              <a:rPr lang="pt-BR" sz="5808" spc="-458" noProof="0" dirty="0">
                <a:solidFill>
                  <a:srgbClr val="000000"/>
                </a:solidFill>
                <a:latin typeface="Garet Bold" panose="020B0604020202020204" charset="0"/>
                <a:ea typeface="Archivo Black"/>
                <a:cs typeface="Archivo Black"/>
                <a:sym typeface="Archivo Black"/>
              </a:rPr>
              <a:t>presenças</a:t>
            </a:r>
          </a:p>
        </p:txBody>
      </p:sp>
      <p:sp>
        <p:nvSpPr>
          <p:cNvPr id="3" name="TextBox 13">
            <a:extLst>
              <a:ext uri="{FF2B5EF4-FFF2-40B4-BE49-F238E27FC236}">
                <a16:creationId xmlns:a16="http://schemas.microsoft.com/office/drawing/2014/main" id="{0F950054-21F1-2A9E-E636-B2A0D382AD3F}"/>
              </a:ext>
            </a:extLst>
          </p:cNvPr>
          <p:cNvSpPr txBox="1"/>
          <p:nvPr/>
        </p:nvSpPr>
        <p:spPr>
          <a:xfrm>
            <a:off x="1022838" y="3330572"/>
            <a:ext cx="4530613" cy="3046988"/>
          </a:xfrm>
          <a:prstGeom prst="rect">
            <a:avLst/>
          </a:prstGeom>
        </p:spPr>
        <p:txBody>
          <a:bodyPr wrap="square" lIns="0" tIns="0" rIns="0" bIns="0" rtlCol="0" anchor="t">
            <a:spAutoFit/>
          </a:bodyPr>
          <a:lstStyle/>
          <a:p>
            <a:pPr algn="ctr"/>
            <a:r>
              <a:rPr lang="pt-BR" sz="6600" b="1" noProof="0" dirty="0">
                <a:solidFill>
                  <a:srgbClr val="000000"/>
                </a:solidFill>
                <a:latin typeface="Garet Bold" panose="020B0604020202020204" charset="0"/>
                <a:ea typeface="Garet"/>
                <a:cs typeface="Garet"/>
                <a:sym typeface="Garet"/>
              </a:rPr>
              <a:t>133.103</a:t>
            </a:r>
            <a:r>
              <a:rPr lang="pt-BR" sz="6600" b="1" noProof="0" dirty="0">
                <a:solidFill>
                  <a:srgbClr val="000000"/>
                </a:solidFill>
                <a:latin typeface="Garet" panose="020B0604020202020204" charset="0"/>
                <a:ea typeface="Garet"/>
                <a:cs typeface="Garet"/>
                <a:sym typeface="Garet"/>
              </a:rPr>
              <a:t> </a:t>
            </a:r>
            <a:r>
              <a:rPr lang="pt-BR" sz="4400" noProof="0" dirty="0">
                <a:solidFill>
                  <a:srgbClr val="000000"/>
                </a:solidFill>
                <a:latin typeface="Garet" panose="020B0604020202020204" charset="0"/>
                <a:ea typeface="Garet"/>
                <a:cs typeface="Garet"/>
                <a:sym typeface="Garet"/>
              </a:rPr>
              <a:t>presenças</a:t>
            </a:r>
          </a:p>
          <a:p>
            <a:pPr algn="ctr"/>
            <a:r>
              <a:rPr lang="pt-BR" sz="4400" noProof="0" dirty="0">
                <a:solidFill>
                  <a:srgbClr val="000000"/>
                </a:solidFill>
                <a:latin typeface="Garet" panose="020B0604020202020204" charset="0"/>
                <a:ea typeface="Garet Bold"/>
                <a:cs typeface="Garet Bold"/>
                <a:sym typeface="Garet Bold"/>
              </a:rPr>
              <a:t>EXPOSIÇÃO</a:t>
            </a:r>
          </a:p>
          <a:p>
            <a:pPr algn="ctr">
              <a:spcBef>
                <a:spcPct val="0"/>
              </a:spcBef>
            </a:pPr>
            <a:r>
              <a:rPr lang="pt-BR" sz="4400" noProof="0" dirty="0">
                <a:solidFill>
                  <a:srgbClr val="000000"/>
                </a:solidFill>
                <a:latin typeface="Garet" panose="020B0604020202020204" charset="0"/>
                <a:ea typeface="Garet"/>
                <a:cs typeface="Garet"/>
                <a:sym typeface="Garet"/>
              </a:rPr>
              <a:t>1 ação</a:t>
            </a:r>
          </a:p>
        </p:txBody>
      </p:sp>
      <p:sp>
        <p:nvSpPr>
          <p:cNvPr id="6" name="TextBox 12">
            <a:extLst>
              <a:ext uri="{FF2B5EF4-FFF2-40B4-BE49-F238E27FC236}">
                <a16:creationId xmlns:a16="http://schemas.microsoft.com/office/drawing/2014/main" id="{F07F23C8-A2E4-F6C1-89A8-0BA16761324B}"/>
              </a:ext>
            </a:extLst>
          </p:cNvPr>
          <p:cNvSpPr txBox="1"/>
          <p:nvPr/>
        </p:nvSpPr>
        <p:spPr>
          <a:xfrm>
            <a:off x="1" y="8857018"/>
            <a:ext cx="18288000" cy="492443"/>
          </a:xfrm>
          <a:prstGeom prst="rect">
            <a:avLst/>
          </a:prstGeom>
          <a:solidFill>
            <a:schemeClr val="accent2"/>
          </a:solidFill>
        </p:spPr>
        <p:txBody>
          <a:bodyPr wrap="square" lIns="0" tIns="0" rIns="0" bIns="0" rtlCol="0" anchor="t">
            <a:spAutoFit/>
          </a:bodyPr>
          <a:lstStyle/>
          <a:p>
            <a:pPr algn="ctr"/>
            <a:r>
              <a:rPr lang="pt-BR" sz="3200" noProof="0" dirty="0">
                <a:solidFill>
                  <a:schemeClr val="bg1"/>
                </a:solidFill>
                <a:latin typeface="Garet Bold" panose="020B0604020202020204" charset="0"/>
                <a:ea typeface="Garet Bold"/>
                <a:cs typeface="Garet Bold"/>
                <a:sym typeface="Garet Bold"/>
              </a:rPr>
              <a:t>212 dias de visitação</a:t>
            </a:r>
          </a:p>
        </p:txBody>
      </p:sp>
      <p:sp>
        <p:nvSpPr>
          <p:cNvPr id="4" name="TextBox 29">
            <a:extLst>
              <a:ext uri="{FF2B5EF4-FFF2-40B4-BE49-F238E27FC236}">
                <a16:creationId xmlns:a16="http://schemas.microsoft.com/office/drawing/2014/main" id="{C511EDE2-9A5A-C628-030F-920FA69F9F3F}"/>
              </a:ext>
            </a:extLst>
          </p:cNvPr>
          <p:cNvSpPr txBox="1"/>
          <p:nvPr/>
        </p:nvSpPr>
        <p:spPr>
          <a:xfrm>
            <a:off x="6858000" y="2682959"/>
            <a:ext cx="5876551" cy="4342214"/>
          </a:xfrm>
          <a:prstGeom prst="rect">
            <a:avLst/>
          </a:prstGeom>
        </p:spPr>
        <p:txBody>
          <a:bodyPr wrap="square" lIns="0" tIns="0" rIns="0" bIns="0" rtlCol="0" anchor="t">
            <a:spAutoFit/>
          </a:bodyPr>
          <a:lstStyle/>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r>
              <a:rPr lang="pt-BR" sz="4800" b="1" dirty="0">
                <a:solidFill>
                  <a:srgbClr val="000000"/>
                </a:solidFill>
                <a:latin typeface="Garet Bold" panose="020B0604020202020204" charset="0"/>
                <a:ea typeface="Garet Bold"/>
                <a:cs typeface="Garet Bold"/>
                <a:sym typeface="Garet Bold"/>
              </a:rPr>
              <a:t>140</a:t>
            </a:r>
            <a:r>
              <a:rPr lang="pt-BR" sz="4800" b="1" noProof="0" dirty="0">
                <a:solidFill>
                  <a:srgbClr val="000000"/>
                </a:solidFill>
                <a:latin typeface="Garet Bold" panose="020B0604020202020204" charset="0"/>
                <a:ea typeface="Garet Bold"/>
                <a:cs typeface="Garet Bold"/>
                <a:sym typeface="Garet Bold"/>
              </a:rPr>
              <a:t> </a:t>
            </a:r>
          </a:p>
          <a:p>
            <a:pPr algn="ctr">
              <a:lnSpc>
                <a:spcPts val="2794"/>
              </a:lnSpc>
            </a:pPr>
            <a:r>
              <a:rPr lang="pt-BR" sz="3200" dirty="0">
                <a:solidFill>
                  <a:srgbClr val="000000"/>
                </a:solidFill>
                <a:latin typeface="Garet"/>
                <a:ea typeface="Garet Bold"/>
                <a:cs typeface="Garet Bold"/>
                <a:sym typeface="Garet Bold"/>
              </a:rPr>
              <a:t>Ônibus solicitados para escolas da rede pública de toda a cidade</a:t>
            </a:r>
            <a:endParaRPr lang="pt-BR" sz="3200" noProof="0" dirty="0">
              <a:solidFill>
                <a:srgbClr val="000000"/>
              </a:solidFill>
              <a:latin typeface="Garet" panose="020B0604020202020204" charset="0"/>
              <a:ea typeface="Garet Bold"/>
              <a:cs typeface="Garet Bold"/>
              <a:sym typeface="Garet Bold"/>
            </a:endParaRPr>
          </a:p>
          <a:p>
            <a:pPr algn="ctr">
              <a:lnSpc>
                <a:spcPts val="2794"/>
              </a:lnSpc>
            </a:pPr>
            <a:endParaRPr lang="pt-BR" sz="3200" noProof="0" dirty="0">
              <a:solidFill>
                <a:srgbClr val="000000"/>
              </a:solidFill>
              <a:latin typeface="Garet" panose="020B0604020202020204" charset="0"/>
              <a:ea typeface="Garet Bold"/>
              <a:cs typeface="Garet Bold"/>
              <a:sym typeface="Garet Bold"/>
            </a:endParaRPr>
          </a:p>
          <a:p>
            <a:pPr algn="ctr">
              <a:lnSpc>
                <a:spcPts val="2794"/>
              </a:lnSpc>
            </a:pPr>
            <a:endParaRPr lang="pt-BR" sz="4800" noProof="0" dirty="0">
              <a:solidFill>
                <a:srgbClr val="000000"/>
              </a:solidFill>
              <a:latin typeface="Garet Bold"/>
              <a:ea typeface="Garet Bold"/>
              <a:cs typeface="Garet Bold"/>
              <a:sym typeface="Garet Bold"/>
            </a:endParaRPr>
          </a:p>
          <a:p>
            <a:pPr algn="ctr">
              <a:lnSpc>
                <a:spcPts val="2794"/>
              </a:lnSpc>
            </a:pPr>
            <a:r>
              <a:rPr lang="pt-BR" sz="4800" dirty="0">
                <a:solidFill>
                  <a:srgbClr val="000000"/>
                </a:solidFill>
                <a:latin typeface="Garet Bold"/>
                <a:sym typeface="Garet Bold"/>
              </a:rPr>
              <a:t>6.071</a:t>
            </a:r>
            <a:endParaRPr lang="pt-BR" noProof="0" dirty="0"/>
          </a:p>
          <a:p>
            <a:pPr algn="ctr">
              <a:lnSpc>
                <a:spcPts val="2794"/>
              </a:lnSpc>
            </a:pPr>
            <a:r>
              <a:rPr lang="pt-BR" sz="3200" noProof="0" dirty="0">
                <a:solidFill>
                  <a:srgbClr val="000000"/>
                </a:solidFill>
                <a:latin typeface="Garet" panose="020B0604020202020204" charset="0"/>
                <a:ea typeface="Garet Bold"/>
                <a:cs typeface="Garet Bold"/>
                <a:sym typeface="Garet Bold"/>
              </a:rPr>
              <a:t>Estudantes impactados diretamente</a:t>
            </a:r>
          </a:p>
          <a:p>
            <a:pPr algn="ctr">
              <a:lnSpc>
                <a:spcPts val="2794"/>
              </a:lnSpc>
            </a:pPr>
            <a:endParaRPr lang="pt-BR" sz="3200" noProof="0" dirty="0">
              <a:solidFill>
                <a:srgbClr val="000000"/>
              </a:solidFill>
              <a:latin typeface="Garet Bold"/>
              <a:ea typeface="Garet Bold"/>
              <a:cs typeface="Garet Bold"/>
              <a:sym typeface="Garet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BDC1E-7D4C-DCB8-9A56-77B68FFAD3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60F951-6CE8-7AE0-9C08-6D6757B253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4" name="Freeform 4">
            <a:extLst>
              <a:ext uri="{FF2B5EF4-FFF2-40B4-BE49-F238E27FC236}">
                <a16:creationId xmlns:a16="http://schemas.microsoft.com/office/drawing/2014/main" id="{225AABD2-EDAE-7537-7126-2BF789A60CEB}"/>
              </a:ext>
            </a:extLst>
          </p:cNvPr>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Freeform 5">
            <a:extLst>
              <a:ext uri="{FF2B5EF4-FFF2-40B4-BE49-F238E27FC236}">
                <a16:creationId xmlns:a16="http://schemas.microsoft.com/office/drawing/2014/main" id="{68CD3464-5DA2-508B-D356-76A61FE7B2A8}"/>
              </a:ext>
            </a:extLst>
          </p:cNvPr>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2469874A-1C6A-2C88-74AC-9DD75A0FC754}"/>
              </a:ext>
            </a:extLst>
          </p:cNvPr>
          <p:cNvSpPr txBox="1"/>
          <p:nvPr/>
        </p:nvSpPr>
        <p:spPr>
          <a:xfrm>
            <a:off x="1295400" y="6124228"/>
            <a:ext cx="6172200" cy="598241"/>
          </a:xfrm>
          <a:prstGeom prst="rect">
            <a:avLst/>
          </a:prstGeom>
        </p:spPr>
        <p:txBody>
          <a:bodyPr wrap="square" lIns="0" tIns="0" rIns="0" bIns="0" rtlCol="0" anchor="t">
            <a:spAutoFit/>
          </a:bodyPr>
          <a:lstStyle/>
          <a:p>
            <a:pPr algn="ctr">
              <a:lnSpc>
                <a:spcPts val="4295"/>
              </a:lnSpc>
            </a:pPr>
            <a:r>
              <a:rPr lang="en-US" sz="4800" spc="-458" dirty="0">
                <a:solidFill>
                  <a:schemeClr val="bg1"/>
                </a:solidFill>
                <a:latin typeface="Garet Bold" panose="020B0604020202020204" charset="0"/>
                <a:ea typeface="Archivo Black"/>
                <a:cs typeface="Archivo Black"/>
                <a:sym typeface="Archivo Black"/>
              </a:rPr>
              <a:t>Equipe </a:t>
            </a:r>
            <a:r>
              <a:rPr lang="en-US" sz="4800" spc="-458" dirty="0" err="1">
                <a:solidFill>
                  <a:schemeClr val="bg1"/>
                </a:solidFill>
                <a:latin typeface="Garet Bold" panose="020B0604020202020204" charset="0"/>
                <a:ea typeface="Archivo Black"/>
                <a:cs typeface="Archivo Black"/>
                <a:sym typeface="Archivo Black"/>
              </a:rPr>
              <a:t>Educativa</a:t>
            </a:r>
            <a:endParaRPr lang="en-US" sz="4800" spc="-458" dirty="0">
              <a:solidFill>
                <a:schemeClr val="bg1"/>
              </a:solidFill>
              <a:latin typeface="Garet Bold" panose="020B0604020202020204" charset="0"/>
              <a:ea typeface="Archivo Black"/>
              <a:cs typeface="Archivo Black"/>
              <a:sym typeface="Archivo Black"/>
            </a:endParaRPr>
          </a:p>
        </p:txBody>
      </p:sp>
      <p:graphicFrame>
        <p:nvGraphicFramePr>
          <p:cNvPr id="8" name="Table 3">
            <a:extLst>
              <a:ext uri="{FF2B5EF4-FFF2-40B4-BE49-F238E27FC236}">
                <a16:creationId xmlns:a16="http://schemas.microsoft.com/office/drawing/2014/main" id="{8C802B50-79C0-7376-C196-62BDDDD9F720}"/>
              </a:ext>
            </a:extLst>
          </p:cNvPr>
          <p:cNvGraphicFramePr>
            <a:graphicFrameLocks noGrp="1"/>
          </p:cNvGraphicFramePr>
          <p:nvPr>
            <p:extLst>
              <p:ext uri="{D42A27DB-BD31-4B8C-83A1-F6EECF244321}">
                <p14:modId xmlns:p14="http://schemas.microsoft.com/office/powerpoint/2010/main" val="3899180714"/>
              </p:ext>
            </p:extLst>
          </p:nvPr>
        </p:nvGraphicFramePr>
        <p:xfrm>
          <a:off x="8978012" y="5143500"/>
          <a:ext cx="9125542" cy="3077700"/>
        </p:xfrm>
        <a:graphic>
          <a:graphicData uri="http://schemas.openxmlformats.org/drawingml/2006/table">
            <a:tbl>
              <a:tblPr/>
              <a:tblGrid>
                <a:gridCol w="2909188">
                  <a:extLst>
                    <a:ext uri="{9D8B030D-6E8A-4147-A177-3AD203B41FA5}">
                      <a16:colId xmlns:a16="http://schemas.microsoft.com/office/drawing/2014/main" val="20000"/>
                    </a:ext>
                  </a:extLst>
                </a:gridCol>
                <a:gridCol w="6216354">
                  <a:extLst>
                    <a:ext uri="{9D8B030D-6E8A-4147-A177-3AD203B41FA5}">
                      <a16:colId xmlns:a16="http://schemas.microsoft.com/office/drawing/2014/main" val="20001"/>
                    </a:ext>
                  </a:extLst>
                </a:gridCol>
              </a:tblGrid>
              <a:tr h="821300">
                <a:tc>
                  <a:txBody>
                    <a:bodyPr/>
                    <a:lstStyle/>
                    <a:p>
                      <a:pPr algn="ctr">
                        <a:lnSpc>
                          <a:spcPts val="2799"/>
                        </a:lnSpc>
                        <a:defRPr/>
                      </a:pP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76300">
                <a:tc>
                  <a:txBody>
                    <a:bodyPr/>
                    <a:lstStyle/>
                    <a:p>
                      <a:pPr algn="l">
                        <a:lnSpc>
                          <a:spcPts val="2799"/>
                        </a:lnSpc>
                        <a:defRPr/>
                      </a:pPr>
                      <a:r>
                        <a:rPr lang="en-US" sz="1999" b="1" dirty="0">
                          <a:solidFill>
                            <a:srgbClr val="000000"/>
                          </a:solidFill>
                          <a:latin typeface="Garet Bold"/>
                          <a:ea typeface="Garet Bold"/>
                          <a:cs typeface="Garet Bold"/>
                          <a:sym typeface="Garet Bold"/>
                        </a:rPr>
                        <a:t>Equipe</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dirty="0">
                          <a:solidFill>
                            <a:srgbClr val="000000"/>
                          </a:solidFill>
                          <a:latin typeface="Garet"/>
                          <a:ea typeface="Garet"/>
                          <a:cs typeface="Garet"/>
                          <a:sym typeface="Garet"/>
                        </a:rPr>
                        <a:t>02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II - </a:t>
                      </a:r>
                      <a:r>
                        <a:rPr lang="en-US" sz="1999" dirty="0" err="1">
                          <a:solidFill>
                            <a:srgbClr val="000000"/>
                          </a:solidFill>
                          <a:latin typeface="Garet"/>
                          <a:ea typeface="Garet"/>
                          <a:cs typeface="Garet"/>
                          <a:sym typeface="Garet"/>
                        </a:rPr>
                        <a:t>Supervisores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06 </a:t>
                      </a:r>
                      <a:r>
                        <a:rPr lang="en-US" sz="1999" dirty="0" err="1">
                          <a:solidFill>
                            <a:srgbClr val="000000"/>
                          </a:solidFill>
                          <a:latin typeface="Garet"/>
                          <a:ea typeface="Garet"/>
                          <a:cs typeface="Garet"/>
                          <a:sym typeface="Garet"/>
                        </a:rPr>
                        <a:t>Estagiários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sym typeface="Garet"/>
                        </a:rPr>
                        <a:t>01 Auxiliar de </a:t>
                      </a:r>
                      <a:r>
                        <a:rPr lang="en-US" sz="1999" dirty="0" err="1">
                          <a:solidFill>
                            <a:srgbClr val="000000"/>
                          </a:solidFill>
                          <a:latin typeface="Garet"/>
                          <a:sym typeface="Garet"/>
                        </a:rPr>
                        <a:t>Atendimento</a:t>
                      </a: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l">
                        <a:lnSpc>
                          <a:spcPts val="2799"/>
                        </a:lnSpc>
                        <a:defRPr/>
                      </a:pPr>
                      <a:r>
                        <a:rPr lang="en-US" sz="2000" b="1" dirty="0" err="1">
                          <a:solidFill>
                            <a:srgbClr val="000000"/>
                          </a:solidFill>
                          <a:latin typeface="Garet Bold"/>
                          <a:ea typeface="Garet Bold"/>
                          <a:cs typeface="Garet Bold"/>
                          <a:sym typeface="Garet Bold"/>
                        </a:rPr>
                        <a:t>Formação</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kern="1200" dirty="0" err="1">
                          <a:solidFill>
                            <a:srgbClr val="000000"/>
                          </a:solidFill>
                          <a:latin typeface="Garet"/>
                          <a:ea typeface="+mn-ea"/>
                          <a:cs typeface="+mn-cs"/>
                        </a:rPr>
                        <a:t>Presencial</a:t>
                      </a:r>
                      <a:r>
                        <a:rPr lang="en-US" sz="1999" kern="1200" dirty="0">
                          <a:solidFill>
                            <a:srgbClr val="000000"/>
                          </a:solidFill>
                          <a:latin typeface="Garet"/>
                          <a:ea typeface="+mn-ea"/>
                          <a:cs typeface="+mn-cs"/>
                        </a:rPr>
                        <a:t> – 10 </a:t>
                      </a:r>
                      <a:r>
                        <a:rPr lang="en-US" sz="1999" kern="1200" dirty="0" err="1">
                          <a:solidFill>
                            <a:srgbClr val="000000"/>
                          </a:solidFill>
                          <a:latin typeface="Garet"/>
                          <a:ea typeface="+mn-ea"/>
                          <a:cs typeface="+mn-cs"/>
                        </a:rPr>
                        <a:t>dias</a:t>
                      </a:r>
                      <a:r>
                        <a:rPr lang="en-US" sz="1999" kern="1200" dirty="0">
                          <a:solidFill>
                            <a:srgbClr val="000000"/>
                          </a:solidFill>
                          <a:latin typeface="Garet"/>
                          <a:ea typeface="+mn-ea"/>
                          <a:cs typeface="+mn-cs"/>
                        </a:rPr>
                        <a:t> – 50h</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2" name="TextBox 12"/>
          <p:cNvSpPr txBox="1"/>
          <p:nvPr/>
        </p:nvSpPr>
        <p:spPr>
          <a:xfrm>
            <a:off x="9372600" y="1600906"/>
            <a:ext cx="6780409" cy="2277547"/>
          </a:xfrm>
          <a:prstGeom prst="rect">
            <a:avLst/>
          </a:prstGeom>
        </p:spPr>
        <p:txBody>
          <a:bodyPr wrap="square" lIns="0" tIns="0" rIns="0" bIns="0" rtlCol="0" anchor="t">
            <a:spAutoFit/>
          </a:bodyPr>
          <a:lstStyle/>
          <a:p>
            <a:pPr algn="ctr"/>
            <a:r>
              <a:rPr lang="en-US" sz="6000" b="1" dirty="0">
                <a:solidFill>
                  <a:srgbClr val="000000"/>
                </a:solidFill>
                <a:latin typeface="Garet Bold"/>
                <a:ea typeface="Garet Bold"/>
                <a:cs typeface="Garet Bold"/>
                <a:sym typeface="Garet Bold"/>
              </a:rPr>
              <a:t>28.109</a:t>
            </a:r>
            <a:r>
              <a:rPr lang="en-US" sz="6000" b="1" dirty="0">
                <a:solidFill>
                  <a:srgbClr val="000000"/>
                </a:solidFill>
                <a:latin typeface="Garet" panose="020B0604020202020204" charset="0"/>
                <a:ea typeface="Garet"/>
                <a:cs typeface="Garet"/>
                <a:sym typeface="Garet"/>
              </a:rPr>
              <a:t> </a:t>
            </a:r>
          </a:p>
          <a:p>
            <a:pPr algn="ctr"/>
            <a:r>
              <a:rPr lang="en-US" sz="4400" dirty="0" err="1">
                <a:solidFill>
                  <a:srgbClr val="000000"/>
                </a:solidFill>
                <a:latin typeface="Garet" panose="020B0604020202020204" charset="0"/>
                <a:ea typeface="Garet"/>
                <a:cs typeface="Garet"/>
                <a:sym typeface="Garet"/>
              </a:rPr>
              <a:t>presenças</a:t>
            </a:r>
            <a:endParaRPr lang="en-US" sz="4400" dirty="0">
              <a:solidFill>
                <a:srgbClr val="000000"/>
              </a:solidFill>
              <a:latin typeface="Garet" panose="020B0604020202020204" charset="0"/>
              <a:ea typeface="Garet"/>
              <a:cs typeface="Garet"/>
              <a:sym typeface="Garet"/>
            </a:endParaRPr>
          </a:p>
          <a:p>
            <a:pPr algn="ctr"/>
            <a:r>
              <a:rPr lang="en-US" sz="4400" dirty="0">
                <a:solidFill>
                  <a:srgbClr val="000000"/>
                </a:solidFill>
                <a:latin typeface="Garet" panose="020B0604020202020204" charset="0"/>
                <a:ea typeface="Garet Bold"/>
                <a:cs typeface="Garet Bold"/>
                <a:sym typeface="Garet Bold"/>
              </a:rPr>
              <a:t>VISITAS MEDIADAS</a:t>
            </a:r>
          </a:p>
        </p:txBody>
      </p:sp>
    </p:spTree>
    <p:extLst>
      <p:ext uri="{BB962C8B-B14F-4D97-AF65-F5344CB8AC3E}">
        <p14:creationId xmlns:p14="http://schemas.microsoft.com/office/powerpoint/2010/main" val="220543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Garet Bold" panose="020B0604020202020204" charset="0"/>
                <a:ea typeface="Archivo Black"/>
                <a:cs typeface="Archivo Black"/>
                <a:sym typeface="Archivo Black"/>
              </a:rPr>
              <a:t>Visitas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mediadas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ao</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longo</a:t>
            </a:r>
            <a:r>
              <a:rPr lang="en-US" sz="4400" spc="-458" dirty="0">
                <a:solidFill>
                  <a:srgbClr val="000000"/>
                </a:solidFill>
                <a:latin typeface="Garet Bold" panose="020B0604020202020204" charset="0"/>
                <a:ea typeface="Archivo Black"/>
                <a:cs typeface="Archivo Black"/>
                <a:sym typeface="Archivo Black"/>
              </a:rPr>
              <a:t> da </a:t>
            </a:r>
            <a:r>
              <a:rPr lang="en-US" sz="4400" spc="-458" dirty="0" err="1">
                <a:solidFill>
                  <a:srgbClr val="000000"/>
                </a:solidFill>
                <a:latin typeface="Garet Bold" panose="020B0604020202020204" charset="0"/>
                <a:ea typeface="Archivo Black"/>
                <a:cs typeface="Archivo Black"/>
                <a:sym typeface="Archivo Black"/>
              </a:rPr>
              <a:t>exposição</a:t>
            </a:r>
            <a:endParaRPr lang="en-US" sz="4400" spc="-458" dirty="0">
              <a:solidFill>
                <a:srgbClr val="000000"/>
              </a:solidFill>
              <a:latin typeface="Garet Bold" panose="020B0604020202020204" charset="0"/>
              <a:ea typeface="Archivo Black"/>
              <a:cs typeface="Archivo Black"/>
              <a:sym typeface="Archivo Black"/>
            </a:endParaRPr>
          </a:p>
        </p:txBody>
      </p:sp>
      <p:graphicFrame>
        <p:nvGraphicFramePr>
          <p:cNvPr id="12" name="Gráfico 11">
            <a:extLst>
              <a:ext uri="{FF2B5EF4-FFF2-40B4-BE49-F238E27FC236}">
                <a16:creationId xmlns:a16="http://schemas.microsoft.com/office/drawing/2014/main" id="{CFEC77CF-962E-5A9D-DB93-3865E191326B}"/>
              </a:ext>
            </a:extLst>
          </p:cNvPr>
          <p:cNvGraphicFramePr/>
          <p:nvPr>
            <p:extLst>
              <p:ext uri="{D42A27DB-BD31-4B8C-83A1-F6EECF244321}">
                <p14:modId xmlns:p14="http://schemas.microsoft.com/office/powerpoint/2010/main" val="969634329"/>
              </p:ext>
            </p:extLst>
          </p:nvPr>
        </p:nvGraphicFramePr>
        <p:xfrm>
          <a:off x="457200" y="1923519"/>
          <a:ext cx="17449800" cy="664898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5D9A-13DA-E312-80E5-E7518DB313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638F53-2EF6-AB5C-DAF0-6E627F5436E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690C5D4F-5ACA-526A-D62D-39F4624561C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50EB9079-C093-BF2C-DEB9-59978D2A5B57}"/>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0A95DBF5-E5B4-A834-351A-BE5A38901568}"/>
              </a:ext>
            </a:extLst>
          </p:cNvPr>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Archivo Black"/>
                <a:ea typeface="Archivo Black"/>
                <a:cs typeface="Archivo Black"/>
                <a:sym typeface="Archivo Black"/>
              </a:rPr>
              <a:t>ações</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integradas</a:t>
            </a:r>
            <a:r>
              <a:rPr lang="en-US" sz="4400" spc="-458" dirty="0">
                <a:solidFill>
                  <a:srgbClr val="000000"/>
                </a:solidFill>
                <a:latin typeface="Archivo Black"/>
                <a:ea typeface="Archivo Black"/>
                <a:cs typeface="Archivo Black"/>
                <a:sym typeface="Archivo Black"/>
              </a:rPr>
              <a:t> da </a:t>
            </a:r>
            <a:r>
              <a:rPr lang="en-US" sz="4400" spc="-458" dirty="0" err="1">
                <a:solidFill>
                  <a:srgbClr val="000000"/>
                </a:solidFill>
                <a:latin typeface="Archivo Black"/>
                <a:ea typeface="Archivo Black"/>
                <a:cs typeface="Archivo Black"/>
                <a:sym typeface="Archivo Black"/>
              </a:rPr>
              <a:t>exposição</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ao</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longo</a:t>
            </a:r>
            <a:r>
              <a:rPr lang="en-US" sz="4400" spc="-458" dirty="0">
                <a:solidFill>
                  <a:srgbClr val="000000"/>
                </a:solidFill>
                <a:latin typeface="Archivo Black"/>
                <a:ea typeface="Archivo Black"/>
                <a:cs typeface="Archivo Black"/>
                <a:sym typeface="Archivo Black"/>
              </a:rPr>
              <a:t> dos meses</a:t>
            </a:r>
          </a:p>
        </p:txBody>
      </p:sp>
      <p:graphicFrame>
        <p:nvGraphicFramePr>
          <p:cNvPr id="12" name="Gráfico 11">
            <a:extLst>
              <a:ext uri="{FF2B5EF4-FFF2-40B4-BE49-F238E27FC236}">
                <a16:creationId xmlns:a16="http://schemas.microsoft.com/office/drawing/2014/main" id="{FC25CF46-1209-BF52-6AD9-9F5C28DD0E54}"/>
              </a:ext>
            </a:extLst>
          </p:cNvPr>
          <p:cNvGraphicFramePr/>
          <p:nvPr>
            <p:extLst>
              <p:ext uri="{D42A27DB-BD31-4B8C-83A1-F6EECF244321}">
                <p14:modId xmlns:p14="http://schemas.microsoft.com/office/powerpoint/2010/main" val="1510983736"/>
              </p:ext>
            </p:extLst>
          </p:nvPr>
        </p:nvGraphicFramePr>
        <p:xfrm>
          <a:off x="1447800" y="1923519"/>
          <a:ext cx="15811500" cy="66299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9162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graphicFrame>
        <p:nvGraphicFramePr>
          <p:cNvPr id="3" name="Table 3"/>
          <p:cNvGraphicFramePr>
            <a:graphicFrameLocks noGrp="1"/>
          </p:cNvGraphicFramePr>
          <p:nvPr>
            <p:extLst>
              <p:ext uri="{D42A27DB-BD31-4B8C-83A1-F6EECF244321}">
                <p14:modId xmlns:p14="http://schemas.microsoft.com/office/powerpoint/2010/main" val="1798650977"/>
              </p:ext>
            </p:extLst>
          </p:nvPr>
        </p:nvGraphicFramePr>
        <p:xfrm>
          <a:off x="9447524" y="1450250"/>
          <a:ext cx="7811857" cy="2463900"/>
        </p:xfrm>
        <a:graphic>
          <a:graphicData uri="http://schemas.openxmlformats.org/drawingml/2006/table">
            <a:tbl>
              <a:tblPr/>
              <a:tblGrid>
                <a:gridCol w="4311097">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443360">
                  <a:extLst>
                    <a:ext uri="{9D8B030D-6E8A-4147-A177-3AD203B41FA5}">
                      <a16:colId xmlns:a16="http://schemas.microsoft.com/office/drawing/2014/main" val="20002"/>
                    </a:ext>
                  </a:extLst>
                </a:gridCol>
              </a:tblGrid>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presenças</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chemeClr val="tx1">
                              <a:lumMod val="50000"/>
                              <a:lumOff val="50000"/>
                            </a:schemeClr>
                          </a:solidFill>
                          <a:latin typeface="Garet Bold" panose="020B0604020202020204" charset="0"/>
                          <a:ea typeface="Garet"/>
                          <a:cs typeface="Garet"/>
                          <a:sym typeface="Garet"/>
                        </a:rPr>
                        <a:t>ações</a:t>
                      </a:r>
                      <a:endParaRPr lang="en-US" sz="110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21300">
                <a:tc>
                  <a:txBody>
                    <a:bodyPr/>
                    <a:lstStyle/>
                    <a:p>
                      <a:pPr algn="ctr">
                        <a:lnSpc>
                          <a:spcPts val="2799"/>
                        </a:lnSpc>
                        <a:defRPr/>
                      </a:pPr>
                      <a:r>
                        <a:rPr lang="en-US" sz="1999" b="1">
                          <a:solidFill>
                            <a:srgbClr val="000000"/>
                          </a:solidFill>
                          <a:latin typeface="Garet Bold" panose="020B0604020202020204" charset="0"/>
                          <a:ea typeface="Garet Bold"/>
                          <a:cs typeface="Garet Bold"/>
                          <a:sym typeface="Garet Bold"/>
                        </a:rPr>
                        <a:t>Oficinas</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dirty="0">
                          <a:solidFill>
                            <a:srgbClr val="000000"/>
                          </a:solidFill>
                          <a:latin typeface="Garet Bold" panose="020B0604020202020204" charset="0"/>
                          <a:ea typeface="Garet"/>
                          <a:cs typeface="Garet"/>
                          <a:sym typeface="Garet"/>
                        </a:rPr>
                        <a:t>104</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tabLst/>
                        <a:defRPr/>
                      </a:pPr>
                      <a:r>
                        <a:rPr lang="en-US" sz="2400" dirty="0">
                          <a:solidFill>
                            <a:schemeClr val="tx1">
                              <a:lumMod val="50000"/>
                              <a:lumOff val="50000"/>
                            </a:schemeClr>
                          </a:solidFill>
                          <a:latin typeface="Garet Bold" panose="020B0604020202020204" charset="0"/>
                        </a:rPr>
                        <a:t>5</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ctr">
                        <a:lnSpc>
                          <a:spcPts val="2799"/>
                        </a:lnSpc>
                        <a:defRPr/>
                      </a:pPr>
                      <a:r>
                        <a:rPr lang="en-US" sz="1999" b="1" dirty="0">
                          <a:solidFill>
                            <a:srgbClr val="000000"/>
                          </a:solidFill>
                          <a:latin typeface="Garet Bold" panose="020B0604020202020204" charset="0"/>
                          <a:sym typeface="Garet Bold"/>
                        </a:rPr>
                        <a:t>Visita </a:t>
                      </a:r>
                      <a:r>
                        <a:rPr lang="en-US" sz="1999" b="1" dirty="0" err="1">
                          <a:solidFill>
                            <a:srgbClr val="000000"/>
                          </a:solidFill>
                          <a:latin typeface="Garet Bold" panose="020B0604020202020204" charset="0"/>
                          <a:sym typeface="Garet Bold"/>
                        </a:rPr>
                        <a:t>Mediada</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dirty="0">
                          <a:solidFill>
                            <a:srgbClr val="000000"/>
                          </a:solidFill>
                          <a:latin typeface="Garet Bold" panose="020B0604020202020204" charset="0"/>
                          <a:sym typeface="Garet"/>
                        </a:rPr>
                        <a:t>274</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chemeClr val="tx1">
                              <a:lumMod val="50000"/>
                              <a:lumOff val="50000"/>
                            </a:schemeClr>
                          </a:solidFill>
                          <a:latin typeface="Garet Bold" panose="020B0604020202020204" charset="0"/>
                        </a:rPr>
                        <a:t>1</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4" name="Freeform 4"/>
          <p:cNvSpPr/>
          <p:nvPr/>
        </p:nvSpPr>
        <p:spPr>
          <a:xfrm>
            <a:off x="-732038" y="1638678"/>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Freeform 5"/>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79A31098-639A-3778-D1DB-C199CAD3F36C}"/>
              </a:ext>
            </a:extLst>
          </p:cNvPr>
          <p:cNvSpPr txBox="1"/>
          <p:nvPr/>
        </p:nvSpPr>
        <p:spPr>
          <a:xfrm>
            <a:off x="1295400" y="6124228"/>
            <a:ext cx="6172200" cy="1634486"/>
          </a:xfrm>
          <a:prstGeom prst="rect">
            <a:avLst/>
          </a:prstGeom>
        </p:spPr>
        <p:txBody>
          <a:bodyPr wrap="square" lIns="0" tIns="0" rIns="0" bIns="0" rtlCol="0" anchor="t">
            <a:spAutoFit/>
          </a:bodyPr>
          <a:lstStyle/>
          <a:p>
            <a:pPr algn="ctr">
              <a:lnSpc>
                <a:spcPts val="4295"/>
              </a:lnSpc>
            </a:pPr>
            <a:r>
              <a:rPr lang="en-US" sz="6000" b="1" dirty="0">
                <a:solidFill>
                  <a:schemeClr val="bg1"/>
                </a:solidFill>
                <a:latin typeface="Garet Bold" panose="020B0604020202020204" charset="0"/>
                <a:ea typeface="Garet"/>
                <a:cs typeface="Garet"/>
                <a:sym typeface="Garet"/>
              </a:rPr>
              <a:t>378</a:t>
            </a:r>
            <a:r>
              <a:rPr lang="en-US" sz="6000" dirty="0">
                <a:solidFill>
                  <a:schemeClr val="bg1"/>
                </a:solidFill>
                <a:latin typeface="Garet Bold" panose="020B0604020202020204" charset="0"/>
                <a:ea typeface="Garet"/>
                <a:cs typeface="Garet"/>
                <a:sym typeface="Garet"/>
              </a:rPr>
              <a:t> </a:t>
            </a:r>
          </a:p>
          <a:p>
            <a:pPr algn="ctr">
              <a:lnSpc>
                <a:spcPts val="4295"/>
              </a:lnSpc>
            </a:pPr>
            <a:r>
              <a:rPr lang="en-US" sz="3068" dirty="0" err="1">
                <a:solidFill>
                  <a:schemeClr val="bg1"/>
                </a:solidFill>
                <a:latin typeface="Garet"/>
                <a:ea typeface="Garet"/>
                <a:cs typeface="Garet"/>
                <a:sym typeface="Garet"/>
              </a:rPr>
              <a:t>presenças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em</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ações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integradas</a:t>
            </a:r>
            <a:r>
              <a:rPr lang="en-US" sz="3068" dirty="0">
                <a:solidFill>
                  <a:schemeClr val="bg1"/>
                </a:solidFill>
                <a:latin typeface="Garet"/>
                <a:ea typeface="Garet"/>
                <a:cs typeface="Garet"/>
                <a:sym typeface="Garet"/>
              </a:rPr>
              <a:t> à </a:t>
            </a:r>
            <a:r>
              <a:rPr lang="en-US" sz="3068" dirty="0" err="1">
                <a:solidFill>
                  <a:schemeClr val="bg1"/>
                </a:solidFill>
                <a:latin typeface="Garet"/>
                <a:ea typeface="Garet"/>
                <a:cs typeface="Garet"/>
                <a:sym typeface="Garet"/>
              </a:rPr>
              <a:t>exposição</a:t>
            </a:r>
            <a:endParaRPr lang="en-US" sz="3068" dirty="0">
              <a:solidFill>
                <a:schemeClr val="bg1"/>
              </a:solidFill>
              <a:latin typeface="Garet"/>
              <a:ea typeface="Garet"/>
              <a:cs typeface="Garet"/>
              <a:sym typeface="Gare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FDA7-B291-C22D-9667-DA9A5DD46A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54F1D-16E1-FA8F-8C1C-5D689D9903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10" name="TextBox 10">
            <a:extLst>
              <a:ext uri="{FF2B5EF4-FFF2-40B4-BE49-F238E27FC236}">
                <a16:creationId xmlns:a16="http://schemas.microsoft.com/office/drawing/2014/main" id="{D7F082A3-D60F-1AAB-1517-60689FB4FD8C}"/>
              </a:ext>
            </a:extLst>
          </p:cNvPr>
          <p:cNvSpPr txBox="1"/>
          <p:nvPr/>
        </p:nvSpPr>
        <p:spPr>
          <a:xfrm>
            <a:off x="394651" y="1346835"/>
            <a:ext cx="8749349" cy="3066224"/>
          </a:xfrm>
          <a:prstGeom prst="rect">
            <a:avLst/>
          </a:prstGeom>
        </p:spPr>
        <p:txBody>
          <a:bodyPr wrap="square" lIns="0" tIns="0" rIns="0" bIns="0" rtlCol="0" anchor="t">
            <a:spAutoFit/>
          </a:bodyPr>
          <a:lstStyle/>
          <a:p>
            <a:pPr algn="r">
              <a:lnSpc>
                <a:spcPts val="5808"/>
              </a:lnSpc>
            </a:pPr>
            <a:r>
              <a:rPr lang="en-US" sz="5808" spc="-458" dirty="0">
                <a:solidFill>
                  <a:srgbClr val="000000"/>
                </a:solidFill>
                <a:latin typeface="Garet Bold" panose="020B0604020202020204" charset="0"/>
                <a:ea typeface="Archivo Black"/>
                <a:cs typeface="Archivo Black"/>
                <a:sym typeface="Archivo Black"/>
              </a:rPr>
              <a:t> </a:t>
            </a:r>
          </a:p>
          <a:p>
            <a:pPr marL="0" lvl="0" indent="0" algn="r">
              <a:lnSpc>
                <a:spcPts val="5808"/>
              </a:lnSpc>
              <a:spcBef>
                <a:spcPct val="0"/>
              </a:spcBef>
            </a:pPr>
            <a:r>
              <a:rPr lang="en-US" sz="7200" b="1" spc="-458" dirty="0">
                <a:solidFill>
                  <a:srgbClr val="000000"/>
                </a:solidFill>
                <a:latin typeface="Garet Bold" panose="020B0604020202020204" charset="0"/>
                <a:ea typeface="Archivo Black"/>
                <a:cs typeface="Archivo Black"/>
                <a:sym typeface="Archivo Black"/>
              </a:rPr>
              <a:t>04 </a:t>
            </a:r>
            <a:r>
              <a:rPr lang="en-US" sz="7200" b="1" spc="-458" dirty="0" err="1">
                <a:solidFill>
                  <a:srgbClr val="000000"/>
                </a:solidFill>
                <a:latin typeface="Garet Bold" panose="020B0604020202020204" charset="0"/>
                <a:ea typeface="Archivo Black"/>
                <a:cs typeface="Archivo Black"/>
                <a:sym typeface="Archivo Black"/>
              </a:rPr>
              <a:t>instituições</a:t>
            </a:r>
            <a:endParaRPr lang="en-US" sz="7200" b="1" spc="-458" dirty="0">
              <a:solidFill>
                <a:srgbClr val="000000"/>
              </a:solidFill>
              <a:latin typeface="Garet Bold" panose="020B0604020202020204" charset="0"/>
              <a:ea typeface="Archivo Black"/>
              <a:cs typeface="Archivo Black"/>
              <a:sym typeface="Archivo Black"/>
            </a:endParaRPr>
          </a:p>
          <a:p>
            <a:pPr algn="r">
              <a:lnSpc>
                <a:spcPts val="5808"/>
              </a:lnSpc>
              <a:spcBef>
                <a:spcPct val="0"/>
              </a:spcBef>
            </a:pPr>
            <a:r>
              <a:rPr lang="en-US" sz="4000" spc="-458" dirty="0" err="1">
                <a:solidFill>
                  <a:srgbClr val="000000"/>
                </a:solidFill>
                <a:latin typeface="Garet" panose="020B0604020202020204" charset="0"/>
                <a:ea typeface="Archivo Black"/>
                <a:cs typeface="Archivo Black"/>
                <a:sym typeface="Archivo Black"/>
              </a:rPr>
              <a:t>destaques</a:t>
            </a:r>
            <a:r>
              <a:rPr lang="en-US" sz="4000" spc="-458" dirty="0">
                <a:solidFill>
                  <a:srgbClr val="000000"/>
                </a:solidFill>
                <a:latin typeface="Garet" panose="020B0604020202020204" charset="0"/>
                <a:ea typeface="Archivo Black"/>
                <a:cs typeface="Archivo Black"/>
                <a:sym typeface="Archivo Black"/>
              </a:rPr>
              <a:t> entre as </a:t>
            </a:r>
            <a:r>
              <a:rPr lang="en-US" sz="4000" spc="-458" dirty="0" err="1">
                <a:solidFill>
                  <a:srgbClr val="000000"/>
                </a:solidFill>
                <a:latin typeface="Garet" panose="020B0604020202020204" charset="0"/>
                <a:ea typeface="Archivo Black"/>
                <a:cs typeface="Archivo Black"/>
                <a:sym typeface="Archivo Black"/>
              </a:rPr>
              <a:t>instituições</a:t>
            </a:r>
            <a:r>
              <a:rPr lang="en-US" sz="4000" spc="-458" dirty="0">
                <a:solidFill>
                  <a:srgbClr val="000000"/>
                </a:solidFill>
                <a:latin typeface="Garet" panose="020B0604020202020204" charset="0"/>
                <a:ea typeface="Archivo Black"/>
                <a:cs typeface="Archivo Black"/>
                <a:sym typeface="Archivo Black"/>
              </a:rPr>
              <a:t> </a:t>
            </a:r>
            <a:r>
              <a:rPr lang="en-US" sz="4000" spc="-458" dirty="0" err="1">
                <a:solidFill>
                  <a:srgbClr val="000000"/>
                </a:solidFill>
                <a:latin typeface="Garet" panose="020B0604020202020204" charset="0"/>
                <a:ea typeface="Archivo Black"/>
                <a:cs typeface="Archivo Black"/>
                <a:sym typeface="Archivo Black"/>
              </a:rPr>
              <a:t>recebidas</a:t>
            </a:r>
            <a:endParaRPr lang="en-US" sz="5400" spc="-458" dirty="0">
              <a:solidFill>
                <a:srgbClr val="000000"/>
              </a:solidFill>
              <a:latin typeface="Garet" panose="020B0604020202020204" charset="0"/>
              <a:ea typeface="Archivo Black"/>
              <a:cs typeface="Archivo Black"/>
              <a:sym typeface="Archivo Black"/>
            </a:endParaRPr>
          </a:p>
          <a:p>
            <a:pPr marL="0" lvl="0" indent="0" algn="r">
              <a:lnSpc>
                <a:spcPts val="5808"/>
              </a:lnSpc>
              <a:spcBef>
                <a:spcPct val="0"/>
              </a:spcBef>
            </a:pPr>
            <a:endParaRPr lang="en-US" sz="7200" b="1" spc="-458" dirty="0">
              <a:solidFill>
                <a:srgbClr val="000000"/>
              </a:solidFill>
              <a:latin typeface="Garet Bold" panose="020B0604020202020204" charset="0"/>
              <a:ea typeface="Archivo Black"/>
              <a:cs typeface="Archivo Black"/>
              <a:sym typeface="Archivo Black"/>
            </a:endParaRPr>
          </a:p>
        </p:txBody>
      </p:sp>
      <p:sp>
        <p:nvSpPr>
          <p:cNvPr id="3" name="TextBox 13">
            <a:extLst>
              <a:ext uri="{FF2B5EF4-FFF2-40B4-BE49-F238E27FC236}">
                <a16:creationId xmlns:a16="http://schemas.microsoft.com/office/drawing/2014/main" id="{443776A8-5BF1-5C6C-FDAB-3F0211A9B258}"/>
              </a:ext>
            </a:extLst>
          </p:cNvPr>
          <p:cNvSpPr txBox="1"/>
          <p:nvPr/>
        </p:nvSpPr>
        <p:spPr>
          <a:xfrm>
            <a:off x="6172200" y="4076700"/>
            <a:ext cx="11414218" cy="2154436"/>
          </a:xfrm>
          <a:prstGeom prst="rect">
            <a:avLst/>
          </a:prstGeom>
        </p:spPr>
        <p:txBody>
          <a:bodyPr wrap="square" lIns="0" tIns="0" rIns="0" bIns="0" numCol="1" rtlCol="0" anchor="t">
            <a:spAutoFit/>
          </a:bodyPr>
          <a:lstStyle/>
          <a:p>
            <a:pPr marL="285750" indent="-285750">
              <a:buFont typeface="Arial" panose="020B0604020202020204" pitchFamily="34" charset="0"/>
              <a:buChar char="•"/>
            </a:pPr>
            <a:r>
              <a:rPr lang="pt-BR" sz="2800" dirty="0">
                <a:latin typeface="Garet" panose="020B0604020202020204" charset="0"/>
              </a:rPr>
              <a:t>Senac Tito</a:t>
            </a:r>
          </a:p>
          <a:p>
            <a:pPr marL="285750" indent="-285750">
              <a:buFont typeface="Arial" panose="020B0604020202020204" pitchFamily="34" charset="0"/>
              <a:buChar char="•"/>
            </a:pPr>
            <a:r>
              <a:rPr lang="pt-BR" sz="2800" dirty="0">
                <a:latin typeface="Garet" panose="020B0604020202020204" charset="0"/>
              </a:rPr>
              <a:t>Senac Aclimação</a:t>
            </a:r>
          </a:p>
          <a:p>
            <a:pPr marL="285750" indent="-285750">
              <a:buFont typeface="Arial" panose="020B0604020202020204" pitchFamily="34" charset="0"/>
              <a:buChar char="•"/>
            </a:pPr>
            <a:r>
              <a:rPr lang="pt-BR" sz="2800" dirty="0">
                <a:latin typeface="Garet" panose="020B0604020202020204" charset="0"/>
              </a:rPr>
              <a:t>Senac Scipião</a:t>
            </a:r>
          </a:p>
          <a:p>
            <a:pPr marL="285750" indent="-285750">
              <a:buFont typeface="Arial" panose="020B0604020202020204" pitchFamily="34" charset="0"/>
              <a:buChar char="•"/>
            </a:pPr>
            <a:r>
              <a:rPr lang="pt-BR" sz="2800" dirty="0">
                <a:latin typeface="Garet" panose="020B0604020202020204" charset="0"/>
              </a:rPr>
              <a:t>Diretoria Regional de Educação Pirituba/Jaraguá</a:t>
            </a:r>
          </a:p>
          <a:p>
            <a:pPr marL="285750" indent="-285750">
              <a:buFont typeface="Arial" panose="020B0604020202020204" pitchFamily="34" charset="0"/>
              <a:buChar char="•"/>
            </a:pPr>
            <a:endParaRPr lang="pt-BR" sz="2800" dirty="0">
              <a:latin typeface="Garet" panose="020B0604020202020204" charset="0"/>
            </a:endParaRPr>
          </a:p>
        </p:txBody>
      </p:sp>
    </p:spTree>
    <p:extLst>
      <p:ext uri="{BB962C8B-B14F-4D97-AF65-F5344CB8AC3E}">
        <p14:creationId xmlns:p14="http://schemas.microsoft.com/office/powerpoint/2010/main" val="5118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CCE2-E305-C8FD-6565-4BD621ABAF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06378A-EAC4-8AEB-EDA8-925CE16AA0A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A473A619-A185-7E13-FFE9-28DA349F71B9}"/>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4FF2528C-549B-D853-2A77-2C0445ED0DA1}"/>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FFCC4CE1-9A99-AC19-04E4-B1FCEF0982B2}"/>
              </a:ext>
            </a:extLst>
          </p:cNvPr>
          <p:cNvSpPr txBox="1"/>
          <p:nvPr/>
        </p:nvSpPr>
        <p:spPr>
          <a:xfrm>
            <a:off x="457200" y="570086"/>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pic>
        <p:nvPicPr>
          <p:cNvPr id="9" name="Imagem 8" descr="Grupo de pessoas sentadas ao redor de uma mesa&#10;&#10;O conteúdo gerado por IA pode estar incorreto.">
            <a:extLst>
              <a:ext uri="{FF2B5EF4-FFF2-40B4-BE49-F238E27FC236}">
                <a16:creationId xmlns:a16="http://schemas.microsoft.com/office/drawing/2014/main" id="{43975A92-855C-0936-5D73-CB34ACD2F7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24996" y="1881177"/>
            <a:ext cx="8505803" cy="6383342"/>
          </a:xfrm>
          <a:prstGeom prst="rect">
            <a:avLst/>
          </a:prstGeom>
        </p:spPr>
      </p:pic>
      <p:pic>
        <p:nvPicPr>
          <p:cNvPr id="11" name="Imagem 10" descr="Homem com roupa laranja&#10;&#10;O conteúdo gerado por IA pode estar incorreto.">
            <a:extLst>
              <a:ext uri="{FF2B5EF4-FFF2-40B4-BE49-F238E27FC236}">
                <a16:creationId xmlns:a16="http://schemas.microsoft.com/office/drawing/2014/main" id="{2BD892BD-06D7-8FA4-713E-A8BC02F0D5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600" y="1904997"/>
            <a:ext cx="8257264" cy="6192948"/>
          </a:xfrm>
          <a:prstGeom prst="rect">
            <a:avLst/>
          </a:prstGeom>
        </p:spPr>
      </p:pic>
    </p:spTree>
    <p:extLst>
      <p:ext uri="{BB962C8B-B14F-4D97-AF65-F5344CB8AC3E}">
        <p14:creationId xmlns:p14="http://schemas.microsoft.com/office/powerpoint/2010/main" val="3244445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78B6-8BFD-D9C1-2853-5A36DCC445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8A35FE-BE79-76FA-B59D-C338340490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B6701DC7-DF15-38C6-06BF-63EA819EE8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85499EDC-E752-8A1F-9CFD-86AD814CB5CD}"/>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BAFB028F-DD5B-A5DB-2613-C9D9135DB747}"/>
              </a:ext>
            </a:extLst>
          </p:cNvPr>
          <p:cNvSpPr txBox="1"/>
          <p:nvPr/>
        </p:nvSpPr>
        <p:spPr>
          <a:xfrm>
            <a:off x="402275" y="570086"/>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pic>
        <p:nvPicPr>
          <p:cNvPr id="10" name="Imagem 9" descr="Grupo de pessoas na frente de um prédio&#10;&#10;O conteúdo gerado por IA pode estar incorreto.">
            <a:extLst>
              <a:ext uri="{FF2B5EF4-FFF2-40B4-BE49-F238E27FC236}">
                <a16:creationId xmlns:a16="http://schemas.microsoft.com/office/drawing/2014/main" id="{D0F32674-E50E-D707-F778-C2C6AF440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493840"/>
            <a:ext cx="10134600" cy="7600950"/>
          </a:xfrm>
          <a:prstGeom prst="rect">
            <a:avLst/>
          </a:prstGeom>
        </p:spPr>
      </p:pic>
      <p:pic>
        <p:nvPicPr>
          <p:cNvPr id="13" name="Imagem 12" descr="Pessoas ao redor de uma mesa&#10;&#10;O conteúdo gerado por IA pode estar incorreto.">
            <a:extLst>
              <a:ext uri="{FF2B5EF4-FFF2-40B4-BE49-F238E27FC236}">
                <a16:creationId xmlns:a16="http://schemas.microsoft.com/office/drawing/2014/main" id="{A6A479CC-FAAD-CD80-A188-F544E07A00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38098" y="867965"/>
            <a:ext cx="6413302" cy="8551069"/>
          </a:xfrm>
          <a:prstGeom prst="rect">
            <a:avLst/>
          </a:prstGeom>
        </p:spPr>
      </p:pic>
    </p:spTree>
    <p:extLst>
      <p:ext uri="{BB962C8B-B14F-4D97-AF65-F5344CB8AC3E}">
        <p14:creationId xmlns:p14="http://schemas.microsoft.com/office/powerpoint/2010/main" val="331806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5BED3-5ED9-4238-7A51-9560FFEFC6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4BF215-012C-0BB6-7FA7-34B16A29D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F8736DF3-8994-D83D-8F8B-AF08375CB210}"/>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27C2E4A0-364C-8305-CAA4-B3CF496D42E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10EFF2F3-EC3D-B0B2-4235-175D4F8E8FA0}"/>
              </a:ext>
            </a:extLst>
          </p:cNvPr>
          <p:cNvSpPr txBox="1"/>
          <p:nvPr/>
        </p:nvSpPr>
        <p:spPr>
          <a:xfrm>
            <a:off x="381000" y="570086"/>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pic>
        <p:nvPicPr>
          <p:cNvPr id="10" name="Imagem 9" descr="Grupo de pessoas sentadas no chão&#10;&#10;O conteúdo gerado por IA pode estar incorreto.">
            <a:extLst>
              <a:ext uri="{FF2B5EF4-FFF2-40B4-BE49-F238E27FC236}">
                <a16:creationId xmlns:a16="http://schemas.microsoft.com/office/drawing/2014/main" id="{414FC364-50D9-03F7-B299-26B0CFBE7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481140"/>
            <a:ext cx="10471147" cy="7853360"/>
          </a:xfrm>
          <a:prstGeom prst="rect">
            <a:avLst/>
          </a:prstGeom>
        </p:spPr>
      </p:pic>
      <p:pic>
        <p:nvPicPr>
          <p:cNvPr id="13" name="Imagem 12" descr="Multidão de pessoas&#10;&#10;O conteúdo gerado por IA pode estar incorreto.">
            <a:extLst>
              <a:ext uri="{FF2B5EF4-FFF2-40B4-BE49-F238E27FC236}">
                <a16:creationId xmlns:a16="http://schemas.microsoft.com/office/drawing/2014/main" id="{E275C490-23DF-AFA1-01F8-DF6E242DF3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48748" y="1481140"/>
            <a:ext cx="4423650" cy="7853360"/>
          </a:xfrm>
          <a:prstGeom prst="rect">
            <a:avLst/>
          </a:prstGeom>
        </p:spPr>
      </p:pic>
    </p:spTree>
    <p:extLst>
      <p:ext uri="{BB962C8B-B14F-4D97-AF65-F5344CB8AC3E}">
        <p14:creationId xmlns:p14="http://schemas.microsoft.com/office/powerpoint/2010/main" val="155765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70880-D7F0-D1DD-9E5A-F8EBAA9875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B37E84-BBA7-4456-832A-1EA0A5EBA1F3}"/>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p>
        </p:txBody>
      </p:sp>
      <p:sp>
        <p:nvSpPr>
          <p:cNvPr id="3" name="AutoShape 3">
            <a:extLst>
              <a:ext uri="{FF2B5EF4-FFF2-40B4-BE49-F238E27FC236}">
                <a16:creationId xmlns:a16="http://schemas.microsoft.com/office/drawing/2014/main" id="{6D77A73D-44E1-C963-02A5-47D1306655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1DDB1F2C-42E9-4A15-4C2C-40543DD6C5B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5" name="CaixaDeTexto 4">
            <a:extLst>
              <a:ext uri="{FF2B5EF4-FFF2-40B4-BE49-F238E27FC236}">
                <a16:creationId xmlns:a16="http://schemas.microsoft.com/office/drawing/2014/main" id="{4CE73D96-3DD4-EE33-2465-57DA341C894D}"/>
              </a:ext>
            </a:extLst>
          </p:cNvPr>
          <p:cNvSpPr txBox="1"/>
          <p:nvPr/>
        </p:nvSpPr>
        <p:spPr>
          <a:xfrm>
            <a:off x="228600" y="342900"/>
            <a:ext cx="17754600" cy="6740307"/>
          </a:xfrm>
          <a:prstGeom prst="rect">
            <a:avLst/>
          </a:prstGeom>
          <a:noFill/>
        </p:spPr>
        <p:txBody>
          <a:bodyPr wrap="square" numCol="2" spcCol="360000" rtlCol="0">
            <a:spAutoFit/>
          </a:bodyPr>
          <a:lstStyle/>
          <a:p>
            <a:r>
              <a:rPr lang="pt-BR" dirty="0"/>
              <a:t>SESC – SERVIÇO SOCIAL DO COMÉRCIO</a:t>
            </a:r>
          </a:p>
          <a:p>
            <a:r>
              <a:rPr lang="pt-BR" dirty="0"/>
              <a:t>Administração Regional no Estado de São Paulo</a:t>
            </a:r>
          </a:p>
          <a:p>
            <a:endParaRPr lang="pt-BR" dirty="0"/>
          </a:p>
          <a:p>
            <a:r>
              <a:rPr lang="pt-BR" dirty="0"/>
              <a:t>Presidente do Conselho Regional</a:t>
            </a:r>
          </a:p>
          <a:p>
            <a:r>
              <a:rPr lang="pt-BR" dirty="0"/>
              <a:t>ABRAM SZAJMAN</a:t>
            </a:r>
          </a:p>
          <a:p>
            <a:endParaRPr lang="pt-BR" dirty="0"/>
          </a:p>
          <a:p>
            <a:r>
              <a:rPr lang="pt-BR" dirty="0"/>
              <a:t>Diretor do Departamento Regional</a:t>
            </a:r>
          </a:p>
          <a:p>
            <a:r>
              <a:rPr lang="pt-BR" dirty="0"/>
              <a:t>LUIZ DEOCLÉCIO MASSARO GALINA</a:t>
            </a:r>
          </a:p>
          <a:p>
            <a:endParaRPr lang="pt-BR" dirty="0"/>
          </a:p>
          <a:p>
            <a:r>
              <a:rPr lang="pt-BR" dirty="0"/>
              <a:t>Superintendentes</a:t>
            </a:r>
          </a:p>
          <a:p>
            <a:r>
              <a:rPr lang="pt-BR" dirty="0"/>
              <a:t>Técnico-social ROSANA PAULO DA CUNHA</a:t>
            </a:r>
          </a:p>
          <a:p>
            <a:r>
              <a:rPr lang="pt-BR" dirty="0"/>
              <a:t>Comunicação social RICARDO GENTIL</a:t>
            </a:r>
          </a:p>
          <a:p>
            <a:r>
              <a:rPr lang="pt-BR" dirty="0"/>
              <a:t>Administração JACKSON ANDRADE DE MATOS</a:t>
            </a:r>
          </a:p>
          <a:p>
            <a:r>
              <a:rPr lang="pt-BR" dirty="0"/>
              <a:t>Assessoria técnica e de planejamento MARTA RAQUEL COLABONE</a:t>
            </a:r>
          </a:p>
          <a:p>
            <a:r>
              <a:rPr lang="pt-BR" dirty="0"/>
              <a:t>Assessoria Jurídica</a:t>
            </a:r>
          </a:p>
          <a:p>
            <a:r>
              <a:rPr lang="pt-BR" dirty="0"/>
              <a:t>Carla Bertucci Barbieri</a:t>
            </a:r>
          </a:p>
          <a:p>
            <a:endParaRPr lang="pt-BR" dirty="0"/>
          </a:p>
          <a:p>
            <a:r>
              <a:rPr lang="pt-BR" dirty="0"/>
              <a:t>Gerentes</a:t>
            </a:r>
          </a:p>
          <a:p>
            <a:r>
              <a:rPr lang="pt-BR" dirty="0"/>
              <a:t>Artes visuais e tecnologia JULIANA BRAGA DE MATTOS</a:t>
            </a:r>
          </a:p>
          <a:p>
            <a:r>
              <a:rPr lang="pt-BR" dirty="0"/>
              <a:t>Estudos e desenvolvimento JOÃO PAULO GUADANUCCI</a:t>
            </a:r>
          </a:p>
          <a:p>
            <a:r>
              <a:rPr lang="pt-BR" dirty="0"/>
              <a:t>Artes gráficas ROGÉRIO IANELLI</a:t>
            </a:r>
          </a:p>
          <a:p>
            <a:r>
              <a:rPr lang="pt-BR" dirty="0"/>
              <a:t>Sesc Pompeia KELLY ADRIANO DE OLIVEIRA</a:t>
            </a:r>
          </a:p>
          <a:p>
            <a:endParaRPr lang="pt-BR" dirty="0"/>
          </a:p>
          <a:p>
            <a:endParaRPr lang="pt-BR" dirty="0"/>
          </a:p>
          <a:p>
            <a:r>
              <a:rPr lang="pt-BR" dirty="0"/>
              <a:t>Equipe Sesc</a:t>
            </a:r>
          </a:p>
          <a:p>
            <a:r>
              <a:rPr lang="pt-BR" dirty="0"/>
              <a:t>ADRIANA DIAS, ADRIANO ALVES, ALEXANDRE LEOPOLDINO, ALINE MOREIRA TAFNER, ANA FEITOSA, ANDRÉ LEITE COELHO, CAMILA CASTRO, DANIEL RAMOS, ELAINE BARROS MARTINS, FERNANDA CONEJERO, JOSÉ RENATO ALEGRETI DIAS, LAIS SILVEIRA, LIGIA ZAMARO, LILIAN AMBAR, LUCIANA PORANGABA, MARIANA LINS PRADO, MARINA PINHEIRO, MAURO MARÇAL, PABLO PEREZ, PAULO DELGADO, PEDRO LEME, RAFAEL DELLA GATTA SOARES, REGIANE GOMES, ROBSON LIMA, ROGÉRIO RODRIGUES, SILVIO LUIZ DA SILVA.</a:t>
            </a:r>
          </a:p>
          <a:p>
            <a:endParaRPr lang="pt-BR" dirty="0"/>
          </a:p>
          <a:p>
            <a:endParaRPr lang="pt-BR" dirty="0"/>
          </a:p>
          <a:p>
            <a:endParaRPr lang="pt-BR" dirty="0"/>
          </a:p>
          <a:p>
            <a:r>
              <a:rPr lang="pt-BR" dirty="0"/>
              <a:t>Produção executiva e Coordenação de produção FABIANA FARIAS Produção JULIA HALLAL e THAIS PEDROSO Assistentes da Artista BIANCA WALBER, CASSIS, RAFAEL, RAYANNE TEODORO, SHAMY FERREIRA E LUIS CARLOS Acompanhamento Curatorial TATIANA NASCIMENTO Projeto de Audiovisual MIT ARTE - PATRÍCIA MESQUITA Animação e Vídeo Mapping JOÃO AUTOMOTION Fotografia PETALA LOPES Projeto Expográfico AUDREY CAROLINI e BIANCA WALBER Assistente de Projeto Expográfico PAMELA AYUMI Projeto Luminotécnico CAMILLE LAURENT Identidade Visual e Projeto Gráfico ALLES BLAU Comunicação Visual SG COMUNICAÇÃO VISUAL Acessibilidade A LÍNGUA Coordenação Educativa ORNELLA RODRIGUES Equipe Educativa DILMA SILVA (supervisão), SELMA MARIA (supervisão), C.B.O, HELENA RF, JOYCE EMANUELLE E SOFIA LISBOA Cenografia e montagem SECALL Montagem fina GALA Iluminação FBA PRODUÇÃO DE EVENTOS Multimídia LUZI Conservação CLÁUDIA GOBBI BAZANELLI E HELOISA BIANCALANA Transporte de obras de arte MORIWAY MUDANÇAS E TRANSPORTE</a:t>
            </a:r>
          </a:p>
          <a:p>
            <a:endParaRPr lang="pt-BR" dirty="0"/>
          </a:p>
        </p:txBody>
      </p:sp>
    </p:spTree>
    <p:extLst>
      <p:ext uri="{BB962C8B-B14F-4D97-AF65-F5344CB8AC3E}">
        <p14:creationId xmlns:p14="http://schemas.microsoft.com/office/powerpoint/2010/main" val="4056729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6F4AA543F6DF343AE125287C7372420" ma:contentTypeVersion="19" ma:contentTypeDescription="Crie um novo documento." ma:contentTypeScope="" ma:versionID="5c156ee47157b23bbb4d74133864e0c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e2d2199643eb1e463aea5ecf1739fc3c"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Marcações de imagem"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hes de Compartilhado Com"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xsi:nil="true"/>
  </documentManagement>
</p:properties>
</file>

<file path=customXml/itemProps1.xml><?xml version="1.0" encoding="utf-8"?>
<ds:datastoreItem xmlns:ds="http://schemas.openxmlformats.org/officeDocument/2006/customXml" ds:itemID="{322225F5-0A6E-4555-95E7-A03864958275}"/>
</file>

<file path=customXml/itemProps2.xml><?xml version="1.0" encoding="utf-8"?>
<ds:datastoreItem xmlns:ds="http://schemas.openxmlformats.org/officeDocument/2006/customXml" ds:itemID="{BED3F7AE-B181-44B9-BCBD-181EE60B0448}">
  <ds:schemaRefs>
    <ds:schemaRef ds:uri="http://schemas.microsoft.com/sharepoint/v3/contenttype/forms"/>
  </ds:schemaRefs>
</ds:datastoreItem>
</file>

<file path=customXml/itemProps3.xml><?xml version="1.0" encoding="utf-8"?>
<ds:datastoreItem xmlns:ds="http://schemas.openxmlformats.org/officeDocument/2006/customXml" ds:itemID="{C4216E51-BF42-4DF3-BB5F-F92C4A17FB27}">
  <ds:schemaRefs>
    <ds:schemaRef ds:uri="http://purl.org/dc/elements/1.1/"/>
    <ds:schemaRef ds:uri="http://purl.org/dc/dcmitype/"/>
    <ds:schemaRef ds:uri="0c3ae786-5e4f-419c-8a3f-0eb5f2beec7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2f0f1dc7-e081-4ee5-8ddc-4eb9cb678d23"/>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421</TotalTime>
  <Words>464</Words>
  <Application>Microsoft Office PowerPoint</Application>
  <PresentationFormat>Personalizar</PresentationFormat>
  <Paragraphs>92</Paragraphs>
  <Slides>12</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12</vt:i4>
      </vt:variant>
    </vt:vector>
  </HeadingPairs>
  <TitlesOfParts>
    <vt:vector size="19" baseType="lpstr">
      <vt:lpstr>Arial</vt:lpstr>
      <vt:lpstr>Calibri</vt:lpstr>
      <vt:lpstr>Garet</vt:lpstr>
      <vt:lpstr>Garet Bold</vt:lpstr>
      <vt:lpstr>Archivo Black</vt:lpstr>
      <vt:lpstr>Aptos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Assojaba Tupinamba</dc:title>
  <dc:creator>Leonardo Leme Bueno</dc:creator>
  <cp:lastModifiedBy>Leonardo Leme Bueno</cp:lastModifiedBy>
  <cp:revision>3</cp:revision>
  <dcterms:created xsi:type="dcterms:W3CDTF">2006-08-16T00:00:00Z</dcterms:created>
  <dcterms:modified xsi:type="dcterms:W3CDTF">2026-02-19T04:04:41Z</dcterms:modified>
  <dc:identifier>DAG38scdCyg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y fmtid="{D5CDD505-2E9C-101B-9397-08002B2CF9AE}" pid="3" name="MediaServiceImageTags">
    <vt:lpwstr/>
  </property>
</Properties>
</file>
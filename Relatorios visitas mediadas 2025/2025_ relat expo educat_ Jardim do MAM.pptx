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7.xml" ContentType="application/vnd.openxmlformats-officedocument.presentationml.slide+xml"/>
  <Override PartName="/ppt/slides/slide13.xml" ContentType="application/vnd.openxmlformats-officedocument.presentationml.slide+xml"/>
  <Override PartName="/ppt/slides/slide8.xml" ContentType="application/vnd.openxmlformats-officedocument.presentationml.slide+xml"/>
  <Override PartName="/ppt/slideLayouts/slideLayout3.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viewProps.xml" ContentType="application/vnd.openxmlformats-officedocument.presentationml.viewProps+xml"/>
  <Override PartName="/ppt/slideLayouts/slideLayout4.xml" ContentType="application/vnd.openxmlformats-officedocument.presentationml.slideLayout+xml"/>
  <Override PartName="/ppt/slides/slide4.xml" ContentType="application/vnd.openxmlformats-officedocument.presentationml.slide+xml"/>
  <Override PartName="/ppt/presProps.xml" ContentType="application/vnd.openxmlformats-officedocument.presentationml.presProps+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s/slide14.xml" ContentType="application/vnd.openxmlformats-officedocument.presentationml.slide+xml"/>
  <Override PartName="/ppt/slideLayouts/slideLayout11.xml" ContentType="application/vnd.openxmlformats-officedocument.presentationml.slideLayout+xml"/>
  <Override PartName="/ppt/slides/slide15.xml" ContentType="application/vnd.openxmlformats-officedocument.presentationml.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Clear Sans" panose="020B0604020202020204" charset="0"/>
      <p:regular r:id="rId20"/>
    </p:embeddedFont>
    <p:embeddedFont>
      <p:font typeface="Clear Sans Bold" panose="020B0604020202020204" charset="0"/>
      <p:regular r:id="rId21"/>
    </p:embeddedFont>
    <p:embeddedFont>
      <p:font typeface="Prachason Neue Mon SemiExpanded" panose="020B0604020202020204" charset="-34"/>
      <p:regular r:id="rId22"/>
    </p:embeddedFont>
    <p:embeddedFont>
      <p:font typeface="Prachason Neue Mon SemiExpanded Bold" panose="020B0604020202020204" charset="-3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972"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 Id="rId30"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3C3C3"/>
        </a:solidFill>
        <a:effectLst/>
      </p:bgPr>
    </p:bg>
    <p:spTree>
      <p:nvGrpSpPr>
        <p:cNvPr id="1" name=""/>
        <p:cNvGrpSpPr/>
        <p:nvPr/>
      </p:nvGrpSpPr>
      <p:grpSpPr>
        <a:xfrm>
          <a:off x="0" y="0"/>
          <a:ext cx="0" cy="0"/>
          <a:chOff x="0" y="0"/>
          <a:chExt cx="0" cy="0"/>
        </a:xfrm>
      </p:grpSpPr>
      <p:grpSp>
        <p:nvGrpSpPr>
          <p:cNvPr id="2" name="Group 2"/>
          <p:cNvGrpSpPr/>
          <p:nvPr/>
        </p:nvGrpSpPr>
        <p:grpSpPr>
          <a:xfrm>
            <a:off x="-1311230" y="5957422"/>
            <a:ext cx="21501971" cy="6601755"/>
            <a:chOff x="0" y="0"/>
            <a:chExt cx="635000" cy="194964"/>
          </a:xfrm>
        </p:grpSpPr>
        <p:sp>
          <p:nvSpPr>
            <p:cNvPr id="3" name="Freeform 3"/>
            <p:cNvSpPr/>
            <p:nvPr/>
          </p:nvSpPr>
          <p:spPr>
            <a:xfrm>
              <a:off x="0" y="0"/>
              <a:ext cx="635000" cy="194964"/>
            </a:xfrm>
            <a:custGeom>
              <a:avLst/>
              <a:gdLst/>
              <a:ahLst/>
              <a:cxnLst/>
              <a:rect l="l" t="t" r="r" b="b"/>
              <a:pathLst>
                <a:path w="635000" h="194964">
                  <a:moveTo>
                    <a:pt x="7032" y="0"/>
                  </a:moveTo>
                  <a:lnTo>
                    <a:pt x="627968" y="0"/>
                  </a:lnTo>
                  <a:cubicBezTo>
                    <a:pt x="631852" y="0"/>
                    <a:pt x="635000" y="3148"/>
                    <a:pt x="635000" y="7032"/>
                  </a:cubicBezTo>
                  <a:lnTo>
                    <a:pt x="635000" y="187932"/>
                  </a:lnTo>
                  <a:cubicBezTo>
                    <a:pt x="635000" y="189797"/>
                    <a:pt x="634259" y="191586"/>
                    <a:pt x="632940" y="192904"/>
                  </a:cubicBezTo>
                  <a:cubicBezTo>
                    <a:pt x="631621" y="194223"/>
                    <a:pt x="629833" y="194964"/>
                    <a:pt x="627968" y="194964"/>
                  </a:cubicBezTo>
                  <a:lnTo>
                    <a:pt x="7032" y="194964"/>
                  </a:lnTo>
                  <a:cubicBezTo>
                    <a:pt x="3148" y="194964"/>
                    <a:pt x="0" y="191816"/>
                    <a:pt x="0" y="187932"/>
                  </a:cubicBezTo>
                  <a:lnTo>
                    <a:pt x="0" y="7032"/>
                  </a:lnTo>
                  <a:cubicBezTo>
                    <a:pt x="0" y="3148"/>
                    <a:pt x="3148" y="0"/>
                    <a:pt x="7032" y="0"/>
                  </a:cubicBezTo>
                  <a:close/>
                </a:path>
              </a:pathLst>
            </a:custGeom>
            <a:solidFill>
              <a:srgbClr val="AA8582"/>
            </a:solidFill>
          </p:spPr>
          <p:txBody>
            <a:bodyPr/>
            <a:lstStyle/>
            <a:p>
              <a:endParaRPr lang="pt-BR"/>
            </a:p>
          </p:txBody>
        </p:sp>
        <p:sp>
          <p:nvSpPr>
            <p:cNvPr id="4" name="TextBox 4"/>
            <p:cNvSpPr txBox="1"/>
            <p:nvPr/>
          </p:nvSpPr>
          <p:spPr>
            <a:xfrm>
              <a:off x="0" y="-38100"/>
              <a:ext cx="635000" cy="23306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4644" y="2852268"/>
            <a:ext cx="18352644" cy="4915887"/>
            <a:chOff x="0" y="0"/>
            <a:chExt cx="711200" cy="190500"/>
          </a:xfrm>
        </p:grpSpPr>
        <p:sp>
          <p:nvSpPr>
            <p:cNvPr id="6" name="Freeform 6"/>
            <p:cNvSpPr/>
            <p:nvPr/>
          </p:nvSpPr>
          <p:spPr>
            <a:xfrm>
              <a:off x="0" y="0"/>
              <a:ext cx="711200" cy="190500"/>
            </a:xfrm>
            <a:custGeom>
              <a:avLst/>
              <a:gdLst/>
              <a:ahLst/>
              <a:cxnLst/>
              <a:rect l="l" t="t" r="r" b="b"/>
              <a:pathLst>
                <a:path w="711200" h="190500">
                  <a:moveTo>
                    <a:pt x="711200" y="0"/>
                  </a:moveTo>
                  <a:lnTo>
                    <a:pt x="711200" y="142894"/>
                  </a:lnTo>
                  <a:cubicBezTo>
                    <a:pt x="651933" y="142894"/>
                    <a:pt x="651933" y="190500"/>
                    <a:pt x="592667" y="190500"/>
                  </a:cubicBezTo>
                  <a:cubicBezTo>
                    <a:pt x="533381" y="190500"/>
                    <a:pt x="533381" y="142894"/>
                    <a:pt x="474115" y="142894"/>
                  </a:cubicBezTo>
                  <a:cubicBezTo>
                    <a:pt x="414848" y="142894"/>
                    <a:pt x="414848" y="190500"/>
                    <a:pt x="355581" y="190500"/>
                  </a:cubicBezTo>
                  <a:cubicBezTo>
                    <a:pt x="296315" y="190500"/>
                    <a:pt x="296315" y="142894"/>
                    <a:pt x="237048" y="142894"/>
                  </a:cubicBezTo>
                  <a:cubicBezTo>
                    <a:pt x="177781" y="142894"/>
                    <a:pt x="177781" y="190500"/>
                    <a:pt x="118533" y="190500"/>
                  </a:cubicBezTo>
                  <a:cubicBezTo>
                    <a:pt x="59267" y="190500"/>
                    <a:pt x="59267" y="142894"/>
                    <a:pt x="0" y="142894"/>
                  </a:cubicBezTo>
                  <a:lnTo>
                    <a:pt x="0" y="0"/>
                  </a:lnTo>
                  <a:cubicBezTo>
                    <a:pt x="59267" y="0"/>
                    <a:pt x="59267" y="47606"/>
                    <a:pt x="118533" y="47606"/>
                  </a:cubicBezTo>
                  <a:cubicBezTo>
                    <a:pt x="177781" y="47606"/>
                    <a:pt x="177781" y="0"/>
                    <a:pt x="237048" y="0"/>
                  </a:cubicBezTo>
                  <a:cubicBezTo>
                    <a:pt x="296315" y="0"/>
                    <a:pt x="296315" y="47606"/>
                    <a:pt x="355581" y="47606"/>
                  </a:cubicBezTo>
                  <a:cubicBezTo>
                    <a:pt x="414848" y="47606"/>
                    <a:pt x="414848" y="0"/>
                    <a:pt x="474115" y="0"/>
                  </a:cubicBezTo>
                  <a:cubicBezTo>
                    <a:pt x="533381" y="0"/>
                    <a:pt x="533381" y="47606"/>
                    <a:pt x="592667" y="47606"/>
                  </a:cubicBezTo>
                  <a:cubicBezTo>
                    <a:pt x="651933" y="47606"/>
                    <a:pt x="651933" y="0"/>
                    <a:pt x="711200" y="0"/>
                  </a:cubicBezTo>
                  <a:close/>
                </a:path>
              </a:pathLst>
            </a:custGeom>
            <a:solidFill>
              <a:srgbClr val="556447"/>
            </a:solidFill>
          </p:spPr>
          <p:txBody>
            <a:bodyPr/>
            <a:lstStyle/>
            <a:p>
              <a:endParaRPr lang="pt-BR"/>
            </a:p>
          </p:txBody>
        </p:sp>
        <p:sp>
          <p:nvSpPr>
            <p:cNvPr id="7" name="TextBox 7"/>
            <p:cNvSpPr txBox="1"/>
            <p:nvPr/>
          </p:nvSpPr>
          <p:spPr>
            <a:xfrm>
              <a:off x="0" y="12700"/>
              <a:ext cx="711200" cy="1270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109028" y="5604874"/>
            <a:ext cx="22946170" cy="6927146"/>
            <a:chOff x="0" y="0"/>
            <a:chExt cx="673100" cy="203200"/>
          </a:xfrm>
        </p:grpSpPr>
        <p:sp>
          <p:nvSpPr>
            <p:cNvPr id="9" name="Freeform 9"/>
            <p:cNvSpPr/>
            <p:nvPr/>
          </p:nvSpPr>
          <p:spPr>
            <a:xfrm>
              <a:off x="0" y="743"/>
              <a:ext cx="673100" cy="201713"/>
            </a:xfrm>
            <a:custGeom>
              <a:avLst/>
              <a:gdLst/>
              <a:ahLst/>
              <a:cxnLst/>
              <a:rect l="l" t="t" r="r" b="b"/>
              <a:pathLst>
                <a:path w="673100" h="201713">
                  <a:moveTo>
                    <a:pt x="339090" y="38627"/>
                  </a:moveTo>
                  <a:cubicBezTo>
                    <a:pt x="452120" y="5607"/>
                    <a:pt x="562610" y="-27413"/>
                    <a:pt x="673100" y="36087"/>
                  </a:cubicBezTo>
                  <a:lnTo>
                    <a:pt x="673100" y="156737"/>
                  </a:lnTo>
                  <a:cubicBezTo>
                    <a:pt x="558800" y="95777"/>
                    <a:pt x="444500" y="130067"/>
                    <a:pt x="334010" y="163087"/>
                  </a:cubicBezTo>
                  <a:cubicBezTo>
                    <a:pt x="220980" y="196107"/>
                    <a:pt x="110490" y="229127"/>
                    <a:pt x="0" y="165627"/>
                  </a:cubicBezTo>
                  <a:lnTo>
                    <a:pt x="0" y="44977"/>
                  </a:lnTo>
                  <a:cubicBezTo>
                    <a:pt x="114300" y="105937"/>
                    <a:pt x="228600" y="71647"/>
                    <a:pt x="339090" y="38627"/>
                  </a:cubicBezTo>
                  <a:close/>
                </a:path>
              </a:pathLst>
            </a:custGeom>
            <a:solidFill>
              <a:srgbClr val="D38753"/>
            </a:solidFill>
          </p:spPr>
          <p:txBody>
            <a:bodyPr/>
            <a:lstStyle/>
            <a:p>
              <a:endParaRPr lang="pt-BR"/>
            </a:p>
          </p:txBody>
        </p:sp>
        <p:sp>
          <p:nvSpPr>
            <p:cNvPr id="10" name="TextBox 10"/>
            <p:cNvSpPr txBox="1"/>
            <p:nvPr/>
          </p:nvSpPr>
          <p:spPr>
            <a:xfrm>
              <a:off x="0" y="12700"/>
              <a:ext cx="673100" cy="1397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028700" y="1028700"/>
            <a:ext cx="5680158" cy="1164768"/>
          </a:xfrm>
          <a:custGeom>
            <a:avLst/>
            <a:gdLst/>
            <a:ahLst/>
            <a:cxnLst/>
            <a:rect l="l" t="t" r="r" b="b"/>
            <a:pathLst>
              <a:path w="5680158" h="1164768">
                <a:moveTo>
                  <a:pt x="0" y="0"/>
                </a:moveTo>
                <a:lnTo>
                  <a:pt x="5680158" y="0"/>
                </a:lnTo>
                <a:lnTo>
                  <a:pt x="5680158" y="1164768"/>
                </a:lnTo>
                <a:lnTo>
                  <a:pt x="0" y="1164768"/>
                </a:lnTo>
                <a:lnTo>
                  <a:pt x="0" y="0"/>
                </a:lnTo>
                <a:close/>
              </a:path>
            </a:pathLst>
          </a:custGeom>
          <a:blipFill>
            <a:blip r:embed="rId2"/>
            <a:stretch>
              <a:fillRect t="-45077" r="-92434" b="-354870"/>
            </a:stretch>
          </a:blipFill>
        </p:spPr>
        <p:txBody>
          <a:bodyPr/>
          <a:lstStyle/>
          <a:p>
            <a:endParaRPr lang="pt-BR"/>
          </a:p>
        </p:txBody>
      </p:sp>
      <p:grpSp>
        <p:nvGrpSpPr>
          <p:cNvPr id="12" name="Group 12"/>
          <p:cNvGrpSpPr/>
          <p:nvPr/>
        </p:nvGrpSpPr>
        <p:grpSpPr>
          <a:xfrm>
            <a:off x="9111678" y="4398116"/>
            <a:ext cx="8391909" cy="3370039"/>
            <a:chOff x="0" y="0"/>
            <a:chExt cx="11189211" cy="4493385"/>
          </a:xfrm>
        </p:grpSpPr>
        <p:sp>
          <p:nvSpPr>
            <p:cNvPr id="13" name="Freeform 13"/>
            <p:cNvSpPr/>
            <p:nvPr/>
          </p:nvSpPr>
          <p:spPr>
            <a:xfrm>
              <a:off x="0" y="0"/>
              <a:ext cx="11189211" cy="2575282"/>
            </a:xfrm>
            <a:custGeom>
              <a:avLst/>
              <a:gdLst/>
              <a:ahLst/>
              <a:cxnLst/>
              <a:rect l="l" t="t" r="r" b="b"/>
              <a:pathLst>
                <a:path w="11189211" h="2575282">
                  <a:moveTo>
                    <a:pt x="0" y="0"/>
                  </a:moveTo>
                  <a:lnTo>
                    <a:pt x="11189211" y="0"/>
                  </a:lnTo>
                  <a:lnTo>
                    <a:pt x="11189211" y="2575282"/>
                  </a:lnTo>
                  <a:lnTo>
                    <a:pt x="0" y="2575282"/>
                  </a:lnTo>
                  <a:lnTo>
                    <a:pt x="0" y="0"/>
                  </a:lnTo>
                  <a:close/>
                </a:path>
              </a:pathLst>
            </a:custGeom>
            <a:blipFill>
              <a:blip r:embed="rId3"/>
              <a:stretch>
                <a:fillRect l="-34443" t="-112345" b="-98849"/>
              </a:stretch>
            </a:blipFill>
          </p:spPr>
          <p:txBody>
            <a:bodyPr/>
            <a:lstStyle/>
            <a:p>
              <a:endParaRPr lang="pt-BR"/>
            </a:p>
          </p:txBody>
        </p:sp>
        <p:sp>
          <p:nvSpPr>
            <p:cNvPr id="14" name="Freeform 14"/>
            <p:cNvSpPr/>
            <p:nvPr/>
          </p:nvSpPr>
          <p:spPr>
            <a:xfrm>
              <a:off x="6224788" y="2024411"/>
              <a:ext cx="4964424" cy="2468974"/>
            </a:xfrm>
            <a:custGeom>
              <a:avLst/>
              <a:gdLst/>
              <a:ahLst/>
              <a:cxnLst/>
              <a:rect l="l" t="t" r="r" b="b"/>
              <a:pathLst>
                <a:path w="4964424" h="2468974">
                  <a:moveTo>
                    <a:pt x="0" y="0"/>
                  </a:moveTo>
                  <a:lnTo>
                    <a:pt x="4964423" y="0"/>
                  </a:lnTo>
                  <a:lnTo>
                    <a:pt x="4964423" y="2468974"/>
                  </a:lnTo>
                  <a:lnTo>
                    <a:pt x="0" y="2468974"/>
                  </a:lnTo>
                  <a:lnTo>
                    <a:pt x="0" y="0"/>
                  </a:lnTo>
                  <a:close/>
                </a:path>
              </a:pathLst>
            </a:custGeom>
            <a:blipFill>
              <a:blip r:embed="rId3"/>
              <a:stretch>
                <a:fillRect l="-203018" t="-199177" b="-25417"/>
              </a:stretch>
            </a:blipFill>
          </p:spPr>
          <p:txBody>
            <a:bodyPr/>
            <a:lstStyle/>
            <a:p>
              <a:endParaRPr lang="pt-BR"/>
            </a:p>
          </p:txBody>
        </p:sp>
      </p:grpSp>
      <p:sp>
        <p:nvSpPr>
          <p:cNvPr id="15" name="TextBox 15"/>
          <p:cNvSpPr txBox="1"/>
          <p:nvPr/>
        </p:nvSpPr>
        <p:spPr>
          <a:xfrm>
            <a:off x="12654558" y="8503920"/>
            <a:ext cx="4604742" cy="754380"/>
          </a:xfrm>
          <a:prstGeom prst="rect">
            <a:avLst/>
          </a:prstGeom>
        </p:spPr>
        <p:txBody>
          <a:bodyPr lIns="0" tIns="0" rIns="0" bIns="0" rtlCol="0" anchor="t">
            <a:spAutoFit/>
          </a:bodyPr>
          <a:lstStyle/>
          <a:p>
            <a:pPr algn="r">
              <a:lnSpc>
                <a:spcPts val="4620"/>
              </a:lnSpc>
            </a:pPr>
            <a:r>
              <a:rPr lang="en-US" sz="3300">
                <a:solidFill>
                  <a:srgbClr val="FFFFFF"/>
                </a:solidFill>
                <a:latin typeface="Prachason Neue Mon SemiExpanded"/>
                <a:ea typeface="Prachason Neue Mon SemiExpanded"/>
                <a:cs typeface="Prachason Neue Mon SemiExpanded"/>
                <a:sym typeface="Prachason Neue Mon SemiExpanded"/>
              </a:rPr>
              <a:t>14 MAI - 31 AGO 2025</a:t>
            </a:r>
          </a:p>
        </p:txBody>
      </p:sp>
      <p:sp>
        <p:nvSpPr>
          <p:cNvPr id="16" name="TextBox 16"/>
          <p:cNvSpPr txBox="1"/>
          <p:nvPr/>
        </p:nvSpPr>
        <p:spPr>
          <a:xfrm>
            <a:off x="809774" y="8562670"/>
            <a:ext cx="3244751" cy="754380"/>
          </a:xfrm>
          <a:prstGeom prst="rect">
            <a:avLst/>
          </a:prstGeom>
        </p:spPr>
        <p:txBody>
          <a:bodyPr lIns="0" tIns="0" rIns="0" bIns="0" rtlCol="0" anchor="t">
            <a:spAutoFit/>
          </a:bodyPr>
          <a:lstStyle/>
          <a:p>
            <a:pPr algn="ctr">
              <a:lnSpc>
                <a:spcPts val="4620"/>
              </a:lnSpc>
            </a:pPr>
            <a:r>
              <a:rPr lang="en-US" sz="3300">
                <a:solidFill>
                  <a:srgbClr val="FFFFFF"/>
                </a:solidFill>
                <a:latin typeface="Prachason Neue Mon SemiExpanded"/>
                <a:ea typeface="Prachason Neue Mon SemiExpanded"/>
                <a:cs typeface="Prachason Neue Mon SemiExpanded"/>
                <a:sym typeface="Prachason Neue Mon SemiExpanded"/>
              </a:rPr>
              <a:t>Relatório Geral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3C3C3"/>
        </a:solidFill>
        <a:effectLst/>
      </p:bgPr>
    </p:bg>
    <p:spTree>
      <p:nvGrpSpPr>
        <p:cNvPr id="1" name=""/>
        <p:cNvGrpSpPr/>
        <p:nvPr/>
      </p:nvGrpSpPr>
      <p:grpSpPr>
        <a:xfrm>
          <a:off x="0" y="0"/>
          <a:ext cx="0" cy="0"/>
          <a:chOff x="0" y="0"/>
          <a:chExt cx="0" cy="0"/>
        </a:xfrm>
      </p:grpSpPr>
      <p:grpSp>
        <p:nvGrpSpPr>
          <p:cNvPr id="2" name="Group 2"/>
          <p:cNvGrpSpPr/>
          <p:nvPr/>
        </p:nvGrpSpPr>
        <p:grpSpPr>
          <a:xfrm>
            <a:off x="13509352" y="1028700"/>
            <a:ext cx="3749948" cy="2884575"/>
            <a:chOff x="0" y="0"/>
            <a:chExt cx="660400" cy="508000"/>
          </a:xfrm>
        </p:grpSpPr>
        <p:sp>
          <p:nvSpPr>
            <p:cNvPr id="3" name="Freeform 3"/>
            <p:cNvSpPr/>
            <p:nvPr/>
          </p:nvSpPr>
          <p:spPr>
            <a:xfrm>
              <a:off x="0" y="0"/>
              <a:ext cx="660400" cy="508000"/>
            </a:xfrm>
            <a:custGeom>
              <a:avLst/>
              <a:gdLst/>
              <a:ahLst/>
              <a:cxnLst/>
              <a:rect l="l" t="t" r="r" b="b"/>
              <a:pathLst>
                <a:path w="660400" h="508000">
                  <a:moveTo>
                    <a:pt x="659130" y="0"/>
                  </a:moveTo>
                  <a:cubicBezTo>
                    <a:pt x="660400" y="5080"/>
                    <a:pt x="660400" y="10160"/>
                    <a:pt x="660400" y="16510"/>
                  </a:cubicBezTo>
                  <a:cubicBezTo>
                    <a:pt x="660400" y="86360"/>
                    <a:pt x="618490" y="148590"/>
                    <a:pt x="557530" y="176530"/>
                  </a:cubicBezTo>
                  <a:cubicBezTo>
                    <a:pt x="618490" y="204470"/>
                    <a:pt x="660400" y="264160"/>
                    <a:pt x="660400" y="336550"/>
                  </a:cubicBezTo>
                  <a:cubicBezTo>
                    <a:pt x="660400" y="434340"/>
                    <a:pt x="584200" y="508000"/>
                    <a:pt x="482600" y="508000"/>
                  </a:cubicBezTo>
                  <a:lnTo>
                    <a:pt x="177800" y="508000"/>
                  </a:lnTo>
                  <a:cubicBezTo>
                    <a:pt x="76200" y="508000"/>
                    <a:pt x="0" y="434340"/>
                    <a:pt x="0" y="336550"/>
                  </a:cubicBezTo>
                  <a:cubicBezTo>
                    <a:pt x="0" y="264160"/>
                    <a:pt x="41910" y="204470"/>
                    <a:pt x="102870" y="176530"/>
                  </a:cubicBezTo>
                  <a:cubicBezTo>
                    <a:pt x="41910" y="148590"/>
                    <a:pt x="0" y="86360"/>
                    <a:pt x="0" y="16510"/>
                  </a:cubicBezTo>
                  <a:cubicBezTo>
                    <a:pt x="0" y="10160"/>
                    <a:pt x="0" y="5080"/>
                    <a:pt x="0" y="0"/>
                  </a:cubicBezTo>
                  <a:lnTo>
                    <a:pt x="659130" y="0"/>
                  </a:lnTo>
                  <a:close/>
                </a:path>
              </a:pathLst>
            </a:custGeom>
            <a:solidFill>
              <a:srgbClr val="556447"/>
            </a:solidFill>
          </p:spPr>
          <p:txBody>
            <a:bodyPr/>
            <a:lstStyle/>
            <a:p>
              <a:endParaRPr lang="pt-BR"/>
            </a:p>
          </p:txBody>
        </p:sp>
        <p:sp>
          <p:nvSpPr>
            <p:cNvPr id="4" name="TextBox 4"/>
            <p:cNvSpPr txBox="1"/>
            <p:nvPr/>
          </p:nvSpPr>
          <p:spPr>
            <a:xfrm>
              <a:off x="127000" y="-38100"/>
              <a:ext cx="406400" cy="5334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1080" y="6468453"/>
            <a:ext cx="18614740" cy="2747937"/>
            <a:chOff x="0" y="0"/>
            <a:chExt cx="722284" cy="106625"/>
          </a:xfrm>
        </p:grpSpPr>
        <p:sp>
          <p:nvSpPr>
            <p:cNvPr id="6" name="Freeform 6"/>
            <p:cNvSpPr/>
            <p:nvPr/>
          </p:nvSpPr>
          <p:spPr>
            <a:xfrm>
              <a:off x="0" y="0"/>
              <a:ext cx="722284" cy="106625"/>
            </a:xfrm>
            <a:custGeom>
              <a:avLst/>
              <a:gdLst/>
              <a:ahLst/>
              <a:cxnLst/>
              <a:rect l="l" t="t" r="r" b="b"/>
              <a:pathLst>
                <a:path w="722284" h="106625">
                  <a:moveTo>
                    <a:pt x="722284" y="0"/>
                  </a:moveTo>
                  <a:lnTo>
                    <a:pt x="722284" y="79979"/>
                  </a:lnTo>
                  <a:cubicBezTo>
                    <a:pt x="662093" y="79979"/>
                    <a:pt x="662093" y="106625"/>
                    <a:pt x="601904" y="106625"/>
                  </a:cubicBezTo>
                  <a:cubicBezTo>
                    <a:pt x="541694" y="106625"/>
                    <a:pt x="541694" y="79979"/>
                    <a:pt x="481504" y="79979"/>
                  </a:cubicBezTo>
                  <a:cubicBezTo>
                    <a:pt x="421313" y="79979"/>
                    <a:pt x="421313" y="106625"/>
                    <a:pt x="361123" y="106625"/>
                  </a:cubicBezTo>
                  <a:cubicBezTo>
                    <a:pt x="300933" y="106625"/>
                    <a:pt x="300933" y="79979"/>
                    <a:pt x="240742" y="79979"/>
                  </a:cubicBezTo>
                  <a:cubicBezTo>
                    <a:pt x="180552" y="79979"/>
                    <a:pt x="180552" y="106625"/>
                    <a:pt x="120381" y="106625"/>
                  </a:cubicBezTo>
                  <a:cubicBezTo>
                    <a:pt x="60190" y="106625"/>
                    <a:pt x="60190" y="79979"/>
                    <a:pt x="0" y="79979"/>
                  </a:cubicBezTo>
                  <a:lnTo>
                    <a:pt x="0" y="0"/>
                  </a:lnTo>
                  <a:cubicBezTo>
                    <a:pt x="60190" y="0"/>
                    <a:pt x="60190" y="26646"/>
                    <a:pt x="120381" y="26646"/>
                  </a:cubicBezTo>
                  <a:cubicBezTo>
                    <a:pt x="180552" y="26646"/>
                    <a:pt x="180552" y="0"/>
                    <a:pt x="240742" y="0"/>
                  </a:cubicBezTo>
                  <a:cubicBezTo>
                    <a:pt x="300933" y="0"/>
                    <a:pt x="300933" y="26646"/>
                    <a:pt x="361123" y="26646"/>
                  </a:cubicBezTo>
                  <a:cubicBezTo>
                    <a:pt x="421313" y="26646"/>
                    <a:pt x="421313" y="0"/>
                    <a:pt x="481504" y="0"/>
                  </a:cubicBezTo>
                  <a:cubicBezTo>
                    <a:pt x="541694" y="0"/>
                    <a:pt x="541694" y="26646"/>
                    <a:pt x="601904" y="26646"/>
                  </a:cubicBezTo>
                  <a:cubicBezTo>
                    <a:pt x="662093" y="26646"/>
                    <a:pt x="662093" y="0"/>
                    <a:pt x="722284" y="0"/>
                  </a:cubicBezTo>
                  <a:close/>
                </a:path>
              </a:pathLst>
            </a:custGeom>
            <a:solidFill>
              <a:srgbClr val="556447"/>
            </a:solidFill>
          </p:spPr>
          <p:txBody>
            <a:bodyPr/>
            <a:lstStyle/>
            <a:p>
              <a:endParaRPr lang="pt-BR"/>
            </a:p>
          </p:txBody>
        </p:sp>
        <p:sp>
          <p:nvSpPr>
            <p:cNvPr id="7" name="TextBox 7"/>
            <p:cNvSpPr txBox="1"/>
            <p:nvPr/>
          </p:nvSpPr>
          <p:spPr>
            <a:xfrm>
              <a:off x="0" y="-9667"/>
              <a:ext cx="722284" cy="87858"/>
            </a:xfrm>
            <a:prstGeom prst="rect">
              <a:avLst/>
            </a:prstGeom>
          </p:spPr>
          <p:txBody>
            <a:bodyPr lIns="50800" tIns="50800" rIns="50800" bIns="50800" rtlCol="0" anchor="ctr"/>
            <a:lstStyle/>
            <a:p>
              <a:pPr algn="r">
                <a:lnSpc>
                  <a:spcPts val="2659"/>
                </a:lnSpc>
              </a:pPr>
              <a:endParaRPr/>
            </a:p>
          </p:txBody>
        </p:sp>
      </p:grpSp>
      <p:grpSp>
        <p:nvGrpSpPr>
          <p:cNvPr id="8" name="Group 8"/>
          <p:cNvGrpSpPr/>
          <p:nvPr/>
        </p:nvGrpSpPr>
        <p:grpSpPr>
          <a:xfrm>
            <a:off x="-41080" y="6230230"/>
            <a:ext cx="18614740" cy="2224337"/>
            <a:chOff x="0" y="0"/>
            <a:chExt cx="722284" cy="86308"/>
          </a:xfrm>
        </p:grpSpPr>
        <p:sp>
          <p:nvSpPr>
            <p:cNvPr id="9" name="Freeform 9"/>
            <p:cNvSpPr/>
            <p:nvPr/>
          </p:nvSpPr>
          <p:spPr>
            <a:xfrm>
              <a:off x="0" y="0"/>
              <a:ext cx="722284" cy="86308"/>
            </a:xfrm>
            <a:custGeom>
              <a:avLst/>
              <a:gdLst/>
              <a:ahLst/>
              <a:cxnLst/>
              <a:rect l="l" t="t" r="r" b="b"/>
              <a:pathLst>
                <a:path w="722284" h="86308">
                  <a:moveTo>
                    <a:pt x="722284" y="0"/>
                  </a:moveTo>
                  <a:lnTo>
                    <a:pt x="722284" y="64740"/>
                  </a:lnTo>
                  <a:cubicBezTo>
                    <a:pt x="662093" y="64740"/>
                    <a:pt x="662093" y="86308"/>
                    <a:pt x="601904" y="86308"/>
                  </a:cubicBezTo>
                  <a:cubicBezTo>
                    <a:pt x="541694" y="86308"/>
                    <a:pt x="541694" y="64740"/>
                    <a:pt x="481504" y="64740"/>
                  </a:cubicBezTo>
                  <a:cubicBezTo>
                    <a:pt x="421313" y="64740"/>
                    <a:pt x="421313" y="86308"/>
                    <a:pt x="361123" y="86308"/>
                  </a:cubicBezTo>
                  <a:cubicBezTo>
                    <a:pt x="300933" y="86308"/>
                    <a:pt x="300933" y="64740"/>
                    <a:pt x="240742" y="64740"/>
                  </a:cubicBezTo>
                  <a:cubicBezTo>
                    <a:pt x="180552" y="64740"/>
                    <a:pt x="180552" y="86308"/>
                    <a:pt x="120381" y="86308"/>
                  </a:cubicBezTo>
                  <a:cubicBezTo>
                    <a:pt x="60190" y="86308"/>
                    <a:pt x="60190" y="64740"/>
                    <a:pt x="0" y="64740"/>
                  </a:cubicBezTo>
                  <a:lnTo>
                    <a:pt x="0" y="0"/>
                  </a:lnTo>
                  <a:cubicBezTo>
                    <a:pt x="60190" y="0"/>
                    <a:pt x="60190" y="21569"/>
                    <a:pt x="120381" y="21569"/>
                  </a:cubicBezTo>
                  <a:cubicBezTo>
                    <a:pt x="180552" y="21569"/>
                    <a:pt x="180552" y="0"/>
                    <a:pt x="240742" y="0"/>
                  </a:cubicBezTo>
                  <a:cubicBezTo>
                    <a:pt x="300933" y="0"/>
                    <a:pt x="300933" y="21569"/>
                    <a:pt x="361123" y="21569"/>
                  </a:cubicBezTo>
                  <a:cubicBezTo>
                    <a:pt x="421313" y="21569"/>
                    <a:pt x="421313" y="0"/>
                    <a:pt x="481504" y="0"/>
                  </a:cubicBezTo>
                  <a:cubicBezTo>
                    <a:pt x="541694" y="0"/>
                    <a:pt x="541694" y="21569"/>
                    <a:pt x="601904" y="21569"/>
                  </a:cubicBezTo>
                  <a:cubicBezTo>
                    <a:pt x="662093" y="21569"/>
                    <a:pt x="662093" y="0"/>
                    <a:pt x="722284" y="0"/>
                  </a:cubicBezTo>
                  <a:close/>
                </a:path>
              </a:pathLst>
            </a:custGeom>
            <a:solidFill>
              <a:srgbClr val="AA8582"/>
            </a:solidFill>
          </p:spPr>
          <p:txBody>
            <a:bodyPr/>
            <a:lstStyle/>
            <a:p>
              <a:endParaRPr lang="pt-BR"/>
            </a:p>
          </p:txBody>
        </p:sp>
        <p:sp>
          <p:nvSpPr>
            <p:cNvPr id="10" name="TextBox 10"/>
            <p:cNvSpPr txBox="1"/>
            <p:nvPr/>
          </p:nvSpPr>
          <p:spPr>
            <a:xfrm>
              <a:off x="0" y="-15085"/>
              <a:ext cx="722284" cy="78377"/>
            </a:xfrm>
            <a:prstGeom prst="rect">
              <a:avLst/>
            </a:prstGeom>
          </p:spPr>
          <p:txBody>
            <a:bodyPr lIns="50800" tIns="50800" rIns="50800" bIns="50800" rtlCol="0" anchor="ctr"/>
            <a:lstStyle/>
            <a:p>
              <a:pPr algn="r">
                <a:lnSpc>
                  <a:spcPts val="2659"/>
                </a:lnSpc>
              </a:pPr>
              <a:endParaRPr/>
            </a:p>
          </p:txBody>
        </p:sp>
      </p:grpSp>
      <p:grpSp>
        <p:nvGrpSpPr>
          <p:cNvPr id="11" name="Group 11"/>
          <p:cNvGrpSpPr/>
          <p:nvPr/>
        </p:nvGrpSpPr>
        <p:grpSpPr>
          <a:xfrm>
            <a:off x="-41080" y="5929338"/>
            <a:ext cx="18614740" cy="1666683"/>
            <a:chOff x="0" y="0"/>
            <a:chExt cx="722284" cy="64670"/>
          </a:xfrm>
        </p:grpSpPr>
        <p:sp>
          <p:nvSpPr>
            <p:cNvPr id="12" name="Freeform 12"/>
            <p:cNvSpPr/>
            <p:nvPr/>
          </p:nvSpPr>
          <p:spPr>
            <a:xfrm>
              <a:off x="0" y="0"/>
              <a:ext cx="722284" cy="64670"/>
            </a:xfrm>
            <a:custGeom>
              <a:avLst/>
              <a:gdLst/>
              <a:ahLst/>
              <a:cxnLst/>
              <a:rect l="l" t="t" r="r" b="b"/>
              <a:pathLst>
                <a:path w="722284" h="64670">
                  <a:moveTo>
                    <a:pt x="722284" y="0"/>
                  </a:moveTo>
                  <a:lnTo>
                    <a:pt x="722284" y="48509"/>
                  </a:lnTo>
                  <a:cubicBezTo>
                    <a:pt x="662093" y="48509"/>
                    <a:pt x="662093" y="64670"/>
                    <a:pt x="601904" y="64670"/>
                  </a:cubicBezTo>
                  <a:cubicBezTo>
                    <a:pt x="541694" y="64670"/>
                    <a:pt x="541694" y="48509"/>
                    <a:pt x="481504" y="48509"/>
                  </a:cubicBezTo>
                  <a:cubicBezTo>
                    <a:pt x="421313" y="48509"/>
                    <a:pt x="421313" y="64670"/>
                    <a:pt x="361123" y="64670"/>
                  </a:cubicBezTo>
                  <a:cubicBezTo>
                    <a:pt x="300933" y="64670"/>
                    <a:pt x="300933" y="48509"/>
                    <a:pt x="240742" y="48509"/>
                  </a:cubicBezTo>
                  <a:cubicBezTo>
                    <a:pt x="180552" y="48509"/>
                    <a:pt x="180552" y="64670"/>
                    <a:pt x="120381" y="64670"/>
                  </a:cubicBezTo>
                  <a:cubicBezTo>
                    <a:pt x="60190" y="64670"/>
                    <a:pt x="60190" y="48509"/>
                    <a:pt x="0" y="48509"/>
                  </a:cubicBezTo>
                  <a:lnTo>
                    <a:pt x="0" y="0"/>
                  </a:lnTo>
                  <a:cubicBezTo>
                    <a:pt x="60190" y="0"/>
                    <a:pt x="60190" y="16161"/>
                    <a:pt x="120381" y="16161"/>
                  </a:cubicBezTo>
                  <a:cubicBezTo>
                    <a:pt x="180552" y="16161"/>
                    <a:pt x="180552" y="0"/>
                    <a:pt x="240742" y="0"/>
                  </a:cubicBezTo>
                  <a:cubicBezTo>
                    <a:pt x="300933" y="0"/>
                    <a:pt x="300933" y="16161"/>
                    <a:pt x="361123" y="16161"/>
                  </a:cubicBezTo>
                  <a:cubicBezTo>
                    <a:pt x="421313" y="16161"/>
                    <a:pt x="421313" y="0"/>
                    <a:pt x="481504" y="0"/>
                  </a:cubicBezTo>
                  <a:cubicBezTo>
                    <a:pt x="541694" y="0"/>
                    <a:pt x="541694" y="16161"/>
                    <a:pt x="601904" y="16161"/>
                  </a:cubicBezTo>
                  <a:cubicBezTo>
                    <a:pt x="662093" y="16161"/>
                    <a:pt x="662093" y="0"/>
                    <a:pt x="722284" y="0"/>
                  </a:cubicBezTo>
                  <a:close/>
                </a:path>
              </a:pathLst>
            </a:custGeom>
            <a:solidFill>
              <a:srgbClr val="D38753"/>
            </a:solidFill>
          </p:spPr>
          <p:txBody>
            <a:bodyPr/>
            <a:lstStyle/>
            <a:p>
              <a:endParaRPr lang="pt-BR"/>
            </a:p>
          </p:txBody>
        </p:sp>
        <p:sp>
          <p:nvSpPr>
            <p:cNvPr id="13" name="TextBox 13"/>
            <p:cNvSpPr txBox="1"/>
            <p:nvPr/>
          </p:nvSpPr>
          <p:spPr>
            <a:xfrm>
              <a:off x="0" y="-20855"/>
              <a:ext cx="722284" cy="68279"/>
            </a:xfrm>
            <a:prstGeom prst="rect">
              <a:avLst/>
            </a:prstGeom>
          </p:spPr>
          <p:txBody>
            <a:bodyPr lIns="50800" tIns="50800" rIns="50800" bIns="50800" rtlCol="0" anchor="ctr"/>
            <a:lstStyle/>
            <a:p>
              <a:pPr algn="r">
                <a:lnSpc>
                  <a:spcPts val="2659"/>
                </a:lnSpc>
              </a:pPr>
              <a:endParaRPr/>
            </a:p>
          </p:txBody>
        </p:sp>
      </p:grpSp>
      <p:sp>
        <p:nvSpPr>
          <p:cNvPr id="14" name="TextBox 14"/>
          <p:cNvSpPr txBox="1"/>
          <p:nvPr/>
        </p:nvSpPr>
        <p:spPr>
          <a:xfrm>
            <a:off x="12356370" y="6546109"/>
            <a:ext cx="4902930" cy="1335405"/>
          </a:xfrm>
          <a:prstGeom prst="rect">
            <a:avLst/>
          </a:prstGeom>
        </p:spPr>
        <p:txBody>
          <a:bodyPr lIns="0" tIns="0" rIns="0" bIns="0" rtlCol="0" anchor="t">
            <a:spAutoFit/>
          </a:bodyPr>
          <a:lstStyle/>
          <a:p>
            <a:pPr algn="ctr">
              <a:lnSpc>
                <a:spcPts val="4620"/>
              </a:lnSpc>
            </a:pPr>
            <a:r>
              <a:rPr lang="en-US" sz="3300">
                <a:solidFill>
                  <a:srgbClr val="ECD8BB"/>
                </a:solidFill>
                <a:latin typeface="Prachason Neue Mon SemiExpanded"/>
                <a:ea typeface="Prachason Neue Mon SemiExpanded"/>
                <a:cs typeface="Prachason Neue Mon SemiExpanded"/>
                <a:sym typeface="Prachason Neue Mon SemiExpanded"/>
              </a:rPr>
              <a:t>94 DIAS DE VISITAÇÃO</a:t>
            </a:r>
          </a:p>
        </p:txBody>
      </p:sp>
      <p:sp>
        <p:nvSpPr>
          <p:cNvPr id="15" name="Freeform 15"/>
          <p:cNvSpPr/>
          <p:nvPr/>
        </p:nvSpPr>
        <p:spPr>
          <a:xfrm rot="-10800000">
            <a:off x="-41080" y="0"/>
            <a:ext cx="5663951" cy="3913275"/>
          </a:xfrm>
          <a:custGeom>
            <a:avLst/>
            <a:gdLst/>
            <a:ahLst/>
            <a:cxnLst/>
            <a:rect l="l" t="t" r="r" b="b"/>
            <a:pathLst>
              <a:path w="5663951" h="3913275">
                <a:moveTo>
                  <a:pt x="0" y="0"/>
                </a:moveTo>
                <a:lnTo>
                  <a:pt x="5663951" y="0"/>
                </a:lnTo>
                <a:lnTo>
                  <a:pt x="5663951" y="3913275"/>
                </a:lnTo>
                <a:lnTo>
                  <a:pt x="0" y="3913275"/>
                </a:lnTo>
                <a:lnTo>
                  <a:pt x="0" y="0"/>
                </a:lnTo>
                <a:close/>
              </a:path>
            </a:pathLst>
          </a:custGeom>
          <a:blipFill>
            <a:blip r:embed="rId2"/>
            <a:stretch>
              <a:fillRect/>
            </a:stretch>
          </a:blipFill>
        </p:spPr>
        <p:txBody>
          <a:bodyPr/>
          <a:lstStyle/>
          <a:p>
            <a:endParaRPr lang="pt-BR"/>
          </a:p>
        </p:txBody>
      </p:sp>
      <p:sp>
        <p:nvSpPr>
          <p:cNvPr id="16" name="Freeform 16"/>
          <p:cNvSpPr/>
          <p:nvPr/>
        </p:nvSpPr>
        <p:spPr>
          <a:xfrm>
            <a:off x="1082822" y="2703623"/>
            <a:ext cx="10302623" cy="6868415"/>
          </a:xfrm>
          <a:custGeom>
            <a:avLst/>
            <a:gdLst/>
            <a:ahLst/>
            <a:cxnLst/>
            <a:rect l="l" t="t" r="r" b="b"/>
            <a:pathLst>
              <a:path w="10302623" h="6868415">
                <a:moveTo>
                  <a:pt x="0" y="0"/>
                </a:moveTo>
                <a:lnTo>
                  <a:pt x="10302623" y="0"/>
                </a:lnTo>
                <a:lnTo>
                  <a:pt x="10302623" y="6868415"/>
                </a:lnTo>
                <a:lnTo>
                  <a:pt x="0" y="6868415"/>
                </a:lnTo>
                <a:lnTo>
                  <a:pt x="0" y="0"/>
                </a:lnTo>
                <a:close/>
              </a:path>
            </a:pathLst>
          </a:custGeom>
          <a:blipFill>
            <a:blip r:embed="rId3"/>
            <a:stretch>
              <a:fillRect/>
            </a:stretch>
          </a:blipFill>
        </p:spPr>
        <p:txBody>
          <a:bodyPr/>
          <a:lstStyle/>
          <a:p>
            <a:endParaRPr lang="pt-BR"/>
          </a:p>
        </p:txBody>
      </p:sp>
      <p:sp>
        <p:nvSpPr>
          <p:cNvPr id="17" name="TextBox 17"/>
          <p:cNvSpPr txBox="1"/>
          <p:nvPr/>
        </p:nvSpPr>
        <p:spPr>
          <a:xfrm>
            <a:off x="13773711" y="1467053"/>
            <a:ext cx="3221230" cy="1693545"/>
          </a:xfrm>
          <a:prstGeom prst="rect">
            <a:avLst/>
          </a:prstGeom>
        </p:spPr>
        <p:txBody>
          <a:bodyPr lIns="0" tIns="0" rIns="0" bIns="0" rtlCol="0" anchor="t">
            <a:spAutoFit/>
          </a:bodyPr>
          <a:lstStyle/>
          <a:p>
            <a:pPr algn="ctr">
              <a:lnSpc>
                <a:spcPts val="5880"/>
              </a:lnSpc>
            </a:pPr>
            <a:r>
              <a:rPr lang="en-US" sz="4200" spc="319">
                <a:solidFill>
                  <a:srgbClr val="ECD8BB"/>
                </a:solidFill>
                <a:latin typeface="Prachason Neue Mon SemiExpanded"/>
                <a:ea typeface="Prachason Neue Mon SemiExpanded"/>
                <a:cs typeface="Prachason Neue Mon SemiExpanded"/>
                <a:sym typeface="Prachason Neue Mon SemiExpanded"/>
              </a:rPr>
              <a:t>69.674</a:t>
            </a:r>
          </a:p>
          <a:p>
            <a:pPr algn="ctr">
              <a:lnSpc>
                <a:spcPts val="5880"/>
              </a:lnSpc>
            </a:pPr>
            <a:r>
              <a:rPr lang="en-US" sz="4200" spc="319">
                <a:solidFill>
                  <a:srgbClr val="ECD8BB"/>
                </a:solidFill>
                <a:latin typeface="Prachason Neue Mon SemiExpanded"/>
                <a:ea typeface="Prachason Neue Mon SemiExpanded"/>
                <a:cs typeface="Prachason Neue Mon SemiExpanded"/>
                <a:sym typeface="Prachason Neue Mon SemiExpanded"/>
              </a:rPr>
              <a:t>presenças </a:t>
            </a:r>
          </a:p>
        </p:txBody>
      </p:sp>
      <p:sp>
        <p:nvSpPr>
          <p:cNvPr id="18" name="TextBox 18"/>
          <p:cNvSpPr txBox="1"/>
          <p:nvPr/>
        </p:nvSpPr>
        <p:spPr>
          <a:xfrm>
            <a:off x="1028700" y="542925"/>
            <a:ext cx="3661618" cy="1456690"/>
          </a:xfrm>
          <a:prstGeom prst="rect">
            <a:avLst/>
          </a:prstGeom>
        </p:spPr>
        <p:txBody>
          <a:bodyPr lIns="0" tIns="0" rIns="0" bIns="0" rtlCol="0" anchor="t">
            <a:spAutoFit/>
          </a:bodyPr>
          <a:lstStyle/>
          <a:p>
            <a:pPr algn="ctr">
              <a:lnSpc>
                <a:spcPts val="8959"/>
              </a:lnSpc>
            </a:pPr>
            <a:r>
              <a:rPr lang="en-US" sz="6399" b="1" spc="486">
                <a:solidFill>
                  <a:srgbClr val="556447"/>
                </a:solidFill>
                <a:latin typeface="Prachason Neue Mon SemiExpanded Bold"/>
                <a:ea typeface="Prachason Neue Mon SemiExpanded Bold"/>
                <a:cs typeface="Prachason Neue Mon SemiExpanded Bold"/>
                <a:sym typeface="Prachason Neue Mon SemiExpanded Bold"/>
              </a:rPr>
              <a:t>público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D8B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556447"/>
            </a:solidFill>
          </p:spPr>
          <p:txBody>
            <a:bodyPr/>
            <a:lstStyle/>
            <a:p>
              <a:endParaRPr lang="pt-BR"/>
            </a:p>
          </p:txBody>
        </p:sp>
        <p:sp>
          <p:nvSpPr>
            <p:cNvPr id="4" name="TextBox 4"/>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p:txBody>
        </p:sp>
      </p:grpSp>
      <p:pic>
        <p:nvPicPr>
          <p:cNvPr id="5" name="Picture 5"/>
          <p:cNvPicPr>
            <a:picLocks noChangeAspect="1"/>
          </p:cNvPicPr>
          <p:nvPr/>
        </p:nvPicPr>
        <p:blipFill>
          <a:blip r:embed="rId2"/>
          <a:stretch>
            <a:fillRect/>
          </a:stretch>
        </p:blipFill>
        <p:spPr>
          <a:xfrm>
            <a:off x="199520" y="1055677"/>
            <a:ext cx="17512765" cy="9618076"/>
          </a:xfrm>
          <a:prstGeom prst="rect">
            <a:avLst/>
          </a:prstGeom>
        </p:spPr>
      </p:pic>
      <p:sp>
        <p:nvSpPr>
          <p:cNvPr id="6" name="TextBox 6"/>
          <p:cNvSpPr txBox="1"/>
          <p:nvPr/>
        </p:nvSpPr>
        <p:spPr>
          <a:xfrm>
            <a:off x="1028700" y="542925"/>
            <a:ext cx="3661618" cy="1456690"/>
          </a:xfrm>
          <a:prstGeom prst="rect">
            <a:avLst/>
          </a:prstGeom>
        </p:spPr>
        <p:txBody>
          <a:bodyPr lIns="0" tIns="0" rIns="0" bIns="0" rtlCol="0" anchor="t">
            <a:spAutoFit/>
          </a:bodyPr>
          <a:lstStyle/>
          <a:p>
            <a:pPr algn="ctr">
              <a:lnSpc>
                <a:spcPts val="8959"/>
              </a:lnSpc>
            </a:pPr>
            <a:r>
              <a:rPr lang="en-US" sz="6399" b="1" spc="486">
                <a:solidFill>
                  <a:srgbClr val="D38753"/>
                </a:solidFill>
                <a:latin typeface="Prachason Neue Mon SemiExpanded Bold"/>
                <a:ea typeface="Prachason Neue Mon SemiExpanded Bold"/>
                <a:cs typeface="Prachason Neue Mon SemiExpanded Bold"/>
                <a:sym typeface="Prachason Neue Mon SemiExpanded Bold"/>
              </a:rPr>
              <a:t>público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3C3C3"/>
        </a:solidFill>
        <a:effectLst/>
      </p:bgPr>
    </p:bg>
    <p:spTree>
      <p:nvGrpSpPr>
        <p:cNvPr id="1" name=""/>
        <p:cNvGrpSpPr/>
        <p:nvPr/>
      </p:nvGrpSpPr>
      <p:grpSpPr>
        <a:xfrm>
          <a:off x="0" y="0"/>
          <a:ext cx="0" cy="0"/>
          <a:chOff x="0" y="0"/>
          <a:chExt cx="0" cy="0"/>
        </a:xfrm>
      </p:grpSpPr>
      <p:sp>
        <p:nvSpPr>
          <p:cNvPr id="2" name="Freeform 2"/>
          <p:cNvSpPr/>
          <p:nvPr/>
        </p:nvSpPr>
        <p:spPr>
          <a:xfrm>
            <a:off x="5585931" y="2064365"/>
            <a:ext cx="12308078" cy="7193935"/>
          </a:xfrm>
          <a:custGeom>
            <a:avLst/>
            <a:gdLst/>
            <a:ahLst/>
            <a:cxnLst/>
            <a:rect l="l" t="t" r="r" b="b"/>
            <a:pathLst>
              <a:path w="12308078" h="7193935">
                <a:moveTo>
                  <a:pt x="0" y="0"/>
                </a:moveTo>
                <a:lnTo>
                  <a:pt x="12308078" y="0"/>
                </a:lnTo>
                <a:lnTo>
                  <a:pt x="12308078" y="7193935"/>
                </a:lnTo>
                <a:lnTo>
                  <a:pt x="0" y="7193935"/>
                </a:lnTo>
                <a:lnTo>
                  <a:pt x="0" y="0"/>
                </a:lnTo>
                <a:close/>
              </a:path>
            </a:pathLst>
          </a:custGeom>
          <a:blipFill>
            <a:blip r:embed="rId2"/>
            <a:stretch>
              <a:fillRect t="-17032" r="-17752" b="-17032"/>
            </a:stretch>
          </a:blipFill>
        </p:spPr>
        <p:txBody>
          <a:bodyPr/>
          <a:lstStyle/>
          <a:p>
            <a:endParaRPr lang="pt-BR"/>
          </a:p>
        </p:txBody>
      </p:sp>
      <p:sp>
        <p:nvSpPr>
          <p:cNvPr id="3" name="TextBox 3"/>
          <p:cNvSpPr txBox="1"/>
          <p:nvPr/>
        </p:nvSpPr>
        <p:spPr>
          <a:xfrm>
            <a:off x="1234298" y="327325"/>
            <a:ext cx="9742558" cy="1456690"/>
          </a:xfrm>
          <a:prstGeom prst="rect">
            <a:avLst/>
          </a:prstGeom>
        </p:spPr>
        <p:txBody>
          <a:bodyPr lIns="0" tIns="0" rIns="0" bIns="0" rtlCol="0" anchor="t">
            <a:spAutoFit/>
          </a:bodyPr>
          <a:lstStyle/>
          <a:p>
            <a:pPr algn="just">
              <a:lnSpc>
                <a:spcPts val="8959"/>
              </a:lnSpc>
            </a:pPr>
            <a:r>
              <a:rPr lang="en-US" sz="6399" b="1" spc="486">
                <a:solidFill>
                  <a:srgbClr val="556447"/>
                </a:solidFill>
                <a:latin typeface="Prachason Neue Mon SemiExpanded Bold"/>
                <a:ea typeface="Prachason Neue Mon SemiExpanded Bold"/>
                <a:cs typeface="Prachason Neue Mon SemiExpanded Bold"/>
                <a:sym typeface="Prachason Neue Mon SemiExpanded Bold"/>
              </a:rPr>
              <a:t>visitas mediadas</a:t>
            </a:r>
          </a:p>
        </p:txBody>
      </p:sp>
      <p:sp>
        <p:nvSpPr>
          <p:cNvPr id="4" name="TextBox 4"/>
          <p:cNvSpPr txBox="1"/>
          <p:nvPr/>
        </p:nvSpPr>
        <p:spPr>
          <a:xfrm>
            <a:off x="651951" y="3998596"/>
            <a:ext cx="4933980" cy="1144904"/>
          </a:xfrm>
          <a:prstGeom prst="rect">
            <a:avLst/>
          </a:prstGeom>
        </p:spPr>
        <p:txBody>
          <a:bodyPr lIns="0" tIns="0" rIns="0" bIns="0" rtlCol="0" anchor="t">
            <a:spAutoFit/>
          </a:bodyPr>
          <a:lstStyle/>
          <a:p>
            <a:pPr algn="ctr">
              <a:lnSpc>
                <a:spcPts val="4620"/>
              </a:lnSpc>
            </a:pPr>
            <a:r>
              <a:rPr lang="en-US" sz="3300" spc="250">
                <a:solidFill>
                  <a:srgbClr val="84443B"/>
                </a:solidFill>
                <a:latin typeface="Clear Sans"/>
                <a:ea typeface="Clear Sans"/>
                <a:cs typeface="Clear Sans"/>
                <a:sym typeface="Clear Sans"/>
              </a:rPr>
              <a:t>maior frequência</a:t>
            </a:r>
          </a:p>
          <a:p>
            <a:pPr algn="ctr">
              <a:lnSpc>
                <a:spcPts val="4620"/>
              </a:lnSpc>
            </a:pPr>
            <a:r>
              <a:rPr lang="en-US" sz="3300" spc="250">
                <a:solidFill>
                  <a:srgbClr val="84443B"/>
                </a:solidFill>
                <a:latin typeface="Clear Sans"/>
                <a:ea typeface="Clear Sans"/>
                <a:cs typeface="Clear Sans"/>
                <a:sym typeface="Clear Sans"/>
              </a:rPr>
              <a:t>junho (462)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1C295"/>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60098" y="725211"/>
            <a:ext cx="12142685" cy="8570730"/>
          </a:xfrm>
          <a:prstGeom prst="rect">
            <a:avLst/>
          </a:prstGeom>
        </p:spPr>
      </p:pic>
      <p:sp>
        <p:nvSpPr>
          <p:cNvPr id="3" name="Freeform 3"/>
          <p:cNvSpPr/>
          <p:nvPr/>
        </p:nvSpPr>
        <p:spPr>
          <a:xfrm>
            <a:off x="5615136" y="-3849903"/>
            <a:ext cx="13065879" cy="14678928"/>
          </a:xfrm>
          <a:custGeom>
            <a:avLst/>
            <a:gdLst/>
            <a:ahLst/>
            <a:cxnLst/>
            <a:rect l="l" t="t" r="r" b="b"/>
            <a:pathLst>
              <a:path w="13065879" h="14678928">
                <a:moveTo>
                  <a:pt x="0" y="0"/>
                </a:moveTo>
                <a:lnTo>
                  <a:pt x="13065879" y="0"/>
                </a:lnTo>
                <a:lnTo>
                  <a:pt x="13065879" y="14678928"/>
                </a:lnTo>
                <a:lnTo>
                  <a:pt x="0" y="14678928"/>
                </a:lnTo>
                <a:lnTo>
                  <a:pt x="0" y="0"/>
                </a:lnTo>
                <a:close/>
              </a:path>
            </a:pathLst>
          </a:custGeom>
          <a:blipFill>
            <a:blip r:embed="rId3"/>
            <a:stretch>
              <a:fillRect t="-43755" r="-18352" b="-43755"/>
            </a:stretch>
          </a:blipFill>
        </p:spPr>
        <p:txBody>
          <a:bodyPr/>
          <a:lstStyle/>
          <a:p>
            <a:endParaRPr lang="pt-BR"/>
          </a:p>
        </p:txBody>
      </p:sp>
      <p:sp>
        <p:nvSpPr>
          <p:cNvPr id="4" name="TextBox 4"/>
          <p:cNvSpPr txBox="1"/>
          <p:nvPr/>
        </p:nvSpPr>
        <p:spPr>
          <a:xfrm>
            <a:off x="12598747" y="542925"/>
            <a:ext cx="4660553" cy="2590165"/>
          </a:xfrm>
          <a:prstGeom prst="rect">
            <a:avLst/>
          </a:prstGeom>
        </p:spPr>
        <p:txBody>
          <a:bodyPr lIns="0" tIns="0" rIns="0" bIns="0" rtlCol="0" anchor="t">
            <a:spAutoFit/>
          </a:bodyPr>
          <a:lstStyle/>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visitas</a:t>
            </a:r>
          </a:p>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mediadas</a:t>
            </a:r>
          </a:p>
        </p:txBody>
      </p:sp>
      <p:grpSp>
        <p:nvGrpSpPr>
          <p:cNvPr id="5" name="Group 5"/>
          <p:cNvGrpSpPr/>
          <p:nvPr/>
        </p:nvGrpSpPr>
        <p:grpSpPr>
          <a:xfrm>
            <a:off x="12015320" y="4430912"/>
            <a:ext cx="4627103" cy="2861060"/>
            <a:chOff x="0" y="0"/>
            <a:chExt cx="6169471" cy="3814746"/>
          </a:xfrm>
        </p:grpSpPr>
        <p:sp>
          <p:nvSpPr>
            <p:cNvPr id="6" name="AutoShape 6"/>
            <p:cNvSpPr/>
            <p:nvPr/>
          </p:nvSpPr>
          <p:spPr>
            <a:xfrm flipV="1">
              <a:off x="57150" y="1430840"/>
              <a:ext cx="6055171" cy="514219"/>
            </a:xfrm>
            <a:prstGeom prst="line">
              <a:avLst/>
            </a:prstGeom>
            <a:ln w="114300" cap="flat">
              <a:solidFill>
                <a:srgbClr val="DB6313"/>
              </a:solidFill>
              <a:prstDash val="sysDash"/>
              <a:headEnd type="none" w="sm" len="sm"/>
              <a:tailEnd type="none" w="sm" len="sm"/>
            </a:ln>
          </p:spPr>
          <p:txBody>
            <a:bodyPr/>
            <a:lstStyle/>
            <a:p>
              <a:endParaRPr lang="pt-BR"/>
            </a:p>
          </p:txBody>
        </p:sp>
        <p:sp>
          <p:nvSpPr>
            <p:cNvPr id="7" name="AutoShape 7"/>
            <p:cNvSpPr/>
            <p:nvPr/>
          </p:nvSpPr>
          <p:spPr>
            <a:xfrm flipV="1">
              <a:off x="57150" y="1945059"/>
              <a:ext cx="6055171" cy="84304"/>
            </a:xfrm>
            <a:prstGeom prst="line">
              <a:avLst/>
            </a:prstGeom>
            <a:ln w="114300" cap="flat">
              <a:solidFill>
                <a:srgbClr val="DB6313"/>
              </a:solidFill>
              <a:prstDash val="sysDash"/>
              <a:headEnd type="none" w="sm" len="sm"/>
              <a:tailEnd type="none" w="sm" len="sm"/>
            </a:ln>
          </p:spPr>
          <p:txBody>
            <a:bodyPr/>
            <a:lstStyle/>
            <a:p>
              <a:endParaRPr lang="pt-BR"/>
            </a:p>
          </p:txBody>
        </p:sp>
      </p:grpSp>
      <p:sp>
        <p:nvSpPr>
          <p:cNvPr id="8" name="TextBox 8"/>
          <p:cNvSpPr txBox="1"/>
          <p:nvPr/>
        </p:nvSpPr>
        <p:spPr>
          <a:xfrm>
            <a:off x="12718256" y="4730328"/>
            <a:ext cx="3221230" cy="2198370"/>
          </a:xfrm>
          <a:prstGeom prst="rect">
            <a:avLst/>
          </a:prstGeom>
        </p:spPr>
        <p:txBody>
          <a:bodyPr lIns="0" tIns="0" rIns="0" bIns="0" rtlCol="0" anchor="t">
            <a:spAutoFit/>
          </a:bodyPr>
          <a:lstStyle/>
          <a:p>
            <a:pPr algn="ctr">
              <a:lnSpc>
                <a:spcPts val="5880"/>
              </a:lnSpc>
            </a:pPr>
            <a:r>
              <a:rPr lang="en-US" sz="4200" spc="319">
                <a:solidFill>
                  <a:srgbClr val="556447"/>
                </a:solidFill>
                <a:latin typeface="Clear Sans"/>
                <a:ea typeface="Clear Sans"/>
                <a:cs typeface="Clear Sans"/>
                <a:sym typeface="Clear Sans"/>
              </a:rPr>
              <a:t>1.458 pessoas atendidas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1C295"/>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483846" y="1358325"/>
            <a:ext cx="13390506" cy="9295154"/>
          </a:xfrm>
          <a:prstGeom prst="rect">
            <a:avLst/>
          </a:prstGeom>
        </p:spPr>
      </p:pic>
      <p:sp>
        <p:nvSpPr>
          <p:cNvPr id="3" name="Freeform 3"/>
          <p:cNvSpPr/>
          <p:nvPr/>
        </p:nvSpPr>
        <p:spPr>
          <a:xfrm>
            <a:off x="12589024" y="1776950"/>
            <a:ext cx="5698976" cy="7760653"/>
          </a:xfrm>
          <a:custGeom>
            <a:avLst/>
            <a:gdLst/>
            <a:ahLst/>
            <a:cxnLst/>
            <a:rect l="l" t="t" r="r" b="b"/>
            <a:pathLst>
              <a:path w="5698976" h="7760653">
                <a:moveTo>
                  <a:pt x="0" y="0"/>
                </a:moveTo>
                <a:lnTo>
                  <a:pt x="5698976" y="0"/>
                </a:lnTo>
                <a:lnTo>
                  <a:pt x="5698976" y="7760652"/>
                </a:lnTo>
                <a:lnTo>
                  <a:pt x="0" y="7760652"/>
                </a:lnTo>
                <a:lnTo>
                  <a:pt x="0" y="0"/>
                </a:lnTo>
                <a:close/>
              </a:path>
            </a:pathLst>
          </a:custGeom>
          <a:blipFill>
            <a:blip r:embed="rId3"/>
            <a:stretch>
              <a:fillRect t="-23560" b="-3189"/>
            </a:stretch>
          </a:blipFill>
        </p:spPr>
        <p:txBody>
          <a:bodyPr/>
          <a:lstStyle/>
          <a:p>
            <a:endParaRPr lang="pt-BR"/>
          </a:p>
        </p:txBody>
      </p:sp>
      <p:sp>
        <p:nvSpPr>
          <p:cNvPr id="4" name="TextBox 4"/>
          <p:cNvSpPr txBox="1"/>
          <p:nvPr/>
        </p:nvSpPr>
        <p:spPr>
          <a:xfrm>
            <a:off x="1028700" y="542925"/>
            <a:ext cx="4402931" cy="1456690"/>
          </a:xfrm>
          <a:prstGeom prst="rect">
            <a:avLst/>
          </a:prstGeom>
        </p:spPr>
        <p:txBody>
          <a:bodyPr lIns="0" tIns="0" rIns="0" bIns="0" rtlCol="0" anchor="t">
            <a:spAutoFit/>
          </a:bodyPr>
          <a:lstStyle/>
          <a:p>
            <a:pPr algn="r">
              <a:lnSpc>
                <a:spcPts val="8959"/>
              </a:lnSpc>
            </a:pPr>
            <a:r>
              <a:rPr lang="en-US" sz="6399" b="1" spc="486">
                <a:solidFill>
                  <a:srgbClr val="FFFFFF"/>
                </a:solidFill>
                <a:latin typeface="Prachason Neue Mon SemiExpanded Bold"/>
                <a:ea typeface="Prachason Neue Mon SemiExpanded Bold"/>
                <a:cs typeface="Prachason Neue Mon SemiExpanded Bold"/>
                <a:sym typeface="Prachason Neue Mon SemiExpanded Bold"/>
              </a:rPr>
              <a:t>formatos</a:t>
            </a:r>
          </a:p>
        </p:txBody>
      </p:sp>
      <p:sp>
        <p:nvSpPr>
          <p:cNvPr id="5" name="TextBox 5"/>
          <p:cNvSpPr txBox="1"/>
          <p:nvPr/>
        </p:nvSpPr>
        <p:spPr>
          <a:xfrm>
            <a:off x="6874108" y="660401"/>
            <a:ext cx="9833352" cy="555624"/>
          </a:xfrm>
          <a:prstGeom prst="rect">
            <a:avLst/>
          </a:prstGeom>
        </p:spPr>
        <p:txBody>
          <a:bodyPr lIns="0" tIns="0" rIns="0" bIns="0" rtlCol="0" anchor="t">
            <a:spAutoFit/>
          </a:bodyPr>
          <a:lstStyle/>
          <a:p>
            <a:pPr algn="ctr">
              <a:lnSpc>
                <a:spcPts val="3500"/>
              </a:lnSpc>
            </a:pPr>
            <a:r>
              <a:rPr lang="en-US" sz="2500" spc="190">
                <a:solidFill>
                  <a:srgbClr val="84443B"/>
                </a:solidFill>
                <a:latin typeface="Prachason Neue Mon SemiExpanded"/>
                <a:ea typeface="Prachason Neue Mon SemiExpanded"/>
                <a:cs typeface="Prachason Neue Mon SemiExpanded"/>
                <a:sym typeface="Prachason Neue Mon SemiExpanded"/>
              </a:rPr>
              <a:t>45 ações distribuídas em 9 diferentes formatos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1C295"/>
        </a:solidFill>
        <a:effectLst/>
      </p:bgPr>
    </p:bg>
    <p:spTree>
      <p:nvGrpSpPr>
        <p:cNvPr id="1" name=""/>
        <p:cNvGrpSpPr/>
        <p:nvPr/>
      </p:nvGrpSpPr>
      <p:grpSpPr>
        <a:xfrm>
          <a:off x="0" y="0"/>
          <a:ext cx="0" cy="0"/>
          <a:chOff x="0" y="0"/>
          <a:chExt cx="0" cy="0"/>
        </a:xfrm>
      </p:grpSpPr>
      <p:sp>
        <p:nvSpPr>
          <p:cNvPr id="2" name="Freeform 2"/>
          <p:cNvSpPr/>
          <p:nvPr/>
        </p:nvSpPr>
        <p:spPr>
          <a:xfrm>
            <a:off x="0" y="-441467"/>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7000"/>
            </a:blip>
            <a:stretch>
              <a:fillRect/>
            </a:stretch>
          </a:blipFill>
        </p:spPr>
        <p:txBody>
          <a:bodyPr/>
          <a:lstStyle/>
          <a:p>
            <a:endParaRPr lang="pt-BR"/>
          </a:p>
        </p:txBody>
      </p:sp>
      <p:grpSp>
        <p:nvGrpSpPr>
          <p:cNvPr id="3" name="Group 3"/>
          <p:cNvGrpSpPr/>
          <p:nvPr/>
        </p:nvGrpSpPr>
        <p:grpSpPr>
          <a:xfrm>
            <a:off x="13509352" y="5338928"/>
            <a:ext cx="3749948" cy="1960574"/>
            <a:chOff x="0" y="0"/>
            <a:chExt cx="4999930" cy="2614099"/>
          </a:xfrm>
        </p:grpSpPr>
        <p:grpSp>
          <p:nvGrpSpPr>
            <p:cNvPr id="4" name="Group 4"/>
            <p:cNvGrpSpPr/>
            <p:nvPr/>
          </p:nvGrpSpPr>
          <p:grpSpPr>
            <a:xfrm>
              <a:off x="0" y="0"/>
              <a:ext cx="4999930" cy="2614099"/>
              <a:chOff x="0" y="0"/>
              <a:chExt cx="660400" cy="345275"/>
            </a:xfrm>
          </p:grpSpPr>
          <p:sp>
            <p:nvSpPr>
              <p:cNvPr id="5" name="Freeform 5"/>
              <p:cNvSpPr/>
              <p:nvPr/>
            </p:nvSpPr>
            <p:spPr>
              <a:xfrm>
                <a:off x="0" y="0"/>
                <a:ext cx="660400" cy="345275"/>
              </a:xfrm>
              <a:custGeom>
                <a:avLst/>
                <a:gdLst/>
                <a:ahLst/>
                <a:cxnLst/>
                <a:rect l="l" t="t" r="r" b="b"/>
                <a:pathLst>
                  <a:path w="660400" h="345275">
                    <a:moveTo>
                      <a:pt x="659130" y="0"/>
                    </a:moveTo>
                    <a:cubicBezTo>
                      <a:pt x="660400" y="3453"/>
                      <a:pt x="660400" y="6905"/>
                      <a:pt x="660400" y="11221"/>
                    </a:cubicBezTo>
                    <a:cubicBezTo>
                      <a:pt x="660400" y="58697"/>
                      <a:pt x="618490" y="100993"/>
                      <a:pt x="557530" y="119983"/>
                    </a:cubicBezTo>
                    <a:cubicBezTo>
                      <a:pt x="618490" y="138973"/>
                      <a:pt x="660400" y="179543"/>
                      <a:pt x="660400" y="228745"/>
                    </a:cubicBezTo>
                    <a:cubicBezTo>
                      <a:pt x="660400" y="295210"/>
                      <a:pt x="584200" y="345275"/>
                      <a:pt x="482600" y="345275"/>
                    </a:cubicBezTo>
                    <a:lnTo>
                      <a:pt x="177800" y="345275"/>
                    </a:lnTo>
                    <a:cubicBezTo>
                      <a:pt x="76200" y="345275"/>
                      <a:pt x="0" y="295210"/>
                      <a:pt x="0" y="228745"/>
                    </a:cubicBezTo>
                    <a:cubicBezTo>
                      <a:pt x="0" y="179543"/>
                      <a:pt x="41910" y="138973"/>
                      <a:pt x="102870" y="119983"/>
                    </a:cubicBezTo>
                    <a:cubicBezTo>
                      <a:pt x="41910" y="100993"/>
                      <a:pt x="0" y="58697"/>
                      <a:pt x="0" y="11221"/>
                    </a:cubicBezTo>
                    <a:cubicBezTo>
                      <a:pt x="0" y="6905"/>
                      <a:pt x="0" y="3453"/>
                      <a:pt x="0" y="0"/>
                    </a:cubicBezTo>
                    <a:lnTo>
                      <a:pt x="659130" y="0"/>
                    </a:lnTo>
                    <a:close/>
                  </a:path>
                </a:pathLst>
              </a:custGeom>
              <a:solidFill>
                <a:srgbClr val="556447"/>
              </a:solidFill>
            </p:spPr>
            <p:txBody>
              <a:bodyPr/>
              <a:lstStyle/>
              <a:p>
                <a:endParaRPr lang="pt-BR"/>
              </a:p>
            </p:txBody>
          </p:sp>
          <p:sp>
            <p:nvSpPr>
              <p:cNvPr id="6" name="TextBox 6"/>
              <p:cNvSpPr txBox="1"/>
              <p:nvPr/>
            </p:nvSpPr>
            <p:spPr>
              <a:xfrm>
                <a:off x="127000" y="-38100"/>
                <a:ext cx="406400" cy="374743"/>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352478" y="84958"/>
              <a:ext cx="4294974" cy="1789641"/>
            </a:xfrm>
            <a:prstGeom prst="rect">
              <a:avLst/>
            </a:prstGeom>
          </p:spPr>
          <p:txBody>
            <a:bodyPr lIns="0" tIns="0" rIns="0" bIns="0" rtlCol="0" anchor="t">
              <a:spAutoFit/>
            </a:bodyPr>
            <a:lstStyle/>
            <a:p>
              <a:pPr algn="ctr">
                <a:lnSpc>
                  <a:spcPts val="4900"/>
                </a:lnSpc>
              </a:pPr>
              <a:r>
                <a:rPr lang="en-US" sz="3500" spc="266">
                  <a:solidFill>
                    <a:srgbClr val="ECD8BB"/>
                  </a:solidFill>
                  <a:latin typeface="Prachason Neue Mon SemiExpanded"/>
                  <a:ea typeface="Prachason Neue Mon SemiExpanded"/>
                  <a:cs typeface="Prachason Neue Mon SemiExpanded"/>
                  <a:sym typeface="Prachason Neue Mon SemiExpanded"/>
                </a:rPr>
                <a:t>2.946</a:t>
              </a:r>
            </a:p>
            <a:p>
              <a:pPr algn="ctr">
                <a:lnSpc>
                  <a:spcPts val="4900"/>
                </a:lnSpc>
              </a:pPr>
              <a:r>
                <a:rPr lang="en-US" sz="3500" spc="266">
                  <a:solidFill>
                    <a:srgbClr val="ECD8BB"/>
                  </a:solidFill>
                  <a:latin typeface="Prachason Neue Mon SemiExpanded"/>
                  <a:ea typeface="Prachason Neue Mon SemiExpanded"/>
                  <a:cs typeface="Prachason Neue Mon SemiExpanded"/>
                  <a:sym typeface="Prachason Neue Mon SemiExpanded"/>
                </a:rPr>
                <a:t>presenças </a:t>
              </a:r>
            </a:p>
          </p:txBody>
        </p:sp>
      </p:grpSp>
      <p:pic>
        <p:nvPicPr>
          <p:cNvPr id="8" name="Picture 8"/>
          <p:cNvPicPr>
            <a:picLocks noChangeAspect="1"/>
          </p:cNvPicPr>
          <p:nvPr/>
        </p:nvPicPr>
        <p:blipFill>
          <a:blip r:embed="rId3"/>
          <a:stretch>
            <a:fillRect/>
          </a:stretch>
        </p:blipFill>
        <p:spPr>
          <a:xfrm>
            <a:off x="-1593547" y="-179687"/>
            <a:ext cx="14500649" cy="106313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3C3C3"/>
        </a:solidFill>
        <a:effectLst/>
      </p:bgPr>
    </p:bg>
    <p:spTree>
      <p:nvGrpSpPr>
        <p:cNvPr id="1" name=""/>
        <p:cNvGrpSpPr/>
        <p:nvPr/>
      </p:nvGrpSpPr>
      <p:grpSpPr>
        <a:xfrm>
          <a:off x="0" y="0"/>
          <a:ext cx="0" cy="0"/>
          <a:chOff x="0" y="0"/>
          <a:chExt cx="0" cy="0"/>
        </a:xfrm>
      </p:grpSpPr>
      <p:sp>
        <p:nvSpPr>
          <p:cNvPr id="2" name="Freeform 2"/>
          <p:cNvSpPr/>
          <p:nvPr/>
        </p:nvSpPr>
        <p:spPr>
          <a:xfrm>
            <a:off x="0" y="1647286"/>
            <a:ext cx="11423661" cy="7611014"/>
          </a:xfrm>
          <a:custGeom>
            <a:avLst/>
            <a:gdLst/>
            <a:ahLst/>
            <a:cxnLst/>
            <a:rect l="l" t="t" r="r" b="b"/>
            <a:pathLst>
              <a:path w="11423661" h="7611014">
                <a:moveTo>
                  <a:pt x="0" y="0"/>
                </a:moveTo>
                <a:lnTo>
                  <a:pt x="11423661" y="0"/>
                </a:lnTo>
                <a:lnTo>
                  <a:pt x="11423661" y="7611014"/>
                </a:lnTo>
                <a:lnTo>
                  <a:pt x="0" y="7611014"/>
                </a:lnTo>
                <a:lnTo>
                  <a:pt x="0" y="0"/>
                </a:lnTo>
                <a:close/>
              </a:path>
            </a:pathLst>
          </a:custGeom>
          <a:blipFill>
            <a:blip r:embed="rId2"/>
            <a:stretch>
              <a:fillRect/>
            </a:stretch>
          </a:blipFill>
        </p:spPr>
        <p:txBody>
          <a:bodyPr/>
          <a:lstStyle/>
          <a:p>
            <a:endParaRPr lang="pt-BR"/>
          </a:p>
        </p:txBody>
      </p:sp>
      <p:sp>
        <p:nvSpPr>
          <p:cNvPr id="3" name="Freeform 3"/>
          <p:cNvSpPr/>
          <p:nvPr/>
        </p:nvSpPr>
        <p:spPr>
          <a:xfrm rot="-5400000">
            <a:off x="8549524" y="-10891674"/>
            <a:ext cx="5368550" cy="25782578"/>
          </a:xfrm>
          <a:custGeom>
            <a:avLst/>
            <a:gdLst/>
            <a:ahLst/>
            <a:cxnLst/>
            <a:rect l="l" t="t" r="r" b="b"/>
            <a:pathLst>
              <a:path w="5368550" h="25782578">
                <a:moveTo>
                  <a:pt x="0" y="0"/>
                </a:moveTo>
                <a:lnTo>
                  <a:pt x="5368549" y="0"/>
                </a:lnTo>
                <a:lnTo>
                  <a:pt x="5368549" y="25782578"/>
                </a:lnTo>
                <a:lnTo>
                  <a:pt x="0" y="25782578"/>
                </a:lnTo>
                <a:lnTo>
                  <a:pt x="0" y="0"/>
                </a:lnTo>
                <a:close/>
              </a:path>
            </a:pathLst>
          </a:custGeom>
          <a:blipFill>
            <a:blip r:embed="rId3"/>
            <a:stretch>
              <a:fillRect l="-97618" t="-6734" r="-90366"/>
            </a:stretch>
          </a:blipFill>
        </p:spPr>
        <p:txBody>
          <a:bodyPr/>
          <a:lstStyle/>
          <a:p>
            <a:endParaRPr lang="pt-BR"/>
          </a:p>
        </p:txBody>
      </p:sp>
      <p:sp>
        <p:nvSpPr>
          <p:cNvPr id="4" name="TextBox 4"/>
          <p:cNvSpPr txBox="1"/>
          <p:nvPr/>
        </p:nvSpPr>
        <p:spPr>
          <a:xfrm>
            <a:off x="8557870" y="461645"/>
            <a:ext cx="8701430" cy="2590165"/>
          </a:xfrm>
          <a:prstGeom prst="rect">
            <a:avLst/>
          </a:prstGeom>
        </p:spPr>
        <p:txBody>
          <a:bodyPr lIns="0" tIns="0" rIns="0" bIns="0" rtlCol="0" anchor="t">
            <a:spAutoFit/>
          </a:bodyPr>
          <a:lstStyle/>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ações</a:t>
            </a:r>
          </a:p>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integradas</a:t>
            </a:r>
          </a:p>
        </p:txBody>
      </p:sp>
      <p:sp>
        <p:nvSpPr>
          <p:cNvPr id="5" name="TextBox 5"/>
          <p:cNvSpPr txBox="1"/>
          <p:nvPr/>
        </p:nvSpPr>
        <p:spPr>
          <a:xfrm>
            <a:off x="11814287" y="7390714"/>
            <a:ext cx="4729014" cy="1441450"/>
          </a:xfrm>
          <a:prstGeom prst="rect">
            <a:avLst/>
          </a:prstGeom>
        </p:spPr>
        <p:txBody>
          <a:bodyPr lIns="0" tIns="0" rIns="0" bIns="0" rtlCol="0" anchor="t">
            <a:spAutoFit/>
          </a:bodyPr>
          <a:lstStyle/>
          <a:p>
            <a:pPr algn="l">
              <a:lnSpc>
                <a:spcPts val="3499"/>
              </a:lnSpc>
            </a:pPr>
            <a:r>
              <a:rPr lang="en-US" sz="2499" b="1">
                <a:solidFill>
                  <a:srgbClr val="884940"/>
                </a:solidFill>
                <a:latin typeface="Prachason Neue Mon SemiExpanded Bold"/>
                <a:ea typeface="Prachason Neue Mon SemiExpanded Bold"/>
                <a:cs typeface="Prachason Neue Mon SemiExpanded Bold"/>
                <a:sym typeface="Prachason Neue Mon SemiExpanded Bold"/>
              </a:rPr>
              <a:t>Os 4 elementos do Hip-Hop</a:t>
            </a:r>
          </a:p>
          <a:p>
            <a:pPr algn="l">
              <a:lnSpc>
                <a:spcPts val="3499"/>
              </a:lnSpc>
              <a:spcBef>
                <a:spcPct val="0"/>
              </a:spcBef>
            </a:pPr>
            <a:r>
              <a:rPr lang="en-US" sz="2499">
                <a:solidFill>
                  <a:srgbClr val="884940"/>
                </a:solidFill>
                <a:latin typeface="Prachason Neue Mon SemiExpanded"/>
                <a:ea typeface="Prachason Neue Mon SemiExpanded"/>
                <a:cs typeface="Prachason Neue Mon SemiExpanded"/>
                <a:sym typeface="Prachason Neue Mon SemiExpanded"/>
              </a:rPr>
              <a:t>10.ago.2025</a:t>
            </a:r>
          </a:p>
          <a:p>
            <a:pPr algn="l">
              <a:lnSpc>
                <a:spcPts val="3499"/>
              </a:lnSpc>
              <a:spcBef>
                <a:spcPct val="0"/>
              </a:spcBef>
            </a:pPr>
            <a:r>
              <a:rPr lang="en-US" sz="2499">
                <a:solidFill>
                  <a:srgbClr val="884940"/>
                </a:solidFill>
                <a:latin typeface="Prachason Neue Mon SemiExpanded"/>
                <a:ea typeface="Prachason Neue Mon SemiExpanded"/>
                <a:cs typeface="Prachason Neue Mon SemiExpanded"/>
                <a:sym typeface="Prachason Neue Mon SemiExpanded"/>
              </a:rPr>
              <a:t>53 pessoas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3C3C3"/>
        </a:solidFill>
        <a:effectLst/>
      </p:bgPr>
    </p:bg>
    <p:spTree>
      <p:nvGrpSpPr>
        <p:cNvPr id="1" name=""/>
        <p:cNvGrpSpPr/>
        <p:nvPr/>
      </p:nvGrpSpPr>
      <p:grpSpPr>
        <a:xfrm>
          <a:off x="0" y="0"/>
          <a:ext cx="0" cy="0"/>
          <a:chOff x="0" y="0"/>
          <a:chExt cx="0" cy="0"/>
        </a:xfrm>
      </p:grpSpPr>
      <p:sp>
        <p:nvSpPr>
          <p:cNvPr id="2" name="Freeform 2"/>
          <p:cNvSpPr/>
          <p:nvPr/>
        </p:nvSpPr>
        <p:spPr>
          <a:xfrm>
            <a:off x="9925545" y="2785162"/>
            <a:ext cx="8362645" cy="5911538"/>
          </a:xfrm>
          <a:custGeom>
            <a:avLst/>
            <a:gdLst/>
            <a:ahLst/>
            <a:cxnLst/>
            <a:rect l="l" t="t" r="r" b="b"/>
            <a:pathLst>
              <a:path w="8362645" h="5911538">
                <a:moveTo>
                  <a:pt x="0" y="0"/>
                </a:moveTo>
                <a:lnTo>
                  <a:pt x="8362646" y="0"/>
                </a:lnTo>
                <a:lnTo>
                  <a:pt x="8362646" y="5911537"/>
                </a:lnTo>
                <a:lnTo>
                  <a:pt x="0" y="5911537"/>
                </a:lnTo>
                <a:lnTo>
                  <a:pt x="0" y="0"/>
                </a:lnTo>
                <a:close/>
              </a:path>
            </a:pathLst>
          </a:custGeom>
          <a:blipFill>
            <a:blip r:embed="rId2"/>
            <a:stretch>
              <a:fillRect r="-6034"/>
            </a:stretch>
          </a:blipFill>
        </p:spPr>
        <p:txBody>
          <a:bodyPr/>
          <a:lstStyle/>
          <a:p>
            <a:endParaRPr lang="pt-BR"/>
          </a:p>
        </p:txBody>
      </p:sp>
      <p:sp>
        <p:nvSpPr>
          <p:cNvPr id="3" name="TextBox 3"/>
          <p:cNvSpPr txBox="1"/>
          <p:nvPr/>
        </p:nvSpPr>
        <p:spPr>
          <a:xfrm>
            <a:off x="1028700" y="542925"/>
            <a:ext cx="4660553" cy="2590165"/>
          </a:xfrm>
          <a:prstGeom prst="rect">
            <a:avLst/>
          </a:prstGeom>
        </p:spPr>
        <p:txBody>
          <a:bodyPr lIns="0" tIns="0" rIns="0" bIns="0" rtlCol="0" anchor="t">
            <a:spAutoFit/>
          </a:bodyPr>
          <a:lstStyle/>
          <a:p>
            <a:pPr algn="just">
              <a:lnSpc>
                <a:spcPts val="8959"/>
              </a:lnSpc>
            </a:pPr>
            <a:r>
              <a:rPr lang="en-US" sz="6399" b="1" spc="486">
                <a:solidFill>
                  <a:srgbClr val="556447"/>
                </a:solidFill>
                <a:latin typeface="Prachason Neue Mon SemiExpanded Bold"/>
                <a:ea typeface="Prachason Neue Mon SemiExpanded Bold"/>
                <a:cs typeface="Prachason Neue Mon SemiExpanded Bold"/>
                <a:sym typeface="Prachason Neue Mon SemiExpanded Bold"/>
              </a:rPr>
              <a:t>ações</a:t>
            </a:r>
          </a:p>
          <a:p>
            <a:pPr algn="just">
              <a:lnSpc>
                <a:spcPts val="8959"/>
              </a:lnSpc>
            </a:pPr>
            <a:r>
              <a:rPr lang="en-US" sz="6399" b="1" spc="486">
                <a:solidFill>
                  <a:srgbClr val="556447"/>
                </a:solidFill>
                <a:latin typeface="Prachason Neue Mon SemiExpanded Bold"/>
                <a:ea typeface="Prachason Neue Mon SemiExpanded Bold"/>
                <a:cs typeface="Prachason Neue Mon SemiExpanded Bold"/>
                <a:sym typeface="Prachason Neue Mon SemiExpanded Bold"/>
              </a:rPr>
              <a:t>mediadas</a:t>
            </a:r>
          </a:p>
        </p:txBody>
      </p:sp>
      <p:grpSp>
        <p:nvGrpSpPr>
          <p:cNvPr id="4" name="Group 4"/>
          <p:cNvGrpSpPr/>
          <p:nvPr/>
        </p:nvGrpSpPr>
        <p:grpSpPr>
          <a:xfrm>
            <a:off x="9978295" y="717337"/>
            <a:ext cx="7281005" cy="1363558"/>
            <a:chOff x="0" y="0"/>
            <a:chExt cx="9708006" cy="1818077"/>
          </a:xfrm>
        </p:grpSpPr>
        <p:grpSp>
          <p:nvGrpSpPr>
            <p:cNvPr id="5" name="Group 5"/>
            <p:cNvGrpSpPr/>
            <p:nvPr/>
          </p:nvGrpSpPr>
          <p:grpSpPr>
            <a:xfrm>
              <a:off x="0" y="0"/>
              <a:ext cx="9708006" cy="1818077"/>
              <a:chOff x="0" y="0"/>
              <a:chExt cx="1539665" cy="288342"/>
            </a:xfrm>
          </p:grpSpPr>
          <p:sp>
            <p:nvSpPr>
              <p:cNvPr id="6" name="Freeform 6"/>
              <p:cNvSpPr/>
              <p:nvPr/>
            </p:nvSpPr>
            <p:spPr>
              <a:xfrm>
                <a:off x="0" y="0"/>
                <a:ext cx="1539665" cy="288342"/>
              </a:xfrm>
              <a:custGeom>
                <a:avLst/>
                <a:gdLst/>
                <a:ahLst/>
                <a:cxnLst/>
                <a:rect l="l" t="t" r="r" b="b"/>
                <a:pathLst>
                  <a:path w="1539665" h="288342">
                    <a:moveTo>
                      <a:pt x="1538395" y="0"/>
                    </a:moveTo>
                    <a:cubicBezTo>
                      <a:pt x="1539665" y="2883"/>
                      <a:pt x="1539665" y="5767"/>
                      <a:pt x="1539665" y="9371"/>
                    </a:cubicBezTo>
                    <a:cubicBezTo>
                      <a:pt x="1539665" y="49018"/>
                      <a:pt x="1497755" y="84340"/>
                      <a:pt x="1436795" y="100199"/>
                    </a:cubicBezTo>
                    <a:cubicBezTo>
                      <a:pt x="1497755" y="116058"/>
                      <a:pt x="1539665" y="149938"/>
                      <a:pt x="1539665" y="191027"/>
                    </a:cubicBezTo>
                    <a:cubicBezTo>
                      <a:pt x="1539665" y="246533"/>
                      <a:pt x="1463465" y="288342"/>
                      <a:pt x="1361865" y="288342"/>
                    </a:cubicBezTo>
                    <a:lnTo>
                      <a:pt x="177800" y="288342"/>
                    </a:lnTo>
                    <a:cubicBezTo>
                      <a:pt x="76200" y="288342"/>
                      <a:pt x="0" y="246533"/>
                      <a:pt x="0" y="191027"/>
                    </a:cubicBezTo>
                    <a:cubicBezTo>
                      <a:pt x="0" y="149938"/>
                      <a:pt x="41910" y="116058"/>
                      <a:pt x="102870" y="100199"/>
                    </a:cubicBezTo>
                    <a:cubicBezTo>
                      <a:pt x="41910" y="84340"/>
                      <a:pt x="0" y="49018"/>
                      <a:pt x="0" y="9371"/>
                    </a:cubicBezTo>
                    <a:cubicBezTo>
                      <a:pt x="0" y="5767"/>
                      <a:pt x="0" y="2883"/>
                      <a:pt x="0" y="0"/>
                    </a:cubicBezTo>
                    <a:lnTo>
                      <a:pt x="1538395" y="0"/>
                    </a:lnTo>
                    <a:close/>
                  </a:path>
                </a:pathLst>
              </a:custGeom>
              <a:solidFill>
                <a:srgbClr val="556447"/>
              </a:solidFill>
            </p:spPr>
            <p:txBody>
              <a:bodyPr/>
              <a:lstStyle/>
              <a:p>
                <a:endParaRPr lang="pt-BR"/>
              </a:p>
            </p:txBody>
          </p:sp>
          <p:sp>
            <p:nvSpPr>
              <p:cNvPr id="7" name="TextBox 7"/>
              <p:cNvSpPr txBox="1"/>
              <p:nvPr/>
            </p:nvSpPr>
            <p:spPr>
              <a:xfrm>
                <a:off x="127000" y="-38100"/>
                <a:ext cx="1285665" cy="319234"/>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079897" y="32702"/>
              <a:ext cx="8340643" cy="1524074"/>
            </a:xfrm>
            <a:prstGeom prst="rect">
              <a:avLst/>
            </a:prstGeom>
          </p:spPr>
          <p:txBody>
            <a:bodyPr lIns="0" tIns="0" rIns="0" bIns="0" rtlCol="0" anchor="t">
              <a:spAutoFit/>
            </a:bodyPr>
            <a:lstStyle/>
            <a:p>
              <a:pPr algn="ctr">
                <a:lnSpc>
                  <a:spcPts val="4196"/>
                </a:lnSpc>
              </a:pPr>
              <a:r>
                <a:rPr lang="en-US" sz="2997" spc="227">
                  <a:solidFill>
                    <a:srgbClr val="ECD8BB"/>
                  </a:solidFill>
                  <a:latin typeface="Prachason Neue Mon SemiExpanded"/>
                  <a:ea typeface="Prachason Neue Mon SemiExpanded"/>
                  <a:cs typeface="Prachason Neue Mon SemiExpanded"/>
                  <a:sym typeface="Prachason Neue Mon SemiExpanded"/>
                </a:rPr>
                <a:t>2.921 pessoas</a:t>
              </a:r>
            </a:p>
            <a:p>
              <a:pPr algn="ctr">
                <a:lnSpc>
                  <a:spcPts val="4196"/>
                </a:lnSpc>
              </a:pPr>
              <a:r>
                <a:rPr lang="en-US" sz="2997" spc="227">
                  <a:solidFill>
                    <a:srgbClr val="ECD8BB"/>
                  </a:solidFill>
                  <a:latin typeface="Prachason Neue Mon SemiExpanded"/>
                  <a:ea typeface="Prachason Neue Mon SemiExpanded"/>
                  <a:cs typeface="Prachason Neue Mon SemiExpanded"/>
                  <a:sym typeface="Prachason Neue Mon SemiExpanded"/>
                </a:rPr>
                <a:t>atendidas</a:t>
              </a:r>
            </a:p>
          </p:txBody>
        </p:sp>
      </p:grpSp>
      <p:grpSp>
        <p:nvGrpSpPr>
          <p:cNvPr id="9" name="Group 9"/>
          <p:cNvGrpSpPr/>
          <p:nvPr/>
        </p:nvGrpSpPr>
        <p:grpSpPr>
          <a:xfrm>
            <a:off x="0" y="3573519"/>
            <a:ext cx="10809642" cy="4803022"/>
            <a:chOff x="0" y="0"/>
            <a:chExt cx="955192" cy="424418"/>
          </a:xfrm>
        </p:grpSpPr>
        <p:sp>
          <p:nvSpPr>
            <p:cNvPr id="10" name="Freeform 10"/>
            <p:cNvSpPr/>
            <p:nvPr/>
          </p:nvSpPr>
          <p:spPr>
            <a:xfrm>
              <a:off x="0" y="0"/>
              <a:ext cx="955192" cy="424418"/>
            </a:xfrm>
            <a:custGeom>
              <a:avLst/>
              <a:gdLst/>
              <a:ahLst/>
              <a:cxnLst/>
              <a:rect l="l" t="t" r="r" b="b"/>
              <a:pathLst>
                <a:path w="955192" h="424418">
                  <a:moveTo>
                    <a:pt x="955192" y="106105"/>
                  </a:moveTo>
                  <a:cubicBezTo>
                    <a:pt x="955192" y="47466"/>
                    <a:pt x="892599" y="0"/>
                    <a:pt x="815634" y="0"/>
                  </a:cubicBezTo>
                  <a:lnTo>
                    <a:pt x="0" y="0"/>
                  </a:lnTo>
                  <a:lnTo>
                    <a:pt x="0" y="212209"/>
                  </a:lnTo>
                  <a:lnTo>
                    <a:pt x="139558" y="212209"/>
                  </a:lnTo>
                  <a:cubicBezTo>
                    <a:pt x="62431" y="212209"/>
                    <a:pt x="0" y="259798"/>
                    <a:pt x="0" y="318314"/>
                  </a:cubicBezTo>
                  <a:cubicBezTo>
                    <a:pt x="0" y="376952"/>
                    <a:pt x="62593" y="424418"/>
                    <a:pt x="139558" y="424418"/>
                  </a:cubicBezTo>
                  <a:lnTo>
                    <a:pt x="955029" y="424418"/>
                  </a:lnTo>
                  <a:lnTo>
                    <a:pt x="955029" y="212209"/>
                  </a:lnTo>
                  <a:lnTo>
                    <a:pt x="815452" y="212209"/>
                  </a:lnTo>
                  <a:cubicBezTo>
                    <a:pt x="892599" y="212209"/>
                    <a:pt x="955192" y="164620"/>
                    <a:pt x="955192" y="106105"/>
                  </a:cubicBezTo>
                  <a:close/>
                </a:path>
              </a:pathLst>
            </a:custGeom>
            <a:solidFill>
              <a:srgbClr val="556447"/>
            </a:solidFill>
          </p:spPr>
          <p:txBody>
            <a:bodyPr/>
            <a:lstStyle/>
            <a:p>
              <a:endParaRPr lang="pt-BR"/>
            </a:p>
          </p:txBody>
        </p:sp>
        <p:sp>
          <p:nvSpPr>
            <p:cNvPr id="11" name="TextBox 11"/>
            <p:cNvSpPr txBox="1"/>
            <p:nvPr/>
          </p:nvSpPr>
          <p:spPr>
            <a:xfrm>
              <a:off x="139700" y="-38100"/>
              <a:ext cx="675792" cy="462518"/>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884097" y="3584256"/>
            <a:ext cx="9041449" cy="4562473"/>
          </a:xfrm>
          <a:prstGeom prst="rect">
            <a:avLst/>
          </a:prstGeom>
        </p:spPr>
        <p:txBody>
          <a:bodyPr lIns="0" tIns="0" rIns="0" bIns="0" rtlCol="0" anchor="t">
            <a:spAutoFit/>
          </a:bodyPr>
          <a:lstStyle/>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Cortes e Dobras: oficina de esculturas</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Experiências poéticas nas práticas pedagógicas</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Práticas para um currículo antirracista</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Jornada pedagógica em Museus</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Brinquedo para dançar e encantar: oficina de boizinho</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Carimbando Praças e Jardins</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Oficina de Vogue</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Ara Messan - Oficina de dança</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Jardins imaginários</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Ifé Okan - Jardim de mim: Oficina de colagem</a:t>
            </a:r>
          </a:p>
        </p:txBody>
      </p:sp>
      <p:sp>
        <p:nvSpPr>
          <p:cNvPr id="13" name="TextBox 13"/>
          <p:cNvSpPr txBox="1"/>
          <p:nvPr/>
        </p:nvSpPr>
        <p:spPr>
          <a:xfrm>
            <a:off x="13107888" y="8687174"/>
            <a:ext cx="4151412" cy="1223010"/>
          </a:xfrm>
          <a:prstGeom prst="rect">
            <a:avLst/>
          </a:prstGeom>
        </p:spPr>
        <p:txBody>
          <a:bodyPr lIns="0" tIns="0" rIns="0" bIns="0" rtlCol="0" anchor="t">
            <a:spAutoFit/>
          </a:bodyPr>
          <a:lstStyle/>
          <a:p>
            <a:pPr algn="r">
              <a:lnSpc>
                <a:spcPts val="2939"/>
              </a:lnSpc>
              <a:spcBef>
                <a:spcPct val="0"/>
              </a:spcBef>
            </a:pPr>
            <a:r>
              <a:rPr lang="en-US" sz="2099" b="1">
                <a:solidFill>
                  <a:srgbClr val="556447"/>
                </a:solidFill>
                <a:latin typeface="Prachason Neue Mon SemiExpanded Bold"/>
                <a:ea typeface="Prachason Neue Mon SemiExpanded Bold"/>
                <a:cs typeface="Prachason Neue Mon SemiExpanded Bold"/>
                <a:sym typeface="Prachason Neue Mon SemiExpanded Bold"/>
              </a:rPr>
              <a:t>O Jardim do Mam em diálogo</a:t>
            </a:r>
          </a:p>
          <a:p>
            <a:pPr algn="r">
              <a:lnSpc>
                <a:spcPts val="2939"/>
              </a:lnSpc>
              <a:spcBef>
                <a:spcPct val="0"/>
              </a:spcBef>
            </a:pPr>
            <a:r>
              <a:rPr lang="en-US" sz="2099">
                <a:solidFill>
                  <a:srgbClr val="556447"/>
                </a:solidFill>
                <a:latin typeface="Prachason Neue Mon SemiExpanded"/>
                <a:ea typeface="Prachason Neue Mon SemiExpanded"/>
                <a:cs typeface="Prachason Neue Mon SemiExpanded"/>
                <a:sym typeface="Prachason Neue Mon SemiExpanded"/>
              </a:rPr>
              <a:t>29.ago.2025</a:t>
            </a:r>
          </a:p>
          <a:p>
            <a:pPr algn="r">
              <a:lnSpc>
                <a:spcPts val="2939"/>
              </a:lnSpc>
              <a:spcBef>
                <a:spcPct val="0"/>
              </a:spcBef>
            </a:pPr>
            <a:r>
              <a:rPr lang="en-US" sz="2099">
                <a:solidFill>
                  <a:srgbClr val="556447"/>
                </a:solidFill>
                <a:latin typeface="Prachason Neue Mon SemiExpanded"/>
                <a:ea typeface="Prachason Neue Mon SemiExpanded"/>
                <a:cs typeface="Prachason Neue Mon SemiExpanded"/>
                <a:sym typeface="Prachason Neue Mon SemiExpanded"/>
              </a:rPr>
              <a:t>180 pessoas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3C3C3"/>
        </a:solidFill>
        <a:effectLst/>
      </p:bgPr>
    </p:bg>
    <p:spTree>
      <p:nvGrpSpPr>
        <p:cNvPr id="1" name=""/>
        <p:cNvGrpSpPr/>
        <p:nvPr/>
      </p:nvGrpSpPr>
      <p:grpSpPr>
        <a:xfrm>
          <a:off x="0" y="0"/>
          <a:ext cx="0" cy="0"/>
          <a:chOff x="0" y="0"/>
          <a:chExt cx="0" cy="0"/>
        </a:xfrm>
      </p:grpSpPr>
      <p:grpSp>
        <p:nvGrpSpPr>
          <p:cNvPr id="2" name="Group 2"/>
          <p:cNvGrpSpPr/>
          <p:nvPr/>
        </p:nvGrpSpPr>
        <p:grpSpPr>
          <a:xfrm>
            <a:off x="10873447" y="2379028"/>
            <a:ext cx="6385853" cy="6879272"/>
            <a:chOff x="0" y="0"/>
            <a:chExt cx="8514470" cy="9172363"/>
          </a:xfrm>
        </p:grpSpPr>
        <p:grpSp>
          <p:nvGrpSpPr>
            <p:cNvPr id="3" name="Group 3"/>
            <p:cNvGrpSpPr/>
            <p:nvPr/>
          </p:nvGrpSpPr>
          <p:grpSpPr>
            <a:xfrm>
              <a:off x="0" y="0"/>
              <a:ext cx="8514470" cy="4136605"/>
              <a:chOff x="0" y="0"/>
              <a:chExt cx="671587" cy="326279"/>
            </a:xfrm>
          </p:grpSpPr>
          <p:sp>
            <p:nvSpPr>
              <p:cNvPr id="4" name="Freeform 4"/>
              <p:cNvSpPr/>
              <p:nvPr/>
            </p:nvSpPr>
            <p:spPr>
              <a:xfrm>
                <a:off x="0" y="0"/>
                <a:ext cx="671587" cy="326279"/>
              </a:xfrm>
              <a:custGeom>
                <a:avLst/>
                <a:gdLst/>
                <a:ahLst/>
                <a:cxnLst/>
                <a:rect l="l" t="t" r="r" b="b"/>
                <a:pathLst>
                  <a:path w="671587" h="326279">
                    <a:moveTo>
                      <a:pt x="671587" y="0"/>
                    </a:moveTo>
                    <a:lnTo>
                      <a:pt x="671587" y="244742"/>
                    </a:lnTo>
                    <a:cubicBezTo>
                      <a:pt x="615621" y="244742"/>
                      <a:pt x="615621" y="326279"/>
                      <a:pt x="559657" y="326279"/>
                    </a:cubicBezTo>
                    <a:cubicBezTo>
                      <a:pt x="503673" y="326279"/>
                      <a:pt x="503673" y="244742"/>
                      <a:pt x="447708" y="244742"/>
                    </a:cubicBezTo>
                    <a:cubicBezTo>
                      <a:pt x="391742" y="244742"/>
                      <a:pt x="391742" y="326279"/>
                      <a:pt x="335776" y="326279"/>
                    </a:cubicBezTo>
                    <a:cubicBezTo>
                      <a:pt x="279811" y="326279"/>
                      <a:pt x="279811" y="244742"/>
                      <a:pt x="223845" y="244742"/>
                    </a:cubicBezTo>
                    <a:cubicBezTo>
                      <a:pt x="167879" y="244742"/>
                      <a:pt x="167879" y="326279"/>
                      <a:pt x="111931" y="326279"/>
                    </a:cubicBezTo>
                    <a:cubicBezTo>
                      <a:pt x="55966" y="326279"/>
                      <a:pt x="55966" y="244742"/>
                      <a:pt x="0" y="244742"/>
                    </a:cubicBezTo>
                    <a:lnTo>
                      <a:pt x="0" y="0"/>
                    </a:lnTo>
                    <a:cubicBezTo>
                      <a:pt x="55966" y="0"/>
                      <a:pt x="55966" y="81538"/>
                      <a:pt x="111931" y="81538"/>
                    </a:cubicBezTo>
                    <a:cubicBezTo>
                      <a:pt x="167879" y="81538"/>
                      <a:pt x="167879" y="0"/>
                      <a:pt x="223845" y="0"/>
                    </a:cubicBezTo>
                    <a:cubicBezTo>
                      <a:pt x="279811" y="0"/>
                      <a:pt x="279811" y="81538"/>
                      <a:pt x="335776" y="81538"/>
                    </a:cubicBezTo>
                    <a:cubicBezTo>
                      <a:pt x="391742" y="81538"/>
                      <a:pt x="391742" y="0"/>
                      <a:pt x="447708" y="0"/>
                    </a:cubicBezTo>
                    <a:cubicBezTo>
                      <a:pt x="503673" y="0"/>
                      <a:pt x="503673" y="81538"/>
                      <a:pt x="559657" y="81538"/>
                    </a:cubicBezTo>
                    <a:cubicBezTo>
                      <a:pt x="615621" y="81538"/>
                      <a:pt x="615621" y="0"/>
                      <a:pt x="671587" y="0"/>
                    </a:cubicBezTo>
                    <a:close/>
                  </a:path>
                </a:pathLst>
              </a:custGeom>
              <a:solidFill>
                <a:srgbClr val="AA8582"/>
              </a:solidFill>
            </p:spPr>
            <p:txBody>
              <a:bodyPr/>
              <a:lstStyle/>
              <a:p>
                <a:endParaRPr lang="pt-BR"/>
              </a:p>
            </p:txBody>
          </p:sp>
          <p:sp>
            <p:nvSpPr>
              <p:cNvPr id="5" name="TextBox 5"/>
              <p:cNvSpPr txBox="1"/>
              <p:nvPr/>
            </p:nvSpPr>
            <p:spPr>
              <a:xfrm>
                <a:off x="0" y="48908"/>
                <a:ext cx="671587" cy="190363"/>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2569459"/>
              <a:ext cx="8514470" cy="4136605"/>
              <a:chOff x="0" y="0"/>
              <a:chExt cx="671587" cy="326279"/>
            </a:xfrm>
          </p:grpSpPr>
          <p:sp>
            <p:nvSpPr>
              <p:cNvPr id="7" name="Freeform 7"/>
              <p:cNvSpPr/>
              <p:nvPr/>
            </p:nvSpPr>
            <p:spPr>
              <a:xfrm>
                <a:off x="0" y="0"/>
                <a:ext cx="671587" cy="326279"/>
              </a:xfrm>
              <a:custGeom>
                <a:avLst/>
                <a:gdLst/>
                <a:ahLst/>
                <a:cxnLst/>
                <a:rect l="l" t="t" r="r" b="b"/>
                <a:pathLst>
                  <a:path w="671587" h="326279">
                    <a:moveTo>
                      <a:pt x="671587" y="0"/>
                    </a:moveTo>
                    <a:lnTo>
                      <a:pt x="671587" y="244742"/>
                    </a:lnTo>
                    <a:cubicBezTo>
                      <a:pt x="615621" y="244742"/>
                      <a:pt x="615621" y="326279"/>
                      <a:pt x="559657" y="326279"/>
                    </a:cubicBezTo>
                    <a:cubicBezTo>
                      <a:pt x="503673" y="326279"/>
                      <a:pt x="503673" y="244742"/>
                      <a:pt x="447708" y="244742"/>
                    </a:cubicBezTo>
                    <a:cubicBezTo>
                      <a:pt x="391742" y="244742"/>
                      <a:pt x="391742" y="326279"/>
                      <a:pt x="335776" y="326279"/>
                    </a:cubicBezTo>
                    <a:cubicBezTo>
                      <a:pt x="279811" y="326279"/>
                      <a:pt x="279811" y="244742"/>
                      <a:pt x="223845" y="244742"/>
                    </a:cubicBezTo>
                    <a:cubicBezTo>
                      <a:pt x="167879" y="244742"/>
                      <a:pt x="167879" y="326279"/>
                      <a:pt x="111931" y="326279"/>
                    </a:cubicBezTo>
                    <a:cubicBezTo>
                      <a:pt x="55966" y="326279"/>
                      <a:pt x="55966" y="244742"/>
                      <a:pt x="0" y="244742"/>
                    </a:cubicBezTo>
                    <a:lnTo>
                      <a:pt x="0" y="0"/>
                    </a:lnTo>
                    <a:cubicBezTo>
                      <a:pt x="55966" y="0"/>
                      <a:pt x="55966" y="81538"/>
                      <a:pt x="111931" y="81538"/>
                    </a:cubicBezTo>
                    <a:cubicBezTo>
                      <a:pt x="167879" y="81538"/>
                      <a:pt x="167879" y="0"/>
                      <a:pt x="223845" y="0"/>
                    </a:cubicBezTo>
                    <a:cubicBezTo>
                      <a:pt x="279811" y="0"/>
                      <a:pt x="279811" y="81538"/>
                      <a:pt x="335776" y="81538"/>
                    </a:cubicBezTo>
                    <a:cubicBezTo>
                      <a:pt x="391742" y="81538"/>
                      <a:pt x="391742" y="0"/>
                      <a:pt x="447708" y="0"/>
                    </a:cubicBezTo>
                    <a:cubicBezTo>
                      <a:pt x="503673" y="0"/>
                      <a:pt x="503673" y="81538"/>
                      <a:pt x="559657" y="81538"/>
                    </a:cubicBezTo>
                    <a:cubicBezTo>
                      <a:pt x="615621" y="81538"/>
                      <a:pt x="615621" y="0"/>
                      <a:pt x="671587" y="0"/>
                    </a:cubicBezTo>
                    <a:close/>
                  </a:path>
                </a:pathLst>
              </a:custGeom>
              <a:solidFill>
                <a:srgbClr val="AA8582"/>
              </a:solidFill>
            </p:spPr>
            <p:txBody>
              <a:bodyPr/>
              <a:lstStyle/>
              <a:p>
                <a:endParaRPr lang="pt-BR"/>
              </a:p>
            </p:txBody>
          </p:sp>
          <p:sp>
            <p:nvSpPr>
              <p:cNvPr id="8" name="TextBox 8"/>
              <p:cNvSpPr txBox="1"/>
              <p:nvPr/>
            </p:nvSpPr>
            <p:spPr>
              <a:xfrm>
                <a:off x="0" y="48908"/>
                <a:ext cx="671587" cy="190363"/>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5035758"/>
              <a:ext cx="8514470" cy="4136605"/>
              <a:chOff x="0" y="0"/>
              <a:chExt cx="671587" cy="326279"/>
            </a:xfrm>
          </p:grpSpPr>
          <p:sp>
            <p:nvSpPr>
              <p:cNvPr id="10" name="Freeform 10"/>
              <p:cNvSpPr/>
              <p:nvPr/>
            </p:nvSpPr>
            <p:spPr>
              <a:xfrm>
                <a:off x="0" y="0"/>
                <a:ext cx="671587" cy="326279"/>
              </a:xfrm>
              <a:custGeom>
                <a:avLst/>
                <a:gdLst/>
                <a:ahLst/>
                <a:cxnLst/>
                <a:rect l="l" t="t" r="r" b="b"/>
                <a:pathLst>
                  <a:path w="671587" h="326279">
                    <a:moveTo>
                      <a:pt x="671587" y="0"/>
                    </a:moveTo>
                    <a:lnTo>
                      <a:pt x="671587" y="244742"/>
                    </a:lnTo>
                    <a:cubicBezTo>
                      <a:pt x="615621" y="244742"/>
                      <a:pt x="615621" y="326279"/>
                      <a:pt x="559657" y="326279"/>
                    </a:cubicBezTo>
                    <a:cubicBezTo>
                      <a:pt x="503673" y="326279"/>
                      <a:pt x="503673" y="244742"/>
                      <a:pt x="447708" y="244742"/>
                    </a:cubicBezTo>
                    <a:cubicBezTo>
                      <a:pt x="391742" y="244742"/>
                      <a:pt x="391742" y="326279"/>
                      <a:pt x="335776" y="326279"/>
                    </a:cubicBezTo>
                    <a:cubicBezTo>
                      <a:pt x="279811" y="326279"/>
                      <a:pt x="279811" y="244742"/>
                      <a:pt x="223845" y="244742"/>
                    </a:cubicBezTo>
                    <a:cubicBezTo>
                      <a:pt x="167879" y="244742"/>
                      <a:pt x="167879" y="326279"/>
                      <a:pt x="111931" y="326279"/>
                    </a:cubicBezTo>
                    <a:cubicBezTo>
                      <a:pt x="55966" y="326279"/>
                      <a:pt x="55966" y="244742"/>
                      <a:pt x="0" y="244742"/>
                    </a:cubicBezTo>
                    <a:lnTo>
                      <a:pt x="0" y="0"/>
                    </a:lnTo>
                    <a:cubicBezTo>
                      <a:pt x="55966" y="0"/>
                      <a:pt x="55966" y="81538"/>
                      <a:pt x="111931" y="81538"/>
                    </a:cubicBezTo>
                    <a:cubicBezTo>
                      <a:pt x="167879" y="81538"/>
                      <a:pt x="167879" y="0"/>
                      <a:pt x="223845" y="0"/>
                    </a:cubicBezTo>
                    <a:cubicBezTo>
                      <a:pt x="279811" y="0"/>
                      <a:pt x="279811" y="81538"/>
                      <a:pt x="335776" y="81538"/>
                    </a:cubicBezTo>
                    <a:cubicBezTo>
                      <a:pt x="391742" y="81538"/>
                      <a:pt x="391742" y="0"/>
                      <a:pt x="447708" y="0"/>
                    </a:cubicBezTo>
                    <a:cubicBezTo>
                      <a:pt x="503673" y="0"/>
                      <a:pt x="503673" y="81538"/>
                      <a:pt x="559657" y="81538"/>
                    </a:cubicBezTo>
                    <a:cubicBezTo>
                      <a:pt x="615621" y="81538"/>
                      <a:pt x="615621" y="0"/>
                      <a:pt x="671587" y="0"/>
                    </a:cubicBezTo>
                    <a:close/>
                  </a:path>
                </a:pathLst>
              </a:custGeom>
              <a:solidFill>
                <a:srgbClr val="AA8582"/>
              </a:solidFill>
            </p:spPr>
            <p:txBody>
              <a:bodyPr/>
              <a:lstStyle/>
              <a:p>
                <a:endParaRPr lang="pt-BR"/>
              </a:p>
            </p:txBody>
          </p:sp>
          <p:sp>
            <p:nvSpPr>
              <p:cNvPr id="11" name="TextBox 11"/>
              <p:cNvSpPr txBox="1"/>
              <p:nvPr/>
            </p:nvSpPr>
            <p:spPr>
              <a:xfrm>
                <a:off x="0" y="48908"/>
                <a:ext cx="671587" cy="190363"/>
              </a:xfrm>
              <a:prstGeom prst="rect">
                <a:avLst/>
              </a:prstGeom>
            </p:spPr>
            <p:txBody>
              <a:bodyPr lIns="50800" tIns="50800" rIns="50800" bIns="50800" rtlCol="0" anchor="ctr"/>
              <a:lstStyle/>
              <a:p>
                <a:pPr algn="ctr">
                  <a:lnSpc>
                    <a:spcPts val="2659"/>
                  </a:lnSpc>
                </a:pPr>
                <a:endParaRPr/>
              </a:p>
            </p:txBody>
          </p:sp>
        </p:grpSp>
      </p:grpSp>
      <p:sp>
        <p:nvSpPr>
          <p:cNvPr id="12" name="Freeform 12"/>
          <p:cNvSpPr/>
          <p:nvPr/>
        </p:nvSpPr>
        <p:spPr>
          <a:xfrm>
            <a:off x="1028700" y="1514158"/>
            <a:ext cx="9144000" cy="7739060"/>
          </a:xfrm>
          <a:custGeom>
            <a:avLst/>
            <a:gdLst/>
            <a:ahLst/>
            <a:cxnLst/>
            <a:rect l="l" t="t" r="r" b="b"/>
            <a:pathLst>
              <a:path w="9144000" h="7739060">
                <a:moveTo>
                  <a:pt x="0" y="0"/>
                </a:moveTo>
                <a:lnTo>
                  <a:pt x="9144000" y="0"/>
                </a:lnTo>
                <a:lnTo>
                  <a:pt x="9144000" y="7739059"/>
                </a:lnTo>
                <a:lnTo>
                  <a:pt x="0" y="7739059"/>
                </a:lnTo>
                <a:lnTo>
                  <a:pt x="0" y="0"/>
                </a:lnTo>
                <a:close/>
              </a:path>
            </a:pathLst>
          </a:custGeom>
          <a:blipFill>
            <a:blip r:embed="rId2"/>
            <a:stretch>
              <a:fillRect l="-21633" r="-5319"/>
            </a:stretch>
          </a:blipFill>
        </p:spPr>
        <p:txBody>
          <a:bodyPr/>
          <a:lstStyle/>
          <a:p>
            <a:endParaRPr lang="pt-BR"/>
          </a:p>
        </p:txBody>
      </p:sp>
      <p:sp>
        <p:nvSpPr>
          <p:cNvPr id="13" name="TextBox 13"/>
          <p:cNvSpPr txBox="1"/>
          <p:nvPr/>
        </p:nvSpPr>
        <p:spPr>
          <a:xfrm>
            <a:off x="12382649" y="542925"/>
            <a:ext cx="4876651" cy="1456690"/>
          </a:xfrm>
          <a:prstGeom prst="rect">
            <a:avLst/>
          </a:prstGeom>
        </p:spPr>
        <p:txBody>
          <a:bodyPr lIns="0" tIns="0" rIns="0" bIns="0" rtlCol="0" anchor="t">
            <a:spAutoFit/>
          </a:bodyPr>
          <a:lstStyle/>
          <a:p>
            <a:pPr algn="r">
              <a:lnSpc>
                <a:spcPts val="8959"/>
              </a:lnSpc>
            </a:pPr>
            <a:r>
              <a:rPr lang="en-US" sz="6399" b="1" spc="486">
                <a:solidFill>
                  <a:srgbClr val="556447"/>
                </a:solidFill>
                <a:latin typeface="Prachason Neue Mon SemiExpanded Bold"/>
                <a:ea typeface="Prachason Neue Mon SemiExpanded Bold"/>
                <a:cs typeface="Prachason Neue Mon SemiExpanded Bold"/>
                <a:sym typeface="Prachason Neue Mon SemiExpanded Bold"/>
              </a:rPr>
              <a:t>educativo</a:t>
            </a:r>
          </a:p>
        </p:txBody>
      </p:sp>
      <p:sp>
        <p:nvSpPr>
          <p:cNvPr id="14" name="TextBox 14"/>
          <p:cNvSpPr txBox="1"/>
          <p:nvPr/>
        </p:nvSpPr>
        <p:spPr>
          <a:xfrm>
            <a:off x="11628048" y="3127852"/>
            <a:ext cx="4876651" cy="5048250"/>
          </a:xfrm>
          <a:prstGeom prst="rect">
            <a:avLst/>
          </a:prstGeom>
        </p:spPr>
        <p:txBody>
          <a:bodyPr lIns="0" tIns="0" rIns="0" bIns="0" rtlCol="0" anchor="t">
            <a:spAutoFit/>
          </a:bodyPr>
          <a:lstStyle/>
          <a:p>
            <a:pPr algn="ctr">
              <a:lnSpc>
                <a:spcPts val="5070"/>
              </a:lnSpc>
            </a:pPr>
            <a:r>
              <a:rPr lang="en-US" sz="2600" b="1" spc="197">
                <a:solidFill>
                  <a:srgbClr val="ECD8BB"/>
                </a:solidFill>
                <a:latin typeface="Prachason Neue Mon SemiExpanded Bold"/>
                <a:ea typeface="Prachason Neue Mon SemiExpanded Bold"/>
                <a:cs typeface="Prachason Neue Mon SemiExpanded Bold"/>
                <a:sym typeface="Prachason Neue Mon SemiExpanded Bold"/>
              </a:rPr>
              <a:t>MAM</a:t>
            </a:r>
          </a:p>
          <a:p>
            <a:pPr algn="ctr">
              <a:lnSpc>
                <a:spcPts val="5070"/>
              </a:lnSpc>
            </a:pPr>
            <a:r>
              <a:rPr lang="en-US" sz="2600" spc="197">
                <a:solidFill>
                  <a:srgbClr val="ECD8BB"/>
                </a:solidFill>
                <a:latin typeface="Prachason Neue Mon SemiExpanded"/>
                <a:ea typeface="Prachason Neue Mon SemiExpanded"/>
                <a:cs typeface="Prachason Neue Mon SemiExpanded"/>
                <a:sym typeface="Prachason Neue Mon SemiExpanded"/>
              </a:rPr>
              <a:t>1 Coordenação</a:t>
            </a:r>
          </a:p>
          <a:p>
            <a:pPr algn="ctr">
              <a:lnSpc>
                <a:spcPts val="5070"/>
              </a:lnSpc>
            </a:pPr>
            <a:r>
              <a:rPr lang="en-US" sz="2600" spc="197">
                <a:solidFill>
                  <a:srgbClr val="ECD8BB"/>
                </a:solidFill>
                <a:latin typeface="Prachason Neue Mon SemiExpanded"/>
                <a:ea typeface="Prachason Neue Mon SemiExpanded"/>
                <a:cs typeface="Prachason Neue Mon SemiExpanded"/>
                <a:sym typeface="Prachason Neue Mon SemiExpanded"/>
              </a:rPr>
              <a:t>7 Educadores</a:t>
            </a:r>
          </a:p>
          <a:p>
            <a:pPr algn="ctr">
              <a:lnSpc>
                <a:spcPts val="5070"/>
              </a:lnSpc>
            </a:pPr>
            <a:r>
              <a:rPr lang="en-US" sz="2600" spc="197">
                <a:solidFill>
                  <a:srgbClr val="ECD8BB"/>
                </a:solidFill>
                <a:latin typeface="Prachason Neue Mon SemiExpanded"/>
                <a:ea typeface="Prachason Neue Mon SemiExpanded"/>
                <a:cs typeface="Prachason Neue Mon SemiExpanded"/>
                <a:sym typeface="Prachason Neue Mon SemiExpanded"/>
              </a:rPr>
              <a:t>3 Estagiários</a:t>
            </a:r>
          </a:p>
          <a:p>
            <a:pPr algn="ctr">
              <a:lnSpc>
                <a:spcPts val="3900"/>
              </a:lnSpc>
            </a:pPr>
            <a:endParaRPr lang="en-US" sz="2600" spc="197">
              <a:solidFill>
                <a:srgbClr val="ECD8BB"/>
              </a:solidFill>
              <a:latin typeface="Prachason Neue Mon SemiExpanded"/>
              <a:ea typeface="Prachason Neue Mon SemiExpanded"/>
              <a:cs typeface="Prachason Neue Mon SemiExpanded"/>
              <a:sym typeface="Prachason Neue Mon SemiExpanded"/>
            </a:endParaRPr>
          </a:p>
          <a:p>
            <a:pPr algn="ctr">
              <a:lnSpc>
                <a:spcPts val="5070"/>
              </a:lnSpc>
            </a:pPr>
            <a:r>
              <a:rPr lang="en-US" sz="2600" b="1" spc="197">
                <a:solidFill>
                  <a:srgbClr val="ECD8BB"/>
                </a:solidFill>
                <a:latin typeface="Prachason Neue Mon SemiExpanded Bold"/>
                <a:ea typeface="Prachason Neue Mon SemiExpanded Bold"/>
                <a:cs typeface="Prachason Neue Mon SemiExpanded Bold"/>
                <a:sym typeface="Prachason Neue Mon SemiExpanded Bold"/>
              </a:rPr>
              <a:t>Sesc</a:t>
            </a:r>
          </a:p>
          <a:p>
            <a:pPr algn="ctr">
              <a:lnSpc>
                <a:spcPts val="5070"/>
              </a:lnSpc>
            </a:pPr>
            <a:r>
              <a:rPr lang="en-US" sz="2600" spc="197">
                <a:solidFill>
                  <a:srgbClr val="ECD8BB"/>
                </a:solidFill>
                <a:latin typeface="Prachason Neue Mon SemiExpanded"/>
                <a:ea typeface="Prachason Neue Mon SemiExpanded"/>
                <a:cs typeface="Prachason Neue Mon SemiExpanded"/>
                <a:sym typeface="Prachason Neue Mon SemiExpanded"/>
              </a:rPr>
              <a:t>2 Educadores (noite)</a:t>
            </a:r>
          </a:p>
          <a:p>
            <a:pPr algn="ctr">
              <a:lnSpc>
                <a:spcPts val="5070"/>
              </a:lnSpc>
            </a:pPr>
            <a:r>
              <a:rPr lang="en-US" sz="2600" spc="197">
                <a:solidFill>
                  <a:srgbClr val="ECD8BB"/>
                </a:solidFill>
                <a:latin typeface="Prachason Neue Mon SemiExpanded"/>
                <a:ea typeface="Prachason Neue Mon SemiExpanded"/>
                <a:cs typeface="Prachason Neue Mon SemiExpanded"/>
                <a:sym typeface="Prachason Neue Mon SemiExpanded"/>
              </a:rPr>
              <a:t>4 ASAs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3C3C3"/>
        </a:solidFill>
        <a:effectLst/>
      </p:bgPr>
    </p:bg>
    <p:spTree>
      <p:nvGrpSpPr>
        <p:cNvPr id="1" name=""/>
        <p:cNvGrpSpPr/>
        <p:nvPr/>
      </p:nvGrpSpPr>
      <p:grpSpPr>
        <a:xfrm>
          <a:off x="0" y="0"/>
          <a:ext cx="0" cy="0"/>
          <a:chOff x="0" y="0"/>
          <a:chExt cx="0" cy="0"/>
        </a:xfrm>
      </p:grpSpPr>
      <p:sp>
        <p:nvSpPr>
          <p:cNvPr id="2" name="Freeform 2"/>
          <p:cNvSpPr/>
          <p:nvPr/>
        </p:nvSpPr>
        <p:spPr>
          <a:xfrm>
            <a:off x="5062799" y="-9530168"/>
            <a:ext cx="14351285" cy="20662845"/>
          </a:xfrm>
          <a:custGeom>
            <a:avLst/>
            <a:gdLst/>
            <a:ahLst/>
            <a:cxnLst/>
            <a:rect l="l" t="t" r="r" b="b"/>
            <a:pathLst>
              <a:path w="14351285" h="20662845">
                <a:moveTo>
                  <a:pt x="0" y="0"/>
                </a:moveTo>
                <a:lnTo>
                  <a:pt x="14351285" y="0"/>
                </a:lnTo>
                <a:lnTo>
                  <a:pt x="14351285" y="20662845"/>
                </a:lnTo>
                <a:lnTo>
                  <a:pt x="0" y="20662845"/>
                </a:lnTo>
                <a:lnTo>
                  <a:pt x="0" y="0"/>
                </a:lnTo>
                <a:close/>
              </a:path>
            </a:pathLst>
          </a:custGeom>
          <a:blipFill>
            <a:blip r:embed="rId2"/>
            <a:stretch>
              <a:fillRect/>
            </a:stretch>
          </a:blipFill>
        </p:spPr>
        <p:txBody>
          <a:bodyPr/>
          <a:lstStyle/>
          <a:p>
            <a:endParaRPr lang="pt-BR"/>
          </a:p>
        </p:txBody>
      </p:sp>
      <p:sp>
        <p:nvSpPr>
          <p:cNvPr id="3" name="TextBox 3"/>
          <p:cNvSpPr txBox="1"/>
          <p:nvPr/>
        </p:nvSpPr>
        <p:spPr>
          <a:xfrm>
            <a:off x="1510736" y="8479156"/>
            <a:ext cx="4541950" cy="1377314"/>
          </a:xfrm>
          <a:prstGeom prst="rect">
            <a:avLst/>
          </a:prstGeom>
        </p:spPr>
        <p:txBody>
          <a:bodyPr lIns="0" tIns="0" rIns="0" bIns="0" rtlCol="0" anchor="t">
            <a:spAutoFit/>
          </a:bodyPr>
          <a:lstStyle/>
          <a:p>
            <a:pPr algn="l">
              <a:lnSpc>
                <a:spcPts val="3360"/>
              </a:lnSpc>
            </a:pPr>
            <a:r>
              <a:rPr lang="en-US" sz="2400" b="1" spc="182">
                <a:solidFill>
                  <a:srgbClr val="49312D"/>
                </a:solidFill>
                <a:latin typeface="Prachason Neue Mon SemiExpanded Bold"/>
                <a:ea typeface="Prachason Neue Mon SemiExpanded Bold"/>
                <a:cs typeface="Prachason Neue Mon SemiExpanded Bold"/>
                <a:sym typeface="Prachason Neue Mon SemiExpanded Bold"/>
              </a:rPr>
              <a:t>Breaking Ibira</a:t>
            </a:r>
          </a:p>
          <a:p>
            <a:pPr algn="l">
              <a:lnSpc>
                <a:spcPts val="3360"/>
              </a:lnSpc>
            </a:pPr>
            <a:r>
              <a:rPr lang="en-US" sz="2400" spc="182">
                <a:solidFill>
                  <a:srgbClr val="49312D"/>
                </a:solidFill>
                <a:latin typeface="Prachason Neue Mon SemiExpanded"/>
                <a:ea typeface="Prachason Neue Mon SemiExpanded"/>
                <a:cs typeface="Prachason Neue Mon SemiExpanded"/>
                <a:sym typeface="Prachason Neue Mon SemiExpanded"/>
              </a:rPr>
              <a:t>31.ago.25</a:t>
            </a:r>
          </a:p>
          <a:p>
            <a:pPr algn="l">
              <a:lnSpc>
                <a:spcPts val="3360"/>
              </a:lnSpc>
            </a:pPr>
            <a:r>
              <a:rPr lang="en-US" sz="2400" spc="182">
                <a:solidFill>
                  <a:srgbClr val="49312D"/>
                </a:solidFill>
                <a:latin typeface="Prachason Neue Mon SemiExpanded"/>
                <a:ea typeface="Prachason Neue Mon SemiExpanded"/>
                <a:cs typeface="Prachason Neue Mon SemiExpanded"/>
                <a:sym typeface="Prachason Neue Mon SemiExpanded"/>
              </a:rPr>
              <a:t>496 pessoas</a:t>
            </a:r>
          </a:p>
        </p:txBody>
      </p:sp>
      <p:sp>
        <p:nvSpPr>
          <p:cNvPr id="4" name="TextBox 4"/>
          <p:cNvSpPr txBox="1"/>
          <p:nvPr/>
        </p:nvSpPr>
        <p:spPr>
          <a:xfrm>
            <a:off x="10042345" y="542925"/>
            <a:ext cx="7216955" cy="2590165"/>
          </a:xfrm>
          <a:prstGeom prst="rect">
            <a:avLst/>
          </a:prstGeom>
        </p:spPr>
        <p:txBody>
          <a:bodyPr lIns="0" tIns="0" rIns="0" bIns="0" rtlCol="0" anchor="t">
            <a:spAutoFit/>
          </a:bodyPr>
          <a:lstStyle/>
          <a:p>
            <a:pPr algn="r">
              <a:lnSpc>
                <a:spcPts val="8959"/>
              </a:lnSpc>
            </a:pPr>
            <a:r>
              <a:rPr lang="en-US" sz="6399" b="1" spc="486">
                <a:solidFill>
                  <a:srgbClr val="556447"/>
                </a:solidFill>
                <a:latin typeface="Prachason Neue Mon SemiExpanded Bold"/>
                <a:ea typeface="Prachason Neue Mon SemiExpanded Bold"/>
                <a:cs typeface="Prachason Neue Mon SemiExpanded Bold"/>
                <a:sym typeface="Prachason Neue Mon SemiExpanded Bold"/>
              </a:rPr>
              <a:t>programação </a:t>
            </a:r>
          </a:p>
          <a:p>
            <a:pPr algn="r">
              <a:lnSpc>
                <a:spcPts val="8959"/>
              </a:lnSpc>
            </a:pPr>
            <a:r>
              <a:rPr lang="en-US" sz="6399" b="1" spc="486">
                <a:solidFill>
                  <a:srgbClr val="556447"/>
                </a:solidFill>
                <a:latin typeface="Prachason Neue Mon SemiExpanded Bold"/>
                <a:ea typeface="Prachason Neue Mon SemiExpanded Bold"/>
                <a:cs typeface="Prachason Neue Mon SemiExpanded Bold"/>
                <a:sym typeface="Prachason Neue Mon SemiExpanded Bold"/>
              </a:rPr>
              <a:t>integrada</a:t>
            </a:r>
          </a:p>
        </p:txBody>
      </p:sp>
      <p:grpSp>
        <p:nvGrpSpPr>
          <p:cNvPr id="5" name="Group 5"/>
          <p:cNvGrpSpPr/>
          <p:nvPr/>
        </p:nvGrpSpPr>
        <p:grpSpPr>
          <a:xfrm>
            <a:off x="10971220" y="4038289"/>
            <a:ext cx="7054980" cy="5220011"/>
            <a:chOff x="0" y="0"/>
            <a:chExt cx="623412" cy="461265"/>
          </a:xfrm>
        </p:grpSpPr>
        <p:sp>
          <p:nvSpPr>
            <p:cNvPr id="6" name="Freeform 6"/>
            <p:cNvSpPr/>
            <p:nvPr/>
          </p:nvSpPr>
          <p:spPr>
            <a:xfrm>
              <a:off x="0" y="0"/>
              <a:ext cx="623412" cy="461265"/>
            </a:xfrm>
            <a:custGeom>
              <a:avLst/>
              <a:gdLst/>
              <a:ahLst/>
              <a:cxnLst/>
              <a:rect l="l" t="t" r="r" b="b"/>
              <a:pathLst>
                <a:path w="623412" h="461265">
                  <a:moveTo>
                    <a:pt x="623412" y="115316"/>
                  </a:moveTo>
                  <a:cubicBezTo>
                    <a:pt x="623412" y="51587"/>
                    <a:pt x="560819" y="0"/>
                    <a:pt x="483854" y="0"/>
                  </a:cubicBezTo>
                  <a:lnTo>
                    <a:pt x="0" y="0"/>
                  </a:lnTo>
                  <a:lnTo>
                    <a:pt x="0" y="230633"/>
                  </a:lnTo>
                  <a:lnTo>
                    <a:pt x="139558" y="230633"/>
                  </a:lnTo>
                  <a:cubicBezTo>
                    <a:pt x="62431" y="230633"/>
                    <a:pt x="0" y="282353"/>
                    <a:pt x="0" y="345949"/>
                  </a:cubicBezTo>
                  <a:cubicBezTo>
                    <a:pt x="0" y="409678"/>
                    <a:pt x="62593" y="461265"/>
                    <a:pt x="139558" y="461265"/>
                  </a:cubicBezTo>
                  <a:lnTo>
                    <a:pt x="623249" y="461265"/>
                  </a:lnTo>
                  <a:lnTo>
                    <a:pt x="623249" y="230633"/>
                  </a:lnTo>
                  <a:lnTo>
                    <a:pt x="483691" y="230633"/>
                  </a:lnTo>
                  <a:cubicBezTo>
                    <a:pt x="560819" y="230633"/>
                    <a:pt x="623412" y="178912"/>
                    <a:pt x="623412" y="115316"/>
                  </a:cubicBezTo>
                  <a:close/>
                </a:path>
              </a:pathLst>
            </a:custGeom>
            <a:solidFill>
              <a:srgbClr val="556447"/>
            </a:solidFill>
          </p:spPr>
          <p:txBody>
            <a:bodyPr/>
            <a:lstStyle/>
            <a:p>
              <a:endParaRPr lang="pt-BR"/>
            </a:p>
          </p:txBody>
        </p:sp>
        <p:sp>
          <p:nvSpPr>
            <p:cNvPr id="7" name="TextBox 7"/>
            <p:cNvSpPr txBox="1"/>
            <p:nvPr/>
          </p:nvSpPr>
          <p:spPr>
            <a:xfrm>
              <a:off x="139700" y="-38100"/>
              <a:ext cx="344012" cy="499365"/>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1887587" y="4481358"/>
            <a:ext cx="5222245" cy="4114798"/>
          </a:xfrm>
          <a:prstGeom prst="rect">
            <a:avLst/>
          </a:prstGeom>
        </p:spPr>
        <p:txBody>
          <a:bodyPr lIns="0" tIns="0" rIns="0" bIns="0" rtlCol="0" anchor="t">
            <a:spAutoFit/>
          </a:bodyPr>
          <a:lstStyle/>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E se fosse uma garota?</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Balaio de erês</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Passando de raspão</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Figuras Tecidas</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A onça e o fogo</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Folia dos bichos</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Las Manas e a Despedida</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Pé de Sonho e outras histórias</a:t>
            </a:r>
          </a:p>
          <a:p>
            <a:pPr algn="ctr">
              <a:lnSpc>
                <a:spcPts val="3570"/>
              </a:lnSpc>
            </a:pPr>
            <a:r>
              <a:rPr lang="en-US" sz="2100" spc="159">
                <a:solidFill>
                  <a:srgbClr val="ECD8BB"/>
                </a:solidFill>
                <a:latin typeface="Prachason Neue Mon SemiExpanded"/>
                <a:ea typeface="Prachason Neue Mon SemiExpanded"/>
                <a:cs typeface="Prachason Neue Mon SemiExpanded"/>
                <a:sym typeface="Prachason Neue Mon SemiExpanded"/>
              </a:rPr>
              <a:t>Slam das Manas em Libras</a:t>
            </a:r>
          </a:p>
        </p:txBody>
      </p:sp>
      <p:sp>
        <p:nvSpPr>
          <p:cNvPr id="9" name="Freeform 9"/>
          <p:cNvSpPr/>
          <p:nvPr/>
        </p:nvSpPr>
        <p:spPr>
          <a:xfrm>
            <a:off x="-157794" y="2421555"/>
            <a:ext cx="10867213" cy="6112807"/>
          </a:xfrm>
          <a:custGeom>
            <a:avLst/>
            <a:gdLst/>
            <a:ahLst/>
            <a:cxnLst/>
            <a:rect l="l" t="t" r="r" b="b"/>
            <a:pathLst>
              <a:path w="10867213" h="6112807">
                <a:moveTo>
                  <a:pt x="0" y="0"/>
                </a:moveTo>
                <a:lnTo>
                  <a:pt x="10867213" y="0"/>
                </a:lnTo>
                <a:lnTo>
                  <a:pt x="10867213" y="6112807"/>
                </a:lnTo>
                <a:lnTo>
                  <a:pt x="0" y="6112807"/>
                </a:lnTo>
                <a:lnTo>
                  <a:pt x="0" y="0"/>
                </a:lnTo>
                <a:close/>
              </a:path>
            </a:pathLst>
          </a:custGeom>
          <a:blipFill>
            <a:blip r:embed="rId3"/>
            <a:stretch>
              <a:fillRect/>
            </a:stretch>
          </a:blipFill>
        </p:spPr>
        <p:txBody>
          <a:bodyPr/>
          <a:lstStyle/>
          <a:p>
            <a:endParaRPr lang="pt-B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38753"/>
        </a:solidFill>
        <a:effectLst/>
      </p:bgPr>
    </p:bg>
    <p:spTree>
      <p:nvGrpSpPr>
        <p:cNvPr id="1" name=""/>
        <p:cNvGrpSpPr/>
        <p:nvPr/>
      </p:nvGrpSpPr>
      <p:grpSpPr>
        <a:xfrm>
          <a:off x="0" y="0"/>
          <a:ext cx="0" cy="0"/>
          <a:chOff x="0" y="0"/>
          <a:chExt cx="0" cy="0"/>
        </a:xfrm>
      </p:grpSpPr>
      <p:sp>
        <p:nvSpPr>
          <p:cNvPr id="2" name="TextBox 2"/>
          <p:cNvSpPr txBox="1"/>
          <p:nvPr/>
        </p:nvSpPr>
        <p:spPr>
          <a:xfrm>
            <a:off x="11131748" y="542925"/>
            <a:ext cx="6127552" cy="2590165"/>
          </a:xfrm>
          <a:prstGeom prst="rect">
            <a:avLst/>
          </a:prstGeom>
        </p:spPr>
        <p:txBody>
          <a:bodyPr lIns="0" tIns="0" rIns="0" bIns="0" rtlCol="0" anchor="t">
            <a:spAutoFit/>
          </a:bodyPr>
          <a:lstStyle/>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abrangência</a:t>
            </a:r>
          </a:p>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territorial</a:t>
            </a:r>
          </a:p>
        </p:txBody>
      </p:sp>
      <p:sp>
        <p:nvSpPr>
          <p:cNvPr id="3" name="TextBox 3"/>
          <p:cNvSpPr txBox="1"/>
          <p:nvPr/>
        </p:nvSpPr>
        <p:spPr>
          <a:xfrm>
            <a:off x="10966996" y="3491493"/>
            <a:ext cx="3909893" cy="754379"/>
          </a:xfrm>
          <a:prstGeom prst="rect">
            <a:avLst/>
          </a:prstGeom>
        </p:spPr>
        <p:txBody>
          <a:bodyPr lIns="0" tIns="0" rIns="0" bIns="0" rtlCol="0" anchor="t">
            <a:spAutoFit/>
          </a:bodyPr>
          <a:lstStyle/>
          <a:p>
            <a:pPr algn="ctr">
              <a:lnSpc>
                <a:spcPts val="4620"/>
              </a:lnSpc>
            </a:pPr>
            <a:r>
              <a:rPr lang="en-US" sz="3300" spc="250">
                <a:solidFill>
                  <a:srgbClr val="ECD8BB"/>
                </a:solidFill>
                <a:latin typeface="Prachason Neue Mon SemiExpanded"/>
                <a:ea typeface="Prachason Neue Mon SemiExpanded"/>
                <a:cs typeface="Prachason Neue Mon SemiExpanded"/>
                <a:sym typeface="Prachason Neue Mon SemiExpanded"/>
              </a:rPr>
              <a:t>SP - DISTRITOS</a:t>
            </a:r>
          </a:p>
        </p:txBody>
      </p:sp>
      <p:sp>
        <p:nvSpPr>
          <p:cNvPr id="4" name="TextBox 4"/>
          <p:cNvSpPr txBox="1"/>
          <p:nvPr/>
        </p:nvSpPr>
        <p:spPr>
          <a:xfrm>
            <a:off x="16257584" y="3491493"/>
            <a:ext cx="793822" cy="754379"/>
          </a:xfrm>
          <a:prstGeom prst="rect">
            <a:avLst/>
          </a:prstGeom>
        </p:spPr>
        <p:txBody>
          <a:bodyPr lIns="0" tIns="0" rIns="0" bIns="0" rtlCol="0" anchor="t">
            <a:spAutoFit/>
          </a:bodyPr>
          <a:lstStyle/>
          <a:p>
            <a:pPr algn="ctr">
              <a:lnSpc>
                <a:spcPts val="4620"/>
              </a:lnSpc>
            </a:pPr>
            <a:r>
              <a:rPr lang="en-US" sz="3300" spc="250">
                <a:solidFill>
                  <a:srgbClr val="ECD8BB"/>
                </a:solidFill>
                <a:latin typeface="Prachason Neue Mon SemiExpanded"/>
                <a:ea typeface="Prachason Neue Mon SemiExpanded"/>
                <a:cs typeface="Prachason Neue Mon SemiExpanded"/>
                <a:sym typeface="Prachason Neue Mon SemiExpanded"/>
              </a:rPr>
              <a:t>25</a:t>
            </a:r>
          </a:p>
        </p:txBody>
      </p:sp>
      <p:sp>
        <p:nvSpPr>
          <p:cNvPr id="5" name="Freeform 5"/>
          <p:cNvSpPr/>
          <p:nvPr/>
        </p:nvSpPr>
        <p:spPr>
          <a:xfrm>
            <a:off x="3117939" y="1132393"/>
            <a:ext cx="4537048" cy="7034184"/>
          </a:xfrm>
          <a:custGeom>
            <a:avLst/>
            <a:gdLst/>
            <a:ahLst/>
            <a:cxnLst/>
            <a:rect l="l" t="t" r="r" b="b"/>
            <a:pathLst>
              <a:path w="4537048" h="7034184">
                <a:moveTo>
                  <a:pt x="0" y="0"/>
                </a:moveTo>
                <a:lnTo>
                  <a:pt x="4537049" y="0"/>
                </a:lnTo>
                <a:lnTo>
                  <a:pt x="4537049" y="7034183"/>
                </a:lnTo>
                <a:lnTo>
                  <a:pt x="0" y="70341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pt-BR"/>
          </a:p>
        </p:txBody>
      </p:sp>
      <p:sp>
        <p:nvSpPr>
          <p:cNvPr id="6" name="Freeform 6"/>
          <p:cNvSpPr/>
          <p:nvPr/>
        </p:nvSpPr>
        <p:spPr>
          <a:xfrm>
            <a:off x="4579979" y="3659963"/>
            <a:ext cx="567379" cy="337307"/>
          </a:xfrm>
          <a:custGeom>
            <a:avLst/>
            <a:gdLst/>
            <a:ahLst/>
            <a:cxnLst/>
            <a:rect l="l" t="t" r="r" b="b"/>
            <a:pathLst>
              <a:path w="567379" h="337307">
                <a:moveTo>
                  <a:pt x="0" y="0"/>
                </a:moveTo>
                <a:lnTo>
                  <a:pt x="567380" y="0"/>
                </a:lnTo>
                <a:lnTo>
                  <a:pt x="567380" y="337308"/>
                </a:lnTo>
                <a:lnTo>
                  <a:pt x="0" y="337308"/>
                </a:lnTo>
                <a:lnTo>
                  <a:pt x="0" y="0"/>
                </a:lnTo>
                <a:close/>
              </a:path>
            </a:pathLst>
          </a:custGeom>
          <a:blipFill>
            <a:blip r:embed="rId4"/>
            <a:stretch>
              <a:fillRect b="-63246"/>
            </a:stretch>
          </a:blipFill>
        </p:spPr>
        <p:txBody>
          <a:bodyPr/>
          <a:lstStyle/>
          <a:p>
            <a:endParaRPr lang="pt-BR"/>
          </a:p>
        </p:txBody>
      </p:sp>
      <p:grpSp>
        <p:nvGrpSpPr>
          <p:cNvPr id="7" name="Group 7"/>
          <p:cNvGrpSpPr/>
          <p:nvPr/>
        </p:nvGrpSpPr>
        <p:grpSpPr>
          <a:xfrm>
            <a:off x="3374436" y="5227407"/>
            <a:ext cx="1934523" cy="193452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CD8BB"/>
            </a:solidFill>
          </p:spPr>
          <p:txBody>
            <a:bodyPr/>
            <a:lstStyle/>
            <a:p>
              <a:endParaRPr lang="pt-BR"/>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3549293" y="5879391"/>
            <a:ext cx="1584808" cy="563879"/>
          </a:xfrm>
          <a:prstGeom prst="rect">
            <a:avLst/>
          </a:prstGeom>
        </p:spPr>
        <p:txBody>
          <a:bodyPr lIns="0" tIns="0" rIns="0" bIns="0" rtlCol="0" anchor="t">
            <a:spAutoFit/>
          </a:bodyPr>
          <a:lstStyle/>
          <a:p>
            <a:pPr algn="ctr">
              <a:lnSpc>
                <a:spcPts val="4620"/>
              </a:lnSpc>
            </a:pPr>
            <a:r>
              <a:rPr lang="en-US" sz="3300" b="1" spc="250">
                <a:solidFill>
                  <a:srgbClr val="9B716D"/>
                </a:solidFill>
                <a:latin typeface="Clear Sans Bold"/>
                <a:ea typeface="Clear Sans Bold"/>
                <a:cs typeface="Clear Sans Bold"/>
                <a:sym typeface="Clear Sans Bold"/>
              </a:rPr>
              <a:t>66,5%</a:t>
            </a:r>
          </a:p>
        </p:txBody>
      </p:sp>
      <p:grpSp>
        <p:nvGrpSpPr>
          <p:cNvPr id="11" name="Group 11"/>
          <p:cNvGrpSpPr/>
          <p:nvPr/>
        </p:nvGrpSpPr>
        <p:grpSpPr>
          <a:xfrm>
            <a:off x="5802947" y="2794181"/>
            <a:ext cx="858133" cy="85813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CD8BB"/>
            </a:solidFill>
          </p:spPr>
          <p:txBody>
            <a:bodyPr/>
            <a:lstStyle/>
            <a:p>
              <a:endParaRPr lang="pt-BR"/>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6026836" y="1765618"/>
            <a:ext cx="1581020"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20,5%</a:t>
            </a:r>
          </a:p>
        </p:txBody>
      </p:sp>
      <p:sp>
        <p:nvSpPr>
          <p:cNvPr id="15" name="TextBox 15"/>
          <p:cNvSpPr txBox="1"/>
          <p:nvPr/>
        </p:nvSpPr>
        <p:spPr>
          <a:xfrm>
            <a:off x="1990901" y="3264738"/>
            <a:ext cx="1289555"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4,6%</a:t>
            </a:r>
          </a:p>
        </p:txBody>
      </p:sp>
      <p:grpSp>
        <p:nvGrpSpPr>
          <p:cNvPr id="16" name="Group 16"/>
          <p:cNvGrpSpPr/>
          <p:nvPr/>
        </p:nvGrpSpPr>
        <p:grpSpPr>
          <a:xfrm>
            <a:off x="4511993" y="2295670"/>
            <a:ext cx="331214" cy="331214"/>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CD8BB"/>
            </a:solidFill>
          </p:spPr>
          <p:txBody>
            <a:bodyPr/>
            <a:lstStyle/>
            <a:p>
              <a:endParaRPr lang="pt-BR"/>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4064141" y="962025"/>
            <a:ext cx="1244817"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5,1%</a:t>
            </a:r>
          </a:p>
        </p:txBody>
      </p:sp>
      <p:sp>
        <p:nvSpPr>
          <p:cNvPr id="20" name="TextBox 20"/>
          <p:cNvSpPr txBox="1"/>
          <p:nvPr/>
        </p:nvSpPr>
        <p:spPr>
          <a:xfrm>
            <a:off x="5441503" y="4307997"/>
            <a:ext cx="1375843" cy="563879"/>
          </a:xfrm>
          <a:prstGeom prst="rect">
            <a:avLst/>
          </a:prstGeom>
        </p:spPr>
        <p:txBody>
          <a:bodyPr lIns="0" tIns="0" rIns="0" bIns="0" rtlCol="0" anchor="t">
            <a:spAutoFit/>
          </a:bodyPr>
          <a:lstStyle/>
          <a:p>
            <a:pPr algn="ctr">
              <a:lnSpc>
                <a:spcPts val="4620"/>
              </a:lnSpc>
            </a:pPr>
            <a:r>
              <a:rPr lang="en-US" sz="3300" b="1" spc="250">
                <a:solidFill>
                  <a:srgbClr val="ECD8BB"/>
                </a:solidFill>
                <a:latin typeface="Clear Sans Bold"/>
                <a:ea typeface="Clear Sans Bold"/>
                <a:cs typeface="Clear Sans Bold"/>
                <a:sym typeface="Clear Sans Bold"/>
              </a:rPr>
              <a:t>3,3%</a:t>
            </a:r>
          </a:p>
        </p:txBody>
      </p:sp>
      <p:grpSp>
        <p:nvGrpSpPr>
          <p:cNvPr id="21" name="Group 21"/>
          <p:cNvGrpSpPr/>
          <p:nvPr/>
        </p:nvGrpSpPr>
        <p:grpSpPr>
          <a:xfrm>
            <a:off x="3423331" y="3392264"/>
            <a:ext cx="319342" cy="31934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CD8BB"/>
            </a:solidFill>
          </p:spPr>
          <p:txBody>
            <a:bodyPr/>
            <a:lstStyle/>
            <a:p>
              <a:endParaRPr lang="pt-BR"/>
            </a:p>
          </p:txBody>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4815281" y="3211049"/>
            <a:ext cx="260801" cy="260801"/>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CD8BB"/>
            </a:solidFill>
          </p:spPr>
          <p:txBody>
            <a:bodyPr/>
            <a:lstStyle/>
            <a:p>
              <a:endParaRPr lang="pt-BR"/>
            </a:p>
          </p:txBody>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7" name="AutoShape 27"/>
          <p:cNvSpPr/>
          <p:nvPr/>
        </p:nvSpPr>
        <p:spPr>
          <a:xfrm flipV="1">
            <a:off x="4686550" y="1525904"/>
            <a:ext cx="0" cy="935372"/>
          </a:xfrm>
          <a:prstGeom prst="line">
            <a:avLst/>
          </a:prstGeom>
          <a:ln w="38100" cap="flat">
            <a:solidFill>
              <a:srgbClr val="ECD8BB"/>
            </a:solidFill>
            <a:prstDash val="solid"/>
            <a:headEnd type="none" w="sm" len="sm"/>
            <a:tailEnd type="none" w="sm" len="sm"/>
          </a:ln>
        </p:spPr>
        <p:txBody>
          <a:bodyPr/>
          <a:lstStyle/>
          <a:p>
            <a:endParaRPr lang="pt-BR"/>
          </a:p>
        </p:txBody>
      </p:sp>
      <p:sp>
        <p:nvSpPr>
          <p:cNvPr id="28" name="AutoShape 28"/>
          <p:cNvSpPr/>
          <p:nvPr/>
        </p:nvSpPr>
        <p:spPr>
          <a:xfrm flipH="1" flipV="1">
            <a:off x="4964732" y="3360931"/>
            <a:ext cx="1191108" cy="935372"/>
          </a:xfrm>
          <a:prstGeom prst="line">
            <a:avLst/>
          </a:prstGeom>
          <a:ln w="38100" cap="flat">
            <a:solidFill>
              <a:srgbClr val="ECD8BB"/>
            </a:solidFill>
            <a:prstDash val="solid"/>
            <a:headEnd type="none" w="sm" len="sm"/>
            <a:tailEnd type="none" w="sm" len="sm"/>
          </a:ln>
        </p:spPr>
        <p:txBody>
          <a:bodyPr/>
          <a:lstStyle/>
          <a:p>
            <a:endParaRPr lang="pt-BR"/>
          </a:p>
        </p:txBody>
      </p:sp>
      <p:sp>
        <p:nvSpPr>
          <p:cNvPr id="29" name="AutoShape 29"/>
          <p:cNvSpPr/>
          <p:nvPr/>
        </p:nvSpPr>
        <p:spPr>
          <a:xfrm flipH="1">
            <a:off x="3280456" y="3566692"/>
            <a:ext cx="143548" cy="13323"/>
          </a:xfrm>
          <a:prstGeom prst="line">
            <a:avLst/>
          </a:prstGeom>
          <a:ln w="38100" cap="flat">
            <a:solidFill>
              <a:srgbClr val="ECD8BB"/>
            </a:solidFill>
            <a:prstDash val="solid"/>
            <a:headEnd type="none" w="sm" len="sm"/>
            <a:tailEnd type="none" w="sm" len="sm"/>
          </a:ln>
        </p:spPr>
        <p:txBody>
          <a:bodyPr/>
          <a:lstStyle/>
          <a:p>
            <a:endParaRPr lang="pt-BR"/>
          </a:p>
        </p:txBody>
      </p:sp>
      <p:sp>
        <p:nvSpPr>
          <p:cNvPr id="30" name="AutoShape 30"/>
          <p:cNvSpPr/>
          <p:nvPr/>
        </p:nvSpPr>
        <p:spPr>
          <a:xfrm flipH="1">
            <a:off x="6232013" y="2329497"/>
            <a:ext cx="585333" cy="854431"/>
          </a:xfrm>
          <a:prstGeom prst="line">
            <a:avLst/>
          </a:prstGeom>
          <a:ln w="38100" cap="flat">
            <a:solidFill>
              <a:srgbClr val="ECD8BB"/>
            </a:solidFill>
            <a:prstDash val="solid"/>
            <a:headEnd type="none" w="sm" len="sm"/>
            <a:tailEnd type="none" w="sm" len="sm"/>
          </a:ln>
        </p:spPr>
        <p:txBody>
          <a:bodyPr/>
          <a:lstStyle/>
          <a:p>
            <a:endParaRPr lang="pt-BR"/>
          </a:p>
        </p:txBody>
      </p:sp>
      <p:sp>
        <p:nvSpPr>
          <p:cNvPr id="31" name="TextBox 31"/>
          <p:cNvSpPr txBox="1"/>
          <p:nvPr/>
        </p:nvSpPr>
        <p:spPr>
          <a:xfrm>
            <a:off x="10966996" y="4461349"/>
            <a:ext cx="2789486" cy="4692650"/>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Artur Alvim</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Belém</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Cangaíba</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Iguatemi</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Itaim Paulista</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Sapopemba</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São Mateus</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São Rafael</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Vila Curuçá</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Campo Belo</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Campo Limpo</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Capão Redondo</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Cidade Ademar</a:t>
            </a:r>
          </a:p>
        </p:txBody>
      </p:sp>
      <p:sp>
        <p:nvSpPr>
          <p:cNvPr id="32" name="TextBox 32"/>
          <p:cNvSpPr txBox="1"/>
          <p:nvPr/>
        </p:nvSpPr>
        <p:spPr>
          <a:xfrm>
            <a:off x="14425612" y="4461349"/>
            <a:ext cx="2833688" cy="4340225"/>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Jabaquara</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Jardim São Luís</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Jardim Ângela</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Moema</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Parelheiros</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Vila Mariana</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Brasilândia</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Perus</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Santana</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Jardim Paulista</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Vila Sônia</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Liberdade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38753"/>
        </a:solidFill>
        <a:effectLst/>
      </p:bgPr>
    </p:bg>
    <p:spTree>
      <p:nvGrpSpPr>
        <p:cNvPr id="1" name=""/>
        <p:cNvGrpSpPr/>
        <p:nvPr/>
      </p:nvGrpSpPr>
      <p:grpSpPr>
        <a:xfrm>
          <a:off x="0" y="0"/>
          <a:ext cx="0" cy="0"/>
          <a:chOff x="0" y="0"/>
          <a:chExt cx="0" cy="0"/>
        </a:xfrm>
      </p:grpSpPr>
      <p:sp>
        <p:nvSpPr>
          <p:cNvPr id="2" name="Freeform 2"/>
          <p:cNvSpPr/>
          <p:nvPr/>
        </p:nvSpPr>
        <p:spPr>
          <a:xfrm>
            <a:off x="1394243" y="3504398"/>
            <a:ext cx="15499514" cy="3849046"/>
          </a:xfrm>
          <a:custGeom>
            <a:avLst/>
            <a:gdLst/>
            <a:ahLst/>
            <a:cxnLst/>
            <a:rect l="l" t="t" r="r" b="b"/>
            <a:pathLst>
              <a:path w="15499514" h="3849046">
                <a:moveTo>
                  <a:pt x="0" y="0"/>
                </a:moveTo>
                <a:lnTo>
                  <a:pt x="15499514" y="0"/>
                </a:lnTo>
                <a:lnTo>
                  <a:pt x="15499514" y="3849046"/>
                </a:lnTo>
                <a:lnTo>
                  <a:pt x="0" y="3849046"/>
                </a:lnTo>
                <a:lnTo>
                  <a:pt x="0" y="0"/>
                </a:lnTo>
                <a:close/>
              </a:path>
            </a:pathLst>
          </a:custGeom>
          <a:blipFill>
            <a:blip r:embed="rId2"/>
            <a:stretch>
              <a:fillRect/>
            </a:stretch>
          </a:blipFill>
        </p:spPr>
        <p:txBody>
          <a:bodyPr/>
          <a:lstStyle/>
          <a:p>
            <a:endParaRPr lang="pt-BR"/>
          </a:p>
        </p:txBody>
      </p:sp>
      <p:sp>
        <p:nvSpPr>
          <p:cNvPr id="3" name="TextBox 3"/>
          <p:cNvSpPr txBox="1"/>
          <p:nvPr/>
        </p:nvSpPr>
        <p:spPr>
          <a:xfrm>
            <a:off x="12025015" y="542925"/>
            <a:ext cx="5234285" cy="2590165"/>
          </a:xfrm>
          <a:prstGeom prst="rect">
            <a:avLst/>
          </a:prstGeom>
        </p:spPr>
        <p:txBody>
          <a:bodyPr lIns="0" tIns="0" rIns="0" bIns="0" rtlCol="0" anchor="t">
            <a:spAutoFit/>
          </a:bodyPr>
          <a:lstStyle/>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transporte</a:t>
            </a:r>
          </a:p>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específico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38753"/>
        </a:solidFill>
        <a:effectLst/>
      </p:bgPr>
    </p:bg>
    <p:spTree>
      <p:nvGrpSpPr>
        <p:cNvPr id="1" name=""/>
        <p:cNvGrpSpPr/>
        <p:nvPr/>
      </p:nvGrpSpPr>
      <p:grpSpPr>
        <a:xfrm>
          <a:off x="0" y="0"/>
          <a:ext cx="0" cy="0"/>
          <a:chOff x="0" y="0"/>
          <a:chExt cx="0" cy="0"/>
        </a:xfrm>
      </p:grpSpPr>
      <p:sp>
        <p:nvSpPr>
          <p:cNvPr id="2" name="TextBox 2"/>
          <p:cNvSpPr txBox="1"/>
          <p:nvPr/>
        </p:nvSpPr>
        <p:spPr>
          <a:xfrm>
            <a:off x="1028700" y="1492778"/>
            <a:ext cx="5898880" cy="7864475"/>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Amigos MAM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Centro de Atenção Integrada à Saúde Mental - CAISM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CEEJA Dona Clara Mantelli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CEU Alto Alegre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CEU Arthur Alvim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CEU Caminho do Mar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CEU Campo Limpo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CEU EMEF Cantos do Amanhecer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CEU Quinta do Sol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CEU Rosa da China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CEU Sapopemba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CEU São Mateus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CEU São Rafael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CEU Vila Rubi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Brigadeiro Faria Lima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Campo Limpo III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Coronel Mário Rangel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General De Gaulle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José Honório Rodrigues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José Olympio Pereira Filho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Modesto Scagliusi </a:t>
            </a:r>
          </a:p>
        </p:txBody>
      </p:sp>
      <p:sp>
        <p:nvSpPr>
          <p:cNvPr id="3" name="Freeform 3"/>
          <p:cNvSpPr/>
          <p:nvPr/>
        </p:nvSpPr>
        <p:spPr>
          <a:xfrm rot="-10800000" flipH="1">
            <a:off x="9824114" y="0"/>
            <a:ext cx="8463886" cy="5846267"/>
          </a:xfrm>
          <a:custGeom>
            <a:avLst/>
            <a:gdLst/>
            <a:ahLst/>
            <a:cxnLst/>
            <a:rect l="l" t="t" r="r" b="b"/>
            <a:pathLst>
              <a:path w="8463886" h="5846267">
                <a:moveTo>
                  <a:pt x="8463886" y="0"/>
                </a:moveTo>
                <a:lnTo>
                  <a:pt x="0" y="0"/>
                </a:lnTo>
                <a:lnTo>
                  <a:pt x="0" y="5846267"/>
                </a:lnTo>
                <a:lnTo>
                  <a:pt x="8463886" y="5846267"/>
                </a:lnTo>
                <a:lnTo>
                  <a:pt x="8463886" y="0"/>
                </a:lnTo>
                <a:close/>
              </a:path>
            </a:pathLst>
          </a:custGeom>
          <a:blipFill>
            <a:blip r:embed="rId2"/>
            <a:stretch>
              <a:fillRect t="-25"/>
            </a:stretch>
          </a:blipFill>
        </p:spPr>
        <p:txBody>
          <a:bodyPr/>
          <a:lstStyle/>
          <a:p>
            <a:endParaRPr lang="pt-BR"/>
          </a:p>
        </p:txBody>
      </p:sp>
      <p:sp>
        <p:nvSpPr>
          <p:cNvPr id="4" name="TextBox 4"/>
          <p:cNvSpPr txBox="1"/>
          <p:nvPr/>
        </p:nvSpPr>
        <p:spPr>
          <a:xfrm>
            <a:off x="11443841" y="542925"/>
            <a:ext cx="5815459" cy="2590165"/>
          </a:xfrm>
          <a:prstGeom prst="rect">
            <a:avLst/>
          </a:prstGeom>
        </p:spPr>
        <p:txBody>
          <a:bodyPr lIns="0" tIns="0" rIns="0" bIns="0" rtlCol="0" anchor="t">
            <a:spAutoFit/>
          </a:bodyPr>
          <a:lstStyle/>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instituições</a:t>
            </a:r>
          </a:p>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atendidas</a:t>
            </a:r>
          </a:p>
        </p:txBody>
      </p:sp>
      <p:sp>
        <p:nvSpPr>
          <p:cNvPr id="5" name="TextBox 5"/>
          <p:cNvSpPr txBox="1"/>
          <p:nvPr/>
        </p:nvSpPr>
        <p:spPr>
          <a:xfrm>
            <a:off x="6657285" y="3155950"/>
            <a:ext cx="5439378" cy="6102350"/>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Otoniel Mota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Paulo Colombo Pereira de Queiroz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Procópio Ferreira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Prof. Levy de Azevedo Sodré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Prof. Lourenço Manoel Sparapan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EMEF Vila do Sol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EMEI Professor Alexandre Correia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EMEI Professor Alexandre Correia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EMIA Brasilândia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EMIA Chácara das Flores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EMIA Chácara do Jockey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EMIA Jabaquara </a:t>
            </a:r>
          </a:p>
        </p:txBody>
      </p:sp>
      <p:sp>
        <p:nvSpPr>
          <p:cNvPr id="6" name="TextBox 6"/>
          <p:cNvSpPr txBox="1"/>
          <p:nvPr/>
        </p:nvSpPr>
        <p:spPr>
          <a:xfrm>
            <a:off x="11819922" y="4565650"/>
            <a:ext cx="5439378" cy="4692650"/>
          </a:xfrm>
          <a:prstGeom prst="rect">
            <a:avLst/>
          </a:prstGeom>
        </p:spPr>
        <p:txBody>
          <a:bodyPr lIns="0" tIns="0" rIns="0" bIns="0" rtlCol="0" anchor="t">
            <a:spAutoFit/>
          </a:bodyPr>
          <a:lstStyle/>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EMIA Parelheiros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EMIA Perus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Escola be.Living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ETEC de Artes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Fábrica de Cultura Sapopemba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Instituição Nova Transformar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Projeto Instigar - Empresa privada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Sesc Belenzinho Programa Bem Viver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Sesc Vila Mariana Programa Bem Viver </a:t>
            </a:r>
          </a:p>
          <a:p>
            <a:pPr marL="431801" lvl="1" indent="-215900" algn="l">
              <a:lnSpc>
                <a:spcPts val="2800"/>
              </a:lnSpc>
              <a:buFont typeface="Arial"/>
              <a:buChar char="•"/>
            </a:pPr>
            <a:r>
              <a:rPr lang="en-US" sz="2000" spc="152">
                <a:solidFill>
                  <a:srgbClr val="ECD8BB"/>
                </a:solidFill>
                <a:latin typeface="Prachason Neue Mon SemiExpanded"/>
                <a:ea typeface="Prachason Neue Mon SemiExpanded"/>
                <a:cs typeface="Prachason Neue Mon SemiExpanded"/>
                <a:sym typeface="Prachason Neue Mon SemiExpanded"/>
              </a:rPr>
              <a:t>Curumim Sesc Vila Mariana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38753"/>
        </a:solidFill>
        <a:effectLst/>
      </p:bgPr>
    </p:bg>
    <p:spTree>
      <p:nvGrpSpPr>
        <p:cNvPr id="1" name=""/>
        <p:cNvGrpSpPr/>
        <p:nvPr/>
      </p:nvGrpSpPr>
      <p:grpSpPr>
        <a:xfrm>
          <a:off x="0" y="0"/>
          <a:ext cx="0" cy="0"/>
          <a:chOff x="0" y="0"/>
          <a:chExt cx="0" cy="0"/>
        </a:xfrm>
      </p:grpSpPr>
      <p:sp>
        <p:nvSpPr>
          <p:cNvPr id="2" name="Freeform 2"/>
          <p:cNvSpPr/>
          <p:nvPr/>
        </p:nvSpPr>
        <p:spPr>
          <a:xfrm rot="-10800000" flipH="1">
            <a:off x="9824114" y="0"/>
            <a:ext cx="8463886" cy="5900326"/>
          </a:xfrm>
          <a:custGeom>
            <a:avLst/>
            <a:gdLst/>
            <a:ahLst/>
            <a:cxnLst/>
            <a:rect l="l" t="t" r="r" b="b"/>
            <a:pathLst>
              <a:path w="8463886" h="5900326">
                <a:moveTo>
                  <a:pt x="8463886" y="0"/>
                </a:moveTo>
                <a:lnTo>
                  <a:pt x="0" y="0"/>
                </a:lnTo>
                <a:lnTo>
                  <a:pt x="0" y="5900326"/>
                </a:lnTo>
                <a:lnTo>
                  <a:pt x="8463886" y="5900326"/>
                </a:lnTo>
                <a:lnTo>
                  <a:pt x="8463886" y="0"/>
                </a:lnTo>
                <a:close/>
              </a:path>
            </a:pathLst>
          </a:custGeom>
          <a:blipFill>
            <a:blip r:embed="rId2"/>
            <a:stretch>
              <a:fillRect l="-449" r="-449"/>
            </a:stretch>
          </a:blipFill>
        </p:spPr>
        <p:txBody>
          <a:bodyPr/>
          <a:lstStyle/>
          <a:p>
            <a:endParaRPr lang="pt-BR"/>
          </a:p>
        </p:txBody>
      </p:sp>
      <p:sp>
        <p:nvSpPr>
          <p:cNvPr id="3" name="Freeform 3"/>
          <p:cNvSpPr/>
          <p:nvPr/>
        </p:nvSpPr>
        <p:spPr>
          <a:xfrm>
            <a:off x="476746" y="1028700"/>
            <a:ext cx="10192622" cy="6795081"/>
          </a:xfrm>
          <a:custGeom>
            <a:avLst/>
            <a:gdLst/>
            <a:ahLst/>
            <a:cxnLst/>
            <a:rect l="l" t="t" r="r" b="b"/>
            <a:pathLst>
              <a:path w="10192622" h="6795081">
                <a:moveTo>
                  <a:pt x="0" y="0"/>
                </a:moveTo>
                <a:lnTo>
                  <a:pt x="10192622" y="0"/>
                </a:lnTo>
                <a:lnTo>
                  <a:pt x="10192622" y="6795081"/>
                </a:lnTo>
                <a:lnTo>
                  <a:pt x="0" y="6795081"/>
                </a:lnTo>
                <a:lnTo>
                  <a:pt x="0" y="0"/>
                </a:lnTo>
                <a:close/>
              </a:path>
            </a:pathLst>
          </a:custGeom>
          <a:blipFill>
            <a:blip r:embed="rId3"/>
            <a:stretch>
              <a:fillRect/>
            </a:stretch>
          </a:blipFill>
        </p:spPr>
        <p:txBody>
          <a:bodyPr/>
          <a:lstStyle/>
          <a:p>
            <a:endParaRPr lang="pt-BR"/>
          </a:p>
        </p:txBody>
      </p:sp>
      <p:sp>
        <p:nvSpPr>
          <p:cNvPr id="4" name="TextBox 4"/>
          <p:cNvSpPr txBox="1"/>
          <p:nvPr/>
        </p:nvSpPr>
        <p:spPr>
          <a:xfrm>
            <a:off x="11443841" y="542925"/>
            <a:ext cx="5815459" cy="2590165"/>
          </a:xfrm>
          <a:prstGeom prst="rect">
            <a:avLst/>
          </a:prstGeom>
        </p:spPr>
        <p:txBody>
          <a:bodyPr lIns="0" tIns="0" rIns="0" bIns="0" rtlCol="0" anchor="t">
            <a:spAutoFit/>
          </a:bodyPr>
          <a:lstStyle/>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instituições</a:t>
            </a:r>
          </a:p>
          <a:p>
            <a:pPr algn="r">
              <a:lnSpc>
                <a:spcPts val="8959"/>
              </a:lnSpc>
            </a:pPr>
            <a:r>
              <a:rPr lang="en-US" sz="6399" b="1" spc="486">
                <a:solidFill>
                  <a:srgbClr val="ECD8BB"/>
                </a:solidFill>
                <a:latin typeface="Prachason Neue Mon SemiExpanded Bold"/>
                <a:ea typeface="Prachason Neue Mon SemiExpanded Bold"/>
                <a:cs typeface="Prachason Neue Mon SemiExpanded Bold"/>
                <a:sym typeface="Prachason Neue Mon SemiExpanded Bold"/>
              </a:rPr>
              <a:t>atendidas</a:t>
            </a:r>
          </a:p>
        </p:txBody>
      </p:sp>
      <p:grpSp>
        <p:nvGrpSpPr>
          <p:cNvPr id="5" name="Group 5"/>
          <p:cNvGrpSpPr/>
          <p:nvPr/>
        </p:nvGrpSpPr>
        <p:grpSpPr>
          <a:xfrm>
            <a:off x="13509352" y="3947613"/>
            <a:ext cx="3749948" cy="2884575"/>
            <a:chOff x="0" y="0"/>
            <a:chExt cx="4999930" cy="3846100"/>
          </a:xfrm>
        </p:grpSpPr>
        <p:grpSp>
          <p:nvGrpSpPr>
            <p:cNvPr id="6" name="Group 6"/>
            <p:cNvGrpSpPr/>
            <p:nvPr/>
          </p:nvGrpSpPr>
          <p:grpSpPr>
            <a:xfrm>
              <a:off x="0" y="0"/>
              <a:ext cx="4999930" cy="3846100"/>
              <a:chOff x="0" y="0"/>
              <a:chExt cx="660400" cy="508000"/>
            </a:xfrm>
          </p:grpSpPr>
          <p:sp>
            <p:nvSpPr>
              <p:cNvPr id="7" name="Freeform 7"/>
              <p:cNvSpPr/>
              <p:nvPr/>
            </p:nvSpPr>
            <p:spPr>
              <a:xfrm>
                <a:off x="0" y="0"/>
                <a:ext cx="660400" cy="508000"/>
              </a:xfrm>
              <a:custGeom>
                <a:avLst/>
                <a:gdLst/>
                <a:ahLst/>
                <a:cxnLst/>
                <a:rect l="l" t="t" r="r" b="b"/>
                <a:pathLst>
                  <a:path w="660400" h="508000">
                    <a:moveTo>
                      <a:pt x="659130" y="0"/>
                    </a:moveTo>
                    <a:cubicBezTo>
                      <a:pt x="660400" y="5080"/>
                      <a:pt x="660400" y="10160"/>
                      <a:pt x="660400" y="16510"/>
                    </a:cubicBezTo>
                    <a:cubicBezTo>
                      <a:pt x="660400" y="86360"/>
                      <a:pt x="618490" y="148590"/>
                      <a:pt x="557530" y="176530"/>
                    </a:cubicBezTo>
                    <a:cubicBezTo>
                      <a:pt x="618490" y="204470"/>
                      <a:pt x="660400" y="264160"/>
                      <a:pt x="660400" y="336550"/>
                    </a:cubicBezTo>
                    <a:cubicBezTo>
                      <a:pt x="660400" y="434340"/>
                      <a:pt x="584200" y="508000"/>
                      <a:pt x="482600" y="508000"/>
                    </a:cubicBezTo>
                    <a:lnTo>
                      <a:pt x="177800" y="508000"/>
                    </a:lnTo>
                    <a:cubicBezTo>
                      <a:pt x="76200" y="508000"/>
                      <a:pt x="0" y="434340"/>
                      <a:pt x="0" y="336550"/>
                    </a:cubicBezTo>
                    <a:cubicBezTo>
                      <a:pt x="0" y="264160"/>
                      <a:pt x="41910" y="204470"/>
                      <a:pt x="102870" y="176530"/>
                    </a:cubicBezTo>
                    <a:cubicBezTo>
                      <a:pt x="41910" y="148590"/>
                      <a:pt x="0" y="86360"/>
                      <a:pt x="0" y="16510"/>
                    </a:cubicBezTo>
                    <a:cubicBezTo>
                      <a:pt x="0" y="10160"/>
                      <a:pt x="0" y="5080"/>
                      <a:pt x="0" y="0"/>
                    </a:cubicBezTo>
                    <a:lnTo>
                      <a:pt x="659130" y="0"/>
                    </a:lnTo>
                    <a:close/>
                  </a:path>
                </a:pathLst>
              </a:custGeom>
              <a:solidFill>
                <a:srgbClr val="556447"/>
              </a:solidFill>
            </p:spPr>
            <p:txBody>
              <a:bodyPr/>
              <a:lstStyle/>
              <a:p>
                <a:endParaRPr lang="pt-BR"/>
              </a:p>
            </p:txBody>
          </p:sp>
          <p:sp>
            <p:nvSpPr>
              <p:cNvPr id="8" name="TextBox 8"/>
              <p:cNvSpPr txBox="1"/>
              <p:nvPr/>
            </p:nvSpPr>
            <p:spPr>
              <a:xfrm>
                <a:off x="127000" y="-38100"/>
                <a:ext cx="406400" cy="53340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352478" y="193945"/>
              <a:ext cx="4294974" cy="3143885"/>
            </a:xfrm>
            <a:prstGeom prst="rect">
              <a:avLst/>
            </a:prstGeom>
          </p:spPr>
          <p:txBody>
            <a:bodyPr lIns="0" tIns="0" rIns="0" bIns="0" rtlCol="0" anchor="t">
              <a:spAutoFit/>
            </a:bodyPr>
            <a:lstStyle/>
            <a:p>
              <a:pPr algn="ctr">
                <a:lnSpc>
                  <a:spcPts val="5880"/>
                </a:lnSpc>
              </a:pPr>
              <a:r>
                <a:rPr lang="en-US" sz="4200" spc="319">
                  <a:solidFill>
                    <a:srgbClr val="ECD8BB"/>
                  </a:solidFill>
                  <a:latin typeface="Prachason Neue Mon SemiExpanded"/>
                  <a:ea typeface="Prachason Neue Mon SemiExpanded"/>
                  <a:cs typeface="Prachason Neue Mon SemiExpanded"/>
                  <a:sym typeface="Prachason Neue Mon SemiExpanded"/>
                </a:rPr>
                <a:t>1.458 pessoas atendidas</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1C295"/>
        </a:solidFill>
        <a:effectLst/>
      </p:bgPr>
    </p:bg>
    <p:spTree>
      <p:nvGrpSpPr>
        <p:cNvPr id="1" name=""/>
        <p:cNvGrpSpPr/>
        <p:nvPr/>
      </p:nvGrpSpPr>
      <p:grpSpPr>
        <a:xfrm>
          <a:off x="0" y="0"/>
          <a:ext cx="0" cy="0"/>
          <a:chOff x="0" y="0"/>
          <a:chExt cx="0" cy="0"/>
        </a:xfrm>
      </p:grpSpPr>
      <p:sp>
        <p:nvSpPr>
          <p:cNvPr id="2" name="Freeform 2"/>
          <p:cNvSpPr/>
          <p:nvPr/>
        </p:nvSpPr>
        <p:spPr>
          <a:xfrm rot="-4372075" flipV="1">
            <a:off x="3599975" y="-6951456"/>
            <a:ext cx="11088050" cy="20169093"/>
          </a:xfrm>
          <a:custGeom>
            <a:avLst/>
            <a:gdLst/>
            <a:ahLst/>
            <a:cxnLst/>
            <a:rect l="l" t="t" r="r" b="b"/>
            <a:pathLst>
              <a:path w="11088050" h="20169093">
                <a:moveTo>
                  <a:pt x="0" y="20169092"/>
                </a:moveTo>
                <a:lnTo>
                  <a:pt x="11088050" y="20169092"/>
                </a:lnTo>
                <a:lnTo>
                  <a:pt x="11088050" y="0"/>
                </a:lnTo>
                <a:lnTo>
                  <a:pt x="0" y="0"/>
                </a:lnTo>
                <a:lnTo>
                  <a:pt x="0" y="20169092"/>
                </a:lnTo>
                <a:close/>
              </a:path>
            </a:pathLst>
          </a:custGeom>
          <a:blipFill>
            <a:blip r:embed="rId2"/>
            <a:stretch>
              <a:fillRect l="-14611" r="-11725"/>
            </a:stretch>
          </a:blipFill>
        </p:spPr>
        <p:txBody>
          <a:bodyPr/>
          <a:lstStyle/>
          <a:p>
            <a:endParaRPr lang="pt-BR"/>
          </a:p>
        </p:txBody>
      </p:sp>
      <p:grpSp>
        <p:nvGrpSpPr>
          <p:cNvPr id="3" name="Group 3"/>
          <p:cNvGrpSpPr/>
          <p:nvPr/>
        </p:nvGrpSpPr>
        <p:grpSpPr>
          <a:xfrm>
            <a:off x="1028700" y="4297151"/>
            <a:ext cx="3749948" cy="2884575"/>
            <a:chOff x="0" y="0"/>
            <a:chExt cx="660400" cy="508000"/>
          </a:xfrm>
        </p:grpSpPr>
        <p:sp>
          <p:nvSpPr>
            <p:cNvPr id="4" name="Freeform 4"/>
            <p:cNvSpPr/>
            <p:nvPr/>
          </p:nvSpPr>
          <p:spPr>
            <a:xfrm>
              <a:off x="0" y="0"/>
              <a:ext cx="660400" cy="508000"/>
            </a:xfrm>
            <a:custGeom>
              <a:avLst/>
              <a:gdLst/>
              <a:ahLst/>
              <a:cxnLst/>
              <a:rect l="l" t="t" r="r" b="b"/>
              <a:pathLst>
                <a:path w="660400" h="508000">
                  <a:moveTo>
                    <a:pt x="659130" y="0"/>
                  </a:moveTo>
                  <a:cubicBezTo>
                    <a:pt x="660400" y="5080"/>
                    <a:pt x="660400" y="10160"/>
                    <a:pt x="660400" y="16510"/>
                  </a:cubicBezTo>
                  <a:cubicBezTo>
                    <a:pt x="660400" y="86360"/>
                    <a:pt x="618490" y="148590"/>
                    <a:pt x="557530" y="176530"/>
                  </a:cubicBezTo>
                  <a:cubicBezTo>
                    <a:pt x="618490" y="204470"/>
                    <a:pt x="660400" y="264160"/>
                    <a:pt x="660400" y="336550"/>
                  </a:cubicBezTo>
                  <a:cubicBezTo>
                    <a:pt x="660400" y="434340"/>
                    <a:pt x="584200" y="508000"/>
                    <a:pt x="482600" y="508000"/>
                  </a:cubicBezTo>
                  <a:lnTo>
                    <a:pt x="177800" y="508000"/>
                  </a:lnTo>
                  <a:cubicBezTo>
                    <a:pt x="76200" y="508000"/>
                    <a:pt x="0" y="434340"/>
                    <a:pt x="0" y="336550"/>
                  </a:cubicBezTo>
                  <a:cubicBezTo>
                    <a:pt x="0" y="264160"/>
                    <a:pt x="41910" y="204470"/>
                    <a:pt x="102870" y="176530"/>
                  </a:cubicBezTo>
                  <a:cubicBezTo>
                    <a:pt x="41910" y="148590"/>
                    <a:pt x="0" y="86360"/>
                    <a:pt x="0" y="16510"/>
                  </a:cubicBezTo>
                  <a:cubicBezTo>
                    <a:pt x="0" y="10160"/>
                    <a:pt x="0" y="5080"/>
                    <a:pt x="0" y="0"/>
                  </a:cubicBezTo>
                  <a:lnTo>
                    <a:pt x="659130" y="0"/>
                  </a:lnTo>
                  <a:close/>
                </a:path>
              </a:pathLst>
            </a:custGeom>
            <a:solidFill>
              <a:srgbClr val="556447"/>
            </a:solidFill>
          </p:spPr>
          <p:txBody>
            <a:bodyPr/>
            <a:lstStyle/>
            <a:p>
              <a:endParaRPr lang="pt-BR"/>
            </a:p>
          </p:txBody>
        </p:sp>
        <p:sp>
          <p:nvSpPr>
            <p:cNvPr id="5" name="TextBox 5"/>
            <p:cNvSpPr txBox="1"/>
            <p:nvPr/>
          </p:nvSpPr>
          <p:spPr>
            <a:xfrm>
              <a:off x="127000" y="-38100"/>
              <a:ext cx="406400" cy="5334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8049390" y="4297151"/>
            <a:ext cx="9209910" cy="2884575"/>
            <a:chOff x="0" y="0"/>
            <a:chExt cx="1621949" cy="508000"/>
          </a:xfrm>
        </p:grpSpPr>
        <p:sp>
          <p:nvSpPr>
            <p:cNvPr id="7" name="Freeform 7"/>
            <p:cNvSpPr/>
            <p:nvPr/>
          </p:nvSpPr>
          <p:spPr>
            <a:xfrm>
              <a:off x="0" y="0"/>
              <a:ext cx="1621949" cy="508000"/>
            </a:xfrm>
            <a:custGeom>
              <a:avLst/>
              <a:gdLst/>
              <a:ahLst/>
              <a:cxnLst/>
              <a:rect l="l" t="t" r="r" b="b"/>
              <a:pathLst>
                <a:path w="1621949" h="508000">
                  <a:moveTo>
                    <a:pt x="1620679" y="0"/>
                  </a:moveTo>
                  <a:cubicBezTo>
                    <a:pt x="1621949" y="5080"/>
                    <a:pt x="1621949" y="10160"/>
                    <a:pt x="1621949" y="16510"/>
                  </a:cubicBezTo>
                  <a:cubicBezTo>
                    <a:pt x="1621949" y="86360"/>
                    <a:pt x="1580039" y="148590"/>
                    <a:pt x="1519079" y="176530"/>
                  </a:cubicBezTo>
                  <a:cubicBezTo>
                    <a:pt x="1580039" y="204470"/>
                    <a:pt x="1621949" y="264160"/>
                    <a:pt x="1621949" y="336550"/>
                  </a:cubicBezTo>
                  <a:cubicBezTo>
                    <a:pt x="1621949" y="434340"/>
                    <a:pt x="1545749" y="508000"/>
                    <a:pt x="1444149" y="508000"/>
                  </a:cubicBezTo>
                  <a:lnTo>
                    <a:pt x="177800" y="508000"/>
                  </a:lnTo>
                  <a:cubicBezTo>
                    <a:pt x="76200" y="508000"/>
                    <a:pt x="0" y="434340"/>
                    <a:pt x="0" y="336550"/>
                  </a:cubicBezTo>
                  <a:cubicBezTo>
                    <a:pt x="0" y="264160"/>
                    <a:pt x="41910" y="204470"/>
                    <a:pt x="102870" y="176530"/>
                  </a:cubicBezTo>
                  <a:cubicBezTo>
                    <a:pt x="41910" y="148590"/>
                    <a:pt x="0" y="86360"/>
                    <a:pt x="0" y="16510"/>
                  </a:cubicBezTo>
                  <a:cubicBezTo>
                    <a:pt x="0" y="10160"/>
                    <a:pt x="0" y="5080"/>
                    <a:pt x="0" y="0"/>
                  </a:cubicBezTo>
                  <a:lnTo>
                    <a:pt x="1620679" y="0"/>
                  </a:lnTo>
                  <a:close/>
                </a:path>
              </a:pathLst>
            </a:custGeom>
            <a:solidFill>
              <a:srgbClr val="556447"/>
            </a:solidFill>
          </p:spPr>
          <p:txBody>
            <a:bodyPr/>
            <a:lstStyle/>
            <a:p>
              <a:endParaRPr lang="pt-BR"/>
            </a:p>
          </p:txBody>
        </p:sp>
        <p:sp>
          <p:nvSpPr>
            <p:cNvPr id="8" name="TextBox 8"/>
            <p:cNvSpPr txBox="1"/>
            <p:nvPr/>
          </p:nvSpPr>
          <p:spPr>
            <a:xfrm>
              <a:off x="127000" y="-38100"/>
              <a:ext cx="1367949" cy="53340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537346" y="4621204"/>
            <a:ext cx="2732657" cy="1560195"/>
          </a:xfrm>
          <a:prstGeom prst="rect">
            <a:avLst/>
          </a:prstGeom>
        </p:spPr>
        <p:txBody>
          <a:bodyPr lIns="0" tIns="0" rIns="0" bIns="0" rtlCol="0" anchor="t">
            <a:spAutoFit/>
          </a:bodyPr>
          <a:lstStyle/>
          <a:p>
            <a:pPr algn="ctr">
              <a:lnSpc>
                <a:spcPts val="3780"/>
              </a:lnSpc>
            </a:pPr>
            <a:r>
              <a:rPr lang="en-US" sz="2700" spc="205">
                <a:solidFill>
                  <a:srgbClr val="ECD8BB"/>
                </a:solidFill>
                <a:latin typeface="Prachason Neue Mon SemiExpanded"/>
                <a:ea typeface="Prachason Neue Mon SemiExpanded"/>
                <a:cs typeface="Prachason Neue Mon SemiExpanded"/>
                <a:sym typeface="Prachason Neue Mon SemiExpanded"/>
              </a:rPr>
              <a:t>MAM - Museu de Arte Moderna</a:t>
            </a:r>
          </a:p>
        </p:txBody>
      </p:sp>
      <p:sp>
        <p:nvSpPr>
          <p:cNvPr id="10" name="TextBox 10"/>
          <p:cNvSpPr txBox="1"/>
          <p:nvPr/>
        </p:nvSpPr>
        <p:spPr>
          <a:xfrm>
            <a:off x="8951666" y="4621204"/>
            <a:ext cx="7405359" cy="2036445"/>
          </a:xfrm>
          <a:prstGeom prst="rect">
            <a:avLst/>
          </a:prstGeom>
        </p:spPr>
        <p:txBody>
          <a:bodyPr lIns="0" tIns="0" rIns="0" bIns="0" rtlCol="0" anchor="t">
            <a:spAutoFit/>
          </a:bodyPr>
          <a:lstStyle/>
          <a:p>
            <a:pPr algn="ctr">
              <a:lnSpc>
                <a:spcPts val="3780"/>
              </a:lnSpc>
            </a:pPr>
            <a:r>
              <a:rPr lang="en-US" sz="2700" spc="205">
                <a:solidFill>
                  <a:srgbClr val="ECD8BB"/>
                </a:solidFill>
                <a:latin typeface="Prachason Neue Mon SemiExpanded"/>
                <a:ea typeface="Prachason Neue Mon SemiExpanded"/>
                <a:cs typeface="Prachason Neue Mon SemiExpanded"/>
                <a:sym typeface="Prachason Neue Mon SemiExpanded"/>
              </a:rPr>
              <a:t>Diretoria Regional de Educação do Campo Limpo – DRE/Secretaria Municipal de Educação (SME) de São Paulo.</a:t>
            </a:r>
          </a:p>
        </p:txBody>
      </p:sp>
      <p:sp>
        <p:nvSpPr>
          <p:cNvPr id="11" name="TextBox 11"/>
          <p:cNvSpPr txBox="1"/>
          <p:nvPr/>
        </p:nvSpPr>
        <p:spPr>
          <a:xfrm>
            <a:off x="10379869" y="542925"/>
            <a:ext cx="6879431" cy="2590165"/>
          </a:xfrm>
          <a:prstGeom prst="rect">
            <a:avLst/>
          </a:prstGeom>
        </p:spPr>
        <p:txBody>
          <a:bodyPr lIns="0" tIns="0" rIns="0" bIns="0" rtlCol="0" anchor="t">
            <a:spAutoFit/>
          </a:bodyPr>
          <a:lstStyle/>
          <a:p>
            <a:pPr algn="r">
              <a:lnSpc>
                <a:spcPts val="8959"/>
              </a:lnSpc>
            </a:pPr>
            <a:r>
              <a:rPr lang="en-US" sz="6399" b="1" spc="486">
                <a:solidFill>
                  <a:srgbClr val="556447"/>
                </a:solidFill>
                <a:latin typeface="Prachason Neue Mon SemiExpanded Bold"/>
                <a:ea typeface="Prachason Neue Mon SemiExpanded Bold"/>
                <a:cs typeface="Prachason Neue Mon SemiExpanded Bold"/>
                <a:sym typeface="Prachason Neue Mon SemiExpanded Bold"/>
              </a:rPr>
              <a:t>parcerias</a:t>
            </a:r>
          </a:p>
          <a:p>
            <a:pPr algn="r">
              <a:lnSpc>
                <a:spcPts val="8959"/>
              </a:lnSpc>
            </a:pPr>
            <a:r>
              <a:rPr lang="en-US" sz="6399" b="1" spc="486">
                <a:solidFill>
                  <a:srgbClr val="556447"/>
                </a:solidFill>
                <a:latin typeface="Prachason Neue Mon SemiExpanded Bold"/>
                <a:ea typeface="Prachason Neue Mon SemiExpanded Bold"/>
                <a:cs typeface="Prachason Neue Mon SemiExpanded Bold"/>
                <a:sym typeface="Prachason Neue Mon SemiExpanded Bold"/>
              </a:rPr>
              <a:t>estabelecidas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1C295"/>
        </a:solidFill>
        <a:effectLst/>
      </p:bgPr>
    </p:bg>
    <p:spTree>
      <p:nvGrpSpPr>
        <p:cNvPr id="1" name=""/>
        <p:cNvGrpSpPr/>
        <p:nvPr/>
      </p:nvGrpSpPr>
      <p:grpSpPr>
        <a:xfrm>
          <a:off x="0" y="0"/>
          <a:ext cx="0" cy="0"/>
          <a:chOff x="0" y="0"/>
          <a:chExt cx="0" cy="0"/>
        </a:xfrm>
      </p:grpSpPr>
      <p:sp>
        <p:nvSpPr>
          <p:cNvPr id="2" name="TextBox 2"/>
          <p:cNvSpPr txBox="1"/>
          <p:nvPr/>
        </p:nvSpPr>
        <p:spPr>
          <a:xfrm>
            <a:off x="1028700" y="1072516"/>
            <a:ext cx="7560899" cy="8322943"/>
          </a:xfrm>
          <a:prstGeom prst="rect">
            <a:avLst/>
          </a:prstGeom>
        </p:spPr>
        <p:txBody>
          <a:bodyPr lIns="0" tIns="0" rIns="0" bIns="0" rtlCol="0" anchor="t">
            <a:spAutoFit/>
          </a:bodyPr>
          <a:lstStyle/>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Sesc – Serviço Social do Comércio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Administração Regional no Estado de São Paulo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Presidente do Conselho Regional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Abram Szajman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Diretor do Departamento Regional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Luiz Deoclecio Massaro Galina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Superintendentes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Técnico-Social Rosana Paulo da Cunha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Comunicação Social Ricardo Gentil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Administração Jackson Andrade de Matos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Assessoria Técnica e de Planejamento Marta Raquel Colabone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Assessoria Jurídica Carla Bertucci Barbieri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Gerentes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Artes Visuais e Tecnologia Juliana Braga de Mattos Educação para Sustentabilidade de Cidadania Denise Baena Artes Gráficas Rogério Ianelli  Difusão e Promoção Ligia Moreira Moreli Estudos e Desenvolvimento João Paulo Guadanucci Leite Sesc Vila Mariana Renata Salvador </a:t>
            </a:r>
          </a:p>
        </p:txBody>
      </p:sp>
      <p:sp>
        <p:nvSpPr>
          <p:cNvPr id="3" name="TextBox 3"/>
          <p:cNvSpPr txBox="1"/>
          <p:nvPr/>
        </p:nvSpPr>
        <p:spPr>
          <a:xfrm>
            <a:off x="9636801" y="1072516"/>
            <a:ext cx="7622499" cy="8665845"/>
          </a:xfrm>
          <a:prstGeom prst="rect">
            <a:avLst/>
          </a:prstGeom>
        </p:spPr>
        <p:txBody>
          <a:bodyPr lIns="0" tIns="0" rIns="0" bIns="0" rtlCol="0" anchor="t">
            <a:spAutoFit/>
          </a:bodyPr>
          <a:lstStyle/>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MAM São Paulo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Presidente da Diretoria Elizabeth Machado Vice-Presidente Daniela Montingelli Villela Diretora Jurídica Tatiana Amorim de Brito Machado Diretor Financeiro José Luiz Sá de Castro Lima Diretores Camila Granado Pedroso Horta, Marina Terepins e Raphael Vandystadt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Jardim do MAM no Sesc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Equipe Sesc  </a:t>
            </a:r>
          </a:p>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Adriana Lazarini Sales, Adriano Alves Pinto, Adriano Soares, Alex Aureliano Nogueira, Alexandre Tremanti, Allison Lopes Rocha, Carlos Gustavo Curado, Cintia Masil, Claudia Garcia, Cristina Lima, Cyro Garone Morelli, Diogo de Moraes Silva, Fabiana Tardelli, Fernanda Cristina, Kleber Bernardo Pereira de Araujo, Laís Jesus, Laise Guedes, Luciana Garcia, Manuela Mandes dos Santos Cruz, Mateus Souza, Maurício Rodrigues, Mayra Gregório, Melina Barbosa da Silva, Natália dos Reis, Nathalia Magalhães, Priscila de Oliveira, Rachel Amoroso, Rafael Nicolas, Rafaela Benicio, Ricardo Herculano, Rodney Hermenegildo, Silvia Eri Hirao, Silvio Basilio e Zenaide Mendes </a:t>
            </a:r>
          </a:p>
          <a:p>
            <a:pPr algn="l">
              <a:lnSpc>
                <a:spcPts val="2700"/>
              </a:lnSpc>
            </a:pPr>
            <a:endParaRPr lang="en-US" sz="1800" spc="136">
              <a:solidFill>
                <a:srgbClr val="556447"/>
              </a:solidFill>
              <a:latin typeface="Prachason Neue Mon SemiExpanded"/>
              <a:ea typeface="Prachason Neue Mon SemiExpanded"/>
              <a:cs typeface="Prachason Neue Mon SemiExpanded"/>
              <a:sym typeface="Prachason Neue Mon SemiExpande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1C295"/>
        </a:solidFill>
        <a:effectLst/>
      </p:bgPr>
    </p:bg>
    <p:spTree>
      <p:nvGrpSpPr>
        <p:cNvPr id="1" name=""/>
        <p:cNvGrpSpPr/>
        <p:nvPr/>
      </p:nvGrpSpPr>
      <p:grpSpPr>
        <a:xfrm>
          <a:off x="0" y="0"/>
          <a:ext cx="0" cy="0"/>
          <a:chOff x="0" y="0"/>
          <a:chExt cx="0" cy="0"/>
        </a:xfrm>
      </p:grpSpPr>
      <p:grpSp>
        <p:nvGrpSpPr>
          <p:cNvPr id="2" name="Group 2"/>
          <p:cNvGrpSpPr/>
          <p:nvPr/>
        </p:nvGrpSpPr>
        <p:grpSpPr>
          <a:xfrm>
            <a:off x="13768331" y="0"/>
            <a:ext cx="4769267" cy="10825379"/>
            <a:chOff x="0" y="0"/>
            <a:chExt cx="6359022" cy="14433838"/>
          </a:xfrm>
        </p:grpSpPr>
        <p:grpSp>
          <p:nvGrpSpPr>
            <p:cNvPr id="3" name="Group 3"/>
            <p:cNvGrpSpPr/>
            <p:nvPr/>
          </p:nvGrpSpPr>
          <p:grpSpPr>
            <a:xfrm>
              <a:off x="0" y="0"/>
              <a:ext cx="6359022" cy="14433838"/>
              <a:chOff x="0" y="0"/>
              <a:chExt cx="1361399" cy="3090131"/>
            </a:xfrm>
          </p:grpSpPr>
          <p:sp>
            <p:nvSpPr>
              <p:cNvPr id="4" name="Freeform 4"/>
              <p:cNvSpPr/>
              <p:nvPr/>
            </p:nvSpPr>
            <p:spPr>
              <a:xfrm>
                <a:off x="0" y="0"/>
                <a:ext cx="1361399" cy="3090131"/>
              </a:xfrm>
              <a:custGeom>
                <a:avLst/>
                <a:gdLst/>
                <a:ahLst/>
                <a:cxnLst/>
                <a:rect l="l" t="t" r="r" b="b"/>
                <a:pathLst>
                  <a:path w="1361399" h="3090131">
                    <a:moveTo>
                      <a:pt x="0" y="0"/>
                    </a:moveTo>
                    <a:lnTo>
                      <a:pt x="1361399" y="0"/>
                    </a:lnTo>
                    <a:lnTo>
                      <a:pt x="1361399" y="3090131"/>
                    </a:lnTo>
                    <a:lnTo>
                      <a:pt x="0" y="3090131"/>
                    </a:lnTo>
                    <a:close/>
                  </a:path>
                </a:pathLst>
              </a:custGeom>
              <a:solidFill>
                <a:srgbClr val="6F7D61"/>
              </a:solidFill>
            </p:spPr>
            <p:txBody>
              <a:bodyPr/>
              <a:lstStyle/>
              <a:p>
                <a:endParaRPr lang="pt-BR"/>
              </a:p>
            </p:txBody>
          </p:sp>
          <p:sp>
            <p:nvSpPr>
              <p:cNvPr id="5" name="TextBox 5"/>
              <p:cNvSpPr txBox="1"/>
              <p:nvPr/>
            </p:nvSpPr>
            <p:spPr>
              <a:xfrm>
                <a:off x="0" y="-38100"/>
                <a:ext cx="1361399" cy="3128231"/>
              </a:xfrm>
              <a:prstGeom prst="rect">
                <a:avLst/>
              </a:prstGeom>
            </p:spPr>
            <p:txBody>
              <a:bodyPr lIns="46871" tIns="46871" rIns="46871" bIns="46871" rtlCol="0" anchor="ctr"/>
              <a:lstStyle/>
              <a:p>
                <a:pPr algn="ctr">
                  <a:lnSpc>
                    <a:spcPts val="2659"/>
                  </a:lnSpc>
                </a:pPr>
                <a:endParaRPr/>
              </a:p>
            </p:txBody>
          </p:sp>
        </p:grpSp>
        <p:sp>
          <p:nvSpPr>
            <p:cNvPr id="6" name="Freeform 6"/>
            <p:cNvSpPr/>
            <p:nvPr/>
          </p:nvSpPr>
          <p:spPr>
            <a:xfrm rot="5400000">
              <a:off x="-2581172" y="5044270"/>
              <a:ext cx="12655154" cy="3627460"/>
            </a:xfrm>
            <a:custGeom>
              <a:avLst/>
              <a:gdLst/>
              <a:ahLst/>
              <a:cxnLst/>
              <a:rect l="l" t="t" r="r" b="b"/>
              <a:pathLst>
                <a:path w="12655154" h="3627460">
                  <a:moveTo>
                    <a:pt x="0" y="0"/>
                  </a:moveTo>
                  <a:lnTo>
                    <a:pt x="12655154" y="0"/>
                  </a:lnTo>
                  <a:lnTo>
                    <a:pt x="12655154" y="3627460"/>
                  </a:lnTo>
                  <a:lnTo>
                    <a:pt x="0" y="3627460"/>
                  </a:lnTo>
                  <a:lnTo>
                    <a:pt x="0" y="0"/>
                  </a:lnTo>
                  <a:close/>
                </a:path>
              </a:pathLst>
            </a:custGeom>
            <a:blipFill>
              <a:blip r:embed="rId2"/>
              <a:stretch>
                <a:fillRect b="-39047"/>
              </a:stretch>
            </a:blipFill>
          </p:spPr>
          <p:txBody>
            <a:bodyPr/>
            <a:lstStyle/>
            <a:p>
              <a:endParaRPr lang="pt-BR"/>
            </a:p>
          </p:txBody>
        </p:sp>
        <p:sp>
          <p:nvSpPr>
            <p:cNvPr id="7" name="Freeform 7"/>
            <p:cNvSpPr/>
            <p:nvPr/>
          </p:nvSpPr>
          <p:spPr>
            <a:xfrm rot="5400000">
              <a:off x="-1082035" y="9950002"/>
              <a:ext cx="5192915" cy="1278236"/>
            </a:xfrm>
            <a:custGeom>
              <a:avLst/>
              <a:gdLst/>
              <a:ahLst/>
              <a:cxnLst/>
              <a:rect l="l" t="t" r="r" b="b"/>
              <a:pathLst>
                <a:path w="5192915" h="1278236">
                  <a:moveTo>
                    <a:pt x="0" y="0"/>
                  </a:moveTo>
                  <a:lnTo>
                    <a:pt x="5192914" y="0"/>
                  </a:lnTo>
                  <a:lnTo>
                    <a:pt x="5192914" y="1278236"/>
                  </a:lnTo>
                  <a:lnTo>
                    <a:pt x="0" y="1278236"/>
                  </a:lnTo>
                  <a:lnTo>
                    <a:pt x="0" y="0"/>
                  </a:lnTo>
                  <a:close/>
                </a:path>
              </a:pathLst>
            </a:custGeom>
            <a:blipFill>
              <a:blip r:embed="rId2"/>
              <a:stretch>
                <a:fillRect l="-143700" t="-275679" b="-18917"/>
              </a:stretch>
            </a:blipFill>
          </p:spPr>
          <p:txBody>
            <a:bodyPr/>
            <a:lstStyle/>
            <a:p>
              <a:endParaRPr lang="pt-BR"/>
            </a:p>
          </p:txBody>
        </p:sp>
      </p:grpSp>
      <p:sp>
        <p:nvSpPr>
          <p:cNvPr id="8" name="TextBox 8"/>
          <p:cNvSpPr txBox="1"/>
          <p:nvPr/>
        </p:nvSpPr>
        <p:spPr>
          <a:xfrm>
            <a:off x="1028700" y="1072515"/>
            <a:ext cx="11226103" cy="7980045"/>
          </a:xfrm>
          <a:prstGeom prst="rect">
            <a:avLst/>
          </a:prstGeom>
        </p:spPr>
        <p:txBody>
          <a:bodyPr lIns="0" tIns="0" rIns="0" bIns="0" rtlCol="0" anchor="t">
            <a:spAutoFit/>
          </a:bodyPr>
          <a:lstStyle/>
          <a:p>
            <a:pPr algn="l">
              <a:lnSpc>
                <a:spcPts val="2700"/>
              </a:lnSpc>
            </a:pPr>
            <a:r>
              <a:rPr lang="en-US" sz="1800" spc="136">
                <a:solidFill>
                  <a:srgbClr val="556447"/>
                </a:solidFill>
                <a:latin typeface="Prachason Neue Mon SemiExpanded"/>
                <a:ea typeface="Prachason Neue Mon SemiExpanded"/>
                <a:cs typeface="Prachason Neue Mon SemiExpanded"/>
                <a:sym typeface="Prachason Neue Mon SemiExpanded"/>
              </a:rPr>
              <a:t>Idealização Museu de Arte Moderna de São Paulo Curadoria Cauê Alves e Gabriela Gotoda Assistente de Curadoria Laura Almeida Nobre de Sousa Acessibilidade Gregório Ferreira Contreras Sanches e Leonardo Sassaki Coordenação Educativa Mirela Estelles Equipe Educativa Amanda Alves Vilas Boas Oliveira, Amanda Harumi Falcão, Amanda Silva dos Santos, Bárbara Barbosa de Araújo Góes, Caroline Machado, Cristina Naiara Fernandes, Leonardo Sassaki Pires, Luna Aurora Souto Ferreira, Maria da Conceição Ferreira da Silva Meskelis, Maria Iracy Ferreira Costa, Mireille Christine Costa de Oliveira e Pedro Henrique Queiroz Silva Projeto de Arquitetura/Expografia Carmela Rocha e Sofia Gava  Coordenação de Produção Luciana Nemes Produção Executiva Ana Paula Pedroso e Elenice Lourenço Assistente de Produção Paola da Silveira Araujo (PJ) Coordenação de Acervo Patricia Pinto Lima Conservação Barbara Blanco Bernardes de Alencar Documentação Camila Gordillo de Souza Difusão Marina Mesquita Assistente de Acervo Taline de Oliveira Bonazzi (PJ) Coordenação de Comunicação Ane Tavares Comunicação e Imprensa Evandro Pimentel (PJ), Jamyle Rkain, Nicolas Oliveira e Rachel Brito Coordenação Editorial Renato Salem Identidade Visual Paulo Vinícius Macedo e Rafael Kamada Revisão de Conteúdos Regina Stocklen Instalação de Comunicação Visual e  Montagem Expográfica Ollé Cenografia Projeto de Iluminação Anna Turra Lighting Design Transporte Artquality Montagem Fina Manuseio Montagem e Produção Cultural Manutenção elétrica Alekiçom Lacerda e André Luiz Multimídia Luzi Luzi Locação de Equipamentos Audiovisual Impressão Leograf Gráfica e Editora Assessoria Jurídica Renata Cristiane Rodrigues Ferreira (BS&amp;A Borges Sales &amp; Alem Advogados)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F4AA543F6DF343AE125287C7372420" ma:contentTypeVersion="19" ma:contentTypeDescription="Create a new document." ma:contentTypeScope="" ma:versionID="80e31c2d4cf67f597e2913233729ac87">
  <xsd:schema xmlns:xsd="http://www.w3.org/2001/XMLSchema" xmlns:xs="http://www.w3.org/2001/XMLSchema" xmlns:p="http://schemas.microsoft.com/office/2006/metadata/properties" xmlns:ns2="2f0f1dc7-e081-4ee5-8ddc-4eb9cb678d23" xmlns:ns3="0c3ae786-5e4f-419c-8a3f-0eb5f2beec71" targetNamespace="http://schemas.microsoft.com/office/2006/metadata/properties" ma:root="true" ma:fieldsID="63c7e8f0b8b92c9c338ade3a17bd240b" ns2:_="" ns3:_="">
    <xsd:import namespace="2f0f1dc7-e081-4ee5-8ddc-4eb9cb678d23"/>
    <xsd:import namespace="0c3ae786-5e4f-419c-8a3f-0eb5f2beec7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0f1dc7-e081-4ee5-8ddc-4eb9cb678d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3e1715-c84c-4513-8882-6ca9fbd4fec8"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c3ae786-5e4f-419c-8a3f-0eb5f2beec7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1bef07-5750-4eca-98f1-e07cb21896cd}" ma:internalName="TaxCatchAll" ma:showField="CatchAllData" ma:web="0c3ae786-5e4f-419c-8a3f-0eb5f2beec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0f1dc7-e081-4ee5-8ddc-4eb9cb678d23">
      <Terms xmlns="http://schemas.microsoft.com/office/infopath/2007/PartnerControls"/>
    </lcf76f155ced4ddcb4097134ff3c332f>
    <TaxCatchAll xmlns="0c3ae786-5e4f-419c-8a3f-0eb5f2beec71" xsi:nil="true"/>
  </documentManagement>
</p:properties>
</file>

<file path=customXml/itemProps1.xml><?xml version="1.0" encoding="utf-8"?>
<ds:datastoreItem xmlns:ds="http://schemas.openxmlformats.org/officeDocument/2006/customXml" ds:itemID="{6420C7B9-3031-45B8-872A-EFC655351241}"/>
</file>

<file path=customXml/itemProps2.xml><?xml version="1.0" encoding="utf-8"?>
<ds:datastoreItem xmlns:ds="http://schemas.openxmlformats.org/officeDocument/2006/customXml" ds:itemID="{7FEE7AF0-C629-47B9-B719-8CAE0B3C848B}"/>
</file>

<file path=customXml/itemProps3.xml><?xml version="1.0" encoding="utf-8"?>
<ds:datastoreItem xmlns:ds="http://schemas.openxmlformats.org/officeDocument/2006/customXml" ds:itemID="{85A7DBE5-C76E-4019-A194-B5F8956BBDEF}"/>
</file>

<file path=docProps/app.xml><?xml version="1.0" encoding="utf-8"?>
<Properties xmlns="http://schemas.openxmlformats.org/officeDocument/2006/extended-properties" xmlns:vt="http://schemas.openxmlformats.org/officeDocument/2006/docPropsVTypes">
  <TotalTime>0</TotalTime>
  <Words>974</Words>
  <Application>Microsoft Office PowerPoint</Application>
  <PresentationFormat>Personalizar</PresentationFormat>
  <Paragraphs>177</Paragraphs>
  <Slides>18</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18</vt:i4>
      </vt:variant>
    </vt:vector>
  </HeadingPairs>
  <TitlesOfParts>
    <vt:vector size="25" baseType="lpstr">
      <vt:lpstr>Prachason Neue Mon SemiExpanded</vt:lpstr>
      <vt:lpstr>Arial</vt:lpstr>
      <vt:lpstr>Clear Sans</vt:lpstr>
      <vt:lpstr>Clear Sans Bold</vt:lpstr>
      <vt:lpstr>Calibri</vt:lpstr>
      <vt:lpstr>Prachason Neue Mon SemiExpanded Bold</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relatório MAM</dc:title>
  <cp:lastModifiedBy>Carolina Barmell</cp:lastModifiedBy>
  <cp:revision>1</cp:revision>
  <dcterms:created xsi:type="dcterms:W3CDTF">2006-08-16T00:00:00Z</dcterms:created>
  <dcterms:modified xsi:type="dcterms:W3CDTF">2026-03-04T16:26:21Z</dcterms:modified>
  <dc:identifier>DAHCX7yx8y8</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0x01010026F4AA543F6DF343AE125287C7372420</vt:lpwstr>
  </property>
</Properties>
</file>